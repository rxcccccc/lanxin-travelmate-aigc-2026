
<file path=[Content_Types].xml><?xml version="1.0" encoding="utf-8"?>
<Types xmlns="http://schemas.openxmlformats.org/package/2006/content-types">
  <Default Extension="jpeg" ContentType="image/jpeg"/>
  <Default Extension="JPG" ContentType="image/.jp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fonts/font1.fntdata" ContentType="application/x-fontdata"/>
  <Override PartName="/ppt/fonts/font2.fntdata" ContentType="application/x-fontdata"/>
  <Override PartName="/ppt/fonts/font3.fntdata" ContentType="application/x-fontdata"/>
  <Override PartName="/ppt/fonts/font4.fntdata" ContentType="application/x-fontdata"/>
  <Override PartName="/ppt/fonts/font5.fntdata" ContentType="application/x-fontdata"/>
  <Override PartName="/ppt/fonts/font6.fntdata" ContentType="application/x-fontdata"/>
  <Override PartName="/ppt/fonts/font7.fntdata" ContentType="application/x-fontdata"/>
  <Override PartName="/ppt/fonts/font8.fntdata" ContentType="application/x-fontdata"/>
  <Override PartName="/ppt/fonts/font9.fntdata" ContentType="application/x-fontdata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"1.0" encoding="UTF-8" standalone="yes"?>
<Relationships xmlns="http://schemas.openxmlformats.org/package/2006/relationships"><Relationship Id="rId1" Type="http://schemas.openxmlformats.org/officeDocument/2006/relationships/officeDocument" Target="ppt/presentation.xml"/><Relationship Id="rId4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5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embedTrueTypeFonts="1" saveSubsetFonts="1" autoCompressPictures="0">
  <p:sldMasterIdLst>
    <p:sldMasterId id="2147483648" r:id="rId1"/>
  </p:sldMasterIdLst>
  <p:notesMasterIdLst>
    <p:notesMasterId r:id="rId4"/>
  </p:notesMasterIdLst>
  <p:sldIdLst>
    <p:sldId id="256" r:id="rId3"/>
    <p:sldId id="275" r:id="rId5"/>
    <p:sldId id="258" r:id="rId6"/>
    <p:sldId id="259" r:id="rId7"/>
    <p:sldId id="260" r:id="rId8"/>
    <p:sldId id="271" r:id="rId9"/>
    <p:sldId id="272" r:id="rId10"/>
    <p:sldId id="273" r:id="rId11"/>
    <p:sldId id="274" r:id="rId12"/>
    <p:sldId id="261" r:id="rId13"/>
    <p:sldId id="262" r:id="rId14"/>
    <p:sldId id="263" r:id="rId15"/>
    <p:sldId id="264" r:id="rId16"/>
    <p:sldId id="265" r:id="rId17"/>
    <p:sldId id="266" r:id="rId18"/>
  </p:sldIdLst>
  <p:sldSz cx="12192000" cy="6858000" type="screen4x3"/>
  <p:notesSz cx="6858000" cy="9144000"/>
  <p:embeddedFontLst>
    <p:embeddedFont>
      <p:font typeface="金山云技术体" charset="-122"/>
      <p:regular r:id="rId22"/>
    </p:embeddedFont>
    <p:embeddedFont>
      <p:font typeface="等线" panose="02010600030101010101" charset="-122"/>
      <p:regular r:id="rId23"/>
    </p:embeddedFont>
    <p:embeddedFont>
      <p:font typeface="MiSans Heavy" panose="00000A00000000000000" charset="-122"/>
      <p:bold r:id="rId24"/>
    </p:embeddedFont>
    <p:embeddedFont>
      <p:font typeface="MiSans Normal" panose="00000500000000000000" charset="-122"/>
      <p:regular r:id="rId25"/>
    </p:embeddedFont>
    <p:embeddedFont>
      <p:font typeface="微软雅黑" panose="020B0503020204020204" charset="-122"/>
      <p:regular r:id="rId26"/>
    </p:embeddedFont>
    <p:embeddedFont>
      <p:font typeface="Calibri" panose="020F0502020204030204" charset="0"/>
      <p:regular r:id="rId27"/>
      <p:bold r:id="rId28"/>
      <p:italic r:id="rId29"/>
      <p:boldItalic r:id="rId30"/>
    </p:embeddedFont>
  </p:embeddedFontLst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 userDrawn="1">
          <p15:clr>
            <a:srgbClr val="A4A3A4"/>
          </p15:clr>
        </p15:guide>
        <p15:guide id="2" pos="2880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 showGuide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9" Type="http://schemas.openxmlformats.org/officeDocument/2006/relationships/slide" Target="slides/slide6.xml"/><Relationship Id="rId8" Type="http://schemas.openxmlformats.org/officeDocument/2006/relationships/slide" Target="slides/slide5.xml"/><Relationship Id="rId7" Type="http://schemas.openxmlformats.org/officeDocument/2006/relationships/slide" Target="slides/slide4.xml"/><Relationship Id="rId6" Type="http://schemas.openxmlformats.org/officeDocument/2006/relationships/slide" Target="slides/slide3.xml"/><Relationship Id="rId5" Type="http://schemas.openxmlformats.org/officeDocument/2006/relationships/slide" Target="slides/slide2.xml"/><Relationship Id="rId4" Type="http://schemas.openxmlformats.org/officeDocument/2006/relationships/notesMaster" Target="notesMasters/notesMaster1.xml"/><Relationship Id="rId30" Type="http://schemas.openxmlformats.org/officeDocument/2006/relationships/font" Target="fonts/font9.fntdata"/><Relationship Id="rId3" Type="http://schemas.openxmlformats.org/officeDocument/2006/relationships/slide" Target="slides/slide1.xml"/><Relationship Id="rId29" Type="http://schemas.openxmlformats.org/officeDocument/2006/relationships/font" Target="fonts/font8.fntdata"/><Relationship Id="rId28" Type="http://schemas.openxmlformats.org/officeDocument/2006/relationships/font" Target="fonts/font7.fntdata"/><Relationship Id="rId27" Type="http://schemas.openxmlformats.org/officeDocument/2006/relationships/font" Target="fonts/font6.fntdata"/><Relationship Id="rId26" Type="http://schemas.openxmlformats.org/officeDocument/2006/relationships/font" Target="fonts/font5.fntdata"/><Relationship Id="rId25" Type="http://schemas.openxmlformats.org/officeDocument/2006/relationships/font" Target="fonts/font4.fntdata"/><Relationship Id="rId24" Type="http://schemas.openxmlformats.org/officeDocument/2006/relationships/font" Target="fonts/font3.fntdata"/><Relationship Id="rId23" Type="http://schemas.openxmlformats.org/officeDocument/2006/relationships/font" Target="fonts/font2.fntdata"/><Relationship Id="rId22" Type="http://schemas.openxmlformats.org/officeDocument/2006/relationships/font" Target="fonts/font1.fntdata"/><Relationship Id="rId21" Type="http://schemas.openxmlformats.org/officeDocument/2006/relationships/tableStyles" Target="tableStyles.xml"/><Relationship Id="rId20" Type="http://schemas.openxmlformats.org/officeDocument/2006/relationships/viewProps" Target="viewProps.xml"/><Relationship Id="rId2" Type="http://schemas.openxmlformats.org/officeDocument/2006/relationships/theme" Target="theme/theme1.xml"/><Relationship Id="rId19" Type="http://schemas.openxmlformats.org/officeDocument/2006/relationships/presProps" Target="presProps.xml"/><Relationship Id="rId18" Type="http://schemas.openxmlformats.org/officeDocument/2006/relationships/slide" Target="slides/slide15.xml"/><Relationship Id="rId17" Type="http://schemas.openxmlformats.org/officeDocument/2006/relationships/slide" Target="slides/slide14.xml"/><Relationship Id="rId16" Type="http://schemas.openxmlformats.org/officeDocument/2006/relationships/slide" Target="slides/slide13.xml"/><Relationship Id="rId15" Type="http://schemas.openxmlformats.org/officeDocument/2006/relationships/slide" Target="slides/slide12.xml"/><Relationship Id="rId14" Type="http://schemas.openxmlformats.org/officeDocument/2006/relationships/slide" Target="slides/slide11.xml"/><Relationship Id="rId13" Type="http://schemas.openxmlformats.org/officeDocument/2006/relationships/slide" Target="slides/slide10.xml"/><Relationship Id="rId12" Type="http://schemas.openxmlformats.org/officeDocument/2006/relationships/slide" Target="slides/slide9.xml"/><Relationship Id="rId11" Type="http://schemas.openxmlformats.org/officeDocument/2006/relationships/slide" Target="slides/slide8.xml"/><Relationship Id="rId10" Type="http://schemas.openxmlformats.org/officeDocument/2006/relationships/slide" Target="slides/slide7.xml"/><Relationship Id="rId1" Type="http://schemas.openxmlformats.org/officeDocument/2006/relationships/slideMaster" Target="slideMasters/slideMaster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页眉占位符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D2A48B96-639E-45A3-A0BA-2464DFDB1FAA}" type="datetimeFigureOut">
              <a:rPr lang="zh-CN" altLang="en-US" smtClean="0"/>
            </a:fld>
            <a:endParaRPr lang="zh-CN" altLang="en-US"/>
          </a:p>
        </p:txBody>
      </p:sp>
      <p:sp>
        <p:nvSpPr>
          <p:cNvPr id="4" name="幻灯片图像占位符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zh-CN" altLang="en-US"/>
          </a:p>
        </p:txBody>
      </p:sp>
      <p:sp>
        <p:nvSpPr>
          <p:cNvPr id="5" name="备注占位符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A6837353-30EB-4A48-80EB-173D804AEFBD}" type="slidenum">
              <a:rPr lang="zh-CN" altLang="en-US" smtClean="0"/>
            </a:fld>
            <a:endParaRPr lang="zh-CN" alt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2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3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4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5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6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7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8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9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0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2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3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4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5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dirty="0"/>
              <a:t>蓝心同行想解决的不是攻略生成，而是旅行里那个一直缺席的搭子角色。我们把长期记忆、主动提醒和 AIGC 2D 数字搭子结合起来，让 AI 能在出行前、出行中和出行后持续陪伴用户。</a:t>
            </a:r>
            <a:endParaRPr lang="zh-CN" dirty="0"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dirty="0"/>
              <a:t>这一页说明团队是两人配置，因此采用轻量协作模式。一位成员负责产品与设计，一位成员负责研发与 Demo，这样依然能够覆盖方案、原型、联调和提交材料的完整闭环。</a:t>
            </a:r>
            <a:endParaRPr lang="zh-CN" dirty="0"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dirty="0"/>
              <a:t>蓝心同行面向年轻自由行场景，核心是把旅行 Agent 做成一个可培养、会成长的伙伴。它能记住偏好、理解当下情境、主动给建议，还能通过蓝小心这个数字搭子把反馈变得更有陪伴感。</a:t>
            </a:r>
            <a:endParaRPr lang="zh-CN" dirty="0"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dirty="0"/>
              <a:t>我们的洞察很直接，旅行不缺信息，缺的是理解你的人。于是我们把四个问题映射为四个设计抓手：记忆解决不懂我，主动提醒解决变化多，蓝小心解决陪伴感，复盘闭环解决一次性服务结束后没有沉淀的问题。</a:t>
            </a:r>
            <a:endParaRPr lang="zh-CN" dirty="0"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dirty="0"/>
              <a:t>这一页重点看界面结构。我们没有把蓝小心当成装饰，而是把它放在首页、记忆确认、规划解释、主动提醒和复盘里持续出现，让评委能一眼看到这是一个有角色感的 Agent 产品。</a:t>
            </a:r>
            <a:endParaRPr lang="zh-CN" dirty="0"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dirty="0"/>
              <a:t>这一页重点看界面结构。我们没有把蓝小心当成装饰，而是把它放在首页、记忆确认、规划解释、主动提醒和复盘里持续出现，让评委能一眼看到这是一个有角色感的 Agent 产品。</a:t>
            </a:r>
            <a:endParaRPr lang="zh-CN" dirty="0"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dirty="0"/>
              <a:t>这一页重点看界面结构。我们没有把蓝小心当成装饰，而是把它放在首页、记忆确认、规划解释、主动提醒和复盘里持续出现，让评委能一眼看到这是一个有角色感的 Agent 产品。</a:t>
            </a:r>
            <a:endParaRPr lang="zh-CN" dirty="0"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dirty="0"/>
              <a:t>这一页重点看界面结构。我们没有把蓝小心当成装饰，而是把它放在首页、记忆确认、规划解释、主动提醒和复盘里持续出现，让评委能一眼看到这是一个有角色感的 Agent 产品。</a:t>
            </a:r>
            <a:endParaRPr lang="zh-CN" dirty="0"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dirty="0"/>
              <a:t>这一页重点看界面结构。我们没有把蓝小心当成装饰，而是把它放在首页、记忆确认、规划解释、主动提醒和复盘里持续出现，让评委能一眼看到这是一个有角色感的 Agent 产品。</a:t>
            </a:r>
            <a:endParaRPr lang="zh-CN" dirty="0"/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dirty="0"/>
              <a:t>完整链路是从用户说出旅行需求开始，到记忆确认、个性化规划、主动提醒、旅拍互动和旅行复盘结束。蓝心大模型在这里承担六类能力，分别是理解、抽取、推理、表达、多模态理解和内容生成。</a:t>
            </a:r>
            <a:endParaRPr lang="zh-CN" dirty="0"/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dirty="0"/>
              <a:t>第一部分创新是记忆胶囊。它强调个性化不是默认永久保存，而是由用户决定哪些偏好值得长期记住，哪些只属于这次旅行，哪些根本不该保存。</a:t>
            </a:r>
            <a:endParaRPr lang="zh-CN" dirty="0"/>
          </a:p>
        </p:txBody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dirty="0"/>
              <a:t>第二部分创新是主动陪伴和蓝小心。前者解决旅途中没人提醒的问题，后者解决 AI 没有角色感和情绪价值的问题，两者结合后，Agent 才真正像一个旅行搭子。</a:t>
            </a:r>
            <a:endParaRPr lang="zh-CN" dirty="0"/>
          </a:p>
        </p:txBody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dirty="0"/>
              <a:t>这不是一个伪需求。年轻自由行、独旅、多人出游组织和内容分享型用户都面临类似问题，而且这些问题发生频率高、决策成本高、情绪价值缺口也明显。同时，蓝心同行和现有工具之间也有足够清晰的差异化空间。</a:t>
            </a:r>
            <a:endParaRPr lang="zh-CN" dirty="0"/>
          </a:p>
        </p:txBody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dirty="0"/>
              <a:t>技术上我们采用端云协同：端侧处理记忆和状态，云侧完成复杂推理与生成，再通过蓝小心统一表达。产品推进上先验证 P0 闭环，再逐步增强动画、多人协同和更复杂的多模态能力。</a:t>
            </a:r>
            <a:endParaRPr lang="zh-CN" dirty="0"/>
          </a:p>
        </p:txBody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dirty="0"/>
              <a:t>蓝心同行希望让 AI 不只是能回答问题，而是能和用户一起经历一段旅行。谢谢各位评委。</a:t>
            </a:r>
            <a:endParaRPr lang="zh-CN" dirty="0"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9" Type="http://schemas.openxmlformats.org/officeDocument/2006/relationships/slideLayout" Target="../slideLayouts/slideLayout9.xml"/><Relationship Id="rId8" Type="http://schemas.openxmlformats.org/officeDocument/2006/relationships/slideLayout" Target="../slideLayouts/slideLayout8.xml"/><Relationship Id="rId7" Type="http://schemas.openxmlformats.org/officeDocument/2006/relationships/slideLayout" Target="../slideLayouts/slideLayout7.xml"/><Relationship Id="rId6" Type="http://schemas.openxmlformats.org/officeDocument/2006/relationships/slideLayout" Target="../slideLayouts/slideLayout6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Relationship Id="rId3" Type="http://schemas.openxmlformats.org/officeDocument/2006/relationships/slideLayout" Target="../slideLayouts/slideLayout3.xml"/><Relationship Id="rId2" Type="http://schemas.openxmlformats.org/officeDocument/2006/relationships/slideLayout" Target="../slideLayouts/slideLayout2.xml"/><Relationship Id="rId12" Type="http://schemas.openxmlformats.org/officeDocument/2006/relationships/theme" Target="../theme/theme1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 panose="020B0604020202020204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 panose="020B0604020202020204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 panose="020B0604020202020204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 panose="020B0604020202020204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 panose="020B0604020202020204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 panose="020B0604020202020204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 panose="020B0604020202020204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 panose="020B0604020202020204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 panose="020B0604020202020204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4" Type="http://schemas.openxmlformats.org/officeDocument/2006/relationships/notesSlide" Target="../notesSlides/notesSlide1.xml"/><Relationship Id="rId3" Type="http://schemas.openxmlformats.org/officeDocument/2006/relationships/slideLayout" Target="../slideLayouts/slideLayout1.xml"/><Relationship Id="rId2" Type="http://schemas.openxmlformats.org/officeDocument/2006/relationships/image" Target="../media/image2.png"/><Relationship Id="rId1" Type="http://schemas.openxmlformats.org/officeDocument/2006/relationships/image" Target="../media/image1.png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3.xml"/><Relationship Id="rId2" Type="http://schemas.openxmlformats.org/officeDocument/2006/relationships/slideLayout" Target="../slideLayouts/slideLayout1.xml"/><Relationship Id="rId1" Type="http://schemas.openxmlformats.org/officeDocument/2006/relationships/image" Target="../media/image3.png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.xml"/></Relationships>
</file>

<file path=ppt/slides/_rels/slide11.xml.rels><?xml version="1.0" encoding="UTF-8" standalone="yes"?>
<Relationships xmlns="http://schemas.openxmlformats.org/package/2006/relationships"><Relationship Id="rId4" Type="http://schemas.openxmlformats.org/officeDocument/2006/relationships/notesSlide" Target="../notesSlides/notesSlide11.xml"/><Relationship Id="rId3" Type="http://schemas.openxmlformats.org/officeDocument/2006/relationships/slideLayout" Target="../slideLayouts/slideLayout1.xml"/><Relationship Id="rId2" Type="http://schemas.openxmlformats.org/officeDocument/2006/relationships/image" Target="../media/image5.png"/><Relationship Id="rId1" Type="http://schemas.openxmlformats.org/officeDocument/2006/relationships/image" Target="../media/image4.png"/></Relationships>
</file>

<file path=ppt/slides/_rels/slide12.xml.rels><?xml version="1.0" encoding="UTF-8" standalone="yes"?>
<Relationships xmlns="http://schemas.openxmlformats.org/package/2006/relationships"><Relationship Id="rId5" Type="http://schemas.openxmlformats.org/officeDocument/2006/relationships/notesSlide" Target="../notesSlides/notesSlide12.xml"/><Relationship Id="rId4" Type="http://schemas.openxmlformats.org/officeDocument/2006/relationships/slideLayout" Target="../slideLayouts/slideLayout1.xml"/><Relationship Id="rId3" Type="http://schemas.openxmlformats.org/officeDocument/2006/relationships/image" Target="../media/image4.png"/><Relationship Id="rId2" Type="http://schemas.openxmlformats.org/officeDocument/2006/relationships/image" Target="../media/image2.png"/><Relationship Id="rId1" Type="http://schemas.openxmlformats.org/officeDocument/2006/relationships/image" Target="../media/image6.png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1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1.xml"/></Relationships>
</file>

<file path=ppt/slides/_rels/slide15.xml.rels><?xml version="1.0" encoding="UTF-8" standalone="yes"?>
<Relationships xmlns="http://schemas.openxmlformats.org/package/2006/relationships"><Relationship Id="rId4" Type="http://schemas.openxmlformats.org/officeDocument/2006/relationships/notesSlide" Target="../notesSlides/notesSlide15.xml"/><Relationship Id="rId3" Type="http://schemas.openxmlformats.org/officeDocument/2006/relationships/slideLayout" Target="../slideLayouts/slideLayout1.xml"/><Relationship Id="rId2" Type="http://schemas.openxmlformats.org/officeDocument/2006/relationships/image" Target="../media/image7.png"/><Relationship Id="rId1" Type="http://schemas.openxmlformats.org/officeDocument/2006/relationships/image" Target="../media/image3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2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4F9FF"/>
          </a:solidFill>
          <a:ln>
            <a:noFill/>
          </a:ln>
        </p:spPr>
      </p:sp>
      <p:sp>
        <p:nvSpPr>
          <p:cNvPr id="3" name="Rectangle 3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gradFill>
            <a:gsLst>
              <a:gs pos="0">
                <a:srgbClr val="26A7FF">
                  <a:alpha val="12000"/>
                </a:srgbClr>
              </a:gs>
              <a:gs pos="100000">
                <a:srgbClr val="26A7FF">
                  <a:alpha val="0"/>
                </a:srgbClr>
              </a:gs>
            </a:gsLst>
            <a:path path="circle">
              <a:fillToRect l="50000" t="50000" r="50000" b="50000"/>
            </a:path>
          </a:gradFill>
          <a:ln>
            <a:noFill/>
          </a:ln>
        </p:spPr>
      </p:sp>
      <p:sp>
        <p:nvSpPr>
          <p:cNvPr id="4" name="Ellipse 4"/>
          <p:cNvSpPr/>
          <p:nvPr/>
        </p:nvSpPr>
        <p:spPr>
          <a:xfrm>
            <a:off x="9391650" y="-304800"/>
            <a:ext cx="2362200" cy="2362200"/>
          </a:xfrm>
          <a:prstGeom prst="ellipse">
            <a:avLst/>
          </a:prstGeom>
          <a:solidFill>
            <a:srgbClr val="26A7FF">
              <a:alpha val="8000"/>
            </a:srgbClr>
          </a:solidFill>
          <a:ln>
            <a:noFill/>
          </a:ln>
        </p:spPr>
      </p:sp>
      <p:sp>
        <p:nvSpPr>
          <p:cNvPr id="5" name="Ellipse 5"/>
          <p:cNvSpPr/>
          <p:nvPr/>
        </p:nvSpPr>
        <p:spPr>
          <a:xfrm>
            <a:off x="10553700" y="647700"/>
            <a:ext cx="1638300" cy="1638300"/>
          </a:xfrm>
          <a:prstGeom prst="ellipse">
            <a:avLst/>
          </a:prstGeom>
          <a:solidFill>
            <a:srgbClr val="00D4FF">
              <a:alpha val="7000"/>
            </a:srgbClr>
          </a:solidFill>
          <a:ln>
            <a:noFill/>
          </a:ln>
        </p:spPr>
      </p:sp>
      <p:sp>
        <p:nvSpPr>
          <p:cNvPr id="6" name="Freeform 6"/>
          <p:cNvSpPr/>
          <p:nvPr/>
        </p:nvSpPr>
        <p:spPr>
          <a:xfrm>
            <a:off x="8382000" y="781050"/>
            <a:ext cx="3390900" cy="438150"/>
          </a:xfrm>
          <a:custGeom>
            <a:avLst/>
            <a:gdLst/>
            <a:ahLst/>
            <a:cxnLst/>
            <a:rect l="l" t="t" r="r" b="b"/>
            <a:pathLst>
              <a:path w="3390900" h="438150">
                <a:moveTo>
                  <a:pt x="0" y="0"/>
                </a:moveTo>
                <a:lnTo>
                  <a:pt x="1600200" y="0"/>
                </a:lnTo>
                <a:lnTo>
                  <a:pt x="2038350" y="438150"/>
                </a:lnTo>
                <a:lnTo>
                  <a:pt x="3390900" y="438150"/>
                </a:lnTo>
              </a:path>
            </a:pathLst>
          </a:custGeom>
          <a:noFill/>
          <a:ln w="13335">
            <a:solidFill>
              <a:srgbClr val="BFD9F4">
                <a:alpha val="75000"/>
              </a:srgbClr>
            </a:solidFill>
          </a:ln>
        </p:spPr>
      </p:sp>
      <p:sp>
        <p:nvSpPr>
          <p:cNvPr id="7" name="Freeform 7"/>
          <p:cNvSpPr/>
          <p:nvPr/>
        </p:nvSpPr>
        <p:spPr>
          <a:xfrm>
            <a:off x="8705850" y="5638800"/>
            <a:ext cx="2990850" cy="457200"/>
          </a:xfrm>
          <a:custGeom>
            <a:avLst/>
            <a:gdLst/>
            <a:ahLst/>
            <a:cxnLst/>
            <a:rect l="l" t="t" r="r" b="b"/>
            <a:pathLst>
              <a:path w="2990850" h="457200">
                <a:moveTo>
                  <a:pt x="0" y="457200"/>
                </a:moveTo>
                <a:lnTo>
                  <a:pt x="1295400" y="457200"/>
                </a:lnTo>
                <a:lnTo>
                  <a:pt x="1752600" y="0"/>
                </a:lnTo>
                <a:lnTo>
                  <a:pt x="2990850" y="0"/>
                </a:lnTo>
              </a:path>
            </a:pathLst>
          </a:custGeom>
          <a:noFill/>
          <a:ln w="11430">
            <a:solidFill>
              <a:srgbClr val="BFD9F4">
                <a:alpha val="65000"/>
              </a:srgbClr>
            </a:solidFill>
          </a:ln>
        </p:spPr>
      </p:sp>
      <p:sp>
        <p:nvSpPr>
          <p:cNvPr id="8" name="Freeform 8"/>
          <p:cNvSpPr/>
          <p:nvPr/>
        </p:nvSpPr>
        <p:spPr>
          <a:xfrm>
            <a:off x="419100" y="5734050"/>
            <a:ext cx="2057400" cy="381000"/>
          </a:xfrm>
          <a:custGeom>
            <a:avLst/>
            <a:gdLst/>
            <a:ahLst/>
            <a:cxnLst/>
            <a:rect l="l" t="t" r="r" b="b"/>
            <a:pathLst>
              <a:path w="2057400" h="381000">
                <a:moveTo>
                  <a:pt x="0" y="381000"/>
                </a:moveTo>
                <a:lnTo>
                  <a:pt x="1676400" y="381000"/>
                </a:lnTo>
                <a:lnTo>
                  <a:pt x="2057400" y="0"/>
                </a:lnTo>
              </a:path>
            </a:pathLst>
          </a:custGeom>
          <a:noFill/>
          <a:ln w="11430">
            <a:solidFill>
              <a:srgbClr val="D7EAFF">
                <a:alpha val="90000"/>
              </a:srgbClr>
            </a:solidFill>
          </a:ln>
        </p:spPr>
      </p:sp>
      <p:sp>
        <p:nvSpPr>
          <p:cNvPr id="9" name="Ellipse 9"/>
          <p:cNvSpPr/>
          <p:nvPr/>
        </p:nvSpPr>
        <p:spPr>
          <a:xfrm>
            <a:off x="9944100" y="742950"/>
            <a:ext cx="76200" cy="76200"/>
          </a:xfrm>
          <a:prstGeom prst="ellipse">
            <a:avLst/>
          </a:prstGeom>
          <a:solidFill>
            <a:srgbClr val="26A7FF"/>
          </a:solidFill>
          <a:ln>
            <a:noFill/>
          </a:ln>
        </p:spPr>
      </p:sp>
      <p:sp>
        <p:nvSpPr>
          <p:cNvPr id="10" name="Ellipse 10"/>
          <p:cNvSpPr/>
          <p:nvPr/>
        </p:nvSpPr>
        <p:spPr>
          <a:xfrm>
            <a:off x="10382250" y="1181100"/>
            <a:ext cx="76200" cy="76200"/>
          </a:xfrm>
          <a:prstGeom prst="ellipse">
            <a:avLst/>
          </a:prstGeom>
          <a:solidFill>
            <a:srgbClr val="00D4FF"/>
          </a:solidFill>
          <a:ln>
            <a:noFill/>
          </a:ln>
        </p:spPr>
      </p:sp>
      <p:sp>
        <p:nvSpPr>
          <p:cNvPr id="11" name="Ellipse 11"/>
          <p:cNvSpPr/>
          <p:nvPr/>
        </p:nvSpPr>
        <p:spPr>
          <a:xfrm>
            <a:off x="2438400" y="5695950"/>
            <a:ext cx="76200" cy="76200"/>
          </a:xfrm>
          <a:prstGeom prst="ellipse">
            <a:avLst/>
          </a:prstGeom>
          <a:solidFill>
            <a:srgbClr val="26A7FF"/>
          </a:solidFill>
          <a:ln>
            <a:noFill/>
          </a:ln>
        </p:spPr>
      </p:sp>
      <p:sp>
        <p:nvSpPr>
          <p:cNvPr id="12" name="Line 12"/>
          <p:cNvSpPr/>
          <p:nvPr/>
        </p:nvSpPr>
        <p:spPr>
          <a:xfrm>
            <a:off x="762000" y="0"/>
            <a:ext cx="9525" cy="6858000"/>
          </a:xfrm>
          <a:custGeom>
            <a:avLst/>
            <a:gdLst/>
            <a:ahLst/>
            <a:cxnLst/>
            <a:rect l="l" t="t" r="r" b="b"/>
            <a:pathLst>
              <a:path w="9525" h="6858000">
                <a:moveTo>
                  <a:pt x="0" y="0"/>
                </a:moveTo>
                <a:lnTo>
                  <a:pt x="0" y="6858000"/>
                </a:lnTo>
              </a:path>
            </a:pathLst>
          </a:custGeom>
          <a:noFill/>
          <a:ln w="4762">
            <a:solidFill>
              <a:srgbClr val="D7EAFF">
                <a:alpha val="22000"/>
              </a:srgbClr>
            </a:solidFill>
          </a:ln>
        </p:spPr>
      </p:sp>
      <p:sp>
        <p:nvSpPr>
          <p:cNvPr id="13" name="Line 13"/>
          <p:cNvSpPr/>
          <p:nvPr/>
        </p:nvSpPr>
        <p:spPr>
          <a:xfrm>
            <a:off x="1524000" y="0"/>
            <a:ext cx="9525" cy="6858000"/>
          </a:xfrm>
          <a:custGeom>
            <a:avLst/>
            <a:gdLst/>
            <a:ahLst/>
            <a:cxnLst/>
            <a:rect l="l" t="t" r="r" b="b"/>
            <a:pathLst>
              <a:path w="9525" h="6858000">
                <a:moveTo>
                  <a:pt x="0" y="0"/>
                </a:moveTo>
                <a:lnTo>
                  <a:pt x="0" y="6858000"/>
                </a:lnTo>
              </a:path>
            </a:pathLst>
          </a:custGeom>
          <a:noFill/>
          <a:ln w="4762">
            <a:solidFill>
              <a:srgbClr val="D7EAFF">
                <a:alpha val="22000"/>
              </a:srgbClr>
            </a:solidFill>
          </a:ln>
        </p:spPr>
      </p:sp>
      <p:sp>
        <p:nvSpPr>
          <p:cNvPr id="14" name="Line 14"/>
          <p:cNvSpPr/>
          <p:nvPr/>
        </p:nvSpPr>
        <p:spPr>
          <a:xfrm>
            <a:off x="2286000" y="0"/>
            <a:ext cx="9525" cy="6858000"/>
          </a:xfrm>
          <a:custGeom>
            <a:avLst/>
            <a:gdLst/>
            <a:ahLst/>
            <a:cxnLst/>
            <a:rect l="l" t="t" r="r" b="b"/>
            <a:pathLst>
              <a:path w="9525" h="6858000">
                <a:moveTo>
                  <a:pt x="0" y="0"/>
                </a:moveTo>
                <a:lnTo>
                  <a:pt x="0" y="6858000"/>
                </a:lnTo>
              </a:path>
            </a:pathLst>
          </a:custGeom>
          <a:noFill/>
          <a:ln w="4762">
            <a:solidFill>
              <a:srgbClr val="D7EAFF">
                <a:alpha val="22000"/>
              </a:srgbClr>
            </a:solidFill>
          </a:ln>
        </p:spPr>
      </p:sp>
      <p:sp>
        <p:nvSpPr>
          <p:cNvPr id="15" name="Line 15"/>
          <p:cNvSpPr/>
          <p:nvPr/>
        </p:nvSpPr>
        <p:spPr>
          <a:xfrm>
            <a:off x="3048000" y="0"/>
            <a:ext cx="9525" cy="6858000"/>
          </a:xfrm>
          <a:custGeom>
            <a:avLst/>
            <a:gdLst/>
            <a:ahLst/>
            <a:cxnLst/>
            <a:rect l="l" t="t" r="r" b="b"/>
            <a:pathLst>
              <a:path w="9525" h="6858000">
                <a:moveTo>
                  <a:pt x="0" y="0"/>
                </a:moveTo>
                <a:lnTo>
                  <a:pt x="0" y="6858000"/>
                </a:lnTo>
              </a:path>
            </a:pathLst>
          </a:custGeom>
          <a:noFill/>
          <a:ln w="4762">
            <a:solidFill>
              <a:srgbClr val="D7EAFF">
                <a:alpha val="22000"/>
              </a:srgbClr>
            </a:solidFill>
          </a:ln>
        </p:spPr>
      </p:sp>
      <p:sp>
        <p:nvSpPr>
          <p:cNvPr id="16" name="Line 16"/>
          <p:cNvSpPr/>
          <p:nvPr/>
        </p:nvSpPr>
        <p:spPr>
          <a:xfrm>
            <a:off x="3810000" y="0"/>
            <a:ext cx="9525" cy="6858000"/>
          </a:xfrm>
          <a:custGeom>
            <a:avLst/>
            <a:gdLst/>
            <a:ahLst/>
            <a:cxnLst/>
            <a:rect l="l" t="t" r="r" b="b"/>
            <a:pathLst>
              <a:path w="9525" h="6858000">
                <a:moveTo>
                  <a:pt x="0" y="0"/>
                </a:moveTo>
                <a:lnTo>
                  <a:pt x="0" y="6858000"/>
                </a:lnTo>
              </a:path>
            </a:pathLst>
          </a:custGeom>
          <a:noFill/>
          <a:ln w="4762">
            <a:solidFill>
              <a:srgbClr val="D7EAFF">
                <a:alpha val="22000"/>
              </a:srgbClr>
            </a:solidFill>
          </a:ln>
        </p:spPr>
      </p:sp>
      <p:sp>
        <p:nvSpPr>
          <p:cNvPr id="17" name="Line 17"/>
          <p:cNvSpPr/>
          <p:nvPr/>
        </p:nvSpPr>
        <p:spPr>
          <a:xfrm>
            <a:off x="4572000" y="0"/>
            <a:ext cx="9525" cy="6858000"/>
          </a:xfrm>
          <a:custGeom>
            <a:avLst/>
            <a:gdLst/>
            <a:ahLst/>
            <a:cxnLst/>
            <a:rect l="l" t="t" r="r" b="b"/>
            <a:pathLst>
              <a:path w="9525" h="6858000">
                <a:moveTo>
                  <a:pt x="0" y="0"/>
                </a:moveTo>
                <a:lnTo>
                  <a:pt x="0" y="6858000"/>
                </a:lnTo>
              </a:path>
            </a:pathLst>
          </a:custGeom>
          <a:noFill/>
          <a:ln w="4762">
            <a:solidFill>
              <a:srgbClr val="D7EAFF">
                <a:alpha val="22000"/>
              </a:srgbClr>
            </a:solidFill>
          </a:ln>
        </p:spPr>
      </p:sp>
      <p:sp>
        <p:nvSpPr>
          <p:cNvPr id="18" name="Line 18"/>
          <p:cNvSpPr/>
          <p:nvPr/>
        </p:nvSpPr>
        <p:spPr>
          <a:xfrm>
            <a:off x="5334000" y="0"/>
            <a:ext cx="9525" cy="6858000"/>
          </a:xfrm>
          <a:custGeom>
            <a:avLst/>
            <a:gdLst/>
            <a:ahLst/>
            <a:cxnLst/>
            <a:rect l="l" t="t" r="r" b="b"/>
            <a:pathLst>
              <a:path w="9525" h="6858000">
                <a:moveTo>
                  <a:pt x="0" y="0"/>
                </a:moveTo>
                <a:lnTo>
                  <a:pt x="0" y="6858000"/>
                </a:lnTo>
              </a:path>
            </a:pathLst>
          </a:custGeom>
          <a:noFill/>
          <a:ln w="4762">
            <a:solidFill>
              <a:srgbClr val="D7EAFF">
                <a:alpha val="22000"/>
              </a:srgbClr>
            </a:solidFill>
          </a:ln>
        </p:spPr>
      </p:sp>
      <p:sp>
        <p:nvSpPr>
          <p:cNvPr id="19" name="Line 19"/>
          <p:cNvSpPr/>
          <p:nvPr/>
        </p:nvSpPr>
        <p:spPr>
          <a:xfrm>
            <a:off x="6096000" y="0"/>
            <a:ext cx="9525" cy="6858000"/>
          </a:xfrm>
          <a:custGeom>
            <a:avLst/>
            <a:gdLst/>
            <a:ahLst/>
            <a:cxnLst/>
            <a:rect l="l" t="t" r="r" b="b"/>
            <a:pathLst>
              <a:path w="9525" h="6858000">
                <a:moveTo>
                  <a:pt x="0" y="0"/>
                </a:moveTo>
                <a:lnTo>
                  <a:pt x="0" y="6858000"/>
                </a:lnTo>
              </a:path>
            </a:pathLst>
          </a:custGeom>
          <a:noFill/>
          <a:ln w="4762">
            <a:solidFill>
              <a:srgbClr val="D7EAFF">
                <a:alpha val="22000"/>
              </a:srgbClr>
            </a:solidFill>
          </a:ln>
        </p:spPr>
      </p:sp>
      <p:sp>
        <p:nvSpPr>
          <p:cNvPr id="20" name="Line 20"/>
          <p:cNvSpPr/>
          <p:nvPr/>
        </p:nvSpPr>
        <p:spPr>
          <a:xfrm>
            <a:off x="6858000" y="0"/>
            <a:ext cx="9525" cy="6858000"/>
          </a:xfrm>
          <a:custGeom>
            <a:avLst/>
            <a:gdLst/>
            <a:ahLst/>
            <a:cxnLst/>
            <a:rect l="l" t="t" r="r" b="b"/>
            <a:pathLst>
              <a:path w="9525" h="6858000">
                <a:moveTo>
                  <a:pt x="0" y="0"/>
                </a:moveTo>
                <a:lnTo>
                  <a:pt x="0" y="6858000"/>
                </a:lnTo>
              </a:path>
            </a:pathLst>
          </a:custGeom>
          <a:noFill/>
          <a:ln w="4762">
            <a:solidFill>
              <a:srgbClr val="D7EAFF">
                <a:alpha val="22000"/>
              </a:srgbClr>
            </a:solidFill>
          </a:ln>
        </p:spPr>
      </p:sp>
      <p:sp>
        <p:nvSpPr>
          <p:cNvPr id="21" name="Line 21"/>
          <p:cNvSpPr/>
          <p:nvPr/>
        </p:nvSpPr>
        <p:spPr>
          <a:xfrm>
            <a:off x="7620000" y="0"/>
            <a:ext cx="9525" cy="6858000"/>
          </a:xfrm>
          <a:custGeom>
            <a:avLst/>
            <a:gdLst/>
            <a:ahLst/>
            <a:cxnLst/>
            <a:rect l="l" t="t" r="r" b="b"/>
            <a:pathLst>
              <a:path w="9525" h="6858000">
                <a:moveTo>
                  <a:pt x="0" y="0"/>
                </a:moveTo>
                <a:lnTo>
                  <a:pt x="0" y="6858000"/>
                </a:lnTo>
              </a:path>
            </a:pathLst>
          </a:custGeom>
          <a:noFill/>
          <a:ln w="4762">
            <a:solidFill>
              <a:srgbClr val="D7EAFF">
                <a:alpha val="22000"/>
              </a:srgbClr>
            </a:solidFill>
          </a:ln>
        </p:spPr>
      </p:sp>
      <p:sp>
        <p:nvSpPr>
          <p:cNvPr id="22" name="Line 22"/>
          <p:cNvSpPr/>
          <p:nvPr/>
        </p:nvSpPr>
        <p:spPr>
          <a:xfrm>
            <a:off x="8382000" y="0"/>
            <a:ext cx="9525" cy="6858000"/>
          </a:xfrm>
          <a:custGeom>
            <a:avLst/>
            <a:gdLst/>
            <a:ahLst/>
            <a:cxnLst/>
            <a:rect l="l" t="t" r="r" b="b"/>
            <a:pathLst>
              <a:path w="9525" h="6858000">
                <a:moveTo>
                  <a:pt x="0" y="0"/>
                </a:moveTo>
                <a:lnTo>
                  <a:pt x="0" y="6858000"/>
                </a:lnTo>
              </a:path>
            </a:pathLst>
          </a:custGeom>
          <a:noFill/>
          <a:ln w="4762">
            <a:solidFill>
              <a:srgbClr val="D7EAFF">
                <a:alpha val="22000"/>
              </a:srgbClr>
            </a:solidFill>
          </a:ln>
        </p:spPr>
      </p:sp>
      <p:sp>
        <p:nvSpPr>
          <p:cNvPr id="23" name="Line 23"/>
          <p:cNvSpPr/>
          <p:nvPr/>
        </p:nvSpPr>
        <p:spPr>
          <a:xfrm>
            <a:off x="9144000" y="0"/>
            <a:ext cx="9525" cy="6858000"/>
          </a:xfrm>
          <a:custGeom>
            <a:avLst/>
            <a:gdLst/>
            <a:ahLst/>
            <a:cxnLst/>
            <a:rect l="l" t="t" r="r" b="b"/>
            <a:pathLst>
              <a:path w="9525" h="6858000">
                <a:moveTo>
                  <a:pt x="0" y="0"/>
                </a:moveTo>
                <a:lnTo>
                  <a:pt x="0" y="6858000"/>
                </a:lnTo>
              </a:path>
            </a:pathLst>
          </a:custGeom>
          <a:noFill/>
          <a:ln w="4762">
            <a:solidFill>
              <a:srgbClr val="D7EAFF">
                <a:alpha val="22000"/>
              </a:srgbClr>
            </a:solidFill>
          </a:ln>
        </p:spPr>
      </p:sp>
      <p:sp>
        <p:nvSpPr>
          <p:cNvPr id="24" name="Line 24"/>
          <p:cNvSpPr/>
          <p:nvPr/>
        </p:nvSpPr>
        <p:spPr>
          <a:xfrm>
            <a:off x="9906000" y="0"/>
            <a:ext cx="9525" cy="6858000"/>
          </a:xfrm>
          <a:custGeom>
            <a:avLst/>
            <a:gdLst/>
            <a:ahLst/>
            <a:cxnLst/>
            <a:rect l="l" t="t" r="r" b="b"/>
            <a:pathLst>
              <a:path w="9525" h="6858000">
                <a:moveTo>
                  <a:pt x="0" y="0"/>
                </a:moveTo>
                <a:lnTo>
                  <a:pt x="0" y="6858000"/>
                </a:lnTo>
              </a:path>
            </a:pathLst>
          </a:custGeom>
          <a:noFill/>
          <a:ln w="4762">
            <a:solidFill>
              <a:srgbClr val="D7EAFF">
                <a:alpha val="22000"/>
              </a:srgbClr>
            </a:solidFill>
          </a:ln>
        </p:spPr>
      </p:sp>
      <p:sp>
        <p:nvSpPr>
          <p:cNvPr id="25" name="Line 25"/>
          <p:cNvSpPr/>
          <p:nvPr/>
        </p:nvSpPr>
        <p:spPr>
          <a:xfrm>
            <a:off x="10668000" y="0"/>
            <a:ext cx="9525" cy="6858000"/>
          </a:xfrm>
          <a:custGeom>
            <a:avLst/>
            <a:gdLst/>
            <a:ahLst/>
            <a:cxnLst/>
            <a:rect l="l" t="t" r="r" b="b"/>
            <a:pathLst>
              <a:path w="9525" h="6858000">
                <a:moveTo>
                  <a:pt x="0" y="0"/>
                </a:moveTo>
                <a:lnTo>
                  <a:pt x="0" y="6858000"/>
                </a:lnTo>
              </a:path>
            </a:pathLst>
          </a:custGeom>
          <a:noFill/>
          <a:ln w="4762">
            <a:solidFill>
              <a:srgbClr val="D7EAFF">
                <a:alpha val="22000"/>
              </a:srgbClr>
            </a:solidFill>
          </a:ln>
        </p:spPr>
      </p:sp>
      <p:sp>
        <p:nvSpPr>
          <p:cNvPr id="26" name="Line 26"/>
          <p:cNvSpPr/>
          <p:nvPr/>
        </p:nvSpPr>
        <p:spPr>
          <a:xfrm>
            <a:off x="11430000" y="0"/>
            <a:ext cx="9525" cy="6858000"/>
          </a:xfrm>
          <a:custGeom>
            <a:avLst/>
            <a:gdLst/>
            <a:ahLst/>
            <a:cxnLst/>
            <a:rect l="l" t="t" r="r" b="b"/>
            <a:pathLst>
              <a:path w="9525" h="6858000">
                <a:moveTo>
                  <a:pt x="0" y="0"/>
                </a:moveTo>
                <a:lnTo>
                  <a:pt x="0" y="6858000"/>
                </a:lnTo>
              </a:path>
            </a:pathLst>
          </a:custGeom>
          <a:noFill/>
          <a:ln w="4762">
            <a:solidFill>
              <a:srgbClr val="D7EAFF">
                <a:alpha val="22000"/>
              </a:srgbClr>
            </a:solidFill>
          </a:ln>
        </p:spPr>
      </p:sp>
      <p:sp>
        <p:nvSpPr>
          <p:cNvPr id="27" name="Line 27"/>
          <p:cNvSpPr/>
          <p:nvPr/>
        </p:nvSpPr>
        <p:spPr>
          <a:xfrm>
            <a:off x="0" y="762000"/>
            <a:ext cx="12192000" cy="9525"/>
          </a:xfrm>
          <a:custGeom>
            <a:avLst/>
            <a:gdLst/>
            <a:ahLst/>
            <a:cxnLst/>
            <a:rect l="l" t="t" r="r" b="b"/>
            <a:pathLst>
              <a:path w="12192000" h="9525">
                <a:moveTo>
                  <a:pt x="0" y="0"/>
                </a:moveTo>
                <a:lnTo>
                  <a:pt x="12192000" y="0"/>
                </a:lnTo>
              </a:path>
            </a:pathLst>
          </a:custGeom>
          <a:noFill/>
          <a:ln w="4762">
            <a:solidFill>
              <a:srgbClr val="D7EAFF">
                <a:alpha val="22000"/>
              </a:srgbClr>
            </a:solidFill>
          </a:ln>
        </p:spPr>
      </p:sp>
      <p:sp>
        <p:nvSpPr>
          <p:cNvPr id="28" name="Line 28"/>
          <p:cNvSpPr/>
          <p:nvPr/>
        </p:nvSpPr>
        <p:spPr>
          <a:xfrm>
            <a:off x="0" y="1524000"/>
            <a:ext cx="12192000" cy="9525"/>
          </a:xfrm>
          <a:custGeom>
            <a:avLst/>
            <a:gdLst/>
            <a:ahLst/>
            <a:cxnLst/>
            <a:rect l="l" t="t" r="r" b="b"/>
            <a:pathLst>
              <a:path w="12192000" h="9525">
                <a:moveTo>
                  <a:pt x="0" y="0"/>
                </a:moveTo>
                <a:lnTo>
                  <a:pt x="12192000" y="0"/>
                </a:lnTo>
              </a:path>
            </a:pathLst>
          </a:custGeom>
          <a:noFill/>
          <a:ln w="4762">
            <a:solidFill>
              <a:srgbClr val="D7EAFF">
                <a:alpha val="22000"/>
              </a:srgbClr>
            </a:solidFill>
          </a:ln>
        </p:spPr>
      </p:sp>
      <p:sp>
        <p:nvSpPr>
          <p:cNvPr id="29" name="Line 29"/>
          <p:cNvSpPr/>
          <p:nvPr/>
        </p:nvSpPr>
        <p:spPr>
          <a:xfrm>
            <a:off x="0" y="2286000"/>
            <a:ext cx="12192000" cy="9525"/>
          </a:xfrm>
          <a:custGeom>
            <a:avLst/>
            <a:gdLst/>
            <a:ahLst/>
            <a:cxnLst/>
            <a:rect l="l" t="t" r="r" b="b"/>
            <a:pathLst>
              <a:path w="12192000" h="9525">
                <a:moveTo>
                  <a:pt x="0" y="0"/>
                </a:moveTo>
                <a:lnTo>
                  <a:pt x="12192000" y="0"/>
                </a:lnTo>
              </a:path>
            </a:pathLst>
          </a:custGeom>
          <a:noFill/>
          <a:ln w="4762">
            <a:solidFill>
              <a:srgbClr val="D7EAFF">
                <a:alpha val="22000"/>
              </a:srgbClr>
            </a:solidFill>
          </a:ln>
        </p:spPr>
      </p:sp>
      <p:sp>
        <p:nvSpPr>
          <p:cNvPr id="30" name="Line 30"/>
          <p:cNvSpPr/>
          <p:nvPr/>
        </p:nvSpPr>
        <p:spPr>
          <a:xfrm>
            <a:off x="0" y="3048000"/>
            <a:ext cx="12192000" cy="9525"/>
          </a:xfrm>
          <a:custGeom>
            <a:avLst/>
            <a:gdLst/>
            <a:ahLst/>
            <a:cxnLst/>
            <a:rect l="l" t="t" r="r" b="b"/>
            <a:pathLst>
              <a:path w="12192000" h="9525">
                <a:moveTo>
                  <a:pt x="0" y="0"/>
                </a:moveTo>
                <a:lnTo>
                  <a:pt x="12192000" y="0"/>
                </a:lnTo>
              </a:path>
            </a:pathLst>
          </a:custGeom>
          <a:noFill/>
          <a:ln w="4762">
            <a:solidFill>
              <a:srgbClr val="D7EAFF">
                <a:alpha val="22000"/>
              </a:srgbClr>
            </a:solidFill>
          </a:ln>
        </p:spPr>
      </p:sp>
      <p:sp>
        <p:nvSpPr>
          <p:cNvPr id="31" name="Line 31"/>
          <p:cNvSpPr/>
          <p:nvPr/>
        </p:nvSpPr>
        <p:spPr>
          <a:xfrm>
            <a:off x="0" y="3810000"/>
            <a:ext cx="12192000" cy="9525"/>
          </a:xfrm>
          <a:custGeom>
            <a:avLst/>
            <a:gdLst/>
            <a:ahLst/>
            <a:cxnLst/>
            <a:rect l="l" t="t" r="r" b="b"/>
            <a:pathLst>
              <a:path w="12192000" h="9525">
                <a:moveTo>
                  <a:pt x="0" y="0"/>
                </a:moveTo>
                <a:lnTo>
                  <a:pt x="12192000" y="0"/>
                </a:lnTo>
              </a:path>
            </a:pathLst>
          </a:custGeom>
          <a:noFill/>
          <a:ln w="4762">
            <a:solidFill>
              <a:srgbClr val="D7EAFF">
                <a:alpha val="22000"/>
              </a:srgbClr>
            </a:solidFill>
          </a:ln>
        </p:spPr>
      </p:sp>
      <p:sp>
        <p:nvSpPr>
          <p:cNvPr id="32" name="Line 32"/>
          <p:cNvSpPr/>
          <p:nvPr/>
        </p:nvSpPr>
        <p:spPr>
          <a:xfrm>
            <a:off x="0" y="4572000"/>
            <a:ext cx="12192000" cy="9525"/>
          </a:xfrm>
          <a:custGeom>
            <a:avLst/>
            <a:gdLst/>
            <a:ahLst/>
            <a:cxnLst/>
            <a:rect l="l" t="t" r="r" b="b"/>
            <a:pathLst>
              <a:path w="12192000" h="9525">
                <a:moveTo>
                  <a:pt x="0" y="0"/>
                </a:moveTo>
                <a:lnTo>
                  <a:pt x="12192000" y="0"/>
                </a:lnTo>
              </a:path>
            </a:pathLst>
          </a:custGeom>
          <a:noFill/>
          <a:ln w="4762">
            <a:solidFill>
              <a:srgbClr val="D7EAFF">
                <a:alpha val="22000"/>
              </a:srgbClr>
            </a:solidFill>
          </a:ln>
        </p:spPr>
      </p:sp>
      <p:sp>
        <p:nvSpPr>
          <p:cNvPr id="33" name="Line 33"/>
          <p:cNvSpPr/>
          <p:nvPr/>
        </p:nvSpPr>
        <p:spPr>
          <a:xfrm>
            <a:off x="0" y="5334000"/>
            <a:ext cx="12192000" cy="9525"/>
          </a:xfrm>
          <a:custGeom>
            <a:avLst/>
            <a:gdLst/>
            <a:ahLst/>
            <a:cxnLst/>
            <a:rect l="l" t="t" r="r" b="b"/>
            <a:pathLst>
              <a:path w="12192000" h="9525">
                <a:moveTo>
                  <a:pt x="0" y="0"/>
                </a:moveTo>
                <a:lnTo>
                  <a:pt x="12192000" y="0"/>
                </a:lnTo>
              </a:path>
            </a:pathLst>
          </a:custGeom>
          <a:noFill/>
          <a:ln w="4762">
            <a:solidFill>
              <a:srgbClr val="D7EAFF">
                <a:alpha val="22000"/>
              </a:srgbClr>
            </a:solidFill>
          </a:ln>
        </p:spPr>
      </p:sp>
      <p:sp>
        <p:nvSpPr>
          <p:cNvPr id="34" name="Line 34"/>
          <p:cNvSpPr/>
          <p:nvPr/>
        </p:nvSpPr>
        <p:spPr>
          <a:xfrm>
            <a:off x="0" y="6096000"/>
            <a:ext cx="12192000" cy="9525"/>
          </a:xfrm>
          <a:custGeom>
            <a:avLst/>
            <a:gdLst/>
            <a:ahLst/>
            <a:cxnLst/>
            <a:rect l="l" t="t" r="r" b="b"/>
            <a:pathLst>
              <a:path w="12192000" h="9525">
                <a:moveTo>
                  <a:pt x="0" y="0"/>
                </a:moveTo>
                <a:lnTo>
                  <a:pt x="12192000" y="0"/>
                </a:lnTo>
              </a:path>
            </a:pathLst>
          </a:custGeom>
          <a:noFill/>
          <a:ln w="4762">
            <a:solidFill>
              <a:srgbClr val="D7EAFF">
                <a:alpha val="22000"/>
              </a:srgbClr>
            </a:solidFill>
          </a:ln>
        </p:spPr>
      </p:sp>
      <p:grpSp>
        <p:nvGrpSpPr>
          <p:cNvPr id="59" name="Group 59"/>
          <p:cNvGrpSpPr/>
          <p:nvPr/>
        </p:nvGrpSpPr>
        <p:grpSpPr>
          <a:xfrm>
            <a:off x="0" y="0"/>
            <a:ext cx="12192000" cy="6858000"/>
            <a:chOff x="0" y="0"/>
            <a:chExt cx="12192000" cy="6858000"/>
          </a:xfrm>
        </p:grpSpPr>
        <p:sp>
          <p:nvSpPr>
            <p:cNvPr id="35" name="Rectangle 35"/>
            <p:cNvSpPr/>
            <p:nvPr/>
          </p:nvSpPr>
          <p:spPr>
            <a:xfrm>
              <a:off x="0" y="0"/>
              <a:ext cx="12192000" cy="6858000"/>
            </a:xfrm>
            <a:prstGeom prst="rect">
              <a:avLst/>
            </a:prstGeom>
            <a:gradFill>
              <a:gsLst>
                <a:gs pos="0">
                  <a:srgbClr val="26A7FF">
                    <a:alpha val="12000"/>
                  </a:srgbClr>
                </a:gs>
                <a:gs pos="100000">
                  <a:srgbClr val="26A7FF">
                    <a:alpha val="0"/>
                  </a:srgbClr>
                </a:gs>
              </a:gsLst>
              <a:path path="circle">
                <a:fillToRect l="50000" t="50000" r="50000" b="50000"/>
              </a:path>
            </a:gradFill>
            <a:ln>
              <a:noFill/>
            </a:ln>
          </p:spPr>
        </p:sp>
        <p:sp>
          <p:nvSpPr>
            <p:cNvPr id="36" name="Rectangle 36"/>
            <p:cNvSpPr/>
            <p:nvPr/>
          </p:nvSpPr>
          <p:spPr>
            <a:xfrm>
              <a:off x="742950" y="990600"/>
              <a:ext cx="2857500" cy="323850"/>
            </a:xfrm>
            <a:prstGeom prst="roundRect">
              <a:avLst>
                <a:gd name="adj" fmla="val 50000"/>
              </a:avLst>
            </a:prstGeom>
            <a:solidFill>
              <a:srgbClr val="E7F2FF"/>
            </a:solidFill>
            <a:ln w="9525">
              <a:solidFill>
                <a:srgbClr val="C9E4FF"/>
              </a:solidFill>
            </a:ln>
          </p:spPr>
        </p:sp>
        <p:sp>
          <p:nvSpPr>
            <p:cNvPr id="37" name="TextBox 37"/>
            <p:cNvSpPr txBox="1"/>
            <p:nvPr/>
          </p:nvSpPr>
          <p:spPr>
            <a:xfrm>
              <a:off x="1037590" y="1096328"/>
              <a:ext cx="2268220" cy="1612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050" b="1" dirty="0">
                  <a:solidFill>
                    <a:srgbClr val="0B57D0"/>
                  </a:solidFill>
                  <a:latin typeface="金山云技术体" charset="-122"/>
                  <a:ea typeface="金山云技术体" charset="-122"/>
                  <a:cs typeface="金山云技术体" charset="-122"/>
                </a:rPr>
                <a:t>第三届（2026）AIGC创新赛 应用赛道</a:t>
              </a:r>
              <a:endParaRPr lang="zh-CN" sz="1050" b="1" dirty="0">
                <a:solidFill>
                  <a:srgbClr val="0B57D0"/>
                </a:solidFill>
                <a:latin typeface="金山云技术体" charset="-122"/>
                <a:ea typeface="金山云技术体" charset="-122"/>
                <a:cs typeface="金山云技术体" charset="-122"/>
              </a:endParaRPr>
            </a:p>
          </p:txBody>
        </p:sp>
        <p:sp>
          <p:nvSpPr>
            <p:cNvPr id="38" name="TextBox 38"/>
            <p:cNvSpPr txBox="1"/>
            <p:nvPr/>
          </p:nvSpPr>
          <p:spPr>
            <a:xfrm>
              <a:off x="762000" y="1547812"/>
              <a:ext cx="2672080" cy="8077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5250" b="1" dirty="0">
                  <a:solidFill>
                    <a:srgbClr val="0B57D0"/>
                  </a:solidFill>
                  <a:latin typeface="金山云技术体" charset="-122"/>
                  <a:ea typeface="金山云技术体" charset="-122"/>
                  <a:cs typeface="等线" panose="02010600030101010101" charset="-122"/>
                </a:rPr>
                <a:t>蓝心同行</a:t>
              </a:r>
              <a:endParaRPr lang="zh-CN" sz="5250" b="1" dirty="0">
                <a:solidFill>
                  <a:srgbClr val="0B57D0"/>
                </a:solidFill>
                <a:latin typeface="金山云技术体" charset="-122"/>
                <a:ea typeface="金山云技术体" charset="-122"/>
                <a:cs typeface="等线" panose="02010600030101010101" charset="-122"/>
              </a:endParaRPr>
            </a:p>
          </p:txBody>
        </p:sp>
        <p:sp>
          <p:nvSpPr>
            <p:cNvPr id="39" name="TextBox 39"/>
            <p:cNvSpPr txBox="1"/>
            <p:nvPr/>
          </p:nvSpPr>
          <p:spPr>
            <a:xfrm>
              <a:off x="751522" y="2473166"/>
              <a:ext cx="3475990" cy="35814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2325" b="1" dirty="0">
                  <a:solidFill>
                    <a:srgbClr val="102033"/>
                  </a:solidFill>
                  <a:latin typeface="MiSans Heavy" panose="00000A00000000000000" charset="-122"/>
                  <a:ea typeface="MiSans Heavy" panose="00000A00000000000000" charset="-122"/>
                  <a:cs typeface="MiSans Heavy" panose="00000A00000000000000" charset="-122"/>
                </a:rPr>
                <a:t>懂你的全旅程 AI 旅游搭子</a:t>
              </a:r>
              <a:endParaRPr lang="zh-CN" sz="2325" b="1" dirty="0">
                <a:solidFill>
                  <a:srgbClr val="102033"/>
                </a:solidFill>
                <a:latin typeface="MiSans Heavy" panose="00000A00000000000000" charset="-122"/>
                <a:ea typeface="MiSans Heavy" panose="00000A00000000000000" charset="-122"/>
                <a:cs typeface="MiSans Heavy" panose="00000A00000000000000" charset="-122"/>
              </a:endParaRPr>
            </a:p>
          </p:txBody>
        </p:sp>
        <p:sp>
          <p:nvSpPr>
            <p:cNvPr id="40" name="TextBox 40"/>
            <p:cNvSpPr txBox="1"/>
            <p:nvPr/>
          </p:nvSpPr>
          <p:spPr>
            <a:xfrm>
              <a:off x="763905" y="3073718"/>
              <a:ext cx="4119880" cy="207645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dirty="0">
                  <a:solidFill>
                    <a:srgbClr val="51677F"/>
                  </a:solidFill>
                  <a:latin typeface="MiSans Normal" panose="00000500000000000000" charset="-122"/>
                  <a:ea typeface="MiSans Normal" panose="00000500000000000000" charset="-122"/>
                  <a:cs typeface="MiSans Normal" panose="00000500000000000000" charset="-122"/>
                </a:rPr>
                <a:t>基于蓝心大模型的记忆型、主动型、具身化旅行 Agent</a:t>
              </a:r>
              <a:endParaRPr lang="zh-CN" sz="1350" dirty="0">
                <a:solidFill>
                  <a:srgbClr val="51677F"/>
                </a:solidFill>
                <a:latin typeface="MiSans Normal" panose="00000500000000000000" charset="-122"/>
                <a:ea typeface="MiSans Normal" panose="00000500000000000000" charset="-122"/>
                <a:cs typeface="MiSans Normal" panose="00000500000000000000" charset="-122"/>
              </a:endParaRPr>
            </a:p>
          </p:txBody>
        </p:sp>
        <p:sp>
          <p:nvSpPr>
            <p:cNvPr id="41" name="TextBox 41"/>
            <p:cNvSpPr txBox="1"/>
            <p:nvPr/>
          </p:nvSpPr>
          <p:spPr>
            <a:xfrm>
              <a:off x="763905" y="3359468"/>
              <a:ext cx="4629150" cy="207645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dirty="0">
                  <a:solidFill>
                    <a:srgbClr val="51677F"/>
                  </a:solidFill>
                  <a:latin typeface="MiSans Normal" panose="00000500000000000000" charset="-122"/>
                  <a:ea typeface="MiSans Normal" panose="00000500000000000000" charset="-122"/>
                  <a:cs typeface="等线" panose="02010600030101010101" charset="-122"/>
                </a:rPr>
                <a:t>从攻略问答，升级为会记住你、主动陪你走完整段旅行的伙伴</a:t>
              </a:r>
              <a:endParaRPr lang="zh-CN" sz="1350" dirty="0">
                <a:solidFill>
                  <a:srgbClr val="51677F"/>
                </a:solidFill>
                <a:latin typeface="MiSans Normal" panose="00000500000000000000" charset="-122"/>
                <a:ea typeface="MiSans Normal" panose="00000500000000000000" charset="-122"/>
                <a:cs typeface="等线" panose="02010600030101010101" charset="-122"/>
              </a:endParaRPr>
            </a:p>
          </p:txBody>
        </p:sp>
        <p:sp>
          <p:nvSpPr>
            <p:cNvPr id="42" name="Line 42"/>
            <p:cNvSpPr/>
            <p:nvPr/>
          </p:nvSpPr>
          <p:spPr>
            <a:xfrm>
              <a:off x="781050" y="3943350"/>
              <a:ext cx="4533900" cy="9525"/>
            </a:xfrm>
            <a:custGeom>
              <a:avLst/>
              <a:gdLst/>
              <a:ahLst/>
              <a:cxnLst/>
              <a:rect l="l" t="t" r="r" b="b"/>
              <a:pathLst>
                <a:path w="4533900" h="9525">
                  <a:moveTo>
                    <a:pt x="0" y="0"/>
                  </a:moveTo>
                  <a:lnTo>
                    <a:pt x="4533900" y="0"/>
                  </a:lnTo>
                </a:path>
              </a:pathLst>
            </a:custGeom>
            <a:noFill/>
            <a:ln w="13335">
              <a:solidFill>
                <a:srgbClr val="BFD9F4"/>
              </a:solidFill>
            </a:ln>
          </p:spPr>
        </p:sp>
        <p:sp>
          <p:nvSpPr>
            <p:cNvPr id="43" name="Rectangle 43"/>
            <p:cNvSpPr/>
            <p:nvPr/>
          </p:nvSpPr>
          <p:spPr>
            <a:xfrm>
              <a:off x="781050" y="4210050"/>
              <a:ext cx="1123950" cy="285750"/>
            </a:xfrm>
            <a:prstGeom prst="roundRect">
              <a:avLst>
                <a:gd name="adj" fmla="val 50000"/>
              </a:avLst>
            </a:prstGeom>
            <a:solidFill>
              <a:srgbClr val="E7F2FF"/>
            </a:solidFill>
            <a:ln>
              <a:noFill/>
            </a:ln>
          </p:spPr>
        </p:sp>
        <p:sp>
          <p:nvSpPr>
            <p:cNvPr id="44" name="TextBox 44"/>
            <p:cNvSpPr txBox="1"/>
            <p:nvPr/>
          </p:nvSpPr>
          <p:spPr>
            <a:xfrm>
              <a:off x="1075055" y="4296728"/>
              <a:ext cx="535940" cy="1612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050" b="1" dirty="0">
                  <a:solidFill>
                    <a:srgbClr val="0B57D0"/>
                  </a:solidFill>
                  <a:latin typeface="MiSans Normal" panose="00000500000000000000" charset="-122"/>
                  <a:ea typeface="MiSans Normal" panose="00000500000000000000" charset="-122"/>
                  <a:cs typeface="等线" panose="02010600030101010101" charset="-122"/>
                </a:rPr>
                <a:t>记忆胶囊</a:t>
              </a:r>
              <a:endParaRPr lang="zh-CN" sz="1050" b="1" dirty="0">
                <a:solidFill>
                  <a:srgbClr val="0B57D0"/>
                </a:solidFill>
                <a:latin typeface="MiSans Normal" panose="00000500000000000000" charset="-122"/>
                <a:ea typeface="MiSans Normal" panose="00000500000000000000" charset="-122"/>
                <a:cs typeface="等线" panose="02010600030101010101" charset="-122"/>
              </a:endParaRPr>
            </a:p>
          </p:txBody>
        </p:sp>
        <p:sp>
          <p:nvSpPr>
            <p:cNvPr id="45" name="Rectangle 45"/>
            <p:cNvSpPr/>
            <p:nvPr/>
          </p:nvSpPr>
          <p:spPr>
            <a:xfrm>
              <a:off x="2076450" y="4210050"/>
              <a:ext cx="1123950" cy="285750"/>
            </a:xfrm>
            <a:prstGeom prst="roundRect">
              <a:avLst>
                <a:gd name="adj" fmla="val 50000"/>
              </a:avLst>
            </a:prstGeom>
            <a:solidFill>
              <a:srgbClr val="E6FAFF"/>
            </a:solidFill>
            <a:ln>
              <a:noFill/>
            </a:ln>
          </p:spPr>
        </p:sp>
        <p:sp>
          <p:nvSpPr>
            <p:cNvPr id="46" name="TextBox 46"/>
            <p:cNvSpPr txBox="1"/>
            <p:nvPr/>
          </p:nvSpPr>
          <p:spPr>
            <a:xfrm>
              <a:off x="2370455" y="4296728"/>
              <a:ext cx="535940" cy="1612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050" b="1" dirty="0">
                  <a:solidFill>
                    <a:srgbClr val="00D4FF"/>
                  </a:solidFill>
                  <a:latin typeface="MiSans Normal" panose="00000500000000000000" charset="-122"/>
                  <a:ea typeface="MiSans Normal" panose="00000500000000000000" charset="-122"/>
                  <a:cs typeface="等线" panose="02010600030101010101" charset="-122"/>
                </a:rPr>
                <a:t>主动陪伴</a:t>
              </a:r>
              <a:endParaRPr lang="zh-CN" sz="1050" b="1" dirty="0">
                <a:solidFill>
                  <a:srgbClr val="00D4FF"/>
                </a:solidFill>
                <a:latin typeface="MiSans Normal" panose="00000500000000000000" charset="-122"/>
                <a:ea typeface="MiSans Normal" panose="00000500000000000000" charset="-122"/>
                <a:cs typeface="等线" panose="02010600030101010101" charset="-122"/>
              </a:endParaRPr>
            </a:p>
          </p:txBody>
        </p:sp>
        <p:sp>
          <p:nvSpPr>
            <p:cNvPr id="47" name="Rectangle 47"/>
            <p:cNvSpPr/>
            <p:nvPr/>
          </p:nvSpPr>
          <p:spPr>
            <a:xfrm>
              <a:off x="3371850" y="4210050"/>
              <a:ext cx="1238250" cy="285750"/>
            </a:xfrm>
            <a:prstGeom prst="roundRect">
              <a:avLst>
                <a:gd name="adj" fmla="val 50000"/>
              </a:avLst>
            </a:prstGeom>
            <a:solidFill>
              <a:srgbClr val="E7F2FF"/>
            </a:solidFill>
            <a:ln>
              <a:noFill/>
            </a:ln>
          </p:spPr>
        </p:sp>
        <p:sp>
          <p:nvSpPr>
            <p:cNvPr id="48" name="TextBox 48"/>
            <p:cNvSpPr txBox="1"/>
            <p:nvPr/>
          </p:nvSpPr>
          <p:spPr>
            <a:xfrm>
              <a:off x="3656013" y="4296728"/>
              <a:ext cx="669925" cy="1612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050" b="1" dirty="0">
                  <a:solidFill>
                    <a:srgbClr val="0B57D0"/>
                  </a:solidFill>
                  <a:latin typeface="MiSans Normal" panose="00000500000000000000" charset="-122"/>
                  <a:ea typeface="MiSans Normal" panose="00000500000000000000" charset="-122"/>
                  <a:cs typeface="等线" panose="02010600030101010101" charset="-122"/>
                </a:rPr>
                <a:t>蓝小心搭子</a:t>
              </a:r>
              <a:endParaRPr lang="zh-CN" sz="1050" b="1" dirty="0">
                <a:solidFill>
                  <a:srgbClr val="0B57D0"/>
                </a:solidFill>
                <a:latin typeface="MiSans Normal" panose="00000500000000000000" charset="-122"/>
                <a:ea typeface="MiSans Normal" panose="00000500000000000000" charset="-122"/>
                <a:cs typeface="等线" panose="02010600030101010101" charset="-122"/>
              </a:endParaRPr>
            </a:p>
          </p:txBody>
        </p:sp>
        <p:sp>
          <p:nvSpPr>
            <p:cNvPr id="49" name="TextBox 49"/>
            <p:cNvSpPr txBox="1"/>
            <p:nvPr/>
          </p:nvSpPr>
          <p:spPr>
            <a:xfrm>
              <a:off x="781050" y="5057775"/>
              <a:ext cx="6208395" cy="230505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00" b="1" dirty="0">
                  <a:solidFill>
                    <a:srgbClr val="102033"/>
                  </a:solidFill>
                  <a:latin typeface="MiSans Normal" panose="00000500000000000000" charset="-122"/>
                  <a:ea typeface="MiSans Normal" panose="00000500000000000000" charset="-122"/>
                  <a:cs typeface="MiSans Normal" panose="00000500000000000000" charset="-122"/>
                </a:rPr>
                <a:t>不是普通攻略生成器，而是一个能把旅行体验沉淀成长期默契的 AI 伙伴。</a:t>
              </a:r>
              <a:endParaRPr lang="zh-CN" sz="1500" b="1" dirty="0">
                <a:solidFill>
                  <a:srgbClr val="102033"/>
                </a:solidFill>
                <a:latin typeface="MiSans Normal" panose="00000500000000000000" charset="-122"/>
                <a:ea typeface="MiSans Normal" panose="00000500000000000000" charset="-122"/>
                <a:cs typeface="MiSans Normal" panose="00000500000000000000" charset="-122"/>
              </a:endParaRPr>
            </a:p>
          </p:txBody>
        </p:sp>
        <p:sp>
          <p:nvSpPr>
            <p:cNvPr id="50" name="Rectangle 50"/>
            <p:cNvSpPr/>
            <p:nvPr/>
          </p:nvSpPr>
          <p:spPr>
            <a:xfrm>
              <a:off x="7162800" y="914400"/>
              <a:ext cx="4171950" cy="5181600"/>
            </a:xfrm>
            <a:prstGeom prst="roundRect">
              <a:avLst>
                <a:gd name="adj" fmla="val 6393"/>
              </a:avLst>
            </a:prstGeom>
            <a:solidFill>
              <a:srgbClr val="0B57D0">
                <a:alpha val="5000"/>
              </a:srgbClr>
            </a:solidFill>
            <a:ln>
              <a:noFill/>
            </a:ln>
          </p:spPr>
        </p:sp>
        <p:sp>
          <p:nvSpPr>
            <p:cNvPr id="51" name="Rectangle 51"/>
            <p:cNvSpPr/>
            <p:nvPr/>
          </p:nvSpPr>
          <p:spPr>
            <a:xfrm>
              <a:off x="7086600" y="819150"/>
              <a:ext cx="4171950" cy="5181600"/>
            </a:xfrm>
            <a:prstGeom prst="roundRect">
              <a:avLst>
                <a:gd name="adj" fmla="val 6393"/>
              </a:avLst>
            </a:prstGeom>
            <a:solidFill>
              <a:srgbClr val="F8FCFF"/>
            </a:solidFill>
            <a:ln w="11430">
              <a:solidFill>
                <a:srgbClr val="BFD9F4"/>
              </a:solidFill>
            </a:ln>
          </p:spPr>
        </p:sp>
        <p:sp>
          <p:nvSpPr>
            <p:cNvPr id="52" name="Line 52"/>
            <p:cNvSpPr/>
            <p:nvPr/>
          </p:nvSpPr>
          <p:spPr>
            <a:xfrm>
              <a:off x="7258050" y="828675"/>
              <a:ext cx="1238250" cy="9525"/>
            </a:xfrm>
            <a:custGeom>
              <a:avLst/>
              <a:gdLst/>
              <a:ahLst/>
              <a:cxnLst/>
              <a:rect l="l" t="t" r="r" b="b"/>
              <a:pathLst>
                <a:path w="1238250" h="9525">
                  <a:moveTo>
                    <a:pt x="0" y="0"/>
                  </a:moveTo>
                  <a:lnTo>
                    <a:pt x="1238250" y="0"/>
                  </a:lnTo>
                </a:path>
              </a:pathLst>
            </a:custGeom>
            <a:noFill/>
            <a:ln w="19050">
              <a:solidFill>
                <a:srgbClr val="26A7FF">
                  <a:alpha val="90000"/>
                </a:srgbClr>
              </a:solidFill>
            </a:ln>
          </p:spPr>
        </p:sp>
        <p:sp>
          <p:nvSpPr>
            <p:cNvPr id="53" name="Rectangle 53"/>
            <p:cNvSpPr/>
            <p:nvPr/>
          </p:nvSpPr>
          <p:spPr>
            <a:xfrm>
              <a:off x="7372350" y="1123950"/>
              <a:ext cx="3600450" cy="4095750"/>
            </a:xfrm>
            <a:prstGeom prst="roundRect">
              <a:avLst>
                <a:gd name="adj" fmla="val 6349"/>
              </a:avLst>
            </a:prstGeom>
            <a:solidFill>
              <a:srgbClr val="E7F2FF"/>
            </a:solidFill>
            <a:ln>
              <a:noFill/>
            </a:ln>
          </p:spPr>
        </p:sp>
        <p:pic>
          <p:nvPicPr>
            <p:cNvPr id="54" name="Image 54"/>
            <p:cNvPicPr>
              <a:picLocks noChangeAspect="1"/>
            </p:cNvPicPr>
            <p:nvPr/>
          </p:nvPicPr>
          <p:blipFill>
            <a:blip r:embed="rId1"/>
            <a:stretch>
              <a:fillRect/>
            </a:stretch>
          </p:blipFill>
          <p:spPr>
            <a:xfrm>
              <a:off x="7810500" y="1162050"/>
              <a:ext cx="2762250" cy="3686175"/>
            </a:xfrm>
            <a:prstGeom prst="rect">
              <a:avLst/>
            </a:prstGeom>
          </p:spPr>
        </p:pic>
        <p:sp>
          <p:nvSpPr>
            <p:cNvPr id="55" name="Rectangle 55"/>
            <p:cNvSpPr/>
            <p:nvPr/>
          </p:nvSpPr>
          <p:spPr>
            <a:xfrm>
              <a:off x="8420100" y="5429250"/>
              <a:ext cx="2133600" cy="285750"/>
            </a:xfrm>
            <a:prstGeom prst="roundRect">
              <a:avLst>
                <a:gd name="adj" fmla="val 50000"/>
              </a:avLst>
            </a:prstGeom>
            <a:solidFill>
              <a:srgbClr val="FFFFFF"/>
            </a:solidFill>
            <a:ln>
              <a:noFill/>
            </a:ln>
          </p:spPr>
        </p:sp>
        <p:sp>
          <p:nvSpPr>
            <p:cNvPr id="56" name="TextBox 56"/>
            <p:cNvSpPr txBox="1"/>
            <p:nvPr/>
          </p:nvSpPr>
          <p:spPr>
            <a:xfrm>
              <a:off x="8346758" y="5515928"/>
              <a:ext cx="1895475" cy="1612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050" b="1" dirty="0">
                  <a:solidFill>
                    <a:srgbClr val="0B57D0"/>
                  </a:solidFill>
                  <a:latin typeface="金山云技术体" charset="-122"/>
                  <a:ea typeface="金山云技术体" charset="-122"/>
                  <a:cs typeface="金山云技术体" charset="-122"/>
                </a:rPr>
                <a:t>LanXiaoXin 具身化旅行 Agent</a:t>
              </a:r>
              <a:endParaRPr lang="zh-CN" sz="1050" b="1" dirty="0">
                <a:solidFill>
                  <a:srgbClr val="0B57D0"/>
                </a:solidFill>
                <a:latin typeface="金山云技术体" charset="-122"/>
                <a:ea typeface="金山云技术体" charset="-122"/>
                <a:cs typeface="金山云技术体" charset="-122"/>
              </a:endParaRPr>
            </a:p>
          </p:txBody>
        </p:sp>
        <p:sp>
          <p:nvSpPr>
            <p:cNvPr id="57" name="TextBox 57"/>
            <p:cNvSpPr txBox="1"/>
            <p:nvPr/>
          </p:nvSpPr>
          <p:spPr>
            <a:xfrm>
              <a:off x="521970" y="6598920"/>
              <a:ext cx="2106263" cy="18288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00" dirty="0">
                  <a:solidFill>
                    <a:srgbClr val="8AA1B7"/>
                  </a:solidFill>
                  <a:latin typeface="等线" panose="02010600030101010101" charset="-122"/>
                  <a:ea typeface="微软雅黑" panose="020B0503020204020204" charset="-122"/>
                  <a:cs typeface="等线" panose="02010600030101010101" charset="-122"/>
                </a:rPr>
                <a:t>蓝心同行 | AIGC创新赛应用赛道初赛</a:t>
              </a:r>
              <a:endParaRPr lang="zh-CN" sz="900" dirty="0">
                <a:solidFill>
                  <a:srgbClr val="8AA1B7"/>
                </a:solidFill>
                <a:latin typeface="等线" panose="02010600030101010101" charset="-122"/>
                <a:ea typeface="微软雅黑" panose="020B0503020204020204" charset="-122"/>
                <a:cs typeface="等线" panose="02010600030101010101" charset="-122"/>
              </a:endParaRPr>
            </a:p>
          </p:txBody>
        </p:sp>
        <p:sp>
          <p:nvSpPr>
            <p:cNvPr id="58" name="TextBox 58"/>
            <p:cNvSpPr txBox="1"/>
            <p:nvPr/>
          </p:nvSpPr>
          <p:spPr>
            <a:xfrm>
              <a:off x="11497342" y="6598920"/>
              <a:ext cx="134588" cy="18288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r"/>
              <a:r>
                <a:rPr lang="zh-CN" sz="900" dirty="0">
                  <a:solidFill>
                    <a:srgbClr val="8AA1B7"/>
                  </a:solidFill>
                  <a:latin typeface="等线" panose="02010600030101010101" charset="-122"/>
                  <a:ea typeface="微软雅黑" panose="020B0503020204020204" charset="-122"/>
                  <a:cs typeface="等线" panose="02010600030101010101" charset="-122"/>
                </a:rPr>
                <a:t>01</a:t>
              </a:r>
              <a:endParaRPr lang="zh-CN" sz="900" dirty="0">
                <a:solidFill>
                  <a:srgbClr val="8AA1B7"/>
                </a:solidFill>
                <a:latin typeface="等线" panose="02010600030101010101" charset="-122"/>
                <a:ea typeface="微软雅黑" panose="020B0503020204020204" charset="-122"/>
                <a:cs typeface="等线" panose="02010600030101010101" charset="-122"/>
              </a:endParaRPr>
            </a:p>
          </p:txBody>
        </p:sp>
      </p:grpSp>
      <p:pic>
        <p:nvPicPr>
          <p:cNvPr id="61" name="图片 60" descr="lanxiaoxin_frontdisplay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811135" y="1162050"/>
            <a:ext cx="2761615" cy="3685540"/>
          </a:xfrm>
          <a:prstGeom prst="rect">
            <a:avLst/>
          </a:prstGeom>
        </p:spPr>
      </p:pic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p14:dur="400">
        <p:fade/>
      </p:transition>
    </mc:Choice>
    <mc:Fallback>
      <p:transition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400"/>
                                        <p:tgtEl>
                                          <p:spTgt spid="5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9" grpId="0"/>
    </p:bld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2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4F9FF"/>
          </a:solidFill>
          <a:ln>
            <a:noFill/>
          </a:ln>
        </p:spPr>
      </p:sp>
      <p:sp>
        <p:nvSpPr>
          <p:cNvPr id="3" name="Rectangle 3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gradFill>
            <a:gsLst>
              <a:gs pos="0">
                <a:srgbClr val="26A7FF">
                  <a:alpha val="12000"/>
                </a:srgbClr>
              </a:gs>
              <a:gs pos="100000">
                <a:srgbClr val="26A7FF">
                  <a:alpha val="0"/>
                </a:srgbClr>
              </a:gs>
            </a:gsLst>
            <a:path path="circle">
              <a:fillToRect l="50000" t="50000" r="50000" b="50000"/>
            </a:path>
          </a:gradFill>
          <a:ln>
            <a:noFill/>
          </a:ln>
        </p:spPr>
      </p:sp>
      <p:sp>
        <p:nvSpPr>
          <p:cNvPr id="4" name="Ellipse 4"/>
          <p:cNvSpPr/>
          <p:nvPr/>
        </p:nvSpPr>
        <p:spPr>
          <a:xfrm>
            <a:off x="9391650" y="-304800"/>
            <a:ext cx="2362200" cy="2362200"/>
          </a:xfrm>
          <a:prstGeom prst="ellipse">
            <a:avLst/>
          </a:prstGeom>
          <a:solidFill>
            <a:srgbClr val="26A7FF">
              <a:alpha val="8000"/>
            </a:srgbClr>
          </a:solidFill>
          <a:ln>
            <a:noFill/>
          </a:ln>
        </p:spPr>
      </p:sp>
      <p:sp>
        <p:nvSpPr>
          <p:cNvPr id="5" name="Ellipse 5"/>
          <p:cNvSpPr/>
          <p:nvPr/>
        </p:nvSpPr>
        <p:spPr>
          <a:xfrm>
            <a:off x="10553700" y="647700"/>
            <a:ext cx="1638300" cy="1638300"/>
          </a:xfrm>
          <a:prstGeom prst="ellipse">
            <a:avLst/>
          </a:prstGeom>
          <a:solidFill>
            <a:srgbClr val="00D4FF">
              <a:alpha val="7000"/>
            </a:srgbClr>
          </a:solidFill>
          <a:ln>
            <a:noFill/>
          </a:ln>
        </p:spPr>
      </p:sp>
      <p:sp>
        <p:nvSpPr>
          <p:cNvPr id="6" name="Freeform 6"/>
          <p:cNvSpPr/>
          <p:nvPr/>
        </p:nvSpPr>
        <p:spPr>
          <a:xfrm>
            <a:off x="8382000" y="781050"/>
            <a:ext cx="3390900" cy="438150"/>
          </a:xfrm>
          <a:custGeom>
            <a:avLst/>
            <a:gdLst/>
            <a:ahLst/>
            <a:cxnLst/>
            <a:rect l="l" t="t" r="r" b="b"/>
            <a:pathLst>
              <a:path w="3390900" h="438150">
                <a:moveTo>
                  <a:pt x="0" y="0"/>
                </a:moveTo>
                <a:lnTo>
                  <a:pt x="1600200" y="0"/>
                </a:lnTo>
                <a:lnTo>
                  <a:pt x="2038350" y="438150"/>
                </a:lnTo>
                <a:lnTo>
                  <a:pt x="3390900" y="438150"/>
                </a:lnTo>
              </a:path>
            </a:pathLst>
          </a:custGeom>
          <a:noFill/>
          <a:ln w="13335">
            <a:solidFill>
              <a:srgbClr val="BFD9F4">
                <a:alpha val="75000"/>
              </a:srgbClr>
            </a:solidFill>
          </a:ln>
        </p:spPr>
      </p:sp>
      <p:sp>
        <p:nvSpPr>
          <p:cNvPr id="7" name="Freeform 7"/>
          <p:cNvSpPr/>
          <p:nvPr/>
        </p:nvSpPr>
        <p:spPr>
          <a:xfrm>
            <a:off x="8705850" y="5638800"/>
            <a:ext cx="2990850" cy="457200"/>
          </a:xfrm>
          <a:custGeom>
            <a:avLst/>
            <a:gdLst/>
            <a:ahLst/>
            <a:cxnLst/>
            <a:rect l="l" t="t" r="r" b="b"/>
            <a:pathLst>
              <a:path w="2990850" h="457200">
                <a:moveTo>
                  <a:pt x="0" y="457200"/>
                </a:moveTo>
                <a:lnTo>
                  <a:pt x="1295400" y="457200"/>
                </a:lnTo>
                <a:lnTo>
                  <a:pt x="1752600" y="0"/>
                </a:lnTo>
                <a:lnTo>
                  <a:pt x="2990850" y="0"/>
                </a:lnTo>
              </a:path>
            </a:pathLst>
          </a:custGeom>
          <a:noFill/>
          <a:ln w="11430">
            <a:solidFill>
              <a:srgbClr val="BFD9F4">
                <a:alpha val="65000"/>
              </a:srgbClr>
            </a:solidFill>
          </a:ln>
        </p:spPr>
      </p:sp>
      <p:sp>
        <p:nvSpPr>
          <p:cNvPr id="8" name="Freeform 8"/>
          <p:cNvSpPr/>
          <p:nvPr/>
        </p:nvSpPr>
        <p:spPr>
          <a:xfrm>
            <a:off x="419100" y="5734050"/>
            <a:ext cx="2057400" cy="381000"/>
          </a:xfrm>
          <a:custGeom>
            <a:avLst/>
            <a:gdLst/>
            <a:ahLst/>
            <a:cxnLst/>
            <a:rect l="l" t="t" r="r" b="b"/>
            <a:pathLst>
              <a:path w="2057400" h="381000">
                <a:moveTo>
                  <a:pt x="0" y="381000"/>
                </a:moveTo>
                <a:lnTo>
                  <a:pt x="1676400" y="381000"/>
                </a:lnTo>
                <a:lnTo>
                  <a:pt x="2057400" y="0"/>
                </a:lnTo>
              </a:path>
            </a:pathLst>
          </a:custGeom>
          <a:noFill/>
          <a:ln w="11430">
            <a:solidFill>
              <a:srgbClr val="D7EAFF">
                <a:alpha val="90000"/>
              </a:srgbClr>
            </a:solidFill>
          </a:ln>
        </p:spPr>
      </p:sp>
      <p:sp>
        <p:nvSpPr>
          <p:cNvPr id="9" name="Ellipse 9"/>
          <p:cNvSpPr/>
          <p:nvPr/>
        </p:nvSpPr>
        <p:spPr>
          <a:xfrm>
            <a:off x="9944100" y="742950"/>
            <a:ext cx="76200" cy="76200"/>
          </a:xfrm>
          <a:prstGeom prst="ellipse">
            <a:avLst/>
          </a:prstGeom>
          <a:solidFill>
            <a:srgbClr val="26A7FF"/>
          </a:solidFill>
          <a:ln>
            <a:noFill/>
          </a:ln>
        </p:spPr>
      </p:sp>
      <p:sp>
        <p:nvSpPr>
          <p:cNvPr id="10" name="Ellipse 10"/>
          <p:cNvSpPr/>
          <p:nvPr/>
        </p:nvSpPr>
        <p:spPr>
          <a:xfrm>
            <a:off x="10382250" y="1181100"/>
            <a:ext cx="76200" cy="76200"/>
          </a:xfrm>
          <a:prstGeom prst="ellipse">
            <a:avLst/>
          </a:prstGeom>
          <a:solidFill>
            <a:srgbClr val="00D4FF"/>
          </a:solidFill>
          <a:ln>
            <a:noFill/>
          </a:ln>
        </p:spPr>
      </p:sp>
      <p:sp>
        <p:nvSpPr>
          <p:cNvPr id="11" name="Ellipse 11"/>
          <p:cNvSpPr/>
          <p:nvPr/>
        </p:nvSpPr>
        <p:spPr>
          <a:xfrm>
            <a:off x="2438400" y="5695950"/>
            <a:ext cx="76200" cy="76200"/>
          </a:xfrm>
          <a:prstGeom prst="ellipse">
            <a:avLst/>
          </a:prstGeom>
          <a:solidFill>
            <a:srgbClr val="26A7FF"/>
          </a:solidFill>
          <a:ln>
            <a:noFill/>
          </a:ln>
        </p:spPr>
      </p:sp>
      <p:sp>
        <p:nvSpPr>
          <p:cNvPr id="12" name="Line 12"/>
          <p:cNvSpPr/>
          <p:nvPr/>
        </p:nvSpPr>
        <p:spPr>
          <a:xfrm>
            <a:off x="762000" y="0"/>
            <a:ext cx="9525" cy="6858000"/>
          </a:xfrm>
          <a:custGeom>
            <a:avLst/>
            <a:gdLst/>
            <a:ahLst/>
            <a:cxnLst/>
            <a:rect l="l" t="t" r="r" b="b"/>
            <a:pathLst>
              <a:path w="9525" h="6858000">
                <a:moveTo>
                  <a:pt x="0" y="0"/>
                </a:moveTo>
                <a:lnTo>
                  <a:pt x="0" y="6858000"/>
                </a:lnTo>
              </a:path>
            </a:pathLst>
          </a:custGeom>
          <a:noFill/>
          <a:ln w="4762">
            <a:solidFill>
              <a:srgbClr val="D7EAFF">
                <a:alpha val="22000"/>
              </a:srgbClr>
            </a:solidFill>
          </a:ln>
        </p:spPr>
      </p:sp>
      <p:sp>
        <p:nvSpPr>
          <p:cNvPr id="13" name="Line 13"/>
          <p:cNvSpPr/>
          <p:nvPr/>
        </p:nvSpPr>
        <p:spPr>
          <a:xfrm>
            <a:off x="1524000" y="0"/>
            <a:ext cx="9525" cy="6858000"/>
          </a:xfrm>
          <a:custGeom>
            <a:avLst/>
            <a:gdLst/>
            <a:ahLst/>
            <a:cxnLst/>
            <a:rect l="l" t="t" r="r" b="b"/>
            <a:pathLst>
              <a:path w="9525" h="6858000">
                <a:moveTo>
                  <a:pt x="0" y="0"/>
                </a:moveTo>
                <a:lnTo>
                  <a:pt x="0" y="6858000"/>
                </a:lnTo>
              </a:path>
            </a:pathLst>
          </a:custGeom>
          <a:noFill/>
          <a:ln w="4762">
            <a:solidFill>
              <a:srgbClr val="D7EAFF">
                <a:alpha val="22000"/>
              </a:srgbClr>
            </a:solidFill>
          </a:ln>
        </p:spPr>
      </p:sp>
      <p:sp>
        <p:nvSpPr>
          <p:cNvPr id="14" name="Line 14"/>
          <p:cNvSpPr/>
          <p:nvPr/>
        </p:nvSpPr>
        <p:spPr>
          <a:xfrm>
            <a:off x="2286000" y="0"/>
            <a:ext cx="9525" cy="6858000"/>
          </a:xfrm>
          <a:custGeom>
            <a:avLst/>
            <a:gdLst/>
            <a:ahLst/>
            <a:cxnLst/>
            <a:rect l="l" t="t" r="r" b="b"/>
            <a:pathLst>
              <a:path w="9525" h="6858000">
                <a:moveTo>
                  <a:pt x="0" y="0"/>
                </a:moveTo>
                <a:lnTo>
                  <a:pt x="0" y="6858000"/>
                </a:lnTo>
              </a:path>
            </a:pathLst>
          </a:custGeom>
          <a:noFill/>
          <a:ln w="4762">
            <a:solidFill>
              <a:srgbClr val="D7EAFF">
                <a:alpha val="22000"/>
              </a:srgbClr>
            </a:solidFill>
          </a:ln>
        </p:spPr>
      </p:sp>
      <p:sp>
        <p:nvSpPr>
          <p:cNvPr id="15" name="Line 15"/>
          <p:cNvSpPr/>
          <p:nvPr/>
        </p:nvSpPr>
        <p:spPr>
          <a:xfrm>
            <a:off x="3048000" y="0"/>
            <a:ext cx="9525" cy="6858000"/>
          </a:xfrm>
          <a:custGeom>
            <a:avLst/>
            <a:gdLst/>
            <a:ahLst/>
            <a:cxnLst/>
            <a:rect l="l" t="t" r="r" b="b"/>
            <a:pathLst>
              <a:path w="9525" h="6858000">
                <a:moveTo>
                  <a:pt x="0" y="0"/>
                </a:moveTo>
                <a:lnTo>
                  <a:pt x="0" y="6858000"/>
                </a:lnTo>
              </a:path>
            </a:pathLst>
          </a:custGeom>
          <a:noFill/>
          <a:ln w="4762">
            <a:solidFill>
              <a:srgbClr val="D7EAFF">
                <a:alpha val="22000"/>
              </a:srgbClr>
            </a:solidFill>
          </a:ln>
        </p:spPr>
      </p:sp>
      <p:sp>
        <p:nvSpPr>
          <p:cNvPr id="16" name="Line 16"/>
          <p:cNvSpPr/>
          <p:nvPr/>
        </p:nvSpPr>
        <p:spPr>
          <a:xfrm>
            <a:off x="3810000" y="0"/>
            <a:ext cx="9525" cy="6858000"/>
          </a:xfrm>
          <a:custGeom>
            <a:avLst/>
            <a:gdLst/>
            <a:ahLst/>
            <a:cxnLst/>
            <a:rect l="l" t="t" r="r" b="b"/>
            <a:pathLst>
              <a:path w="9525" h="6858000">
                <a:moveTo>
                  <a:pt x="0" y="0"/>
                </a:moveTo>
                <a:lnTo>
                  <a:pt x="0" y="6858000"/>
                </a:lnTo>
              </a:path>
            </a:pathLst>
          </a:custGeom>
          <a:noFill/>
          <a:ln w="4762">
            <a:solidFill>
              <a:srgbClr val="D7EAFF">
                <a:alpha val="22000"/>
              </a:srgbClr>
            </a:solidFill>
          </a:ln>
        </p:spPr>
      </p:sp>
      <p:sp>
        <p:nvSpPr>
          <p:cNvPr id="17" name="Line 17"/>
          <p:cNvSpPr/>
          <p:nvPr/>
        </p:nvSpPr>
        <p:spPr>
          <a:xfrm>
            <a:off x="4572000" y="0"/>
            <a:ext cx="9525" cy="6858000"/>
          </a:xfrm>
          <a:custGeom>
            <a:avLst/>
            <a:gdLst/>
            <a:ahLst/>
            <a:cxnLst/>
            <a:rect l="l" t="t" r="r" b="b"/>
            <a:pathLst>
              <a:path w="9525" h="6858000">
                <a:moveTo>
                  <a:pt x="0" y="0"/>
                </a:moveTo>
                <a:lnTo>
                  <a:pt x="0" y="6858000"/>
                </a:lnTo>
              </a:path>
            </a:pathLst>
          </a:custGeom>
          <a:noFill/>
          <a:ln w="4762">
            <a:solidFill>
              <a:srgbClr val="D7EAFF">
                <a:alpha val="22000"/>
              </a:srgbClr>
            </a:solidFill>
          </a:ln>
        </p:spPr>
      </p:sp>
      <p:sp>
        <p:nvSpPr>
          <p:cNvPr id="18" name="Line 18"/>
          <p:cNvSpPr/>
          <p:nvPr/>
        </p:nvSpPr>
        <p:spPr>
          <a:xfrm>
            <a:off x="5334000" y="0"/>
            <a:ext cx="9525" cy="6858000"/>
          </a:xfrm>
          <a:custGeom>
            <a:avLst/>
            <a:gdLst/>
            <a:ahLst/>
            <a:cxnLst/>
            <a:rect l="l" t="t" r="r" b="b"/>
            <a:pathLst>
              <a:path w="9525" h="6858000">
                <a:moveTo>
                  <a:pt x="0" y="0"/>
                </a:moveTo>
                <a:lnTo>
                  <a:pt x="0" y="6858000"/>
                </a:lnTo>
              </a:path>
            </a:pathLst>
          </a:custGeom>
          <a:noFill/>
          <a:ln w="4762">
            <a:solidFill>
              <a:srgbClr val="D7EAFF">
                <a:alpha val="22000"/>
              </a:srgbClr>
            </a:solidFill>
          </a:ln>
        </p:spPr>
      </p:sp>
      <p:sp>
        <p:nvSpPr>
          <p:cNvPr id="19" name="Line 19"/>
          <p:cNvSpPr/>
          <p:nvPr/>
        </p:nvSpPr>
        <p:spPr>
          <a:xfrm>
            <a:off x="6096000" y="0"/>
            <a:ext cx="9525" cy="6858000"/>
          </a:xfrm>
          <a:custGeom>
            <a:avLst/>
            <a:gdLst/>
            <a:ahLst/>
            <a:cxnLst/>
            <a:rect l="l" t="t" r="r" b="b"/>
            <a:pathLst>
              <a:path w="9525" h="6858000">
                <a:moveTo>
                  <a:pt x="0" y="0"/>
                </a:moveTo>
                <a:lnTo>
                  <a:pt x="0" y="6858000"/>
                </a:lnTo>
              </a:path>
            </a:pathLst>
          </a:custGeom>
          <a:noFill/>
          <a:ln w="4762">
            <a:solidFill>
              <a:srgbClr val="D7EAFF">
                <a:alpha val="22000"/>
              </a:srgbClr>
            </a:solidFill>
          </a:ln>
        </p:spPr>
      </p:sp>
      <p:sp>
        <p:nvSpPr>
          <p:cNvPr id="20" name="Line 20"/>
          <p:cNvSpPr/>
          <p:nvPr/>
        </p:nvSpPr>
        <p:spPr>
          <a:xfrm>
            <a:off x="6858000" y="0"/>
            <a:ext cx="9525" cy="6858000"/>
          </a:xfrm>
          <a:custGeom>
            <a:avLst/>
            <a:gdLst/>
            <a:ahLst/>
            <a:cxnLst/>
            <a:rect l="l" t="t" r="r" b="b"/>
            <a:pathLst>
              <a:path w="9525" h="6858000">
                <a:moveTo>
                  <a:pt x="0" y="0"/>
                </a:moveTo>
                <a:lnTo>
                  <a:pt x="0" y="6858000"/>
                </a:lnTo>
              </a:path>
            </a:pathLst>
          </a:custGeom>
          <a:noFill/>
          <a:ln w="4762">
            <a:solidFill>
              <a:srgbClr val="D7EAFF">
                <a:alpha val="22000"/>
              </a:srgbClr>
            </a:solidFill>
          </a:ln>
        </p:spPr>
      </p:sp>
      <p:sp>
        <p:nvSpPr>
          <p:cNvPr id="21" name="Line 21"/>
          <p:cNvSpPr/>
          <p:nvPr/>
        </p:nvSpPr>
        <p:spPr>
          <a:xfrm>
            <a:off x="7620000" y="0"/>
            <a:ext cx="9525" cy="6858000"/>
          </a:xfrm>
          <a:custGeom>
            <a:avLst/>
            <a:gdLst/>
            <a:ahLst/>
            <a:cxnLst/>
            <a:rect l="l" t="t" r="r" b="b"/>
            <a:pathLst>
              <a:path w="9525" h="6858000">
                <a:moveTo>
                  <a:pt x="0" y="0"/>
                </a:moveTo>
                <a:lnTo>
                  <a:pt x="0" y="6858000"/>
                </a:lnTo>
              </a:path>
            </a:pathLst>
          </a:custGeom>
          <a:noFill/>
          <a:ln w="4762">
            <a:solidFill>
              <a:srgbClr val="D7EAFF">
                <a:alpha val="22000"/>
              </a:srgbClr>
            </a:solidFill>
          </a:ln>
        </p:spPr>
      </p:sp>
      <p:sp>
        <p:nvSpPr>
          <p:cNvPr id="22" name="Line 22"/>
          <p:cNvSpPr/>
          <p:nvPr/>
        </p:nvSpPr>
        <p:spPr>
          <a:xfrm>
            <a:off x="8382000" y="0"/>
            <a:ext cx="9525" cy="6858000"/>
          </a:xfrm>
          <a:custGeom>
            <a:avLst/>
            <a:gdLst/>
            <a:ahLst/>
            <a:cxnLst/>
            <a:rect l="l" t="t" r="r" b="b"/>
            <a:pathLst>
              <a:path w="9525" h="6858000">
                <a:moveTo>
                  <a:pt x="0" y="0"/>
                </a:moveTo>
                <a:lnTo>
                  <a:pt x="0" y="6858000"/>
                </a:lnTo>
              </a:path>
            </a:pathLst>
          </a:custGeom>
          <a:noFill/>
          <a:ln w="4762">
            <a:solidFill>
              <a:srgbClr val="D7EAFF">
                <a:alpha val="22000"/>
              </a:srgbClr>
            </a:solidFill>
          </a:ln>
        </p:spPr>
      </p:sp>
      <p:sp>
        <p:nvSpPr>
          <p:cNvPr id="23" name="Line 23"/>
          <p:cNvSpPr/>
          <p:nvPr/>
        </p:nvSpPr>
        <p:spPr>
          <a:xfrm>
            <a:off x="9144000" y="0"/>
            <a:ext cx="9525" cy="6858000"/>
          </a:xfrm>
          <a:custGeom>
            <a:avLst/>
            <a:gdLst/>
            <a:ahLst/>
            <a:cxnLst/>
            <a:rect l="l" t="t" r="r" b="b"/>
            <a:pathLst>
              <a:path w="9525" h="6858000">
                <a:moveTo>
                  <a:pt x="0" y="0"/>
                </a:moveTo>
                <a:lnTo>
                  <a:pt x="0" y="6858000"/>
                </a:lnTo>
              </a:path>
            </a:pathLst>
          </a:custGeom>
          <a:noFill/>
          <a:ln w="4762">
            <a:solidFill>
              <a:srgbClr val="D7EAFF">
                <a:alpha val="22000"/>
              </a:srgbClr>
            </a:solidFill>
          </a:ln>
        </p:spPr>
      </p:sp>
      <p:sp>
        <p:nvSpPr>
          <p:cNvPr id="24" name="Line 24"/>
          <p:cNvSpPr/>
          <p:nvPr/>
        </p:nvSpPr>
        <p:spPr>
          <a:xfrm>
            <a:off x="9906000" y="0"/>
            <a:ext cx="9525" cy="6858000"/>
          </a:xfrm>
          <a:custGeom>
            <a:avLst/>
            <a:gdLst/>
            <a:ahLst/>
            <a:cxnLst/>
            <a:rect l="l" t="t" r="r" b="b"/>
            <a:pathLst>
              <a:path w="9525" h="6858000">
                <a:moveTo>
                  <a:pt x="0" y="0"/>
                </a:moveTo>
                <a:lnTo>
                  <a:pt x="0" y="6858000"/>
                </a:lnTo>
              </a:path>
            </a:pathLst>
          </a:custGeom>
          <a:noFill/>
          <a:ln w="4762">
            <a:solidFill>
              <a:srgbClr val="D7EAFF">
                <a:alpha val="22000"/>
              </a:srgbClr>
            </a:solidFill>
          </a:ln>
        </p:spPr>
      </p:sp>
      <p:sp>
        <p:nvSpPr>
          <p:cNvPr id="25" name="Line 25"/>
          <p:cNvSpPr/>
          <p:nvPr/>
        </p:nvSpPr>
        <p:spPr>
          <a:xfrm>
            <a:off x="10668000" y="0"/>
            <a:ext cx="9525" cy="6858000"/>
          </a:xfrm>
          <a:custGeom>
            <a:avLst/>
            <a:gdLst/>
            <a:ahLst/>
            <a:cxnLst/>
            <a:rect l="l" t="t" r="r" b="b"/>
            <a:pathLst>
              <a:path w="9525" h="6858000">
                <a:moveTo>
                  <a:pt x="0" y="0"/>
                </a:moveTo>
                <a:lnTo>
                  <a:pt x="0" y="6858000"/>
                </a:lnTo>
              </a:path>
            </a:pathLst>
          </a:custGeom>
          <a:noFill/>
          <a:ln w="4762">
            <a:solidFill>
              <a:srgbClr val="D7EAFF">
                <a:alpha val="22000"/>
              </a:srgbClr>
            </a:solidFill>
          </a:ln>
        </p:spPr>
      </p:sp>
      <p:sp>
        <p:nvSpPr>
          <p:cNvPr id="26" name="Line 26"/>
          <p:cNvSpPr/>
          <p:nvPr/>
        </p:nvSpPr>
        <p:spPr>
          <a:xfrm>
            <a:off x="11430000" y="0"/>
            <a:ext cx="9525" cy="6858000"/>
          </a:xfrm>
          <a:custGeom>
            <a:avLst/>
            <a:gdLst/>
            <a:ahLst/>
            <a:cxnLst/>
            <a:rect l="l" t="t" r="r" b="b"/>
            <a:pathLst>
              <a:path w="9525" h="6858000">
                <a:moveTo>
                  <a:pt x="0" y="0"/>
                </a:moveTo>
                <a:lnTo>
                  <a:pt x="0" y="6858000"/>
                </a:lnTo>
              </a:path>
            </a:pathLst>
          </a:custGeom>
          <a:noFill/>
          <a:ln w="4762">
            <a:solidFill>
              <a:srgbClr val="D7EAFF">
                <a:alpha val="22000"/>
              </a:srgbClr>
            </a:solidFill>
          </a:ln>
        </p:spPr>
      </p:sp>
      <p:sp>
        <p:nvSpPr>
          <p:cNvPr id="27" name="Line 27"/>
          <p:cNvSpPr/>
          <p:nvPr/>
        </p:nvSpPr>
        <p:spPr>
          <a:xfrm>
            <a:off x="0" y="762000"/>
            <a:ext cx="12192000" cy="9525"/>
          </a:xfrm>
          <a:custGeom>
            <a:avLst/>
            <a:gdLst/>
            <a:ahLst/>
            <a:cxnLst/>
            <a:rect l="l" t="t" r="r" b="b"/>
            <a:pathLst>
              <a:path w="12192000" h="9525">
                <a:moveTo>
                  <a:pt x="0" y="0"/>
                </a:moveTo>
                <a:lnTo>
                  <a:pt x="12192000" y="0"/>
                </a:lnTo>
              </a:path>
            </a:pathLst>
          </a:custGeom>
          <a:noFill/>
          <a:ln w="4762">
            <a:solidFill>
              <a:srgbClr val="D7EAFF">
                <a:alpha val="22000"/>
              </a:srgbClr>
            </a:solidFill>
          </a:ln>
        </p:spPr>
      </p:sp>
      <p:sp>
        <p:nvSpPr>
          <p:cNvPr id="28" name="Line 28"/>
          <p:cNvSpPr/>
          <p:nvPr/>
        </p:nvSpPr>
        <p:spPr>
          <a:xfrm>
            <a:off x="0" y="1524000"/>
            <a:ext cx="12192000" cy="9525"/>
          </a:xfrm>
          <a:custGeom>
            <a:avLst/>
            <a:gdLst/>
            <a:ahLst/>
            <a:cxnLst/>
            <a:rect l="l" t="t" r="r" b="b"/>
            <a:pathLst>
              <a:path w="12192000" h="9525">
                <a:moveTo>
                  <a:pt x="0" y="0"/>
                </a:moveTo>
                <a:lnTo>
                  <a:pt x="12192000" y="0"/>
                </a:lnTo>
              </a:path>
            </a:pathLst>
          </a:custGeom>
          <a:noFill/>
          <a:ln w="4762">
            <a:solidFill>
              <a:srgbClr val="D7EAFF">
                <a:alpha val="22000"/>
              </a:srgbClr>
            </a:solidFill>
          </a:ln>
        </p:spPr>
      </p:sp>
      <p:sp>
        <p:nvSpPr>
          <p:cNvPr id="29" name="Line 29"/>
          <p:cNvSpPr/>
          <p:nvPr/>
        </p:nvSpPr>
        <p:spPr>
          <a:xfrm>
            <a:off x="0" y="2286000"/>
            <a:ext cx="12192000" cy="9525"/>
          </a:xfrm>
          <a:custGeom>
            <a:avLst/>
            <a:gdLst/>
            <a:ahLst/>
            <a:cxnLst/>
            <a:rect l="l" t="t" r="r" b="b"/>
            <a:pathLst>
              <a:path w="12192000" h="9525">
                <a:moveTo>
                  <a:pt x="0" y="0"/>
                </a:moveTo>
                <a:lnTo>
                  <a:pt x="12192000" y="0"/>
                </a:lnTo>
              </a:path>
            </a:pathLst>
          </a:custGeom>
          <a:noFill/>
          <a:ln w="4762">
            <a:solidFill>
              <a:srgbClr val="D7EAFF">
                <a:alpha val="22000"/>
              </a:srgbClr>
            </a:solidFill>
          </a:ln>
        </p:spPr>
      </p:sp>
      <p:sp>
        <p:nvSpPr>
          <p:cNvPr id="30" name="Line 30"/>
          <p:cNvSpPr/>
          <p:nvPr/>
        </p:nvSpPr>
        <p:spPr>
          <a:xfrm>
            <a:off x="0" y="3048000"/>
            <a:ext cx="12192000" cy="9525"/>
          </a:xfrm>
          <a:custGeom>
            <a:avLst/>
            <a:gdLst/>
            <a:ahLst/>
            <a:cxnLst/>
            <a:rect l="l" t="t" r="r" b="b"/>
            <a:pathLst>
              <a:path w="12192000" h="9525">
                <a:moveTo>
                  <a:pt x="0" y="0"/>
                </a:moveTo>
                <a:lnTo>
                  <a:pt x="12192000" y="0"/>
                </a:lnTo>
              </a:path>
            </a:pathLst>
          </a:custGeom>
          <a:noFill/>
          <a:ln w="4762">
            <a:solidFill>
              <a:srgbClr val="D7EAFF">
                <a:alpha val="22000"/>
              </a:srgbClr>
            </a:solidFill>
          </a:ln>
        </p:spPr>
      </p:sp>
      <p:sp>
        <p:nvSpPr>
          <p:cNvPr id="31" name="Line 31"/>
          <p:cNvSpPr/>
          <p:nvPr/>
        </p:nvSpPr>
        <p:spPr>
          <a:xfrm>
            <a:off x="0" y="3810000"/>
            <a:ext cx="12192000" cy="9525"/>
          </a:xfrm>
          <a:custGeom>
            <a:avLst/>
            <a:gdLst/>
            <a:ahLst/>
            <a:cxnLst/>
            <a:rect l="l" t="t" r="r" b="b"/>
            <a:pathLst>
              <a:path w="12192000" h="9525">
                <a:moveTo>
                  <a:pt x="0" y="0"/>
                </a:moveTo>
                <a:lnTo>
                  <a:pt x="12192000" y="0"/>
                </a:lnTo>
              </a:path>
            </a:pathLst>
          </a:custGeom>
          <a:noFill/>
          <a:ln w="4762">
            <a:solidFill>
              <a:srgbClr val="D7EAFF">
                <a:alpha val="22000"/>
              </a:srgbClr>
            </a:solidFill>
          </a:ln>
        </p:spPr>
      </p:sp>
      <p:sp>
        <p:nvSpPr>
          <p:cNvPr id="32" name="Line 32"/>
          <p:cNvSpPr/>
          <p:nvPr/>
        </p:nvSpPr>
        <p:spPr>
          <a:xfrm>
            <a:off x="0" y="4572000"/>
            <a:ext cx="12192000" cy="9525"/>
          </a:xfrm>
          <a:custGeom>
            <a:avLst/>
            <a:gdLst/>
            <a:ahLst/>
            <a:cxnLst/>
            <a:rect l="l" t="t" r="r" b="b"/>
            <a:pathLst>
              <a:path w="12192000" h="9525">
                <a:moveTo>
                  <a:pt x="0" y="0"/>
                </a:moveTo>
                <a:lnTo>
                  <a:pt x="12192000" y="0"/>
                </a:lnTo>
              </a:path>
            </a:pathLst>
          </a:custGeom>
          <a:noFill/>
          <a:ln w="4762">
            <a:solidFill>
              <a:srgbClr val="D7EAFF">
                <a:alpha val="22000"/>
              </a:srgbClr>
            </a:solidFill>
          </a:ln>
        </p:spPr>
      </p:sp>
      <p:sp>
        <p:nvSpPr>
          <p:cNvPr id="33" name="Line 33"/>
          <p:cNvSpPr/>
          <p:nvPr/>
        </p:nvSpPr>
        <p:spPr>
          <a:xfrm>
            <a:off x="0" y="5334000"/>
            <a:ext cx="12192000" cy="9525"/>
          </a:xfrm>
          <a:custGeom>
            <a:avLst/>
            <a:gdLst/>
            <a:ahLst/>
            <a:cxnLst/>
            <a:rect l="l" t="t" r="r" b="b"/>
            <a:pathLst>
              <a:path w="12192000" h="9525">
                <a:moveTo>
                  <a:pt x="0" y="0"/>
                </a:moveTo>
                <a:lnTo>
                  <a:pt x="12192000" y="0"/>
                </a:lnTo>
              </a:path>
            </a:pathLst>
          </a:custGeom>
          <a:noFill/>
          <a:ln w="4762">
            <a:solidFill>
              <a:srgbClr val="D7EAFF">
                <a:alpha val="22000"/>
              </a:srgbClr>
            </a:solidFill>
          </a:ln>
        </p:spPr>
      </p:sp>
      <p:sp>
        <p:nvSpPr>
          <p:cNvPr id="34" name="Line 34"/>
          <p:cNvSpPr/>
          <p:nvPr/>
        </p:nvSpPr>
        <p:spPr>
          <a:xfrm>
            <a:off x="0" y="6096000"/>
            <a:ext cx="12192000" cy="9525"/>
          </a:xfrm>
          <a:custGeom>
            <a:avLst/>
            <a:gdLst/>
            <a:ahLst/>
            <a:cxnLst/>
            <a:rect l="l" t="t" r="r" b="b"/>
            <a:pathLst>
              <a:path w="12192000" h="9525">
                <a:moveTo>
                  <a:pt x="0" y="0"/>
                </a:moveTo>
                <a:lnTo>
                  <a:pt x="12192000" y="0"/>
                </a:lnTo>
              </a:path>
            </a:pathLst>
          </a:custGeom>
          <a:noFill/>
          <a:ln w="4762">
            <a:solidFill>
              <a:srgbClr val="D7EAFF">
                <a:alpha val="22000"/>
              </a:srgbClr>
            </a:solidFill>
          </a:ln>
        </p:spPr>
      </p:sp>
      <p:grpSp>
        <p:nvGrpSpPr>
          <p:cNvPr id="82" name="Group 82"/>
          <p:cNvGrpSpPr/>
          <p:nvPr/>
        </p:nvGrpSpPr>
        <p:grpSpPr>
          <a:xfrm>
            <a:off x="0" y="0"/>
            <a:ext cx="12192000" cy="6781800"/>
            <a:chOff x="0" y="0"/>
            <a:chExt cx="12192000" cy="6781800"/>
          </a:xfrm>
        </p:grpSpPr>
        <p:sp>
          <p:nvSpPr>
            <p:cNvPr id="35" name="Rectangle 35"/>
            <p:cNvSpPr/>
            <p:nvPr/>
          </p:nvSpPr>
          <p:spPr>
            <a:xfrm>
              <a:off x="0" y="0"/>
              <a:ext cx="12192000" cy="47625"/>
            </a:xfrm>
            <a:prstGeom prst="rect">
              <a:avLst/>
            </a:prstGeom>
            <a:gradFill>
              <a:gsLst>
                <a:gs pos="0">
                  <a:srgbClr val="0B57D0"/>
                </a:gs>
                <a:gs pos="52000">
                  <a:srgbClr val="26A7FF"/>
                </a:gs>
                <a:gs pos="100000">
                  <a:srgbClr val="00D4FF"/>
                </a:gs>
              </a:gsLst>
              <a:lin ang="0" scaled="1"/>
            </a:gradFill>
            <a:ln>
              <a:noFill/>
            </a:ln>
          </p:spPr>
        </p:sp>
        <p:sp>
          <p:nvSpPr>
            <p:cNvPr id="36" name="TextBox 36"/>
            <p:cNvSpPr txBox="1"/>
            <p:nvPr/>
          </p:nvSpPr>
          <p:spPr>
            <a:xfrm>
              <a:off x="504825" y="233362"/>
              <a:ext cx="1145540" cy="346075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2250" b="1" dirty="0">
                  <a:solidFill>
                    <a:srgbClr val="102033"/>
                  </a:solidFill>
                  <a:latin typeface="MiSans Heavy" panose="00000A00000000000000" charset="-122"/>
                  <a:ea typeface="MiSans Heavy" panose="00000A00000000000000" charset="-122"/>
                  <a:cs typeface="等线" panose="02010600030101010101" charset="-122"/>
                </a:rPr>
                <a:t>团队介绍</a:t>
              </a:r>
              <a:endParaRPr lang="zh-CN" sz="2250" b="1" dirty="0">
                <a:solidFill>
                  <a:srgbClr val="102033"/>
                </a:solidFill>
                <a:latin typeface="MiSans Heavy" panose="00000A00000000000000" charset="-122"/>
                <a:ea typeface="MiSans Heavy" panose="00000A00000000000000" charset="-122"/>
                <a:cs typeface="等线" panose="02010600030101010101" charset="-122"/>
              </a:endParaRPr>
            </a:p>
          </p:txBody>
        </p:sp>
        <p:sp>
          <p:nvSpPr>
            <p:cNvPr id="37" name="TextBox 37"/>
            <p:cNvSpPr txBox="1"/>
            <p:nvPr/>
          </p:nvSpPr>
          <p:spPr>
            <a:xfrm>
              <a:off x="521970" y="645795"/>
              <a:ext cx="1170940" cy="13843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00" b="1" dirty="0">
                  <a:solidFill>
                    <a:srgbClr val="0B57D0"/>
                  </a:solidFill>
                  <a:latin typeface="金山云技术体" charset="-122"/>
                  <a:ea typeface="金山云技术体" charset="-122"/>
                  <a:cs typeface="等线" panose="02010600030101010101" charset="-122"/>
                </a:rPr>
                <a:t>TEAM INTRODUCTION</a:t>
              </a:r>
              <a:endParaRPr lang="zh-CN" sz="900" b="1" dirty="0">
                <a:solidFill>
                  <a:srgbClr val="0B57D0"/>
                </a:solidFill>
                <a:latin typeface="金山云技术体" charset="-122"/>
                <a:ea typeface="金山云技术体" charset="-122"/>
                <a:cs typeface="等线" panose="02010600030101010101" charset="-122"/>
              </a:endParaRPr>
            </a:p>
          </p:txBody>
        </p:sp>
        <p:sp>
          <p:nvSpPr>
            <p:cNvPr id="38" name="Line 38"/>
            <p:cNvSpPr/>
            <p:nvPr/>
          </p:nvSpPr>
          <p:spPr>
            <a:xfrm>
              <a:off x="533400" y="876300"/>
              <a:ext cx="11125200" cy="9525"/>
            </a:xfrm>
            <a:custGeom>
              <a:avLst/>
              <a:gdLst/>
              <a:ahLst/>
              <a:cxnLst/>
              <a:rect l="l" t="t" r="r" b="b"/>
              <a:pathLst>
                <a:path w="11125200" h="9525">
                  <a:moveTo>
                    <a:pt x="0" y="0"/>
                  </a:moveTo>
                  <a:lnTo>
                    <a:pt x="11125200" y="0"/>
                  </a:lnTo>
                </a:path>
              </a:pathLst>
            </a:custGeom>
            <a:noFill/>
            <a:ln w="11430">
              <a:solidFill>
                <a:srgbClr val="BFD9F4"/>
              </a:solidFill>
            </a:ln>
          </p:spPr>
        </p:sp>
        <p:sp>
          <p:nvSpPr>
            <p:cNvPr id="39" name="Rectangle 39"/>
            <p:cNvSpPr/>
            <p:nvPr/>
          </p:nvSpPr>
          <p:spPr>
            <a:xfrm>
              <a:off x="533400" y="1028700"/>
              <a:ext cx="95250" cy="95250"/>
            </a:xfrm>
            <a:prstGeom prst="roundRect">
              <a:avLst>
                <a:gd name="adj" fmla="val 50000"/>
              </a:avLst>
            </a:prstGeom>
            <a:solidFill>
              <a:srgbClr val="00D4FF"/>
            </a:solidFill>
            <a:ln>
              <a:noFill/>
            </a:ln>
          </p:spPr>
        </p:sp>
        <p:sp>
          <p:nvSpPr>
            <p:cNvPr id="40" name="TextBox 40"/>
            <p:cNvSpPr txBox="1"/>
            <p:nvPr/>
          </p:nvSpPr>
          <p:spPr>
            <a:xfrm>
              <a:off x="765810" y="1003935"/>
              <a:ext cx="6434454" cy="18466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altLang="zh-CN" sz="1200" b="1" dirty="0">
                  <a:solidFill>
                    <a:srgbClr val="51677F"/>
                  </a:solidFill>
                  <a:latin typeface="MiSans Normal" panose="00000500000000000000" charset="-122"/>
                  <a:ea typeface="MiSans Normal" panose="00000500000000000000" charset="-122"/>
                  <a:cs typeface="MiSans Normal" panose="00000500000000000000" charset="-122"/>
                </a:rPr>
                <a:t>S</a:t>
              </a:r>
              <a:r>
                <a:rPr lang="zh-CN" altLang="en-US" sz="1200" b="1" dirty="0">
                  <a:solidFill>
                    <a:srgbClr val="51677F"/>
                  </a:solidFill>
                  <a:latin typeface="MiSans Normal" panose="00000500000000000000" charset="-122"/>
                  <a:ea typeface="MiSans Normal" panose="00000500000000000000" charset="-122"/>
                  <a:cs typeface="MiSans Normal" panose="00000500000000000000" charset="-122"/>
                </a:rPr>
                <a:t>三</a:t>
              </a:r>
              <a:r>
                <a:rPr lang="zh-CN" sz="1200" b="1" dirty="0">
                  <a:solidFill>
                    <a:srgbClr val="51677F"/>
                  </a:solidFill>
                  <a:latin typeface="MiSans Normal" panose="00000500000000000000" charset="-122"/>
                  <a:ea typeface="MiSans Normal" panose="00000500000000000000" charset="-122"/>
                  <a:cs typeface="MiSans Normal" panose="00000500000000000000" charset="-122"/>
                </a:rPr>
                <a:t>人团队采用产品</a:t>
              </a:r>
              <a:r>
                <a:rPr lang="en-US" altLang="zh-CN" sz="1200" b="1" dirty="0">
                  <a:solidFill>
                    <a:srgbClr val="51677F"/>
                  </a:solidFill>
                  <a:latin typeface="MiSans Normal" panose="00000500000000000000" charset="-122"/>
                  <a:ea typeface="MiSans Normal" panose="00000500000000000000" charset="-122"/>
                  <a:cs typeface="MiSans Normal" panose="00000500000000000000" charset="-122"/>
                </a:rPr>
                <a:t>=</a:t>
              </a:r>
              <a:r>
                <a:rPr lang="zh-CN" altLang="en-US" sz="1200" b="1" dirty="0">
                  <a:solidFill>
                    <a:srgbClr val="51677F"/>
                  </a:solidFill>
                  <a:latin typeface="MiSans Normal" panose="00000500000000000000" charset="-122"/>
                  <a:ea typeface="MiSans Normal" panose="00000500000000000000" charset="-122"/>
                  <a:cs typeface="MiSans Normal" panose="00000500000000000000" charset="-122"/>
                </a:rPr>
                <a:t>策划、</a:t>
              </a:r>
              <a:r>
                <a:rPr lang="zh-CN" sz="1200" b="1" dirty="0">
                  <a:solidFill>
                    <a:srgbClr val="51677F"/>
                  </a:solidFill>
                  <a:latin typeface="MiSans Normal" panose="00000500000000000000" charset="-122"/>
                  <a:ea typeface="MiSans Normal" panose="00000500000000000000" charset="-122"/>
                  <a:cs typeface="MiSans Normal" panose="00000500000000000000" charset="-122"/>
                </a:rPr>
                <a:t>设计与研发 Demo </a:t>
              </a:r>
              <a:r>
                <a:rPr lang="zh-CN" altLang="en-US" sz="1200" b="1" dirty="0">
                  <a:solidFill>
                    <a:srgbClr val="51677F"/>
                  </a:solidFill>
                  <a:latin typeface="MiSans Normal" panose="00000500000000000000" charset="-122"/>
                  <a:ea typeface="MiSans Normal" panose="00000500000000000000" charset="-122"/>
                  <a:cs typeface="MiSans Normal" panose="00000500000000000000" charset="-122"/>
                </a:rPr>
                <a:t>分工</a:t>
              </a:r>
              <a:r>
                <a:rPr lang="zh-CN" sz="1200" b="1" dirty="0">
                  <a:solidFill>
                    <a:srgbClr val="51677F"/>
                  </a:solidFill>
                  <a:latin typeface="MiSans Normal" panose="00000500000000000000" charset="-122"/>
                  <a:ea typeface="MiSans Normal" panose="00000500000000000000" charset="-122"/>
                  <a:cs typeface="MiSans Normal" panose="00000500000000000000" charset="-122"/>
                </a:rPr>
                <a:t>协作，覆盖方案、原型、联调和提交材料。</a:t>
              </a:r>
              <a:endParaRPr lang="zh-CN" sz="1200" b="1" dirty="0">
                <a:solidFill>
                  <a:srgbClr val="51677F"/>
                </a:solidFill>
                <a:latin typeface="MiSans Normal" panose="00000500000000000000" charset="-122"/>
                <a:ea typeface="MiSans Normal" panose="00000500000000000000" charset="-122"/>
                <a:cs typeface="MiSans Normal" panose="00000500000000000000" charset="-122"/>
              </a:endParaRPr>
            </a:p>
          </p:txBody>
        </p:sp>
        <p:sp>
          <p:nvSpPr>
            <p:cNvPr id="41" name="Rectangle 41"/>
            <p:cNvSpPr/>
            <p:nvPr/>
          </p:nvSpPr>
          <p:spPr>
            <a:xfrm>
              <a:off x="495300" y="1581150"/>
              <a:ext cx="11353800" cy="972820"/>
            </a:xfrm>
            <a:prstGeom prst="roundRect">
              <a:avLst>
                <a:gd name="adj" fmla="val 16667"/>
              </a:avLst>
            </a:prstGeom>
            <a:solidFill>
              <a:srgbClr val="0B57D0">
                <a:alpha val="5000"/>
              </a:srgbClr>
            </a:solidFill>
            <a:ln>
              <a:noFill/>
            </a:ln>
          </p:spPr>
        </p:sp>
        <p:sp>
          <p:nvSpPr>
            <p:cNvPr id="42" name="Rectangle 42"/>
            <p:cNvSpPr/>
            <p:nvPr/>
          </p:nvSpPr>
          <p:spPr>
            <a:xfrm>
              <a:off x="416285" y="1536399"/>
              <a:ext cx="11353800" cy="859790"/>
            </a:xfrm>
            <a:prstGeom prst="roundRect">
              <a:avLst>
                <a:gd name="adj" fmla="val 16667"/>
              </a:avLst>
            </a:prstGeom>
            <a:solidFill>
              <a:srgbClr val="FFFFFF"/>
            </a:solidFill>
            <a:ln w="11430">
              <a:solidFill>
                <a:srgbClr val="BFD9F4"/>
              </a:solidFill>
            </a:ln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43" name="Line 43"/>
            <p:cNvSpPr/>
            <p:nvPr/>
          </p:nvSpPr>
          <p:spPr>
            <a:xfrm>
              <a:off x="590550" y="1515745"/>
              <a:ext cx="1238250" cy="9525"/>
            </a:xfrm>
            <a:custGeom>
              <a:avLst/>
              <a:gdLst/>
              <a:ahLst/>
              <a:cxnLst/>
              <a:rect l="l" t="t" r="r" b="b"/>
              <a:pathLst>
                <a:path w="1238250" h="9525">
                  <a:moveTo>
                    <a:pt x="0" y="0"/>
                  </a:moveTo>
                  <a:lnTo>
                    <a:pt x="1238250" y="0"/>
                  </a:lnTo>
                </a:path>
              </a:pathLst>
            </a:custGeom>
            <a:noFill/>
            <a:ln w="19050">
              <a:solidFill>
                <a:srgbClr val="26A7FF">
                  <a:alpha val="90000"/>
                </a:srgbClr>
              </a:solidFill>
            </a:ln>
          </p:spPr>
        </p:sp>
        <p:sp>
          <p:nvSpPr>
            <p:cNvPr id="44" name="Rectangle 44"/>
            <p:cNvSpPr/>
            <p:nvPr/>
          </p:nvSpPr>
          <p:spPr>
            <a:xfrm>
              <a:off x="590550" y="1657350"/>
              <a:ext cx="285750" cy="285750"/>
            </a:xfrm>
            <a:prstGeom prst="roundRect">
              <a:avLst>
                <a:gd name="adj" fmla="val 33333"/>
              </a:avLst>
            </a:prstGeom>
            <a:solidFill>
              <a:srgbClr val="E7F2FF"/>
            </a:solidFill>
            <a:ln>
              <a:noFill/>
            </a:ln>
          </p:spPr>
        </p:sp>
        <p:grpSp>
          <p:nvGrpSpPr>
            <p:cNvPr id="47" name="Group 47"/>
            <p:cNvGrpSpPr/>
            <p:nvPr/>
          </p:nvGrpSpPr>
          <p:grpSpPr>
            <a:xfrm>
              <a:off x="677862" y="1720850"/>
              <a:ext cx="111125" cy="158750"/>
              <a:chOff x="677862" y="1720850"/>
              <a:chExt cx="111125" cy="158750"/>
            </a:xfrm>
          </p:grpSpPr>
          <p:sp>
            <p:nvSpPr>
              <p:cNvPr id="45" name="Freeform 45"/>
              <p:cNvSpPr/>
              <p:nvPr/>
            </p:nvSpPr>
            <p:spPr>
              <a:xfrm>
                <a:off x="693738" y="1720850"/>
                <a:ext cx="79375" cy="79375"/>
              </a:xfrm>
              <a:custGeom>
                <a:avLst/>
                <a:gdLst/>
                <a:ahLst/>
                <a:cxnLst/>
                <a:rect l="l" t="t" r="r" b="b"/>
                <a:pathLst>
                  <a:path w="79375" h="79375">
                    <a:moveTo>
                      <a:pt x="39688" y="0"/>
                    </a:moveTo>
                    <a:cubicBezTo>
                      <a:pt x="61606" y="0"/>
                      <a:pt x="79375" y="17769"/>
                      <a:pt x="79375" y="39688"/>
                    </a:cubicBezTo>
                    <a:cubicBezTo>
                      <a:pt x="79375" y="61606"/>
                      <a:pt x="61606" y="79375"/>
                      <a:pt x="39688" y="79375"/>
                    </a:cubicBezTo>
                    <a:cubicBezTo>
                      <a:pt x="17769" y="79375"/>
                      <a:pt x="0" y="61606"/>
                      <a:pt x="0" y="39688"/>
                    </a:cubicBezTo>
                    <a:lnTo>
                      <a:pt x="40" y="37965"/>
                    </a:lnTo>
                    <a:cubicBezTo>
                      <a:pt x="962" y="16737"/>
                      <a:pt x="18439" y="1"/>
                      <a:pt x="39687" y="0"/>
                    </a:cubicBezTo>
                    <a:close/>
                  </a:path>
                </a:pathLst>
              </a:custGeom>
              <a:solidFill>
                <a:srgbClr val="0B57D0"/>
              </a:solidFill>
              <a:ln>
                <a:noFill/>
              </a:ln>
            </p:spPr>
          </p:sp>
          <p:sp>
            <p:nvSpPr>
              <p:cNvPr id="46" name="Freeform 46"/>
              <p:cNvSpPr/>
              <p:nvPr/>
            </p:nvSpPr>
            <p:spPr>
              <a:xfrm>
                <a:off x="677862" y="1816100"/>
                <a:ext cx="111125" cy="63500"/>
              </a:xfrm>
              <a:custGeom>
                <a:avLst/>
                <a:gdLst/>
                <a:ahLst/>
                <a:cxnLst/>
                <a:rect l="l" t="t" r="r" b="b"/>
                <a:pathLst>
                  <a:path w="111125" h="63500">
                    <a:moveTo>
                      <a:pt x="71438" y="0"/>
                    </a:moveTo>
                    <a:cubicBezTo>
                      <a:pt x="93356" y="0"/>
                      <a:pt x="111125" y="17769"/>
                      <a:pt x="111125" y="39688"/>
                    </a:cubicBezTo>
                    <a:lnTo>
                      <a:pt x="111125" y="47625"/>
                    </a:lnTo>
                    <a:cubicBezTo>
                      <a:pt x="111125" y="56393"/>
                      <a:pt x="104018" y="63500"/>
                      <a:pt x="95250" y="63500"/>
                    </a:cubicBezTo>
                    <a:lnTo>
                      <a:pt x="15875" y="63500"/>
                    </a:lnTo>
                    <a:cubicBezTo>
                      <a:pt x="7107" y="63500"/>
                      <a:pt x="0" y="56393"/>
                      <a:pt x="0" y="47625"/>
                    </a:cubicBezTo>
                    <a:lnTo>
                      <a:pt x="0" y="39688"/>
                    </a:lnTo>
                    <a:cubicBezTo>
                      <a:pt x="0" y="17769"/>
                      <a:pt x="17769" y="0"/>
                      <a:pt x="39687" y="0"/>
                    </a:cubicBezTo>
                    <a:lnTo>
                      <a:pt x="71438" y="0"/>
                    </a:lnTo>
                    <a:close/>
                  </a:path>
                </a:pathLst>
              </a:custGeom>
              <a:solidFill>
                <a:srgbClr val="0B57D0"/>
              </a:solidFill>
              <a:ln>
                <a:noFill/>
              </a:ln>
            </p:spPr>
          </p:sp>
        </p:grpSp>
        <p:sp>
          <p:nvSpPr>
            <p:cNvPr id="48" name="TextBox 48"/>
            <p:cNvSpPr txBox="1"/>
            <p:nvPr/>
          </p:nvSpPr>
          <p:spPr>
            <a:xfrm>
              <a:off x="971867" y="1697196"/>
              <a:ext cx="815340" cy="245745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600" b="1" dirty="0">
                  <a:solidFill>
                    <a:srgbClr val="102033"/>
                  </a:solidFill>
                  <a:latin typeface="MiSans Normal" panose="00000500000000000000" charset="-122"/>
                  <a:ea typeface="MiSans Normal" panose="00000500000000000000" charset="-122"/>
                  <a:cs typeface="等线" panose="02010600030101010101" charset="-122"/>
                </a:rPr>
                <a:t>团队说明</a:t>
              </a:r>
              <a:endParaRPr lang="zh-CN" sz="1600" b="1" dirty="0">
                <a:solidFill>
                  <a:srgbClr val="102033"/>
                </a:solidFill>
                <a:latin typeface="MiSans Normal" panose="00000500000000000000" charset="-122"/>
                <a:ea typeface="MiSans Normal" panose="00000500000000000000" charset="-122"/>
                <a:cs typeface="等线" panose="02010600030101010101" charset="-122"/>
              </a:endParaRPr>
            </a:p>
          </p:txBody>
        </p:sp>
        <p:sp>
          <p:nvSpPr>
            <p:cNvPr id="49" name="TextBox 49"/>
            <p:cNvSpPr txBox="1"/>
            <p:nvPr/>
          </p:nvSpPr>
          <p:spPr>
            <a:xfrm>
              <a:off x="633412" y="2050256"/>
              <a:ext cx="5328382" cy="17312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r>
                <a:rPr lang="zh-CN" sz="1125" dirty="0">
                  <a:solidFill>
                    <a:srgbClr val="51677F"/>
                  </a:solidFill>
                  <a:latin typeface="MiSans Normal" panose="00000500000000000000" charset="-122"/>
                  <a:ea typeface="MiSans Normal" panose="00000500000000000000" charset="-122"/>
                  <a:cs typeface="MiSans Normal" panose="00000500000000000000" charset="-122"/>
                </a:rPr>
                <a:t>团队当前为</a:t>
              </a:r>
              <a:r>
                <a:rPr lang="zh-CN" altLang="en-US" sz="1125" dirty="0">
                  <a:solidFill>
                    <a:srgbClr val="51677F"/>
                  </a:solidFill>
                  <a:latin typeface="MiSans Normal" panose="00000500000000000000" charset="-122"/>
                  <a:ea typeface="MiSans Normal" panose="00000500000000000000" charset="-122"/>
                  <a:cs typeface="MiSans Normal" panose="00000500000000000000" charset="-122"/>
                </a:rPr>
                <a:t>三</a:t>
              </a:r>
              <a:r>
                <a:rPr lang="zh-CN" sz="1125" dirty="0">
                  <a:solidFill>
                    <a:srgbClr val="51677F"/>
                  </a:solidFill>
                  <a:latin typeface="MiSans Normal" panose="00000500000000000000" charset="-122"/>
                  <a:ea typeface="MiSans Normal" panose="00000500000000000000" charset="-122"/>
                  <a:cs typeface="MiSans Normal" panose="00000500000000000000" charset="-122"/>
                </a:rPr>
                <a:t>人配置，因此采用</a:t>
              </a:r>
              <a:r>
                <a:rPr lang="zh-CN" altLang="en-US" sz="1125" dirty="0">
                  <a:solidFill>
                    <a:srgbClr val="51677F"/>
                  </a:solidFill>
                  <a:latin typeface="MiSans Normal" panose="00000500000000000000" charset="-122"/>
                  <a:ea typeface="MiSans Normal" panose="00000500000000000000" charset="-122"/>
                  <a:cs typeface="MiSans Normal" panose="00000500000000000000" charset="-122"/>
                </a:rPr>
                <a:t>“产品策划</a:t>
              </a:r>
              <a:r>
                <a:rPr lang="en-US" altLang="zh-CN" sz="1125" dirty="0">
                  <a:solidFill>
                    <a:srgbClr val="51677F"/>
                  </a:solidFill>
                  <a:latin typeface="MiSans Normal" panose="00000500000000000000" charset="-122"/>
                  <a:ea typeface="MiSans Normal" panose="00000500000000000000" charset="-122"/>
                  <a:cs typeface="MiSans Normal" panose="00000500000000000000" charset="-122"/>
                </a:rPr>
                <a:t>+</a:t>
              </a:r>
              <a:r>
                <a:rPr lang="zh-CN" altLang="en-US" sz="1125" dirty="0">
                  <a:solidFill>
                    <a:srgbClr val="51677F"/>
                  </a:solidFill>
                  <a:latin typeface="MiSans Normal" panose="00000500000000000000" charset="-122"/>
                  <a:ea typeface="MiSans Normal" panose="00000500000000000000" charset="-122"/>
                  <a:cs typeface="MiSans Normal" panose="00000500000000000000" charset="-122"/>
                </a:rPr>
                <a:t>技术研发</a:t>
              </a:r>
              <a:r>
                <a:rPr lang="en-US" altLang="zh-CN" sz="1125" dirty="0">
                  <a:solidFill>
                    <a:srgbClr val="51677F"/>
                  </a:solidFill>
                  <a:latin typeface="MiSans Normal" panose="00000500000000000000" charset="-122"/>
                  <a:ea typeface="MiSans Normal" panose="00000500000000000000" charset="-122"/>
                  <a:cs typeface="MiSans Normal" panose="00000500000000000000" charset="-122"/>
                </a:rPr>
                <a:t>+</a:t>
              </a:r>
              <a:r>
                <a:rPr lang="zh-CN" altLang="en-US" sz="1125" dirty="0">
                  <a:solidFill>
                    <a:srgbClr val="51677F"/>
                  </a:solidFill>
                  <a:latin typeface="MiSans Normal" panose="00000500000000000000" charset="-122"/>
                  <a:ea typeface="MiSans Normal" panose="00000500000000000000" charset="-122"/>
                  <a:cs typeface="MiSans Normal" panose="00000500000000000000" charset="-122"/>
                </a:rPr>
                <a:t>视觉设计”</a:t>
              </a:r>
              <a:r>
                <a:rPr lang="zh-CN" sz="1125" dirty="0">
                  <a:solidFill>
                    <a:srgbClr val="51677F"/>
                  </a:solidFill>
                  <a:latin typeface="MiSans Normal" panose="00000500000000000000" charset="-122"/>
                  <a:ea typeface="MiSans Normal" panose="00000500000000000000" charset="-122"/>
                  <a:cs typeface="MiSans Normal" panose="00000500000000000000" charset="-122"/>
                </a:rPr>
                <a:t>的</a:t>
              </a:r>
              <a:r>
                <a:rPr lang="zh-CN" altLang="en-US" sz="1125" dirty="0">
                  <a:solidFill>
                    <a:srgbClr val="51677F"/>
                  </a:solidFill>
                  <a:latin typeface="MiSans Normal" panose="00000500000000000000" charset="-122"/>
                  <a:ea typeface="MiSans Normal" panose="00000500000000000000" charset="-122"/>
                  <a:cs typeface="MiSans Normal" panose="00000500000000000000" charset="-122"/>
                </a:rPr>
                <a:t>全链路分工模式</a:t>
              </a:r>
              <a:r>
                <a:rPr lang="zh-CN" sz="1125" dirty="0">
                  <a:solidFill>
                    <a:srgbClr val="51677F"/>
                  </a:solidFill>
                  <a:latin typeface="MiSans Normal" panose="00000500000000000000" charset="-122"/>
                  <a:ea typeface="MiSans Normal" panose="00000500000000000000" charset="-122"/>
                  <a:cs typeface="MiSans Normal" panose="00000500000000000000" charset="-122"/>
                </a:rPr>
                <a:t>。</a:t>
              </a:r>
              <a:endParaRPr lang="zh-CN" sz="1125" dirty="0">
                <a:solidFill>
                  <a:srgbClr val="51677F"/>
                </a:solidFill>
                <a:latin typeface="MiSans Normal" panose="00000500000000000000" charset="-122"/>
                <a:ea typeface="MiSans Normal" panose="00000500000000000000" charset="-122"/>
                <a:cs typeface="MiSans Normal" panose="00000500000000000000" charset="-122"/>
              </a:endParaRPr>
            </a:p>
          </p:txBody>
        </p:sp>
        <p:sp>
          <p:nvSpPr>
            <p:cNvPr id="50" name="Rectangle 50"/>
            <p:cNvSpPr/>
            <p:nvPr/>
          </p:nvSpPr>
          <p:spPr>
            <a:xfrm>
              <a:off x="495300" y="2819400"/>
              <a:ext cx="3619500" cy="3048000"/>
            </a:xfrm>
            <a:prstGeom prst="roundRect">
              <a:avLst>
                <a:gd name="adj" fmla="val 6250"/>
              </a:avLst>
            </a:prstGeom>
            <a:solidFill>
              <a:srgbClr val="0B57D0">
                <a:alpha val="5000"/>
              </a:srgbClr>
            </a:solidFill>
            <a:ln>
              <a:noFill/>
            </a:ln>
          </p:spPr>
        </p:sp>
        <p:sp>
          <p:nvSpPr>
            <p:cNvPr id="51" name="Rectangle 51"/>
            <p:cNvSpPr/>
            <p:nvPr/>
          </p:nvSpPr>
          <p:spPr>
            <a:xfrm>
              <a:off x="419100" y="2724150"/>
              <a:ext cx="3619500" cy="3048000"/>
            </a:xfrm>
            <a:prstGeom prst="roundRect">
              <a:avLst>
                <a:gd name="adj" fmla="val 6250"/>
              </a:avLst>
            </a:prstGeom>
            <a:solidFill>
              <a:srgbClr val="FFFFFF"/>
            </a:solidFill>
            <a:ln w="11430">
              <a:solidFill>
                <a:srgbClr val="BFD9F4"/>
              </a:solidFill>
            </a:ln>
          </p:spPr>
        </p:sp>
        <p:sp>
          <p:nvSpPr>
            <p:cNvPr id="52" name="Line 52"/>
            <p:cNvSpPr/>
            <p:nvPr/>
          </p:nvSpPr>
          <p:spPr>
            <a:xfrm>
              <a:off x="590550" y="2733675"/>
              <a:ext cx="1238250" cy="9525"/>
            </a:xfrm>
            <a:custGeom>
              <a:avLst/>
              <a:gdLst/>
              <a:ahLst/>
              <a:cxnLst/>
              <a:rect l="l" t="t" r="r" b="b"/>
              <a:pathLst>
                <a:path w="1238250" h="9525">
                  <a:moveTo>
                    <a:pt x="0" y="0"/>
                  </a:moveTo>
                  <a:lnTo>
                    <a:pt x="1238250" y="0"/>
                  </a:lnTo>
                </a:path>
              </a:pathLst>
            </a:custGeom>
            <a:noFill/>
            <a:ln w="19050">
              <a:solidFill>
                <a:srgbClr val="26A7FF">
                  <a:alpha val="90000"/>
                </a:srgbClr>
              </a:solidFill>
            </a:ln>
          </p:spPr>
        </p:sp>
        <p:sp>
          <p:nvSpPr>
            <p:cNvPr id="56" name="TextBox 56"/>
            <p:cNvSpPr txBox="1"/>
            <p:nvPr/>
          </p:nvSpPr>
          <p:spPr>
            <a:xfrm>
              <a:off x="643890" y="2910840"/>
              <a:ext cx="3233420" cy="276999"/>
            </a:xfrm>
            <a:prstGeom prst="rect">
              <a:avLst/>
            </a:prstGeom>
            <a:noFill/>
            <a:ln>
              <a:noFill/>
            </a:ln>
          </p:spPr>
          <p:txBody>
            <a:bodyPr wrap="square" lIns="0" tIns="0" rIns="0" bIns="0" anchor="t" anchorCtr="0">
              <a:spAutoFit/>
            </a:bodyPr>
            <a:lstStyle/>
            <a:p>
              <a:pPr algn="l"/>
              <a:r>
                <a:rPr lang="zh-CN" sz="1800" b="1" dirty="0">
                  <a:solidFill>
                    <a:srgbClr val="102033"/>
                  </a:solidFill>
                  <a:latin typeface="MiSans Heavy" panose="00000A00000000000000" charset="-122"/>
                  <a:ea typeface="MiSans Heavy" panose="00000A00000000000000" charset="-122"/>
                  <a:cs typeface="MiSans Heavy" panose="00000A00000000000000" charset="-122"/>
                </a:rPr>
                <a:t>成员 A：饶雄超，大连理工大学</a:t>
              </a:r>
              <a:endParaRPr lang="zh-CN" sz="1800" b="1" dirty="0">
                <a:solidFill>
                  <a:srgbClr val="102033"/>
                </a:solidFill>
                <a:latin typeface="MiSans Heavy" panose="00000A00000000000000" charset="-122"/>
                <a:ea typeface="MiSans Heavy" panose="00000A00000000000000" charset="-122"/>
                <a:cs typeface="MiSans Heavy" panose="00000A00000000000000" charset="-122"/>
              </a:endParaRPr>
            </a:p>
          </p:txBody>
        </p:sp>
        <p:sp>
          <p:nvSpPr>
            <p:cNvPr id="57" name="TextBox 57"/>
            <p:cNvSpPr txBox="1"/>
            <p:nvPr/>
          </p:nvSpPr>
          <p:spPr>
            <a:xfrm>
              <a:off x="651510" y="3331210"/>
              <a:ext cx="1224280" cy="184666"/>
            </a:xfrm>
            <a:prstGeom prst="rect">
              <a:avLst/>
            </a:prstGeom>
            <a:noFill/>
            <a:ln>
              <a:noFill/>
            </a:ln>
          </p:spPr>
          <p:txBody>
            <a:bodyPr wrap="square" lIns="0" tIns="0" rIns="0" bIns="0" anchor="t" anchorCtr="0">
              <a:spAutoFit/>
            </a:bodyPr>
            <a:lstStyle/>
            <a:p>
              <a:pPr algn="l"/>
              <a:r>
                <a:rPr lang="zh-CN" sz="1200" b="1" dirty="0">
                  <a:solidFill>
                    <a:srgbClr val="0B57D0"/>
                  </a:solidFill>
                  <a:latin typeface="金山云技术体" charset="-122"/>
                  <a:ea typeface="金山云技术体" charset="-122"/>
                  <a:cs typeface="等线" panose="02010600030101010101" charset="-122"/>
                </a:rPr>
                <a:t>产品与设计负责人</a:t>
              </a:r>
              <a:endParaRPr lang="zh-CN" sz="1200" b="1" dirty="0">
                <a:solidFill>
                  <a:srgbClr val="0B57D0"/>
                </a:solidFill>
                <a:latin typeface="金山云技术体" charset="-122"/>
                <a:ea typeface="金山云技术体" charset="-122"/>
                <a:cs typeface="等线" panose="02010600030101010101" charset="-122"/>
              </a:endParaRPr>
            </a:p>
          </p:txBody>
        </p:sp>
        <p:sp>
          <p:nvSpPr>
            <p:cNvPr id="58" name="TextBox 58"/>
            <p:cNvSpPr txBox="1"/>
            <p:nvPr/>
          </p:nvSpPr>
          <p:spPr>
            <a:xfrm>
              <a:off x="651510" y="3826510"/>
              <a:ext cx="4133215" cy="184666"/>
            </a:xfrm>
            <a:prstGeom prst="rect">
              <a:avLst/>
            </a:prstGeom>
            <a:noFill/>
            <a:ln>
              <a:noFill/>
            </a:ln>
          </p:spPr>
          <p:txBody>
            <a:bodyPr wrap="square" lIns="0" tIns="0" rIns="0" bIns="0" anchor="t" anchorCtr="0">
              <a:spAutoFit/>
            </a:bodyPr>
            <a:lstStyle/>
            <a:p>
              <a:pPr algn="l"/>
              <a:r>
                <a:rPr lang="zh-CN" sz="1200" dirty="0">
                  <a:solidFill>
                    <a:srgbClr val="51677F"/>
                  </a:solidFill>
                  <a:latin typeface="MiSans Normal" panose="00000500000000000000" charset="-122"/>
                  <a:ea typeface="MiSans Normal" panose="00000500000000000000" charset="-122"/>
                  <a:cs typeface="MiSans Normal" panose="00000500000000000000" charset="-122"/>
                </a:rPr>
                <a:t>负责赛题理解、产品定位、PPT 结构</a:t>
              </a:r>
              <a:endParaRPr lang="zh-CN" sz="1200" dirty="0">
                <a:solidFill>
                  <a:srgbClr val="51677F"/>
                </a:solidFill>
                <a:latin typeface="MiSans Normal" panose="00000500000000000000" charset="-122"/>
                <a:ea typeface="MiSans Normal" panose="00000500000000000000" charset="-122"/>
                <a:cs typeface="MiSans Normal" panose="00000500000000000000" charset="-122"/>
              </a:endParaRPr>
            </a:p>
          </p:txBody>
        </p:sp>
        <p:sp>
          <p:nvSpPr>
            <p:cNvPr id="59" name="TextBox 59"/>
            <p:cNvSpPr txBox="1"/>
            <p:nvPr/>
          </p:nvSpPr>
          <p:spPr>
            <a:xfrm>
              <a:off x="651510" y="4306570"/>
              <a:ext cx="3352800" cy="184666"/>
            </a:xfrm>
            <a:prstGeom prst="rect">
              <a:avLst/>
            </a:prstGeom>
            <a:noFill/>
            <a:ln>
              <a:noFill/>
            </a:ln>
          </p:spPr>
          <p:txBody>
            <a:bodyPr wrap="square" lIns="0" tIns="0" rIns="0" bIns="0" anchor="t" anchorCtr="0">
              <a:spAutoFit/>
            </a:bodyPr>
            <a:lstStyle/>
            <a:p>
              <a:pPr algn="l"/>
              <a:r>
                <a:rPr lang="zh-CN" sz="1200" dirty="0">
                  <a:solidFill>
                    <a:srgbClr val="51677F"/>
                  </a:solidFill>
                  <a:latin typeface="MiSans Normal" panose="00000500000000000000" charset="-122"/>
                  <a:ea typeface="MiSans Normal" panose="00000500000000000000" charset="-122"/>
                  <a:cs typeface="等线" panose="02010600030101010101" charset="-122"/>
                </a:rPr>
                <a:t>同时统筹蓝小心角色表达、核心流程和答辩叙事。</a:t>
              </a:r>
              <a:endParaRPr lang="zh-CN" sz="1200" dirty="0">
                <a:solidFill>
                  <a:srgbClr val="51677F"/>
                </a:solidFill>
                <a:latin typeface="MiSans Normal" panose="00000500000000000000" charset="-122"/>
                <a:ea typeface="MiSans Normal" panose="00000500000000000000" charset="-122"/>
                <a:cs typeface="等线" panose="02010600030101010101" charset="-122"/>
              </a:endParaRPr>
            </a:p>
          </p:txBody>
        </p:sp>
        <p:sp>
          <p:nvSpPr>
            <p:cNvPr id="60" name="Rectangle 60"/>
            <p:cNvSpPr/>
            <p:nvPr/>
          </p:nvSpPr>
          <p:spPr>
            <a:xfrm>
              <a:off x="666750" y="4895850"/>
              <a:ext cx="952500" cy="285750"/>
            </a:xfrm>
            <a:prstGeom prst="roundRect">
              <a:avLst>
                <a:gd name="adj" fmla="val 50000"/>
              </a:avLst>
            </a:prstGeom>
            <a:solidFill>
              <a:srgbClr val="E7F2FF"/>
            </a:solidFill>
            <a:ln>
              <a:noFill/>
            </a:ln>
          </p:spPr>
        </p:sp>
        <p:sp>
          <p:nvSpPr>
            <p:cNvPr id="61" name="TextBox 61"/>
            <p:cNvSpPr txBox="1"/>
            <p:nvPr/>
          </p:nvSpPr>
          <p:spPr>
            <a:xfrm>
              <a:off x="836930" y="4982528"/>
              <a:ext cx="612140" cy="184666"/>
            </a:xfrm>
            <a:prstGeom prst="rect">
              <a:avLst/>
            </a:prstGeom>
            <a:noFill/>
            <a:ln>
              <a:noFill/>
            </a:ln>
          </p:spPr>
          <p:txBody>
            <a:bodyPr wrap="square" lIns="0" tIns="0" rIns="0" bIns="0" anchor="t" anchorCtr="0">
              <a:spAutoFit/>
            </a:bodyPr>
            <a:lstStyle/>
            <a:p>
              <a:pPr algn="ctr"/>
              <a:r>
                <a:rPr lang="zh-CN" sz="1200" b="1" dirty="0">
                  <a:solidFill>
                    <a:srgbClr val="0B57D0"/>
                  </a:solidFill>
                  <a:latin typeface="MiSans Normal" panose="00000500000000000000" charset="-122"/>
                  <a:ea typeface="MiSans Normal" panose="00000500000000000000" charset="-122"/>
                  <a:cs typeface="等线" panose="02010600030101010101" charset="-122"/>
                </a:rPr>
                <a:t>产品经理</a:t>
              </a:r>
              <a:endParaRPr lang="zh-CN" sz="1200" b="1" dirty="0">
                <a:solidFill>
                  <a:srgbClr val="0B57D0"/>
                </a:solidFill>
                <a:latin typeface="MiSans Normal" panose="00000500000000000000" charset="-122"/>
                <a:ea typeface="MiSans Normal" panose="00000500000000000000" charset="-122"/>
                <a:cs typeface="等线" panose="02010600030101010101" charset="-122"/>
              </a:endParaRPr>
            </a:p>
          </p:txBody>
        </p:sp>
        <p:sp>
          <p:nvSpPr>
            <p:cNvPr id="62" name="Rectangle 62"/>
            <p:cNvSpPr/>
            <p:nvPr/>
          </p:nvSpPr>
          <p:spPr>
            <a:xfrm>
              <a:off x="1771650" y="4895850"/>
              <a:ext cx="895350" cy="285750"/>
            </a:xfrm>
            <a:prstGeom prst="roundRect">
              <a:avLst>
                <a:gd name="adj" fmla="val 50000"/>
              </a:avLst>
            </a:prstGeom>
            <a:solidFill>
              <a:srgbClr val="E6FAFF"/>
            </a:solidFill>
            <a:ln>
              <a:noFill/>
            </a:ln>
          </p:spPr>
        </p:sp>
        <p:sp>
          <p:nvSpPr>
            <p:cNvPr id="63" name="TextBox 63"/>
            <p:cNvSpPr txBox="1"/>
            <p:nvPr/>
          </p:nvSpPr>
          <p:spPr>
            <a:xfrm>
              <a:off x="1894122" y="4982528"/>
              <a:ext cx="636505" cy="184666"/>
            </a:xfrm>
            <a:prstGeom prst="rect">
              <a:avLst/>
            </a:prstGeom>
            <a:noFill/>
            <a:ln>
              <a:noFill/>
            </a:ln>
          </p:spPr>
          <p:txBody>
            <a:bodyPr wrap="square" lIns="0" tIns="0" rIns="0" bIns="0" anchor="t" anchorCtr="0">
              <a:spAutoFit/>
            </a:bodyPr>
            <a:lstStyle/>
            <a:p>
              <a:pPr algn="ctr"/>
              <a:r>
                <a:rPr lang="zh-CN" altLang="en-US" sz="1200" b="1" dirty="0">
                  <a:solidFill>
                    <a:srgbClr val="00D4FF"/>
                  </a:solidFill>
                  <a:latin typeface="MiSans Normal" panose="00000500000000000000" charset="-122"/>
                  <a:ea typeface="MiSans Normal" panose="00000500000000000000" charset="-122"/>
                  <a:cs typeface="MiSans Normal" panose="00000500000000000000" charset="-122"/>
                </a:rPr>
                <a:t>需求分析</a:t>
              </a:r>
              <a:endParaRPr lang="zh-CN" sz="1200" b="1" dirty="0">
                <a:solidFill>
                  <a:srgbClr val="00D4FF"/>
                </a:solidFill>
                <a:latin typeface="MiSans Normal" panose="00000500000000000000" charset="-122"/>
                <a:ea typeface="MiSans Normal" panose="00000500000000000000" charset="-122"/>
                <a:cs typeface="MiSans Normal" panose="00000500000000000000" charset="-122"/>
              </a:endParaRPr>
            </a:p>
          </p:txBody>
        </p:sp>
        <p:sp>
          <p:nvSpPr>
            <p:cNvPr id="64" name="Rectangle 64"/>
            <p:cNvSpPr/>
            <p:nvPr/>
          </p:nvSpPr>
          <p:spPr>
            <a:xfrm>
              <a:off x="2819400" y="4895850"/>
              <a:ext cx="1028700" cy="285750"/>
            </a:xfrm>
            <a:prstGeom prst="roundRect">
              <a:avLst>
                <a:gd name="adj" fmla="val 50000"/>
              </a:avLst>
            </a:prstGeom>
            <a:solidFill>
              <a:srgbClr val="EEF8F1"/>
            </a:solidFill>
            <a:ln>
              <a:noFill/>
            </a:ln>
          </p:spPr>
        </p:sp>
        <p:sp>
          <p:nvSpPr>
            <p:cNvPr id="65" name="TextBox 65"/>
            <p:cNvSpPr txBox="1"/>
            <p:nvPr/>
          </p:nvSpPr>
          <p:spPr>
            <a:xfrm>
              <a:off x="3027680" y="4982528"/>
              <a:ext cx="612140" cy="184666"/>
            </a:xfrm>
            <a:prstGeom prst="rect">
              <a:avLst/>
            </a:prstGeom>
            <a:noFill/>
            <a:ln>
              <a:noFill/>
            </a:ln>
          </p:spPr>
          <p:txBody>
            <a:bodyPr wrap="square" lIns="0" tIns="0" rIns="0" bIns="0" anchor="t" anchorCtr="0">
              <a:spAutoFit/>
            </a:bodyPr>
            <a:lstStyle/>
            <a:p>
              <a:pPr algn="ctr"/>
              <a:r>
                <a:rPr lang="zh-CN" sz="1200" b="1" dirty="0">
                  <a:solidFill>
                    <a:srgbClr val="2E7D32"/>
                  </a:solidFill>
                  <a:latin typeface="MiSans Normal" panose="00000500000000000000" charset="-122"/>
                  <a:ea typeface="MiSans Normal" panose="00000500000000000000" charset="-122"/>
                  <a:cs typeface="等线" panose="02010600030101010101" charset="-122"/>
                </a:rPr>
                <a:t>交互设计</a:t>
              </a:r>
              <a:endParaRPr lang="zh-CN" sz="1200" b="1" dirty="0">
                <a:solidFill>
                  <a:srgbClr val="2E7D32"/>
                </a:solidFill>
                <a:latin typeface="MiSans Normal" panose="00000500000000000000" charset="-122"/>
                <a:ea typeface="MiSans Normal" panose="00000500000000000000" charset="-122"/>
                <a:cs typeface="等线" panose="02010600030101010101" charset="-122"/>
              </a:endParaRPr>
            </a:p>
          </p:txBody>
        </p:sp>
        <p:sp>
          <p:nvSpPr>
            <p:cNvPr id="76" name="Rectangle 76"/>
            <p:cNvSpPr/>
            <p:nvPr/>
          </p:nvSpPr>
          <p:spPr>
            <a:xfrm>
              <a:off x="971550" y="6076950"/>
              <a:ext cx="10401300" cy="342900"/>
            </a:xfrm>
            <a:prstGeom prst="roundRect">
              <a:avLst>
                <a:gd name="adj" fmla="val 38889"/>
              </a:avLst>
            </a:prstGeom>
            <a:solidFill>
              <a:srgbClr val="0B57D0">
                <a:alpha val="5000"/>
              </a:srgbClr>
            </a:solidFill>
            <a:ln>
              <a:noFill/>
            </a:ln>
          </p:spPr>
        </p:sp>
        <p:sp>
          <p:nvSpPr>
            <p:cNvPr id="77" name="Rectangle 77"/>
            <p:cNvSpPr/>
            <p:nvPr/>
          </p:nvSpPr>
          <p:spPr>
            <a:xfrm>
              <a:off x="895350" y="5981700"/>
              <a:ext cx="10401300" cy="342900"/>
            </a:xfrm>
            <a:prstGeom prst="roundRect">
              <a:avLst>
                <a:gd name="adj" fmla="val 38889"/>
              </a:avLst>
            </a:prstGeom>
            <a:solidFill>
              <a:srgbClr val="FFFFFF"/>
            </a:solidFill>
            <a:ln w="11430">
              <a:solidFill>
                <a:srgbClr val="BFD9F4"/>
              </a:solidFill>
            </a:ln>
          </p:spPr>
        </p:sp>
        <p:sp>
          <p:nvSpPr>
            <p:cNvPr id="78" name="Line 78"/>
            <p:cNvSpPr/>
            <p:nvPr/>
          </p:nvSpPr>
          <p:spPr>
            <a:xfrm>
              <a:off x="1066800" y="5991225"/>
              <a:ext cx="1238250" cy="9525"/>
            </a:xfrm>
            <a:custGeom>
              <a:avLst/>
              <a:gdLst/>
              <a:ahLst/>
              <a:cxnLst/>
              <a:rect l="l" t="t" r="r" b="b"/>
              <a:pathLst>
                <a:path w="1238250" h="9525">
                  <a:moveTo>
                    <a:pt x="0" y="0"/>
                  </a:moveTo>
                  <a:lnTo>
                    <a:pt x="1238250" y="0"/>
                  </a:lnTo>
                </a:path>
              </a:pathLst>
            </a:custGeom>
            <a:noFill/>
            <a:ln w="19050">
              <a:solidFill>
                <a:srgbClr val="26A7FF">
                  <a:alpha val="90000"/>
                </a:srgbClr>
              </a:solidFill>
            </a:ln>
          </p:spPr>
        </p:sp>
        <p:sp>
          <p:nvSpPr>
            <p:cNvPr id="79" name="TextBox 79"/>
            <p:cNvSpPr txBox="1"/>
            <p:nvPr/>
          </p:nvSpPr>
          <p:spPr>
            <a:xfrm>
              <a:off x="1109662" y="6095841"/>
              <a:ext cx="7462520" cy="173355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125" dirty="0">
                  <a:solidFill>
                    <a:srgbClr val="51677F"/>
                  </a:solidFill>
                  <a:latin typeface="等线" panose="02010600030101010101" charset="-122"/>
                  <a:ea typeface="微软雅黑" panose="020B0503020204020204" charset="-122"/>
                  <a:cs typeface="等线" panose="02010600030101010101" charset="-122"/>
                </a:rPr>
                <a:t>指导老师：范永刚，大连理工大学，现任创新创业中心主任，深耕大学生创新创业教育领域多年，屡次带队获得奖项。</a:t>
              </a:r>
              <a:endParaRPr lang="zh-CN" sz="1125" dirty="0">
                <a:solidFill>
                  <a:srgbClr val="51677F"/>
                </a:solidFill>
                <a:latin typeface="等线" panose="02010600030101010101" charset="-122"/>
                <a:ea typeface="微软雅黑" panose="020B0503020204020204" charset="-122"/>
                <a:cs typeface="等线" panose="02010600030101010101" charset="-122"/>
              </a:endParaRPr>
            </a:p>
          </p:txBody>
        </p:sp>
        <p:sp>
          <p:nvSpPr>
            <p:cNvPr id="80" name="TextBox 80"/>
            <p:cNvSpPr txBox="1"/>
            <p:nvPr/>
          </p:nvSpPr>
          <p:spPr>
            <a:xfrm>
              <a:off x="521970" y="6598920"/>
              <a:ext cx="2106263" cy="18288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00" dirty="0">
                  <a:solidFill>
                    <a:srgbClr val="8AA1B7"/>
                  </a:solidFill>
                  <a:latin typeface="等线" panose="02010600030101010101" charset="-122"/>
                  <a:ea typeface="微软雅黑" panose="020B0503020204020204" charset="-122"/>
                  <a:cs typeface="等线" panose="02010600030101010101" charset="-122"/>
                </a:rPr>
                <a:t>蓝心同行 | AIGC创新赛应用赛道初赛</a:t>
              </a:r>
              <a:endParaRPr lang="zh-CN" sz="900" dirty="0">
                <a:solidFill>
                  <a:srgbClr val="8AA1B7"/>
                </a:solidFill>
                <a:latin typeface="等线" panose="02010600030101010101" charset="-122"/>
                <a:ea typeface="微软雅黑" panose="020B0503020204020204" charset="-122"/>
                <a:cs typeface="等线" panose="02010600030101010101" charset="-122"/>
              </a:endParaRPr>
            </a:p>
          </p:txBody>
        </p:sp>
        <p:sp>
          <p:nvSpPr>
            <p:cNvPr id="81" name="TextBox 81"/>
            <p:cNvSpPr txBox="1"/>
            <p:nvPr/>
          </p:nvSpPr>
          <p:spPr>
            <a:xfrm>
              <a:off x="11464480" y="6598920"/>
              <a:ext cx="167449" cy="18288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r"/>
              <a:r>
                <a:rPr lang="zh-CN" sz="900" dirty="0">
                  <a:solidFill>
                    <a:srgbClr val="8AA1B7"/>
                  </a:solidFill>
                  <a:latin typeface="等线" panose="02010600030101010101" charset="-122"/>
                  <a:ea typeface="微软雅黑" panose="020B0503020204020204" charset="-122"/>
                  <a:cs typeface="等线" panose="02010600030101010101" charset="-122"/>
                </a:rPr>
                <a:t>02</a:t>
              </a:r>
              <a:endParaRPr lang="zh-CN" sz="900" dirty="0">
                <a:solidFill>
                  <a:srgbClr val="8AA1B7"/>
                </a:solidFill>
                <a:latin typeface="等线" panose="02010600030101010101" charset="-122"/>
                <a:ea typeface="微软雅黑" panose="020B0503020204020204" charset="-122"/>
                <a:cs typeface="等线" panose="02010600030101010101" charset="-122"/>
              </a:endParaRPr>
            </a:p>
          </p:txBody>
        </p:sp>
      </p:grpSp>
      <p:sp>
        <p:nvSpPr>
          <p:cNvPr id="144" name="Rectangle 50"/>
          <p:cNvSpPr/>
          <p:nvPr/>
        </p:nvSpPr>
        <p:spPr>
          <a:xfrm>
            <a:off x="4265930" y="2825147"/>
            <a:ext cx="3619500" cy="3048000"/>
          </a:xfrm>
          <a:prstGeom prst="roundRect">
            <a:avLst>
              <a:gd name="adj" fmla="val 6250"/>
            </a:avLst>
          </a:prstGeom>
          <a:solidFill>
            <a:srgbClr val="0B57D0">
              <a:alpha val="5000"/>
            </a:srgbClr>
          </a:solidFill>
          <a:ln>
            <a:noFill/>
          </a:ln>
        </p:spPr>
      </p:sp>
      <p:sp>
        <p:nvSpPr>
          <p:cNvPr id="145" name="Rectangle 51"/>
          <p:cNvSpPr/>
          <p:nvPr/>
        </p:nvSpPr>
        <p:spPr>
          <a:xfrm>
            <a:off x="4189730" y="2729897"/>
            <a:ext cx="3619500" cy="3048000"/>
          </a:xfrm>
          <a:prstGeom prst="roundRect">
            <a:avLst>
              <a:gd name="adj" fmla="val 6250"/>
            </a:avLst>
          </a:prstGeom>
          <a:solidFill>
            <a:srgbClr val="FFFFFF"/>
          </a:solidFill>
          <a:ln w="11430">
            <a:solidFill>
              <a:srgbClr val="BFD9F4"/>
            </a:solidFill>
          </a:ln>
        </p:spPr>
      </p:sp>
      <p:sp>
        <p:nvSpPr>
          <p:cNvPr id="146" name="Line 52"/>
          <p:cNvSpPr/>
          <p:nvPr/>
        </p:nvSpPr>
        <p:spPr>
          <a:xfrm>
            <a:off x="4361180" y="2739422"/>
            <a:ext cx="1238250" cy="9525"/>
          </a:xfrm>
          <a:custGeom>
            <a:avLst/>
            <a:gdLst/>
            <a:ahLst/>
            <a:cxnLst/>
            <a:rect l="l" t="t" r="r" b="b"/>
            <a:pathLst>
              <a:path w="1238250" h="9525">
                <a:moveTo>
                  <a:pt x="0" y="0"/>
                </a:moveTo>
                <a:lnTo>
                  <a:pt x="1238250" y="0"/>
                </a:lnTo>
              </a:path>
            </a:pathLst>
          </a:custGeom>
          <a:noFill/>
          <a:ln w="19050">
            <a:solidFill>
              <a:srgbClr val="26A7FF">
                <a:alpha val="90000"/>
              </a:srgbClr>
            </a:solidFill>
          </a:ln>
        </p:spPr>
      </p:sp>
      <p:sp>
        <p:nvSpPr>
          <p:cNvPr id="147" name="TextBox 56"/>
          <p:cNvSpPr txBox="1"/>
          <p:nvPr/>
        </p:nvSpPr>
        <p:spPr>
          <a:xfrm>
            <a:off x="4414520" y="2916587"/>
            <a:ext cx="3233420" cy="276999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 anchorCtr="0">
            <a:spAutoFit/>
          </a:bodyPr>
          <a:lstStyle/>
          <a:p>
            <a:r>
              <a:rPr lang="zh-CN" altLang="zh-CN" b="1" dirty="0">
                <a:solidFill>
                  <a:srgbClr val="102033"/>
                </a:solidFill>
                <a:latin typeface="MiSans Heavy" panose="00000A00000000000000" charset="-122"/>
                <a:ea typeface="MiSans Heavy" panose="00000A00000000000000" charset="-122"/>
                <a:cs typeface="MiSans Heavy" panose="00000A00000000000000" charset="-122"/>
              </a:rPr>
              <a:t>成员 B：</a:t>
            </a:r>
            <a:r>
              <a:rPr lang="zh-CN" altLang="zh-CN" b="1" dirty="0">
                <a:solidFill>
                  <a:srgbClr val="102033"/>
                </a:solidFill>
                <a:latin typeface="MiSans Heavy" panose="00000A00000000000000" charset="-122"/>
                <a:ea typeface="MiSans Heavy" panose="00000A00000000000000" charset="-122"/>
              </a:rPr>
              <a:t>李嘉诺</a:t>
            </a:r>
            <a:r>
              <a:rPr lang="zh-CN" altLang="zh-CN" b="1" dirty="0">
                <a:solidFill>
                  <a:srgbClr val="102033"/>
                </a:solidFill>
                <a:latin typeface="MiSans Heavy" panose="00000A00000000000000" charset="-122"/>
                <a:ea typeface="MiSans Heavy" panose="00000A00000000000000" charset="-122"/>
                <a:cs typeface="MiSans Heavy" panose="00000A00000000000000" charset="-122"/>
              </a:rPr>
              <a:t>，大连理工大学</a:t>
            </a:r>
            <a:endParaRPr lang="zh-CN" altLang="zh-CN" b="1" dirty="0">
              <a:solidFill>
                <a:srgbClr val="102033"/>
              </a:solidFill>
              <a:latin typeface="MiSans Heavy" panose="00000A00000000000000" charset="-122"/>
              <a:ea typeface="MiSans Heavy" panose="00000A00000000000000" charset="-122"/>
              <a:cs typeface="MiSans Heavy" panose="00000A00000000000000" charset="-122"/>
            </a:endParaRPr>
          </a:p>
        </p:txBody>
      </p:sp>
      <p:sp>
        <p:nvSpPr>
          <p:cNvPr id="148" name="TextBox 57"/>
          <p:cNvSpPr txBox="1"/>
          <p:nvPr/>
        </p:nvSpPr>
        <p:spPr>
          <a:xfrm>
            <a:off x="4422140" y="3336957"/>
            <a:ext cx="1555032" cy="184666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 anchorCtr="0">
            <a:spAutoFit/>
          </a:bodyPr>
          <a:lstStyle/>
          <a:p>
            <a:r>
              <a:rPr lang="zh-CN" altLang="zh-CN" sz="1200" b="1" dirty="0">
                <a:solidFill>
                  <a:srgbClr val="0B57D0"/>
                </a:solidFill>
                <a:latin typeface="金山云技术体" charset="-122"/>
                <a:ea typeface="金山云技术体" charset="-122"/>
                <a:cs typeface="金山云技术体" charset="-122"/>
              </a:rPr>
              <a:t>研发与 Demo 负责人</a:t>
            </a:r>
            <a:endParaRPr lang="zh-CN" altLang="zh-CN" sz="1200" b="1" dirty="0">
              <a:solidFill>
                <a:srgbClr val="0B57D0"/>
              </a:solidFill>
              <a:latin typeface="金山云技术体" charset="-122"/>
              <a:ea typeface="金山云技术体" charset="-122"/>
              <a:cs typeface="金山云技术体" charset="-122"/>
            </a:endParaRPr>
          </a:p>
        </p:txBody>
      </p:sp>
      <p:sp>
        <p:nvSpPr>
          <p:cNvPr id="149" name="TextBox 58"/>
          <p:cNvSpPr txBox="1"/>
          <p:nvPr/>
        </p:nvSpPr>
        <p:spPr>
          <a:xfrm>
            <a:off x="4422141" y="3832257"/>
            <a:ext cx="3342088" cy="184666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 anchorCtr="0">
            <a:spAutoFit/>
          </a:bodyPr>
          <a:lstStyle/>
          <a:p>
            <a:r>
              <a:rPr lang="zh-CN" altLang="zh-CN" sz="1200" dirty="0">
                <a:solidFill>
                  <a:srgbClr val="51677F"/>
                </a:solidFill>
                <a:latin typeface="MiSans Normal" panose="00000500000000000000" charset="-122"/>
                <a:ea typeface="MiSans Normal" panose="00000500000000000000" charset="-122"/>
                <a:cs typeface="等线" panose="02010600030101010101" charset="-122"/>
              </a:rPr>
              <a:t>负责前端原型、能力链路、记忆和规划逻辑实现</a:t>
            </a:r>
            <a:endParaRPr lang="en-US" altLang="zh-CN" sz="1200" dirty="0">
              <a:solidFill>
                <a:srgbClr val="51677F"/>
              </a:solidFill>
              <a:latin typeface="MiSans Normal" panose="00000500000000000000" charset="-122"/>
              <a:ea typeface="MiSans Normal" panose="00000500000000000000" charset="-122"/>
              <a:cs typeface="等线" panose="02010600030101010101" charset="-122"/>
            </a:endParaRPr>
          </a:p>
        </p:txBody>
      </p:sp>
      <p:sp>
        <p:nvSpPr>
          <p:cNvPr id="150" name="TextBox 59"/>
          <p:cNvSpPr txBox="1"/>
          <p:nvPr/>
        </p:nvSpPr>
        <p:spPr>
          <a:xfrm>
            <a:off x="4422140" y="4312317"/>
            <a:ext cx="3352800" cy="184666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 anchorCtr="0">
            <a:spAutoFit/>
          </a:bodyPr>
          <a:lstStyle/>
          <a:p>
            <a:r>
              <a:rPr lang="zh-CN" altLang="en-US" sz="1200" dirty="0">
                <a:solidFill>
                  <a:srgbClr val="51677F"/>
                </a:solidFill>
                <a:latin typeface="MiSans Normal" panose="00000500000000000000" charset="-122"/>
                <a:ea typeface="MiSans Normal" panose="00000500000000000000" charset="-122"/>
                <a:cs typeface="MiSans Normal" panose="00000500000000000000" charset="-122"/>
              </a:rPr>
              <a:t>以及</a:t>
            </a:r>
            <a:r>
              <a:rPr lang="zh-CN" altLang="zh-CN" sz="1200" dirty="0">
                <a:solidFill>
                  <a:srgbClr val="51677F"/>
                </a:solidFill>
                <a:latin typeface="MiSans Normal" panose="00000500000000000000" charset="-122"/>
                <a:ea typeface="MiSans Normal" panose="00000500000000000000" charset="-122"/>
                <a:cs typeface="MiSans Normal" panose="00000500000000000000" charset="-122"/>
              </a:rPr>
              <a:t>最终 Demo 的联调、导出与提交材料整合。</a:t>
            </a:r>
            <a:endParaRPr lang="zh-CN" altLang="zh-CN" sz="1200" dirty="0">
              <a:solidFill>
                <a:srgbClr val="51677F"/>
              </a:solidFill>
              <a:latin typeface="MiSans Normal" panose="00000500000000000000" charset="-122"/>
              <a:ea typeface="MiSans Normal" panose="00000500000000000000" charset="-122"/>
              <a:cs typeface="MiSans Normal" panose="00000500000000000000" charset="-122"/>
            </a:endParaRPr>
          </a:p>
        </p:txBody>
      </p:sp>
      <p:sp>
        <p:nvSpPr>
          <p:cNvPr id="151" name="Rectangle 60"/>
          <p:cNvSpPr/>
          <p:nvPr/>
        </p:nvSpPr>
        <p:spPr>
          <a:xfrm>
            <a:off x="4437380" y="4901597"/>
            <a:ext cx="952500" cy="285750"/>
          </a:xfrm>
          <a:prstGeom prst="roundRect">
            <a:avLst>
              <a:gd name="adj" fmla="val 50000"/>
            </a:avLst>
          </a:prstGeom>
          <a:solidFill>
            <a:srgbClr val="E7F2FF"/>
          </a:solidFill>
          <a:ln>
            <a:noFill/>
          </a:ln>
        </p:spPr>
      </p:sp>
      <p:sp>
        <p:nvSpPr>
          <p:cNvPr id="152" name="TextBox 61"/>
          <p:cNvSpPr txBox="1"/>
          <p:nvPr/>
        </p:nvSpPr>
        <p:spPr>
          <a:xfrm>
            <a:off x="4607560" y="4988275"/>
            <a:ext cx="612140" cy="184666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 anchorCtr="0">
            <a:spAutoFit/>
          </a:bodyPr>
          <a:lstStyle/>
          <a:p>
            <a:pPr algn="ctr"/>
            <a:r>
              <a:rPr lang="zh-CN" altLang="zh-CN" sz="1200" b="1" dirty="0">
                <a:solidFill>
                  <a:srgbClr val="0B57D0"/>
                </a:solidFill>
                <a:latin typeface="MiSans Normal" panose="00000500000000000000" charset="-122"/>
                <a:ea typeface="MiSans Normal" panose="00000500000000000000" charset="-122"/>
                <a:cs typeface="等线" panose="02010600030101010101" charset="-122"/>
              </a:rPr>
              <a:t>前端开发</a:t>
            </a:r>
            <a:endParaRPr lang="zh-CN" altLang="zh-CN" sz="1200" b="1" dirty="0">
              <a:solidFill>
                <a:srgbClr val="0B57D0"/>
              </a:solidFill>
              <a:latin typeface="MiSans Normal" panose="00000500000000000000" charset="-122"/>
              <a:ea typeface="MiSans Normal" panose="00000500000000000000" charset="-122"/>
              <a:cs typeface="等线" panose="02010600030101010101" charset="-122"/>
            </a:endParaRPr>
          </a:p>
        </p:txBody>
      </p:sp>
      <p:sp>
        <p:nvSpPr>
          <p:cNvPr id="157" name="Rectangle 50"/>
          <p:cNvSpPr/>
          <p:nvPr/>
        </p:nvSpPr>
        <p:spPr>
          <a:xfrm>
            <a:off x="8021403" y="2844197"/>
            <a:ext cx="3619500" cy="3048000"/>
          </a:xfrm>
          <a:prstGeom prst="roundRect">
            <a:avLst>
              <a:gd name="adj" fmla="val 6250"/>
            </a:avLst>
          </a:prstGeom>
          <a:solidFill>
            <a:srgbClr val="0B57D0">
              <a:alpha val="5000"/>
            </a:srgbClr>
          </a:solidFill>
          <a:ln>
            <a:noFill/>
          </a:ln>
        </p:spPr>
      </p:sp>
      <p:sp>
        <p:nvSpPr>
          <p:cNvPr id="158" name="Rectangle 51"/>
          <p:cNvSpPr/>
          <p:nvPr/>
        </p:nvSpPr>
        <p:spPr>
          <a:xfrm>
            <a:off x="7945203" y="2748947"/>
            <a:ext cx="3619500" cy="3048000"/>
          </a:xfrm>
          <a:prstGeom prst="roundRect">
            <a:avLst>
              <a:gd name="adj" fmla="val 6250"/>
            </a:avLst>
          </a:prstGeom>
          <a:solidFill>
            <a:srgbClr val="FFFFFF"/>
          </a:solidFill>
          <a:ln w="11430">
            <a:solidFill>
              <a:srgbClr val="BFD9F4"/>
            </a:solidFill>
          </a:ln>
        </p:spPr>
      </p:sp>
      <p:sp>
        <p:nvSpPr>
          <p:cNvPr id="159" name="Line 52"/>
          <p:cNvSpPr/>
          <p:nvPr/>
        </p:nvSpPr>
        <p:spPr>
          <a:xfrm>
            <a:off x="8116653" y="2758472"/>
            <a:ext cx="1238250" cy="9525"/>
          </a:xfrm>
          <a:custGeom>
            <a:avLst/>
            <a:gdLst/>
            <a:ahLst/>
            <a:cxnLst/>
            <a:rect l="l" t="t" r="r" b="b"/>
            <a:pathLst>
              <a:path w="1238250" h="9525">
                <a:moveTo>
                  <a:pt x="0" y="0"/>
                </a:moveTo>
                <a:lnTo>
                  <a:pt x="1238250" y="0"/>
                </a:lnTo>
              </a:path>
            </a:pathLst>
          </a:custGeom>
          <a:noFill/>
          <a:ln w="19050">
            <a:solidFill>
              <a:srgbClr val="26A7FF">
                <a:alpha val="90000"/>
              </a:srgbClr>
            </a:solidFill>
          </a:ln>
        </p:spPr>
      </p:sp>
      <p:sp>
        <p:nvSpPr>
          <p:cNvPr id="160" name="TextBox 56"/>
          <p:cNvSpPr txBox="1"/>
          <p:nvPr/>
        </p:nvSpPr>
        <p:spPr>
          <a:xfrm>
            <a:off x="8169993" y="2935637"/>
            <a:ext cx="3233420" cy="276999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 anchorCtr="0">
            <a:spAutoFit/>
          </a:bodyPr>
          <a:lstStyle/>
          <a:p>
            <a:pPr algn="l"/>
            <a:r>
              <a:rPr lang="zh-CN" sz="1800" b="1" dirty="0">
                <a:solidFill>
                  <a:srgbClr val="102033"/>
                </a:solidFill>
                <a:latin typeface="MiSans Heavy" panose="00000A00000000000000" charset="-122"/>
                <a:ea typeface="MiSans Heavy" panose="00000A00000000000000" charset="-122"/>
                <a:cs typeface="MiSans Heavy" panose="00000A00000000000000" charset="-122"/>
              </a:rPr>
              <a:t>成员</a:t>
            </a:r>
            <a:r>
              <a:rPr lang="zh-CN" altLang="en-US" b="1" dirty="0">
                <a:solidFill>
                  <a:srgbClr val="102033"/>
                </a:solidFill>
                <a:latin typeface="MiSans Heavy" panose="00000A00000000000000" charset="-122"/>
                <a:ea typeface="MiSans Heavy" panose="00000A00000000000000" charset="-122"/>
              </a:rPr>
              <a:t> </a:t>
            </a:r>
            <a:r>
              <a:rPr lang="en-US" altLang="zh-CN" b="1" dirty="0">
                <a:solidFill>
                  <a:srgbClr val="102033"/>
                </a:solidFill>
                <a:latin typeface="MiSans Heavy" panose="00000A00000000000000" charset="-122"/>
                <a:ea typeface="MiSans Heavy" panose="00000A00000000000000" charset="-122"/>
              </a:rPr>
              <a:t>C</a:t>
            </a:r>
            <a:r>
              <a:rPr lang="zh-CN" altLang="en-US" b="1" dirty="0">
                <a:solidFill>
                  <a:srgbClr val="102033"/>
                </a:solidFill>
                <a:latin typeface="MiSans Heavy" panose="00000A00000000000000" charset="-122"/>
                <a:ea typeface="MiSans Heavy" panose="00000A00000000000000" charset="-122"/>
              </a:rPr>
              <a:t>：</a:t>
            </a:r>
            <a:r>
              <a:rPr lang="zh-CN" altLang="en-US" sz="1800" b="1" dirty="0">
                <a:solidFill>
                  <a:srgbClr val="102033"/>
                </a:solidFill>
                <a:latin typeface="MiSans Heavy" panose="00000A00000000000000" charset="-122"/>
                <a:ea typeface="MiSans Heavy" panose="00000A00000000000000" charset="-122"/>
                <a:cs typeface="MiSans Heavy" panose="00000A00000000000000" charset="-122"/>
              </a:rPr>
              <a:t>张旭</a:t>
            </a:r>
            <a:r>
              <a:rPr lang="zh-CN" sz="1800" b="1" dirty="0">
                <a:solidFill>
                  <a:srgbClr val="102033"/>
                </a:solidFill>
                <a:latin typeface="MiSans Heavy" panose="00000A00000000000000" charset="-122"/>
                <a:ea typeface="MiSans Heavy" panose="00000A00000000000000" charset="-122"/>
                <a:cs typeface="MiSans Heavy" panose="00000A00000000000000" charset="-122"/>
              </a:rPr>
              <a:t>，大连理工大学</a:t>
            </a:r>
            <a:endParaRPr lang="zh-CN" sz="1800" b="1" dirty="0">
              <a:solidFill>
                <a:srgbClr val="102033"/>
              </a:solidFill>
              <a:latin typeface="MiSans Heavy" panose="00000A00000000000000" charset="-122"/>
              <a:ea typeface="MiSans Heavy" panose="00000A00000000000000" charset="-122"/>
              <a:cs typeface="MiSans Heavy" panose="00000A00000000000000" charset="-122"/>
            </a:endParaRPr>
          </a:p>
        </p:txBody>
      </p:sp>
      <p:sp>
        <p:nvSpPr>
          <p:cNvPr id="161" name="TextBox 57"/>
          <p:cNvSpPr txBox="1"/>
          <p:nvPr/>
        </p:nvSpPr>
        <p:spPr>
          <a:xfrm>
            <a:off x="8177613" y="3356007"/>
            <a:ext cx="1471212" cy="184666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 anchorCtr="0">
            <a:spAutoFit/>
          </a:bodyPr>
          <a:lstStyle/>
          <a:p>
            <a:pPr algn="l"/>
            <a:r>
              <a:rPr lang="zh-CN" altLang="en-US" sz="1200" b="1" dirty="0">
                <a:solidFill>
                  <a:srgbClr val="0B57D0"/>
                </a:solidFill>
                <a:latin typeface="金山云技术体" charset="-122"/>
                <a:ea typeface="金山云技术体" charset="-122"/>
                <a:cs typeface="等线" panose="02010600030101010101" charset="-122"/>
              </a:rPr>
              <a:t>视觉、交互</a:t>
            </a:r>
            <a:r>
              <a:rPr lang="zh-CN" sz="1200" b="1" dirty="0">
                <a:solidFill>
                  <a:srgbClr val="0B57D0"/>
                </a:solidFill>
                <a:latin typeface="金山云技术体" charset="-122"/>
                <a:ea typeface="金山云技术体" charset="-122"/>
                <a:cs typeface="等线" panose="02010600030101010101" charset="-122"/>
              </a:rPr>
              <a:t>设计负责人</a:t>
            </a:r>
            <a:endParaRPr lang="zh-CN" sz="1200" b="1" dirty="0">
              <a:solidFill>
                <a:srgbClr val="0B57D0"/>
              </a:solidFill>
              <a:latin typeface="金山云技术体" charset="-122"/>
              <a:ea typeface="金山云技术体" charset="-122"/>
              <a:cs typeface="等线" panose="02010600030101010101" charset="-122"/>
            </a:endParaRPr>
          </a:p>
        </p:txBody>
      </p:sp>
      <p:sp>
        <p:nvSpPr>
          <p:cNvPr id="162" name="TextBox 58"/>
          <p:cNvSpPr txBox="1"/>
          <p:nvPr/>
        </p:nvSpPr>
        <p:spPr>
          <a:xfrm>
            <a:off x="8177613" y="3851307"/>
            <a:ext cx="4133215" cy="184666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 anchorCtr="0">
            <a:spAutoFit/>
          </a:bodyPr>
          <a:lstStyle/>
          <a:p>
            <a:pPr algn="l"/>
            <a:r>
              <a:rPr lang="zh-CN" altLang="en-US" sz="1200" dirty="0">
                <a:solidFill>
                  <a:srgbClr val="51677F"/>
                </a:solidFill>
                <a:latin typeface="MiSans Normal" panose="00000500000000000000" charset="-122"/>
                <a:ea typeface="MiSans Normal" panose="00000500000000000000" charset="-122"/>
                <a:cs typeface="MiSans Normal" panose="00000500000000000000" charset="-122"/>
              </a:rPr>
              <a:t>承接产品原型，负责界面</a:t>
            </a:r>
            <a:r>
              <a:rPr lang="zh-CN" sz="1200" dirty="0">
                <a:solidFill>
                  <a:srgbClr val="51677F"/>
                </a:solidFill>
                <a:latin typeface="MiSans Normal" panose="00000500000000000000" charset="-122"/>
                <a:ea typeface="MiSans Normal" panose="00000500000000000000" charset="-122"/>
                <a:cs typeface="MiSans Normal" panose="00000500000000000000" charset="-122"/>
              </a:rPr>
              <a:t>交互设计和视觉方案。</a:t>
            </a:r>
            <a:endParaRPr lang="zh-CN" sz="1200" dirty="0">
              <a:solidFill>
                <a:srgbClr val="51677F"/>
              </a:solidFill>
              <a:latin typeface="MiSans Normal" panose="00000500000000000000" charset="-122"/>
              <a:ea typeface="MiSans Normal" panose="00000500000000000000" charset="-122"/>
              <a:cs typeface="MiSans Normal" panose="00000500000000000000" charset="-122"/>
            </a:endParaRPr>
          </a:p>
        </p:txBody>
      </p:sp>
      <p:sp>
        <p:nvSpPr>
          <p:cNvPr id="163" name="TextBox 59"/>
          <p:cNvSpPr txBox="1"/>
          <p:nvPr/>
        </p:nvSpPr>
        <p:spPr>
          <a:xfrm>
            <a:off x="8177613" y="4331367"/>
            <a:ext cx="3352800" cy="184666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 anchorCtr="0">
            <a:spAutoFit/>
          </a:bodyPr>
          <a:lstStyle/>
          <a:p>
            <a:pPr algn="l"/>
            <a:r>
              <a:rPr lang="zh-CN" altLang="en-US" sz="1200" dirty="0">
                <a:solidFill>
                  <a:srgbClr val="51677F"/>
                </a:solidFill>
                <a:latin typeface="MiSans Normal" panose="00000500000000000000" charset="-122"/>
                <a:ea typeface="MiSans Normal" panose="00000500000000000000" charset="-122"/>
                <a:cs typeface="等线" panose="02010600030101010101" charset="-122"/>
              </a:rPr>
              <a:t>制作“蓝小心”角色的所需视觉素材</a:t>
            </a:r>
            <a:r>
              <a:rPr lang="en-US" altLang="zh-CN" sz="1200" dirty="0">
                <a:solidFill>
                  <a:srgbClr val="51677F"/>
                </a:solidFill>
                <a:latin typeface="MiSans Normal" panose="00000500000000000000" charset="-122"/>
                <a:ea typeface="MiSans Normal" panose="00000500000000000000" charset="-122"/>
                <a:cs typeface="等线" panose="02010600030101010101" charset="-122"/>
              </a:rPr>
              <a:t>,</a:t>
            </a:r>
            <a:r>
              <a:rPr lang="zh-CN" altLang="en-US" sz="1200" dirty="0">
                <a:solidFill>
                  <a:srgbClr val="51677F"/>
                </a:solidFill>
                <a:latin typeface="MiSans Normal" panose="00000500000000000000" charset="-122"/>
                <a:ea typeface="MiSans Normal" panose="00000500000000000000" charset="-122"/>
                <a:cs typeface="等线" panose="02010600030101010101" charset="-122"/>
              </a:rPr>
              <a:t>优化操作体验</a:t>
            </a:r>
            <a:endParaRPr lang="zh-CN" sz="1200" dirty="0">
              <a:solidFill>
                <a:srgbClr val="51677F"/>
              </a:solidFill>
              <a:latin typeface="MiSans Normal" panose="00000500000000000000" charset="-122"/>
              <a:ea typeface="MiSans Normal" panose="00000500000000000000" charset="-122"/>
              <a:cs typeface="等线" panose="02010600030101010101" charset="-122"/>
            </a:endParaRPr>
          </a:p>
        </p:txBody>
      </p:sp>
      <p:sp>
        <p:nvSpPr>
          <p:cNvPr id="164" name="Rectangle 60"/>
          <p:cNvSpPr/>
          <p:nvPr/>
        </p:nvSpPr>
        <p:spPr>
          <a:xfrm>
            <a:off x="8192853" y="4920647"/>
            <a:ext cx="952500" cy="285750"/>
          </a:xfrm>
          <a:prstGeom prst="roundRect">
            <a:avLst>
              <a:gd name="adj" fmla="val 50000"/>
            </a:avLst>
          </a:prstGeom>
          <a:solidFill>
            <a:srgbClr val="E7F2FF"/>
          </a:solidFill>
          <a:ln>
            <a:noFill/>
          </a:ln>
        </p:spPr>
      </p:sp>
      <p:sp>
        <p:nvSpPr>
          <p:cNvPr id="165" name="TextBox 61"/>
          <p:cNvSpPr txBox="1"/>
          <p:nvPr/>
        </p:nvSpPr>
        <p:spPr>
          <a:xfrm>
            <a:off x="8363033" y="5007325"/>
            <a:ext cx="612140" cy="184666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 anchorCtr="0">
            <a:spAutoFit/>
          </a:bodyPr>
          <a:lstStyle/>
          <a:p>
            <a:pPr algn="ctr"/>
            <a:r>
              <a:rPr lang="en-US" altLang="zh-CN" sz="1200" b="1" dirty="0">
                <a:solidFill>
                  <a:srgbClr val="0B57D0"/>
                </a:solidFill>
                <a:latin typeface="MiSans Normal" panose="00000500000000000000" charset="-122"/>
                <a:ea typeface="MiSans Normal" panose="00000500000000000000" charset="-122"/>
                <a:cs typeface="等线" panose="02010600030101010101" charset="-122"/>
              </a:rPr>
              <a:t> UI </a:t>
            </a:r>
            <a:r>
              <a:rPr lang="zh-CN" altLang="en-US" sz="1200" b="1" dirty="0">
                <a:solidFill>
                  <a:srgbClr val="0B57D0"/>
                </a:solidFill>
                <a:latin typeface="MiSans Normal" panose="00000500000000000000" charset="-122"/>
                <a:ea typeface="MiSans Normal" panose="00000500000000000000" charset="-122"/>
                <a:cs typeface="等线" panose="02010600030101010101" charset="-122"/>
              </a:rPr>
              <a:t>设计</a:t>
            </a:r>
            <a:endParaRPr lang="zh-CN" sz="1200" b="1" dirty="0">
              <a:solidFill>
                <a:srgbClr val="0B57D0"/>
              </a:solidFill>
              <a:latin typeface="MiSans Normal" panose="00000500000000000000" charset="-122"/>
              <a:ea typeface="MiSans Normal" panose="00000500000000000000" charset="-122"/>
              <a:cs typeface="等线" panose="02010600030101010101" charset="-122"/>
            </a:endParaRPr>
          </a:p>
        </p:txBody>
      </p:sp>
      <p:sp>
        <p:nvSpPr>
          <p:cNvPr id="166" name="Rectangle 62"/>
          <p:cNvSpPr/>
          <p:nvPr/>
        </p:nvSpPr>
        <p:spPr>
          <a:xfrm>
            <a:off x="9297753" y="4920647"/>
            <a:ext cx="895350" cy="285750"/>
          </a:xfrm>
          <a:prstGeom prst="roundRect">
            <a:avLst>
              <a:gd name="adj" fmla="val 50000"/>
            </a:avLst>
          </a:prstGeom>
          <a:solidFill>
            <a:srgbClr val="E6FAFF"/>
          </a:solidFill>
          <a:ln>
            <a:noFill/>
          </a:ln>
        </p:spPr>
      </p:sp>
      <p:sp>
        <p:nvSpPr>
          <p:cNvPr id="167" name="TextBox 63"/>
          <p:cNvSpPr txBox="1"/>
          <p:nvPr/>
        </p:nvSpPr>
        <p:spPr>
          <a:xfrm>
            <a:off x="9418244" y="5013936"/>
            <a:ext cx="618808" cy="184666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 anchorCtr="0">
            <a:spAutoFit/>
          </a:bodyPr>
          <a:lstStyle/>
          <a:p>
            <a:pPr algn="ctr"/>
            <a:r>
              <a:rPr lang="zh-CN" altLang="en-US" sz="1200" b="1" dirty="0">
                <a:solidFill>
                  <a:srgbClr val="00D4FF"/>
                </a:solidFill>
                <a:latin typeface="MiSans Normal" panose="00000500000000000000" charset="-122"/>
                <a:ea typeface="MiSans Normal" panose="00000500000000000000" charset="-122"/>
                <a:cs typeface="MiSans Normal" panose="00000500000000000000" charset="-122"/>
              </a:rPr>
              <a:t>视觉传达</a:t>
            </a:r>
            <a:endParaRPr lang="zh-CN" sz="1200" b="1" dirty="0">
              <a:solidFill>
                <a:srgbClr val="00D4FF"/>
              </a:solidFill>
              <a:latin typeface="MiSans Normal" panose="00000500000000000000" charset="-122"/>
              <a:ea typeface="MiSans Normal" panose="00000500000000000000" charset="-122"/>
              <a:cs typeface="MiSans Normal" panose="00000500000000000000" charset="-122"/>
            </a:endParaRPr>
          </a:p>
        </p:txBody>
      </p:sp>
      <p:sp>
        <p:nvSpPr>
          <p:cNvPr id="168" name="Rectangle 64"/>
          <p:cNvSpPr/>
          <p:nvPr/>
        </p:nvSpPr>
        <p:spPr>
          <a:xfrm>
            <a:off x="10345503" y="4920647"/>
            <a:ext cx="1028700" cy="285750"/>
          </a:xfrm>
          <a:prstGeom prst="roundRect">
            <a:avLst>
              <a:gd name="adj" fmla="val 50000"/>
            </a:avLst>
          </a:prstGeom>
          <a:solidFill>
            <a:srgbClr val="EEF8F1"/>
          </a:solidFill>
          <a:ln>
            <a:noFill/>
          </a:ln>
        </p:spPr>
      </p:sp>
      <p:sp>
        <p:nvSpPr>
          <p:cNvPr id="169" name="TextBox 65"/>
          <p:cNvSpPr txBox="1"/>
          <p:nvPr/>
        </p:nvSpPr>
        <p:spPr>
          <a:xfrm>
            <a:off x="10553783" y="5007325"/>
            <a:ext cx="612140" cy="184666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 anchorCtr="0">
            <a:spAutoFit/>
          </a:bodyPr>
          <a:lstStyle/>
          <a:p>
            <a:pPr algn="ctr"/>
            <a:r>
              <a:rPr lang="zh-CN" altLang="en-US" sz="1200" b="1" dirty="0">
                <a:solidFill>
                  <a:srgbClr val="2E7D32"/>
                </a:solidFill>
                <a:latin typeface="MiSans Normal" panose="00000500000000000000" charset="-122"/>
                <a:ea typeface="MiSans Normal" panose="00000500000000000000" charset="-122"/>
                <a:cs typeface="等线" panose="02010600030101010101" charset="-122"/>
              </a:rPr>
              <a:t>体验优化</a:t>
            </a:r>
            <a:endParaRPr lang="zh-CN" sz="1200" b="1" dirty="0">
              <a:solidFill>
                <a:srgbClr val="2E7D32"/>
              </a:solidFill>
              <a:latin typeface="MiSans Normal" panose="00000500000000000000" charset="-122"/>
              <a:ea typeface="MiSans Normal" panose="00000500000000000000" charset="-122"/>
              <a:cs typeface="等线" panose="02010600030101010101" charset="-122"/>
            </a:endParaRPr>
          </a:p>
        </p:txBody>
      </p:sp>
      <p:sp>
        <p:nvSpPr>
          <p:cNvPr id="170" name="Rectangle 72"/>
          <p:cNvSpPr/>
          <p:nvPr/>
        </p:nvSpPr>
        <p:spPr>
          <a:xfrm>
            <a:off x="5490225" y="4896464"/>
            <a:ext cx="1101899" cy="285750"/>
          </a:xfrm>
          <a:prstGeom prst="roundRect">
            <a:avLst>
              <a:gd name="adj" fmla="val 50000"/>
            </a:avLst>
          </a:prstGeom>
          <a:solidFill>
            <a:srgbClr val="FFF8E8"/>
          </a:solidFill>
          <a:ln>
            <a:noFill/>
          </a:ln>
        </p:spPr>
        <p:txBody>
          <a:bodyPr/>
          <a:lstStyle/>
          <a:p>
            <a:endParaRPr lang="zh-CN" altLang="en-US" dirty="0"/>
          </a:p>
        </p:txBody>
      </p:sp>
      <p:sp>
        <p:nvSpPr>
          <p:cNvPr id="171" name="TextBox 73"/>
          <p:cNvSpPr txBox="1"/>
          <p:nvPr/>
        </p:nvSpPr>
        <p:spPr>
          <a:xfrm>
            <a:off x="5659820" y="4983142"/>
            <a:ext cx="776485" cy="184666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 anchorCtr="0">
            <a:spAutoFit/>
          </a:bodyPr>
          <a:lstStyle/>
          <a:p>
            <a:pPr algn="ctr"/>
            <a:r>
              <a:rPr lang="zh-CN" sz="1200" b="1" dirty="0">
                <a:solidFill>
                  <a:srgbClr val="F59E0B"/>
                </a:solidFill>
                <a:latin typeface="MiSans Normal" panose="00000500000000000000" charset="-122"/>
                <a:ea typeface="MiSans Normal" panose="00000500000000000000" charset="-122"/>
                <a:cs typeface="等线" panose="02010600030101010101" charset="-122"/>
              </a:rPr>
              <a:t>服务端开发</a:t>
            </a:r>
            <a:endParaRPr lang="zh-CN" sz="1200" b="1" dirty="0">
              <a:solidFill>
                <a:srgbClr val="F59E0B"/>
              </a:solidFill>
              <a:latin typeface="MiSans Normal" panose="00000500000000000000" charset="-122"/>
              <a:ea typeface="MiSans Normal" panose="00000500000000000000" charset="-122"/>
              <a:cs typeface="等线" panose="02010600030101010101" charset="-122"/>
            </a:endParaRPr>
          </a:p>
        </p:txBody>
      </p:sp>
      <p:sp>
        <p:nvSpPr>
          <p:cNvPr id="172" name="Rectangle 74"/>
          <p:cNvSpPr/>
          <p:nvPr/>
        </p:nvSpPr>
        <p:spPr>
          <a:xfrm>
            <a:off x="6697097" y="4898724"/>
            <a:ext cx="990600" cy="285750"/>
          </a:xfrm>
          <a:prstGeom prst="roundRect">
            <a:avLst>
              <a:gd name="adj" fmla="val 50000"/>
            </a:avLst>
          </a:prstGeom>
          <a:solidFill>
            <a:srgbClr val="FFF2EC"/>
          </a:solidFill>
          <a:ln>
            <a:noFill/>
          </a:ln>
        </p:spPr>
      </p:sp>
      <p:sp>
        <p:nvSpPr>
          <p:cNvPr id="173" name="TextBox 75"/>
          <p:cNvSpPr txBox="1"/>
          <p:nvPr/>
        </p:nvSpPr>
        <p:spPr>
          <a:xfrm>
            <a:off x="6806001" y="4985402"/>
            <a:ext cx="772795" cy="184666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 anchorCtr="0">
            <a:spAutoFit/>
          </a:bodyPr>
          <a:lstStyle/>
          <a:p>
            <a:pPr algn="ctr"/>
            <a:r>
              <a:rPr lang="zh-CN" sz="1200" b="1" dirty="0">
                <a:solidFill>
                  <a:srgbClr val="C2410C"/>
                </a:solidFill>
                <a:latin typeface="MiSans Normal" panose="00000500000000000000" charset="-122"/>
                <a:ea typeface="MiSans Normal" panose="00000500000000000000" charset="-122"/>
                <a:cs typeface="MiSans Normal" panose="00000500000000000000" charset="-122"/>
              </a:rPr>
              <a:t>Demo 联调</a:t>
            </a:r>
            <a:endParaRPr lang="zh-CN" sz="1200" b="1" dirty="0">
              <a:solidFill>
                <a:srgbClr val="C2410C"/>
              </a:solidFill>
              <a:latin typeface="MiSans Normal" panose="00000500000000000000" charset="-122"/>
              <a:ea typeface="MiSans Normal" panose="00000500000000000000" charset="-122"/>
              <a:cs typeface="MiSans Normal" panose="00000500000000000000" charset="-122"/>
            </a:endParaRPr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p14:dur="400">
        <p:fade/>
      </p:transition>
    </mc:Choice>
    <mc:Fallback>
      <p:transition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400"/>
                                        <p:tgtEl>
                                          <p:spTgt spid="8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82" grpId="0"/>
    </p:bld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2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4F9FF"/>
          </a:solidFill>
          <a:ln>
            <a:noFill/>
          </a:ln>
        </p:spPr>
      </p:sp>
      <p:sp>
        <p:nvSpPr>
          <p:cNvPr id="3" name="Rectangle 3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gradFill>
            <a:gsLst>
              <a:gs pos="0">
                <a:srgbClr val="26A7FF">
                  <a:alpha val="12000"/>
                </a:srgbClr>
              </a:gs>
              <a:gs pos="100000">
                <a:srgbClr val="26A7FF">
                  <a:alpha val="0"/>
                </a:srgbClr>
              </a:gs>
            </a:gsLst>
            <a:path path="circle">
              <a:fillToRect l="50000" t="50000" r="50000" b="50000"/>
            </a:path>
          </a:gradFill>
          <a:ln>
            <a:noFill/>
          </a:ln>
        </p:spPr>
      </p:sp>
      <p:sp>
        <p:nvSpPr>
          <p:cNvPr id="4" name="Ellipse 4"/>
          <p:cNvSpPr/>
          <p:nvPr/>
        </p:nvSpPr>
        <p:spPr>
          <a:xfrm>
            <a:off x="9391650" y="-304800"/>
            <a:ext cx="2362200" cy="2362200"/>
          </a:xfrm>
          <a:prstGeom prst="ellipse">
            <a:avLst/>
          </a:prstGeom>
          <a:solidFill>
            <a:srgbClr val="26A7FF">
              <a:alpha val="8000"/>
            </a:srgbClr>
          </a:solidFill>
          <a:ln>
            <a:noFill/>
          </a:ln>
        </p:spPr>
      </p:sp>
      <p:sp>
        <p:nvSpPr>
          <p:cNvPr id="5" name="Ellipse 5"/>
          <p:cNvSpPr/>
          <p:nvPr/>
        </p:nvSpPr>
        <p:spPr>
          <a:xfrm>
            <a:off x="10553700" y="647700"/>
            <a:ext cx="1638300" cy="1638300"/>
          </a:xfrm>
          <a:prstGeom prst="ellipse">
            <a:avLst/>
          </a:prstGeom>
          <a:solidFill>
            <a:srgbClr val="00D4FF">
              <a:alpha val="7000"/>
            </a:srgbClr>
          </a:solidFill>
          <a:ln>
            <a:noFill/>
          </a:ln>
        </p:spPr>
      </p:sp>
      <p:sp>
        <p:nvSpPr>
          <p:cNvPr id="6" name="Freeform 6"/>
          <p:cNvSpPr/>
          <p:nvPr/>
        </p:nvSpPr>
        <p:spPr>
          <a:xfrm>
            <a:off x="8382000" y="781050"/>
            <a:ext cx="3390900" cy="438150"/>
          </a:xfrm>
          <a:custGeom>
            <a:avLst/>
            <a:gdLst/>
            <a:ahLst/>
            <a:cxnLst/>
            <a:rect l="l" t="t" r="r" b="b"/>
            <a:pathLst>
              <a:path w="3390900" h="438150">
                <a:moveTo>
                  <a:pt x="0" y="0"/>
                </a:moveTo>
                <a:lnTo>
                  <a:pt x="1600200" y="0"/>
                </a:lnTo>
                <a:lnTo>
                  <a:pt x="2038350" y="438150"/>
                </a:lnTo>
                <a:lnTo>
                  <a:pt x="3390900" y="438150"/>
                </a:lnTo>
              </a:path>
            </a:pathLst>
          </a:custGeom>
          <a:noFill/>
          <a:ln w="13335">
            <a:solidFill>
              <a:srgbClr val="BFD9F4">
                <a:alpha val="75000"/>
              </a:srgbClr>
            </a:solidFill>
          </a:ln>
        </p:spPr>
      </p:sp>
      <p:sp>
        <p:nvSpPr>
          <p:cNvPr id="7" name="Freeform 7"/>
          <p:cNvSpPr/>
          <p:nvPr/>
        </p:nvSpPr>
        <p:spPr>
          <a:xfrm>
            <a:off x="8705850" y="5638800"/>
            <a:ext cx="2990850" cy="457200"/>
          </a:xfrm>
          <a:custGeom>
            <a:avLst/>
            <a:gdLst/>
            <a:ahLst/>
            <a:cxnLst/>
            <a:rect l="l" t="t" r="r" b="b"/>
            <a:pathLst>
              <a:path w="2990850" h="457200">
                <a:moveTo>
                  <a:pt x="0" y="457200"/>
                </a:moveTo>
                <a:lnTo>
                  <a:pt x="1295400" y="457200"/>
                </a:lnTo>
                <a:lnTo>
                  <a:pt x="1752600" y="0"/>
                </a:lnTo>
                <a:lnTo>
                  <a:pt x="2990850" y="0"/>
                </a:lnTo>
              </a:path>
            </a:pathLst>
          </a:custGeom>
          <a:noFill/>
          <a:ln w="11430">
            <a:solidFill>
              <a:srgbClr val="BFD9F4">
                <a:alpha val="65000"/>
              </a:srgbClr>
            </a:solidFill>
          </a:ln>
        </p:spPr>
      </p:sp>
      <p:sp>
        <p:nvSpPr>
          <p:cNvPr id="8" name="Freeform 8"/>
          <p:cNvSpPr/>
          <p:nvPr/>
        </p:nvSpPr>
        <p:spPr>
          <a:xfrm>
            <a:off x="419100" y="5734050"/>
            <a:ext cx="2057400" cy="381000"/>
          </a:xfrm>
          <a:custGeom>
            <a:avLst/>
            <a:gdLst/>
            <a:ahLst/>
            <a:cxnLst/>
            <a:rect l="l" t="t" r="r" b="b"/>
            <a:pathLst>
              <a:path w="2057400" h="381000">
                <a:moveTo>
                  <a:pt x="0" y="381000"/>
                </a:moveTo>
                <a:lnTo>
                  <a:pt x="1676400" y="381000"/>
                </a:lnTo>
                <a:lnTo>
                  <a:pt x="2057400" y="0"/>
                </a:lnTo>
              </a:path>
            </a:pathLst>
          </a:custGeom>
          <a:noFill/>
          <a:ln w="11430">
            <a:solidFill>
              <a:srgbClr val="D7EAFF">
                <a:alpha val="90000"/>
              </a:srgbClr>
            </a:solidFill>
          </a:ln>
        </p:spPr>
      </p:sp>
      <p:sp>
        <p:nvSpPr>
          <p:cNvPr id="9" name="Ellipse 9"/>
          <p:cNvSpPr/>
          <p:nvPr/>
        </p:nvSpPr>
        <p:spPr>
          <a:xfrm>
            <a:off x="9944100" y="742950"/>
            <a:ext cx="76200" cy="76200"/>
          </a:xfrm>
          <a:prstGeom prst="ellipse">
            <a:avLst/>
          </a:prstGeom>
          <a:solidFill>
            <a:srgbClr val="26A7FF"/>
          </a:solidFill>
          <a:ln>
            <a:noFill/>
          </a:ln>
        </p:spPr>
      </p:sp>
      <p:sp>
        <p:nvSpPr>
          <p:cNvPr id="10" name="Ellipse 10"/>
          <p:cNvSpPr/>
          <p:nvPr/>
        </p:nvSpPr>
        <p:spPr>
          <a:xfrm>
            <a:off x="10382250" y="1181100"/>
            <a:ext cx="76200" cy="76200"/>
          </a:xfrm>
          <a:prstGeom prst="ellipse">
            <a:avLst/>
          </a:prstGeom>
          <a:solidFill>
            <a:srgbClr val="00D4FF"/>
          </a:solidFill>
          <a:ln>
            <a:noFill/>
          </a:ln>
        </p:spPr>
      </p:sp>
      <p:sp>
        <p:nvSpPr>
          <p:cNvPr id="11" name="Ellipse 11"/>
          <p:cNvSpPr/>
          <p:nvPr/>
        </p:nvSpPr>
        <p:spPr>
          <a:xfrm>
            <a:off x="2438400" y="5695950"/>
            <a:ext cx="76200" cy="76200"/>
          </a:xfrm>
          <a:prstGeom prst="ellipse">
            <a:avLst/>
          </a:prstGeom>
          <a:solidFill>
            <a:srgbClr val="26A7FF"/>
          </a:solidFill>
          <a:ln>
            <a:noFill/>
          </a:ln>
        </p:spPr>
      </p:sp>
      <p:sp>
        <p:nvSpPr>
          <p:cNvPr id="12" name="Line 12"/>
          <p:cNvSpPr/>
          <p:nvPr/>
        </p:nvSpPr>
        <p:spPr>
          <a:xfrm>
            <a:off x="762000" y="0"/>
            <a:ext cx="9525" cy="6858000"/>
          </a:xfrm>
          <a:custGeom>
            <a:avLst/>
            <a:gdLst/>
            <a:ahLst/>
            <a:cxnLst/>
            <a:rect l="l" t="t" r="r" b="b"/>
            <a:pathLst>
              <a:path w="9525" h="6858000">
                <a:moveTo>
                  <a:pt x="0" y="0"/>
                </a:moveTo>
                <a:lnTo>
                  <a:pt x="0" y="6858000"/>
                </a:lnTo>
              </a:path>
            </a:pathLst>
          </a:custGeom>
          <a:noFill/>
          <a:ln w="4762">
            <a:solidFill>
              <a:srgbClr val="D7EAFF">
                <a:alpha val="22000"/>
              </a:srgbClr>
            </a:solidFill>
          </a:ln>
        </p:spPr>
      </p:sp>
      <p:sp>
        <p:nvSpPr>
          <p:cNvPr id="13" name="Line 13"/>
          <p:cNvSpPr/>
          <p:nvPr/>
        </p:nvSpPr>
        <p:spPr>
          <a:xfrm>
            <a:off x="1524000" y="0"/>
            <a:ext cx="9525" cy="6858000"/>
          </a:xfrm>
          <a:custGeom>
            <a:avLst/>
            <a:gdLst/>
            <a:ahLst/>
            <a:cxnLst/>
            <a:rect l="l" t="t" r="r" b="b"/>
            <a:pathLst>
              <a:path w="9525" h="6858000">
                <a:moveTo>
                  <a:pt x="0" y="0"/>
                </a:moveTo>
                <a:lnTo>
                  <a:pt x="0" y="6858000"/>
                </a:lnTo>
              </a:path>
            </a:pathLst>
          </a:custGeom>
          <a:noFill/>
          <a:ln w="4762">
            <a:solidFill>
              <a:srgbClr val="D7EAFF">
                <a:alpha val="22000"/>
              </a:srgbClr>
            </a:solidFill>
          </a:ln>
        </p:spPr>
      </p:sp>
      <p:sp>
        <p:nvSpPr>
          <p:cNvPr id="14" name="Line 14"/>
          <p:cNvSpPr/>
          <p:nvPr/>
        </p:nvSpPr>
        <p:spPr>
          <a:xfrm>
            <a:off x="2286000" y="0"/>
            <a:ext cx="9525" cy="6858000"/>
          </a:xfrm>
          <a:custGeom>
            <a:avLst/>
            <a:gdLst/>
            <a:ahLst/>
            <a:cxnLst/>
            <a:rect l="l" t="t" r="r" b="b"/>
            <a:pathLst>
              <a:path w="9525" h="6858000">
                <a:moveTo>
                  <a:pt x="0" y="0"/>
                </a:moveTo>
                <a:lnTo>
                  <a:pt x="0" y="6858000"/>
                </a:lnTo>
              </a:path>
            </a:pathLst>
          </a:custGeom>
          <a:noFill/>
          <a:ln w="4762">
            <a:solidFill>
              <a:srgbClr val="D7EAFF">
                <a:alpha val="22000"/>
              </a:srgbClr>
            </a:solidFill>
          </a:ln>
        </p:spPr>
      </p:sp>
      <p:sp>
        <p:nvSpPr>
          <p:cNvPr id="15" name="Line 15"/>
          <p:cNvSpPr/>
          <p:nvPr/>
        </p:nvSpPr>
        <p:spPr>
          <a:xfrm>
            <a:off x="3048000" y="0"/>
            <a:ext cx="9525" cy="6858000"/>
          </a:xfrm>
          <a:custGeom>
            <a:avLst/>
            <a:gdLst/>
            <a:ahLst/>
            <a:cxnLst/>
            <a:rect l="l" t="t" r="r" b="b"/>
            <a:pathLst>
              <a:path w="9525" h="6858000">
                <a:moveTo>
                  <a:pt x="0" y="0"/>
                </a:moveTo>
                <a:lnTo>
                  <a:pt x="0" y="6858000"/>
                </a:lnTo>
              </a:path>
            </a:pathLst>
          </a:custGeom>
          <a:noFill/>
          <a:ln w="4762">
            <a:solidFill>
              <a:srgbClr val="D7EAFF">
                <a:alpha val="22000"/>
              </a:srgbClr>
            </a:solidFill>
          </a:ln>
        </p:spPr>
      </p:sp>
      <p:sp>
        <p:nvSpPr>
          <p:cNvPr id="16" name="Line 16"/>
          <p:cNvSpPr/>
          <p:nvPr/>
        </p:nvSpPr>
        <p:spPr>
          <a:xfrm>
            <a:off x="3810000" y="0"/>
            <a:ext cx="9525" cy="6858000"/>
          </a:xfrm>
          <a:custGeom>
            <a:avLst/>
            <a:gdLst/>
            <a:ahLst/>
            <a:cxnLst/>
            <a:rect l="l" t="t" r="r" b="b"/>
            <a:pathLst>
              <a:path w="9525" h="6858000">
                <a:moveTo>
                  <a:pt x="0" y="0"/>
                </a:moveTo>
                <a:lnTo>
                  <a:pt x="0" y="6858000"/>
                </a:lnTo>
              </a:path>
            </a:pathLst>
          </a:custGeom>
          <a:noFill/>
          <a:ln w="4762">
            <a:solidFill>
              <a:srgbClr val="D7EAFF">
                <a:alpha val="22000"/>
              </a:srgbClr>
            </a:solidFill>
          </a:ln>
        </p:spPr>
      </p:sp>
      <p:sp>
        <p:nvSpPr>
          <p:cNvPr id="17" name="Line 17"/>
          <p:cNvSpPr/>
          <p:nvPr/>
        </p:nvSpPr>
        <p:spPr>
          <a:xfrm>
            <a:off x="4572000" y="0"/>
            <a:ext cx="9525" cy="6858000"/>
          </a:xfrm>
          <a:custGeom>
            <a:avLst/>
            <a:gdLst/>
            <a:ahLst/>
            <a:cxnLst/>
            <a:rect l="l" t="t" r="r" b="b"/>
            <a:pathLst>
              <a:path w="9525" h="6858000">
                <a:moveTo>
                  <a:pt x="0" y="0"/>
                </a:moveTo>
                <a:lnTo>
                  <a:pt x="0" y="6858000"/>
                </a:lnTo>
              </a:path>
            </a:pathLst>
          </a:custGeom>
          <a:noFill/>
          <a:ln w="4762">
            <a:solidFill>
              <a:srgbClr val="D7EAFF">
                <a:alpha val="22000"/>
              </a:srgbClr>
            </a:solidFill>
          </a:ln>
        </p:spPr>
      </p:sp>
      <p:sp>
        <p:nvSpPr>
          <p:cNvPr id="18" name="Line 18"/>
          <p:cNvSpPr/>
          <p:nvPr/>
        </p:nvSpPr>
        <p:spPr>
          <a:xfrm>
            <a:off x="5334000" y="0"/>
            <a:ext cx="9525" cy="6858000"/>
          </a:xfrm>
          <a:custGeom>
            <a:avLst/>
            <a:gdLst/>
            <a:ahLst/>
            <a:cxnLst/>
            <a:rect l="l" t="t" r="r" b="b"/>
            <a:pathLst>
              <a:path w="9525" h="6858000">
                <a:moveTo>
                  <a:pt x="0" y="0"/>
                </a:moveTo>
                <a:lnTo>
                  <a:pt x="0" y="6858000"/>
                </a:lnTo>
              </a:path>
            </a:pathLst>
          </a:custGeom>
          <a:noFill/>
          <a:ln w="4762">
            <a:solidFill>
              <a:srgbClr val="D7EAFF">
                <a:alpha val="22000"/>
              </a:srgbClr>
            </a:solidFill>
          </a:ln>
        </p:spPr>
      </p:sp>
      <p:sp>
        <p:nvSpPr>
          <p:cNvPr id="19" name="Line 19"/>
          <p:cNvSpPr/>
          <p:nvPr/>
        </p:nvSpPr>
        <p:spPr>
          <a:xfrm>
            <a:off x="6096000" y="0"/>
            <a:ext cx="9525" cy="6858000"/>
          </a:xfrm>
          <a:custGeom>
            <a:avLst/>
            <a:gdLst/>
            <a:ahLst/>
            <a:cxnLst/>
            <a:rect l="l" t="t" r="r" b="b"/>
            <a:pathLst>
              <a:path w="9525" h="6858000">
                <a:moveTo>
                  <a:pt x="0" y="0"/>
                </a:moveTo>
                <a:lnTo>
                  <a:pt x="0" y="6858000"/>
                </a:lnTo>
              </a:path>
            </a:pathLst>
          </a:custGeom>
          <a:noFill/>
          <a:ln w="4762">
            <a:solidFill>
              <a:srgbClr val="D7EAFF">
                <a:alpha val="22000"/>
              </a:srgbClr>
            </a:solidFill>
          </a:ln>
        </p:spPr>
      </p:sp>
      <p:sp>
        <p:nvSpPr>
          <p:cNvPr id="20" name="Line 20"/>
          <p:cNvSpPr/>
          <p:nvPr/>
        </p:nvSpPr>
        <p:spPr>
          <a:xfrm>
            <a:off x="6858000" y="0"/>
            <a:ext cx="9525" cy="6858000"/>
          </a:xfrm>
          <a:custGeom>
            <a:avLst/>
            <a:gdLst/>
            <a:ahLst/>
            <a:cxnLst/>
            <a:rect l="l" t="t" r="r" b="b"/>
            <a:pathLst>
              <a:path w="9525" h="6858000">
                <a:moveTo>
                  <a:pt x="0" y="0"/>
                </a:moveTo>
                <a:lnTo>
                  <a:pt x="0" y="6858000"/>
                </a:lnTo>
              </a:path>
            </a:pathLst>
          </a:custGeom>
          <a:noFill/>
          <a:ln w="4762">
            <a:solidFill>
              <a:srgbClr val="D7EAFF">
                <a:alpha val="22000"/>
              </a:srgbClr>
            </a:solidFill>
          </a:ln>
        </p:spPr>
      </p:sp>
      <p:sp>
        <p:nvSpPr>
          <p:cNvPr id="21" name="Line 21"/>
          <p:cNvSpPr/>
          <p:nvPr/>
        </p:nvSpPr>
        <p:spPr>
          <a:xfrm>
            <a:off x="7620000" y="0"/>
            <a:ext cx="9525" cy="6858000"/>
          </a:xfrm>
          <a:custGeom>
            <a:avLst/>
            <a:gdLst/>
            <a:ahLst/>
            <a:cxnLst/>
            <a:rect l="l" t="t" r="r" b="b"/>
            <a:pathLst>
              <a:path w="9525" h="6858000">
                <a:moveTo>
                  <a:pt x="0" y="0"/>
                </a:moveTo>
                <a:lnTo>
                  <a:pt x="0" y="6858000"/>
                </a:lnTo>
              </a:path>
            </a:pathLst>
          </a:custGeom>
          <a:noFill/>
          <a:ln w="4762">
            <a:solidFill>
              <a:srgbClr val="D7EAFF">
                <a:alpha val="22000"/>
              </a:srgbClr>
            </a:solidFill>
          </a:ln>
        </p:spPr>
      </p:sp>
      <p:sp>
        <p:nvSpPr>
          <p:cNvPr id="22" name="Line 22"/>
          <p:cNvSpPr/>
          <p:nvPr/>
        </p:nvSpPr>
        <p:spPr>
          <a:xfrm>
            <a:off x="8382000" y="0"/>
            <a:ext cx="9525" cy="6858000"/>
          </a:xfrm>
          <a:custGeom>
            <a:avLst/>
            <a:gdLst/>
            <a:ahLst/>
            <a:cxnLst/>
            <a:rect l="l" t="t" r="r" b="b"/>
            <a:pathLst>
              <a:path w="9525" h="6858000">
                <a:moveTo>
                  <a:pt x="0" y="0"/>
                </a:moveTo>
                <a:lnTo>
                  <a:pt x="0" y="6858000"/>
                </a:lnTo>
              </a:path>
            </a:pathLst>
          </a:custGeom>
          <a:noFill/>
          <a:ln w="4762">
            <a:solidFill>
              <a:srgbClr val="D7EAFF">
                <a:alpha val="22000"/>
              </a:srgbClr>
            </a:solidFill>
          </a:ln>
        </p:spPr>
      </p:sp>
      <p:sp>
        <p:nvSpPr>
          <p:cNvPr id="23" name="Line 23"/>
          <p:cNvSpPr/>
          <p:nvPr/>
        </p:nvSpPr>
        <p:spPr>
          <a:xfrm>
            <a:off x="9144000" y="0"/>
            <a:ext cx="9525" cy="6858000"/>
          </a:xfrm>
          <a:custGeom>
            <a:avLst/>
            <a:gdLst/>
            <a:ahLst/>
            <a:cxnLst/>
            <a:rect l="l" t="t" r="r" b="b"/>
            <a:pathLst>
              <a:path w="9525" h="6858000">
                <a:moveTo>
                  <a:pt x="0" y="0"/>
                </a:moveTo>
                <a:lnTo>
                  <a:pt x="0" y="6858000"/>
                </a:lnTo>
              </a:path>
            </a:pathLst>
          </a:custGeom>
          <a:noFill/>
          <a:ln w="4762">
            <a:solidFill>
              <a:srgbClr val="D7EAFF">
                <a:alpha val="22000"/>
              </a:srgbClr>
            </a:solidFill>
          </a:ln>
        </p:spPr>
      </p:sp>
      <p:sp>
        <p:nvSpPr>
          <p:cNvPr id="24" name="Line 24"/>
          <p:cNvSpPr/>
          <p:nvPr/>
        </p:nvSpPr>
        <p:spPr>
          <a:xfrm>
            <a:off x="9906000" y="0"/>
            <a:ext cx="9525" cy="6858000"/>
          </a:xfrm>
          <a:custGeom>
            <a:avLst/>
            <a:gdLst/>
            <a:ahLst/>
            <a:cxnLst/>
            <a:rect l="l" t="t" r="r" b="b"/>
            <a:pathLst>
              <a:path w="9525" h="6858000">
                <a:moveTo>
                  <a:pt x="0" y="0"/>
                </a:moveTo>
                <a:lnTo>
                  <a:pt x="0" y="6858000"/>
                </a:lnTo>
              </a:path>
            </a:pathLst>
          </a:custGeom>
          <a:noFill/>
          <a:ln w="4762">
            <a:solidFill>
              <a:srgbClr val="D7EAFF">
                <a:alpha val="22000"/>
              </a:srgbClr>
            </a:solidFill>
          </a:ln>
        </p:spPr>
      </p:sp>
      <p:sp>
        <p:nvSpPr>
          <p:cNvPr id="25" name="Line 25"/>
          <p:cNvSpPr/>
          <p:nvPr/>
        </p:nvSpPr>
        <p:spPr>
          <a:xfrm>
            <a:off x="10668000" y="0"/>
            <a:ext cx="9525" cy="6858000"/>
          </a:xfrm>
          <a:custGeom>
            <a:avLst/>
            <a:gdLst/>
            <a:ahLst/>
            <a:cxnLst/>
            <a:rect l="l" t="t" r="r" b="b"/>
            <a:pathLst>
              <a:path w="9525" h="6858000">
                <a:moveTo>
                  <a:pt x="0" y="0"/>
                </a:moveTo>
                <a:lnTo>
                  <a:pt x="0" y="6858000"/>
                </a:lnTo>
              </a:path>
            </a:pathLst>
          </a:custGeom>
          <a:noFill/>
          <a:ln w="4762">
            <a:solidFill>
              <a:srgbClr val="D7EAFF">
                <a:alpha val="22000"/>
              </a:srgbClr>
            </a:solidFill>
          </a:ln>
        </p:spPr>
      </p:sp>
      <p:sp>
        <p:nvSpPr>
          <p:cNvPr id="26" name="Line 26"/>
          <p:cNvSpPr/>
          <p:nvPr/>
        </p:nvSpPr>
        <p:spPr>
          <a:xfrm>
            <a:off x="11430000" y="0"/>
            <a:ext cx="9525" cy="6858000"/>
          </a:xfrm>
          <a:custGeom>
            <a:avLst/>
            <a:gdLst/>
            <a:ahLst/>
            <a:cxnLst/>
            <a:rect l="l" t="t" r="r" b="b"/>
            <a:pathLst>
              <a:path w="9525" h="6858000">
                <a:moveTo>
                  <a:pt x="0" y="0"/>
                </a:moveTo>
                <a:lnTo>
                  <a:pt x="0" y="6858000"/>
                </a:lnTo>
              </a:path>
            </a:pathLst>
          </a:custGeom>
          <a:noFill/>
          <a:ln w="4762">
            <a:solidFill>
              <a:srgbClr val="D7EAFF">
                <a:alpha val="22000"/>
              </a:srgbClr>
            </a:solidFill>
          </a:ln>
        </p:spPr>
      </p:sp>
      <p:sp>
        <p:nvSpPr>
          <p:cNvPr id="27" name="Line 27"/>
          <p:cNvSpPr/>
          <p:nvPr/>
        </p:nvSpPr>
        <p:spPr>
          <a:xfrm>
            <a:off x="0" y="762000"/>
            <a:ext cx="12192000" cy="9525"/>
          </a:xfrm>
          <a:custGeom>
            <a:avLst/>
            <a:gdLst/>
            <a:ahLst/>
            <a:cxnLst/>
            <a:rect l="l" t="t" r="r" b="b"/>
            <a:pathLst>
              <a:path w="12192000" h="9525">
                <a:moveTo>
                  <a:pt x="0" y="0"/>
                </a:moveTo>
                <a:lnTo>
                  <a:pt x="12192000" y="0"/>
                </a:lnTo>
              </a:path>
            </a:pathLst>
          </a:custGeom>
          <a:noFill/>
          <a:ln w="4762">
            <a:solidFill>
              <a:srgbClr val="D7EAFF">
                <a:alpha val="22000"/>
              </a:srgbClr>
            </a:solidFill>
          </a:ln>
        </p:spPr>
      </p:sp>
      <p:sp>
        <p:nvSpPr>
          <p:cNvPr id="28" name="Line 28"/>
          <p:cNvSpPr/>
          <p:nvPr/>
        </p:nvSpPr>
        <p:spPr>
          <a:xfrm>
            <a:off x="0" y="1524000"/>
            <a:ext cx="12192000" cy="9525"/>
          </a:xfrm>
          <a:custGeom>
            <a:avLst/>
            <a:gdLst/>
            <a:ahLst/>
            <a:cxnLst/>
            <a:rect l="l" t="t" r="r" b="b"/>
            <a:pathLst>
              <a:path w="12192000" h="9525">
                <a:moveTo>
                  <a:pt x="0" y="0"/>
                </a:moveTo>
                <a:lnTo>
                  <a:pt x="12192000" y="0"/>
                </a:lnTo>
              </a:path>
            </a:pathLst>
          </a:custGeom>
          <a:noFill/>
          <a:ln w="4762">
            <a:solidFill>
              <a:srgbClr val="D7EAFF">
                <a:alpha val="22000"/>
              </a:srgbClr>
            </a:solidFill>
          </a:ln>
        </p:spPr>
      </p:sp>
      <p:sp>
        <p:nvSpPr>
          <p:cNvPr id="29" name="Line 29"/>
          <p:cNvSpPr/>
          <p:nvPr/>
        </p:nvSpPr>
        <p:spPr>
          <a:xfrm>
            <a:off x="0" y="2286000"/>
            <a:ext cx="12192000" cy="9525"/>
          </a:xfrm>
          <a:custGeom>
            <a:avLst/>
            <a:gdLst/>
            <a:ahLst/>
            <a:cxnLst/>
            <a:rect l="l" t="t" r="r" b="b"/>
            <a:pathLst>
              <a:path w="12192000" h="9525">
                <a:moveTo>
                  <a:pt x="0" y="0"/>
                </a:moveTo>
                <a:lnTo>
                  <a:pt x="12192000" y="0"/>
                </a:lnTo>
              </a:path>
            </a:pathLst>
          </a:custGeom>
          <a:noFill/>
          <a:ln w="4762">
            <a:solidFill>
              <a:srgbClr val="D7EAFF">
                <a:alpha val="22000"/>
              </a:srgbClr>
            </a:solidFill>
          </a:ln>
        </p:spPr>
      </p:sp>
      <p:sp>
        <p:nvSpPr>
          <p:cNvPr id="30" name="Line 30"/>
          <p:cNvSpPr/>
          <p:nvPr/>
        </p:nvSpPr>
        <p:spPr>
          <a:xfrm>
            <a:off x="0" y="3048000"/>
            <a:ext cx="12192000" cy="9525"/>
          </a:xfrm>
          <a:custGeom>
            <a:avLst/>
            <a:gdLst/>
            <a:ahLst/>
            <a:cxnLst/>
            <a:rect l="l" t="t" r="r" b="b"/>
            <a:pathLst>
              <a:path w="12192000" h="9525">
                <a:moveTo>
                  <a:pt x="0" y="0"/>
                </a:moveTo>
                <a:lnTo>
                  <a:pt x="12192000" y="0"/>
                </a:lnTo>
              </a:path>
            </a:pathLst>
          </a:custGeom>
          <a:noFill/>
          <a:ln w="4762">
            <a:solidFill>
              <a:srgbClr val="D7EAFF">
                <a:alpha val="22000"/>
              </a:srgbClr>
            </a:solidFill>
          </a:ln>
        </p:spPr>
      </p:sp>
      <p:sp>
        <p:nvSpPr>
          <p:cNvPr id="31" name="Line 31"/>
          <p:cNvSpPr/>
          <p:nvPr/>
        </p:nvSpPr>
        <p:spPr>
          <a:xfrm>
            <a:off x="0" y="3810000"/>
            <a:ext cx="12192000" cy="9525"/>
          </a:xfrm>
          <a:custGeom>
            <a:avLst/>
            <a:gdLst/>
            <a:ahLst/>
            <a:cxnLst/>
            <a:rect l="l" t="t" r="r" b="b"/>
            <a:pathLst>
              <a:path w="12192000" h="9525">
                <a:moveTo>
                  <a:pt x="0" y="0"/>
                </a:moveTo>
                <a:lnTo>
                  <a:pt x="12192000" y="0"/>
                </a:lnTo>
              </a:path>
            </a:pathLst>
          </a:custGeom>
          <a:noFill/>
          <a:ln w="4762">
            <a:solidFill>
              <a:srgbClr val="D7EAFF">
                <a:alpha val="22000"/>
              </a:srgbClr>
            </a:solidFill>
          </a:ln>
        </p:spPr>
      </p:sp>
      <p:sp>
        <p:nvSpPr>
          <p:cNvPr id="32" name="Line 32"/>
          <p:cNvSpPr/>
          <p:nvPr/>
        </p:nvSpPr>
        <p:spPr>
          <a:xfrm>
            <a:off x="0" y="4572000"/>
            <a:ext cx="12192000" cy="9525"/>
          </a:xfrm>
          <a:custGeom>
            <a:avLst/>
            <a:gdLst/>
            <a:ahLst/>
            <a:cxnLst/>
            <a:rect l="l" t="t" r="r" b="b"/>
            <a:pathLst>
              <a:path w="12192000" h="9525">
                <a:moveTo>
                  <a:pt x="0" y="0"/>
                </a:moveTo>
                <a:lnTo>
                  <a:pt x="12192000" y="0"/>
                </a:lnTo>
              </a:path>
            </a:pathLst>
          </a:custGeom>
          <a:noFill/>
          <a:ln w="4762">
            <a:solidFill>
              <a:srgbClr val="D7EAFF">
                <a:alpha val="22000"/>
              </a:srgbClr>
            </a:solidFill>
          </a:ln>
        </p:spPr>
      </p:sp>
      <p:sp>
        <p:nvSpPr>
          <p:cNvPr id="33" name="Line 33"/>
          <p:cNvSpPr/>
          <p:nvPr/>
        </p:nvSpPr>
        <p:spPr>
          <a:xfrm>
            <a:off x="0" y="5334000"/>
            <a:ext cx="12192000" cy="9525"/>
          </a:xfrm>
          <a:custGeom>
            <a:avLst/>
            <a:gdLst/>
            <a:ahLst/>
            <a:cxnLst/>
            <a:rect l="l" t="t" r="r" b="b"/>
            <a:pathLst>
              <a:path w="12192000" h="9525">
                <a:moveTo>
                  <a:pt x="0" y="0"/>
                </a:moveTo>
                <a:lnTo>
                  <a:pt x="12192000" y="0"/>
                </a:lnTo>
              </a:path>
            </a:pathLst>
          </a:custGeom>
          <a:noFill/>
          <a:ln w="4762">
            <a:solidFill>
              <a:srgbClr val="D7EAFF">
                <a:alpha val="22000"/>
              </a:srgbClr>
            </a:solidFill>
          </a:ln>
        </p:spPr>
      </p:sp>
      <p:sp>
        <p:nvSpPr>
          <p:cNvPr id="34" name="Line 34"/>
          <p:cNvSpPr/>
          <p:nvPr/>
        </p:nvSpPr>
        <p:spPr>
          <a:xfrm>
            <a:off x="0" y="6096000"/>
            <a:ext cx="12192000" cy="9525"/>
          </a:xfrm>
          <a:custGeom>
            <a:avLst/>
            <a:gdLst/>
            <a:ahLst/>
            <a:cxnLst/>
            <a:rect l="l" t="t" r="r" b="b"/>
            <a:pathLst>
              <a:path w="12192000" h="9525">
                <a:moveTo>
                  <a:pt x="0" y="0"/>
                </a:moveTo>
                <a:lnTo>
                  <a:pt x="12192000" y="0"/>
                </a:lnTo>
              </a:path>
            </a:pathLst>
          </a:custGeom>
          <a:noFill/>
          <a:ln w="4762">
            <a:solidFill>
              <a:srgbClr val="D7EAFF">
                <a:alpha val="22000"/>
              </a:srgbClr>
            </a:solidFill>
          </a:ln>
        </p:spPr>
      </p:sp>
      <p:grpSp>
        <p:nvGrpSpPr>
          <p:cNvPr id="84" name="Group 84"/>
          <p:cNvGrpSpPr/>
          <p:nvPr/>
        </p:nvGrpSpPr>
        <p:grpSpPr>
          <a:xfrm>
            <a:off x="0" y="0"/>
            <a:ext cx="12192000" cy="6781800"/>
            <a:chOff x="0" y="0"/>
            <a:chExt cx="12192000" cy="6781800"/>
          </a:xfrm>
        </p:grpSpPr>
        <p:sp>
          <p:nvSpPr>
            <p:cNvPr id="35" name="Rectangle 35"/>
            <p:cNvSpPr/>
            <p:nvPr/>
          </p:nvSpPr>
          <p:spPr>
            <a:xfrm>
              <a:off x="0" y="0"/>
              <a:ext cx="12192000" cy="47625"/>
            </a:xfrm>
            <a:prstGeom prst="rect">
              <a:avLst/>
            </a:prstGeom>
            <a:gradFill>
              <a:gsLst>
                <a:gs pos="0">
                  <a:srgbClr val="0B57D0"/>
                </a:gs>
                <a:gs pos="52000">
                  <a:srgbClr val="26A7FF"/>
                </a:gs>
                <a:gs pos="100000">
                  <a:srgbClr val="00D4FF"/>
                </a:gs>
              </a:gsLst>
              <a:lin ang="0" scaled="1"/>
            </a:gradFill>
            <a:ln>
              <a:noFill/>
            </a:ln>
          </p:spPr>
        </p:sp>
        <p:sp>
          <p:nvSpPr>
            <p:cNvPr id="36" name="TextBox 36"/>
            <p:cNvSpPr txBox="1"/>
            <p:nvPr/>
          </p:nvSpPr>
          <p:spPr>
            <a:xfrm>
              <a:off x="504825" y="233362"/>
              <a:ext cx="1145540" cy="346075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2250" b="1" dirty="0">
                  <a:solidFill>
                    <a:srgbClr val="102033"/>
                  </a:solidFill>
                  <a:latin typeface="MiSans Heavy" panose="00000A00000000000000" charset="-122"/>
                  <a:ea typeface="MiSans Heavy" panose="00000A00000000000000" charset="-122"/>
                  <a:cs typeface="等线" panose="02010600030101010101" charset="-122"/>
                </a:rPr>
                <a:t>作品简介</a:t>
              </a:r>
              <a:endParaRPr lang="zh-CN" sz="2250" b="1" dirty="0">
                <a:solidFill>
                  <a:srgbClr val="102033"/>
                </a:solidFill>
                <a:latin typeface="MiSans Heavy" panose="00000A00000000000000" charset="-122"/>
                <a:ea typeface="MiSans Heavy" panose="00000A00000000000000" charset="-122"/>
                <a:cs typeface="等线" panose="02010600030101010101" charset="-122"/>
              </a:endParaRPr>
            </a:p>
          </p:txBody>
        </p:sp>
        <p:sp>
          <p:nvSpPr>
            <p:cNvPr id="37" name="TextBox 37"/>
            <p:cNvSpPr txBox="1"/>
            <p:nvPr/>
          </p:nvSpPr>
          <p:spPr>
            <a:xfrm>
              <a:off x="521970" y="645795"/>
              <a:ext cx="1113155" cy="13843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00" b="1" dirty="0">
                  <a:solidFill>
                    <a:srgbClr val="0B57D0"/>
                  </a:solidFill>
                  <a:latin typeface="金山云技术体" charset="-122"/>
                  <a:ea typeface="金山云技术体" charset="-122"/>
                  <a:cs typeface="等线" panose="02010600030101010101" charset="-122"/>
                </a:rPr>
                <a:t>PROJECT OVERVIEW</a:t>
              </a:r>
              <a:endParaRPr lang="zh-CN" sz="900" b="1" dirty="0">
                <a:solidFill>
                  <a:srgbClr val="0B57D0"/>
                </a:solidFill>
                <a:latin typeface="金山云技术体" charset="-122"/>
                <a:ea typeface="金山云技术体" charset="-122"/>
                <a:cs typeface="等线" panose="02010600030101010101" charset="-122"/>
              </a:endParaRPr>
            </a:p>
          </p:txBody>
        </p:sp>
        <p:sp>
          <p:nvSpPr>
            <p:cNvPr id="38" name="Line 38"/>
            <p:cNvSpPr/>
            <p:nvPr/>
          </p:nvSpPr>
          <p:spPr>
            <a:xfrm>
              <a:off x="533400" y="876300"/>
              <a:ext cx="11125200" cy="9525"/>
            </a:xfrm>
            <a:custGeom>
              <a:avLst/>
              <a:gdLst/>
              <a:ahLst/>
              <a:cxnLst/>
              <a:rect l="l" t="t" r="r" b="b"/>
              <a:pathLst>
                <a:path w="11125200" h="9525">
                  <a:moveTo>
                    <a:pt x="0" y="0"/>
                  </a:moveTo>
                  <a:lnTo>
                    <a:pt x="11125200" y="0"/>
                  </a:lnTo>
                </a:path>
              </a:pathLst>
            </a:custGeom>
            <a:noFill/>
            <a:ln w="11430">
              <a:solidFill>
                <a:srgbClr val="BFD9F4"/>
              </a:solidFill>
            </a:ln>
          </p:spPr>
        </p:sp>
        <p:sp>
          <p:nvSpPr>
            <p:cNvPr id="39" name="Rectangle 39"/>
            <p:cNvSpPr/>
            <p:nvPr/>
          </p:nvSpPr>
          <p:spPr>
            <a:xfrm>
              <a:off x="533400" y="1028700"/>
              <a:ext cx="95250" cy="95250"/>
            </a:xfrm>
            <a:prstGeom prst="roundRect">
              <a:avLst>
                <a:gd name="adj" fmla="val 50000"/>
              </a:avLst>
            </a:prstGeom>
            <a:solidFill>
              <a:srgbClr val="00D4FF"/>
            </a:solidFill>
            <a:ln>
              <a:noFill/>
            </a:ln>
          </p:spPr>
        </p:sp>
        <p:sp>
          <p:nvSpPr>
            <p:cNvPr id="40" name="TextBox 40"/>
            <p:cNvSpPr txBox="1"/>
            <p:nvPr/>
          </p:nvSpPr>
          <p:spPr>
            <a:xfrm>
              <a:off x="765810" y="1003935"/>
              <a:ext cx="5276850" cy="18415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00" b="1" dirty="0">
                  <a:solidFill>
                    <a:srgbClr val="51677F"/>
                  </a:solidFill>
                  <a:latin typeface="MiSans Normal" panose="00000500000000000000" charset="-122"/>
                  <a:ea typeface="MiSans Normal" panose="00000500000000000000" charset="-122"/>
                  <a:cs typeface="MiSans Normal" panose="00000500000000000000" charset="-122"/>
                </a:rPr>
                <a:t>蓝心同行把旅行 AI 从单次问答升级为可记忆、会陪伴、能成长的全旅程伙伴。</a:t>
              </a:r>
              <a:endParaRPr lang="zh-CN" sz="1200" b="1" dirty="0">
                <a:solidFill>
                  <a:srgbClr val="51677F"/>
                </a:solidFill>
                <a:latin typeface="MiSans Normal" panose="00000500000000000000" charset="-122"/>
                <a:ea typeface="MiSans Normal" panose="00000500000000000000" charset="-122"/>
                <a:cs typeface="MiSans Normal" panose="00000500000000000000" charset="-122"/>
              </a:endParaRPr>
            </a:p>
          </p:txBody>
        </p:sp>
        <p:sp>
          <p:nvSpPr>
            <p:cNvPr id="41" name="Rectangle 41"/>
            <p:cNvSpPr/>
            <p:nvPr/>
          </p:nvSpPr>
          <p:spPr>
            <a:xfrm>
              <a:off x="495300" y="1581150"/>
              <a:ext cx="5334000" cy="4533900"/>
            </a:xfrm>
            <a:prstGeom prst="roundRect">
              <a:avLst>
                <a:gd name="adj" fmla="val 4202"/>
              </a:avLst>
            </a:prstGeom>
            <a:solidFill>
              <a:srgbClr val="0B57D0">
                <a:alpha val="5000"/>
              </a:srgbClr>
            </a:solidFill>
            <a:ln>
              <a:noFill/>
            </a:ln>
          </p:spPr>
        </p:sp>
        <p:sp>
          <p:nvSpPr>
            <p:cNvPr id="42" name="Rectangle 42"/>
            <p:cNvSpPr/>
            <p:nvPr/>
          </p:nvSpPr>
          <p:spPr>
            <a:xfrm>
              <a:off x="419100" y="1485900"/>
              <a:ext cx="5334000" cy="4533900"/>
            </a:xfrm>
            <a:prstGeom prst="roundRect">
              <a:avLst>
                <a:gd name="adj" fmla="val 4202"/>
              </a:avLst>
            </a:prstGeom>
            <a:solidFill>
              <a:srgbClr val="FFFFFF"/>
            </a:solidFill>
            <a:ln w="11430">
              <a:solidFill>
                <a:srgbClr val="BFD9F4"/>
              </a:solidFill>
            </a:ln>
          </p:spPr>
        </p:sp>
        <p:sp>
          <p:nvSpPr>
            <p:cNvPr id="43" name="Line 43"/>
            <p:cNvSpPr/>
            <p:nvPr/>
          </p:nvSpPr>
          <p:spPr>
            <a:xfrm>
              <a:off x="590550" y="1495425"/>
              <a:ext cx="1238250" cy="9525"/>
            </a:xfrm>
            <a:custGeom>
              <a:avLst/>
              <a:gdLst/>
              <a:ahLst/>
              <a:cxnLst/>
              <a:rect l="l" t="t" r="r" b="b"/>
              <a:pathLst>
                <a:path w="1238250" h="9525">
                  <a:moveTo>
                    <a:pt x="0" y="0"/>
                  </a:moveTo>
                  <a:lnTo>
                    <a:pt x="1238250" y="0"/>
                  </a:lnTo>
                </a:path>
              </a:pathLst>
            </a:custGeom>
            <a:noFill/>
            <a:ln w="19050">
              <a:solidFill>
                <a:srgbClr val="26A7FF">
                  <a:alpha val="90000"/>
                </a:srgbClr>
              </a:solidFill>
            </a:ln>
          </p:spPr>
        </p:sp>
        <p:sp>
          <p:nvSpPr>
            <p:cNvPr id="44" name="TextBox 44"/>
            <p:cNvSpPr txBox="1"/>
            <p:nvPr/>
          </p:nvSpPr>
          <p:spPr>
            <a:xfrm>
              <a:off x="668655" y="1740218"/>
              <a:ext cx="688340" cy="207645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b="1" dirty="0">
                  <a:solidFill>
                    <a:srgbClr val="51677F"/>
                  </a:solidFill>
                  <a:latin typeface="MiSans Normal" panose="00000500000000000000" charset="-122"/>
                  <a:ea typeface="MiSans Normal" panose="00000500000000000000" charset="-122"/>
                  <a:cs typeface="等线" panose="02010600030101010101" charset="-122"/>
                </a:rPr>
                <a:t>作品名称</a:t>
              </a:r>
              <a:endParaRPr lang="zh-CN" sz="1350" b="1" dirty="0">
                <a:solidFill>
                  <a:srgbClr val="51677F"/>
                </a:solidFill>
                <a:latin typeface="MiSans Normal" panose="00000500000000000000" charset="-122"/>
                <a:ea typeface="MiSans Normal" panose="00000500000000000000" charset="-122"/>
                <a:cs typeface="等线" panose="02010600030101010101" charset="-122"/>
              </a:endParaRPr>
            </a:p>
          </p:txBody>
        </p:sp>
        <p:sp>
          <p:nvSpPr>
            <p:cNvPr id="45" name="TextBox 45"/>
            <p:cNvSpPr txBox="1"/>
            <p:nvPr/>
          </p:nvSpPr>
          <p:spPr>
            <a:xfrm>
              <a:off x="653415" y="2116138"/>
              <a:ext cx="1297940" cy="391795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2550" b="1" dirty="0">
                  <a:solidFill>
                    <a:srgbClr val="0B57D0"/>
                  </a:solidFill>
                  <a:latin typeface="金山云技术体" charset="-122"/>
                  <a:ea typeface="金山云技术体" charset="-122"/>
                  <a:cs typeface="等线" panose="02010600030101010101" charset="-122"/>
                </a:rPr>
                <a:t>蓝心同行</a:t>
              </a:r>
              <a:endParaRPr lang="zh-CN" sz="2550" b="1" dirty="0">
                <a:solidFill>
                  <a:srgbClr val="0B57D0"/>
                </a:solidFill>
                <a:latin typeface="金山云技术体" charset="-122"/>
                <a:ea typeface="金山云技术体" charset="-122"/>
                <a:cs typeface="等线" panose="02010600030101010101" charset="-122"/>
              </a:endParaRPr>
            </a:p>
          </p:txBody>
        </p:sp>
        <p:sp>
          <p:nvSpPr>
            <p:cNvPr id="46" name="TextBox 46"/>
            <p:cNvSpPr txBox="1"/>
            <p:nvPr/>
          </p:nvSpPr>
          <p:spPr>
            <a:xfrm>
              <a:off x="668655" y="2743518"/>
              <a:ext cx="688340" cy="207645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b="1" dirty="0">
                  <a:solidFill>
                    <a:srgbClr val="51677F"/>
                  </a:solidFill>
                  <a:latin typeface="MiSans Normal" panose="00000500000000000000" charset="-122"/>
                  <a:ea typeface="MiSans Normal" panose="00000500000000000000" charset="-122"/>
                  <a:cs typeface="等线" panose="02010600030101010101" charset="-122"/>
                </a:rPr>
                <a:t>作品概述</a:t>
              </a:r>
              <a:endParaRPr lang="zh-CN" sz="1350" b="1" dirty="0">
                <a:solidFill>
                  <a:srgbClr val="51677F"/>
                </a:solidFill>
                <a:latin typeface="MiSans Normal" panose="00000500000000000000" charset="-122"/>
                <a:ea typeface="MiSans Normal" panose="00000500000000000000" charset="-122"/>
                <a:cs typeface="等线" panose="02010600030101010101" charset="-122"/>
              </a:endParaRPr>
            </a:p>
          </p:txBody>
        </p:sp>
        <p:sp>
          <p:nvSpPr>
            <p:cNvPr id="47" name="TextBox 47"/>
            <p:cNvSpPr txBox="1"/>
            <p:nvPr/>
          </p:nvSpPr>
          <p:spPr>
            <a:xfrm>
              <a:off x="668655" y="3158808"/>
              <a:ext cx="4715510" cy="207645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dirty="0">
                  <a:solidFill>
                    <a:srgbClr val="102033"/>
                  </a:solidFill>
                  <a:latin typeface="MiSans Normal" panose="00000500000000000000" charset="-122"/>
                  <a:ea typeface="MiSans Normal" panose="00000500000000000000" charset="-122"/>
                  <a:cs typeface="MiSans Normal" panose="00000500000000000000" charset="-122"/>
                </a:rPr>
                <a:t>蓝心同行是一款面向年轻自由行场景的全旅程 AI 旅行 Agent。</a:t>
              </a:r>
              <a:endParaRPr lang="zh-CN" sz="1350" dirty="0">
                <a:solidFill>
                  <a:srgbClr val="102033"/>
                </a:solidFill>
                <a:latin typeface="MiSans Normal" panose="00000500000000000000" charset="-122"/>
                <a:ea typeface="MiSans Normal" panose="00000500000000000000" charset="-122"/>
                <a:cs typeface="MiSans Normal" panose="00000500000000000000" charset="-122"/>
              </a:endParaRPr>
            </a:p>
          </p:txBody>
        </p:sp>
        <p:sp>
          <p:nvSpPr>
            <p:cNvPr id="48" name="TextBox 48"/>
            <p:cNvSpPr txBox="1"/>
            <p:nvPr/>
          </p:nvSpPr>
          <p:spPr>
            <a:xfrm>
              <a:off x="668655" y="3444558"/>
              <a:ext cx="4800600" cy="207645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dirty="0">
                  <a:solidFill>
                    <a:srgbClr val="102033"/>
                  </a:solidFill>
                  <a:latin typeface="MiSans Normal" panose="00000500000000000000" charset="-122"/>
                  <a:ea typeface="MiSans Normal" panose="00000500000000000000" charset="-122"/>
                  <a:cs typeface="等线" panose="02010600030101010101" charset="-122"/>
                </a:rPr>
                <a:t>它通过记忆胶囊沉淀用户偏好，通过多模型</a:t>
              </a:r>
              <a:r>
                <a:rPr lang="zh-CN" sz="1350" dirty="0">
                  <a:solidFill>
                    <a:srgbClr val="102033"/>
                  </a:solidFill>
                  <a:latin typeface="MiSans Normal" panose="00000500000000000000" charset="-122"/>
                  <a:ea typeface="MiSans Normal" panose="00000500000000000000" charset="-122"/>
                  <a:cs typeface="等线" panose="02010600030101010101" charset="-122"/>
                </a:rPr>
                <a:t>写作完成规划推理、</a:t>
              </a:r>
              <a:endParaRPr lang="zh-CN" sz="1350" dirty="0">
                <a:solidFill>
                  <a:srgbClr val="102033"/>
                </a:solidFill>
                <a:latin typeface="MiSans Normal" panose="00000500000000000000" charset="-122"/>
                <a:ea typeface="MiSans Normal" panose="00000500000000000000" charset="-122"/>
                <a:cs typeface="等线" panose="02010600030101010101" charset="-122"/>
              </a:endParaRPr>
            </a:p>
          </p:txBody>
        </p:sp>
        <p:sp>
          <p:nvSpPr>
            <p:cNvPr id="49" name="TextBox 49"/>
            <p:cNvSpPr txBox="1"/>
            <p:nvPr/>
          </p:nvSpPr>
          <p:spPr>
            <a:xfrm>
              <a:off x="668655" y="3730308"/>
              <a:ext cx="4714240" cy="207645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dirty="0">
                  <a:solidFill>
                    <a:srgbClr val="102033"/>
                  </a:solidFill>
                  <a:latin typeface="MiSans Normal" panose="00000500000000000000" charset="-122"/>
                  <a:ea typeface="MiSans Normal" panose="00000500000000000000" charset="-122"/>
                  <a:cs typeface="MiSans Normal" panose="00000500000000000000" charset="-122"/>
                </a:rPr>
                <a:t>主动提醒与内容生成，并以蓝小心这个 AIGC 2D 数字搭子承载</a:t>
              </a:r>
              <a:endParaRPr lang="zh-CN" sz="1350" dirty="0">
                <a:solidFill>
                  <a:srgbClr val="102033"/>
                </a:solidFill>
                <a:latin typeface="MiSans Normal" panose="00000500000000000000" charset="-122"/>
                <a:ea typeface="MiSans Normal" panose="00000500000000000000" charset="-122"/>
                <a:cs typeface="MiSans Normal" panose="00000500000000000000" charset="-122"/>
              </a:endParaRPr>
            </a:p>
          </p:txBody>
        </p:sp>
        <p:sp>
          <p:nvSpPr>
            <p:cNvPr id="50" name="TextBox 50"/>
            <p:cNvSpPr txBox="1"/>
            <p:nvPr/>
          </p:nvSpPr>
          <p:spPr>
            <a:xfrm>
              <a:off x="668655" y="4016058"/>
              <a:ext cx="1885950" cy="207645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dirty="0">
                  <a:solidFill>
                    <a:srgbClr val="102033"/>
                  </a:solidFill>
                  <a:latin typeface="MiSans Normal" panose="00000500000000000000" charset="-122"/>
                  <a:ea typeface="MiSans Normal" panose="00000500000000000000" charset="-122"/>
                  <a:cs typeface="等线" panose="02010600030101010101" charset="-122"/>
                </a:rPr>
                <a:t>情绪、状态与陪伴反馈。</a:t>
              </a:r>
              <a:endParaRPr lang="zh-CN" sz="1350" dirty="0">
                <a:solidFill>
                  <a:srgbClr val="102033"/>
                </a:solidFill>
                <a:latin typeface="MiSans Normal" panose="00000500000000000000" charset="-122"/>
                <a:ea typeface="MiSans Normal" panose="00000500000000000000" charset="-122"/>
                <a:cs typeface="等线" panose="02010600030101010101" charset="-122"/>
              </a:endParaRPr>
            </a:p>
          </p:txBody>
        </p:sp>
        <p:sp>
          <p:nvSpPr>
            <p:cNvPr id="51" name="TextBox 51"/>
            <p:cNvSpPr txBox="1"/>
            <p:nvPr/>
          </p:nvSpPr>
          <p:spPr>
            <a:xfrm>
              <a:off x="669608" y="4701064"/>
              <a:ext cx="4064000" cy="19685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75" dirty="0">
                  <a:solidFill>
                    <a:srgbClr val="51677F"/>
                  </a:solidFill>
                  <a:latin typeface="MiSans Normal" panose="00000500000000000000" charset="-122"/>
                  <a:ea typeface="MiSans Normal" panose="00000500000000000000" charset="-122"/>
                  <a:cs typeface="等线" panose="02010600030101010101" charset="-122"/>
                </a:rPr>
                <a:t>作品要解决的问题是：旅行信息太多、普通推荐不懂我、</a:t>
              </a:r>
              <a:endParaRPr lang="zh-CN" sz="1275" dirty="0">
                <a:solidFill>
                  <a:srgbClr val="51677F"/>
                </a:solidFill>
                <a:latin typeface="MiSans Normal" panose="00000500000000000000" charset="-122"/>
                <a:ea typeface="MiSans Normal" panose="00000500000000000000" charset="-122"/>
                <a:cs typeface="等线" panose="02010600030101010101" charset="-122"/>
              </a:endParaRPr>
            </a:p>
          </p:txBody>
        </p:sp>
        <p:sp>
          <p:nvSpPr>
            <p:cNvPr id="52" name="TextBox 52"/>
            <p:cNvSpPr txBox="1"/>
            <p:nvPr/>
          </p:nvSpPr>
          <p:spPr>
            <a:xfrm>
              <a:off x="669608" y="4967764"/>
              <a:ext cx="2275840" cy="19685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75" dirty="0">
                  <a:solidFill>
                    <a:srgbClr val="51677F"/>
                  </a:solidFill>
                  <a:latin typeface="MiSans Normal" panose="00000500000000000000" charset="-122"/>
                  <a:ea typeface="MiSans Normal" panose="00000500000000000000" charset="-122"/>
                  <a:cs typeface="等线" panose="02010600030101010101" charset="-122"/>
                </a:rPr>
                <a:t>旅途中变化快、独旅缺少陪伴。</a:t>
              </a:r>
              <a:endParaRPr lang="zh-CN" sz="1275" dirty="0">
                <a:solidFill>
                  <a:srgbClr val="51677F"/>
                </a:solidFill>
                <a:latin typeface="MiSans Normal" panose="00000500000000000000" charset="-122"/>
                <a:ea typeface="MiSans Normal" panose="00000500000000000000" charset="-122"/>
                <a:cs typeface="等线" panose="02010600030101010101" charset="-122"/>
              </a:endParaRPr>
            </a:p>
          </p:txBody>
        </p:sp>
        <p:sp>
          <p:nvSpPr>
            <p:cNvPr id="53" name="Rectangle 53"/>
            <p:cNvSpPr/>
            <p:nvPr/>
          </p:nvSpPr>
          <p:spPr>
            <a:xfrm>
              <a:off x="6210300" y="1581150"/>
              <a:ext cx="5638800" cy="4533900"/>
            </a:xfrm>
            <a:prstGeom prst="roundRect">
              <a:avLst>
                <a:gd name="adj" fmla="val 4202"/>
              </a:avLst>
            </a:prstGeom>
            <a:solidFill>
              <a:srgbClr val="0B57D0">
                <a:alpha val="5000"/>
              </a:srgbClr>
            </a:solidFill>
            <a:ln>
              <a:noFill/>
            </a:ln>
          </p:spPr>
        </p:sp>
        <p:sp>
          <p:nvSpPr>
            <p:cNvPr id="54" name="Rectangle 54"/>
            <p:cNvSpPr/>
            <p:nvPr/>
          </p:nvSpPr>
          <p:spPr>
            <a:xfrm>
              <a:off x="6134100" y="1485900"/>
              <a:ext cx="5638800" cy="4533900"/>
            </a:xfrm>
            <a:prstGeom prst="roundRect">
              <a:avLst>
                <a:gd name="adj" fmla="val 4202"/>
              </a:avLst>
            </a:prstGeom>
            <a:solidFill>
              <a:srgbClr val="FFFFFF"/>
            </a:solidFill>
            <a:ln w="11430">
              <a:solidFill>
                <a:srgbClr val="BFD9F4"/>
              </a:solidFill>
            </a:ln>
          </p:spPr>
        </p:sp>
        <p:sp>
          <p:nvSpPr>
            <p:cNvPr id="55" name="Line 55"/>
            <p:cNvSpPr/>
            <p:nvPr/>
          </p:nvSpPr>
          <p:spPr>
            <a:xfrm>
              <a:off x="6305550" y="1495425"/>
              <a:ext cx="1238250" cy="9525"/>
            </a:xfrm>
            <a:custGeom>
              <a:avLst/>
              <a:gdLst/>
              <a:ahLst/>
              <a:cxnLst/>
              <a:rect l="l" t="t" r="r" b="b"/>
              <a:pathLst>
                <a:path w="1238250" h="9525">
                  <a:moveTo>
                    <a:pt x="0" y="0"/>
                  </a:moveTo>
                  <a:lnTo>
                    <a:pt x="1238250" y="0"/>
                  </a:lnTo>
                </a:path>
              </a:pathLst>
            </a:custGeom>
            <a:noFill/>
            <a:ln w="19050">
              <a:solidFill>
                <a:srgbClr val="26A7FF">
                  <a:alpha val="90000"/>
                </a:srgbClr>
              </a:solidFill>
            </a:ln>
          </p:spPr>
        </p:sp>
        <p:sp>
          <p:nvSpPr>
            <p:cNvPr id="56" name="TextBox 56"/>
            <p:cNvSpPr txBox="1"/>
            <p:nvPr/>
          </p:nvSpPr>
          <p:spPr>
            <a:xfrm>
              <a:off x="6383655" y="1740218"/>
              <a:ext cx="688340" cy="207645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b="1" dirty="0">
                  <a:solidFill>
                    <a:srgbClr val="51677F"/>
                  </a:solidFill>
                  <a:latin typeface="MiSans Normal" panose="00000500000000000000" charset="-122"/>
                  <a:ea typeface="MiSans Normal" panose="00000500000000000000" charset="-122"/>
                  <a:cs typeface="等线" panose="02010600030101010101" charset="-122"/>
                </a:rPr>
                <a:t>核心价值</a:t>
              </a:r>
              <a:endParaRPr lang="zh-CN" sz="1350" b="1" dirty="0">
                <a:solidFill>
                  <a:srgbClr val="51677F"/>
                </a:solidFill>
                <a:latin typeface="MiSans Normal" panose="00000500000000000000" charset="-122"/>
                <a:ea typeface="MiSans Normal" panose="00000500000000000000" charset="-122"/>
                <a:cs typeface="等线" panose="02010600030101010101" charset="-122"/>
              </a:endParaRPr>
            </a:p>
          </p:txBody>
        </p:sp>
        <p:sp>
          <p:nvSpPr>
            <p:cNvPr id="57" name="Rectangle 57"/>
            <p:cNvSpPr/>
            <p:nvPr/>
          </p:nvSpPr>
          <p:spPr>
            <a:xfrm>
              <a:off x="6400800" y="2133600"/>
              <a:ext cx="1428750" cy="285750"/>
            </a:xfrm>
            <a:prstGeom prst="roundRect">
              <a:avLst>
                <a:gd name="adj" fmla="val 50000"/>
              </a:avLst>
            </a:prstGeom>
            <a:solidFill>
              <a:srgbClr val="E7F2FF"/>
            </a:solidFill>
            <a:ln>
              <a:noFill/>
            </a:ln>
          </p:spPr>
        </p:sp>
        <p:sp>
          <p:nvSpPr>
            <p:cNvPr id="58" name="TextBox 58"/>
            <p:cNvSpPr txBox="1"/>
            <p:nvPr/>
          </p:nvSpPr>
          <p:spPr>
            <a:xfrm>
              <a:off x="6656071" y="2199958"/>
              <a:ext cx="918210" cy="18415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200" b="1" dirty="0">
                  <a:solidFill>
                    <a:srgbClr val="0B57D0"/>
                  </a:solidFill>
                  <a:latin typeface="MiSans Normal" panose="00000500000000000000" charset="-122"/>
                  <a:ea typeface="MiSans Normal" panose="00000500000000000000" charset="-122"/>
                  <a:cs typeface="等线" panose="02010600030101010101" charset="-122"/>
                </a:rPr>
                <a:t>越旅行越懂你</a:t>
              </a:r>
              <a:endParaRPr lang="zh-CN" sz="1200" b="1" dirty="0">
                <a:solidFill>
                  <a:srgbClr val="0B57D0"/>
                </a:solidFill>
                <a:latin typeface="MiSans Normal" panose="00000500000000000000" charset="-122"/>
                <a:ea typeface="MiSans Normal" panose="00000500000000000000" charset="-122"/>
                <a:cs typeface="等线" panose="02010600030101010101" charset="-122"/>
              </a:endParaRPr>
            </a:p>
          </p:txBody>
        </p:sp>
        <p:sp>
          <p:nvSpPr>
            <p:cNvPr id="59" name="Rectangle 59"/>
            <p:cNvSpPr/>
            <p:nvPr/>
          </p:nvSpPr>
          <p:spPr>
            <a:xfrm>
              <a:off x="7981950" y="2133600"/>
              <a:ext cx="1600200" cy="285750"/>
            </a:xfrm>
            <a:prstGeom prst="roundRect">
              <a:avLst>
                <a:gd name="adj" fmla="val 50000"/>
              </a:avLst>
            </a:prstGeom>
            <a:solidFill>
              <a:srgbClr val="E6FAFF"/>
            </a:solidFill>
            <a:ln>
              <a:noFill/>
            </a:ln>
          </p:spPr>
        </p:sp>
        <p:sp>
          <p:nvSpPr>
            <p:cNvPr id="60" name="TextBox 60"/>
            <p:cNvSpPr txBox="1"/>
            <p:nvPr/>
          </p:nvSpPr>
          <p:spPr>
            <a:xfrm>
              <a:off x="8246428" y="2199958"/>
              <a:ext cx="1071245" cy="18415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200" b="1" dirty="0">
                  <a:solidFill>
                    <a:srgbClr val="00D4FF"/>
                  </a:solidFill>
                  <a:latin typeface="MiSans Normal" panose="00000500000000000000" charset="-122"/>
                  <a:ea typeface="MiSans Normal" panose="00000500000000000000" charset="-122"/>
                  <a:cs typeface="等线" panose="02010600030101010101" charset="-122"/>
                </a:rPr>
                <a:t>不只是攻略工具</a:t>
              </a:r>
              <a:endParaRPr lang="zh-CN" sz="1200" b="1" dirty="0">
                <a:solidFill>
                  <a:srgbClr val="00D4FF"/>
                </a:solidFill>
                <a:latin typeface="MiSans Normal" panose="00000500000000000000" charset="-122"/>
                <a:ea typeface="MiSans Normal" panose="00000500000000000000" charset="-122"/>
                <a:cs typeface="等线" panose="02010600030101010101" charset="-122"/>
              </a:endParaRPr>
            </a:p>
          </p:txBody>
        </p:sp>
        <p:sp>
          <p:nvSpPr>
            <p:cNvPr id="61" name="Rectangle 61"/>
            <p:cNvSpPr/>
            <p:nvPr/>
          </p:nvSpPr>
          <p:spPr>
            <a:xfrm>
              <a:off x="9734550" y="2133600"/>
              <a:ext cx="1695450" cy="285750"/>
            </a:xfrm>
            <a:prstGeom prst="roundRect">
              <a:avLst>
                <a:gd name="adj" fmla="val 50000"/>
              </a:avLst>
            </a:prstGeom>
            <a:solidFill>
              <a:srgbClr val="FFF8E8"/>
            </a:solidFill>
            <a:ln>
              <a:noFill/>
            </a:ln>
          </p:spPr>
        </p:sp>
        <p:sp>
          <p:nvSpPr>
            <p:cNvPr id="62" name="TextBox 62"/>
            <p:cNvSpPr txBox="1"/>
            <p:nvPr/>
          </p:nvSpPr>
          <p:spPr>
            <a:xfrm>
              <a:off x="10009823" y="2199958"/>
              <a:ext cx="1144905" cy="18415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200" b="1" dirty="0">
                  <a:solidFill>
                    <a:srgbClr val="F59E0B"/>
                  </a:solidFill>
                  <a:latin typeface="MiSans Normal" panose="00000500000000000000" charset="-122"/>
                  <a:ea typeface="MiSans Normal" panose="00000500000000000000" charset="-122"/>
                  <a:cs typeface="MiSans Normal" panose="00000500000000000000" charset="-122"/>
                </a:rPr>
                <a:t>看得见的 AI 搭子</a:t>
              </a:r>
              <a:endParaRPr lang="zh-CN" sz="1200" b="1" dirty="0">
                <a:solidFill>
                  <a:srgbClr val="F59E0B"/>
                </a:solidFill>
                <a:latin typeface="MiSans Normal" panose="00000500000000000000" charset="-122"/>
                <a:ea typeface="MiSans Normal" panose="00000500000000000000" charset="-122"/>
                <a:cs typeface="MiSans Normal" panose="00000500000000000000" charset="-122"/>
              </a:endParaRPr>
            </a:p>
          </p:txBody>
        </p:sp>
        <p:sp>
          <p:nvSpPr>
            <p:cNvPr id="63" name="Rectangle 63"/>
            <p:cNvSpPr/>
            <p:nvPr/>
          </p:nvSpPr>
          <p:spPr>
            <a:xfrm>
              <a:off x="6400800" y="2635250"/>
              <a:ext cx="1371600" cy="285750"/>
            </a:xfrm>
            <a:prstGeom prst="roundRect">
              <a:avLst>
                <a:gd name="adj" fmla="val 50000"/>
              </a:avLst>
            </a:prstGeom>
            <a:solidFill>
              <a:srgbClr val="EEF8F1"/>
            </a:solidFill>
            <a:ln>
              <a:noFill/>
            </a:ln>
          </p:spPr>
        </p:sp>
        <p:sp>
          <p:nvSpPr>
            <p:cNvPr id="64" name="TextBox 64"/>
            <p:cNvSpPr txBox="1"/>
            <p:nvPr/>
          </p:nvSpPr>
          <p:spPr>
            <a:xfrm>
              <a:off x="6627496" y="2701608"/>
              <a:ext cx="918210" cy="18415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200" b="1" dirty="0">
                  <a:solidFill>
                    <a:srgbClr val="2E7D32"/>
                  </a:solidFill>
                  <a:latin typeface="MiSans Normal" panose="00000500000000000000" charset="-122"/>
                  <a:ea typeface="MiSans Normal" panose="00000500000000000000" charset="-122"/>
                  <a:cs typeface="等线" panose="02010600030101010101" charset="-122"/>
                </a:rPr>
                <a:t>陪完整段旅程</a:t>
              </a:r>
              <a:endParaRPr lang="zh-CN" sz="1200" b="1" dirty="0">
                <a:solidFill>
                  <a:srgbClr val="2E7D32"/>
                </a:solidFill>
                <a:latin typeface="MiSans Normal" panose="00000500000000000000" charset="-122"/>
                <a:ea typeface="MiSans Normal" panose="00000500000000000000" charset="-122"/>
                <a:cs typeface="等线" panose="02010600030101010101" charset="-122"/>
              </a:endParaRPr>
            </a:p>
          </p:txBody>
        </p:sp>
        <p:sp>
          <p:nvSpPr>
            <p:cNvPr id="65" name="Rectangle 65"/>
            <p:cNvSpPr/>
            <p:nvPr/>
          </p:nvSpPr>
          <p:spPr>
            <a:xfrm>
              <a:off x="7981950" y="2635250"/>
              <a:ext cx="1619250" cy="285750"/>
            </a:xfrm>
            <a:prstGeom prst="roundRect">
              <a:avLst>
                <a:gd name="adj" fmla="val 50000"/>
              </a:avLst>
            </a:prstGeom>
            <a:solidFill>
              <a:srgbClr val="FFF2EC"/>
            </a:solidFill>
            <a:ln>
              <a:noFill/>
            </a:ln>
          </p:spPr>
        </p:sp>
        <p:sp>
          <p:nvSpPr>
            <p:cNvPr id="66" name="TextBox 66"/>
            <p:cNvSpPr txBox="1"/>
            <p:nvPr/>
          </p:nvSpPr>
          <p:spPr>
            <a:xfrm>
              <a:off x="8246428" y="2701608"/>
              <a:ext cx="1071245" cy="18415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200" b="1" dirty="0">
                  <a:solidFill>
                    <a:srgbClr val="C2410C"/>
                  </a:solidFill>
                  <a:latin typeface="MiSans Normal" panose="00000500000000000000" charset="-122"/>
                  <a:ea typeface="MiSans Normal" panose="00000500000000000000" charset="-122"/>
                  <a:cs typeface="等线" panose="02010600030101010101" charset="-122"/>
                </a:rPr>
                <a:t>可控且隐私友好</a:t>
              </a:r>
              <a:endParaRPr lang="zh-CN" sz="1200" b="1" dirty="0">
                <a:solidFill>
                  <a:srgbClr val="C2410C"/>
                </a:solidFill>
                <a:latin typeface="MiSans Normal" panose="00000500000000000000" charset="-122"/>
                <a:ea typeface="MiSans Normal" panose="00000500000000000000" charset="-122"/>
                <a:cs typeface="等线" panose="02010600030101010101" charset="-122"/>
              </a:endParaRPr>
            </a:p>
          </p:txBody>
        </p:sp>
        <p:sp>
          <p:nvSpPr>
            <p:cNvPr id="67" name="Rectangle 67"/>
            <p:cNvSpPr/>
            <p:nvPr/>
          </p:nvSpPr>
          <p:spPr>
            <a:xfrm>
              <a:off x="9906000" y="2635250"/>
              <a:ext cx="1257300" cy="285750"/>
            </a:xfrm>
            <a:prstGeom prst="roundRect">
              <a:avLst>
                <a:gd name="adj" fmla="val 50000"/>
              </a:avLst>
            </a:prstGeom>
            <a:solidFill>
              <a:srgbClr val="E7F2FF"/>
            </a:solidFill>
            <a:ln>
              <a:noFill/>
            </a:ln>
          </p:spPr>
        </p:sp>
        <p:sp>
          <p:nvSpPr>
            <p:cNvPr id="68" name="TextBox 68"/>
            <p:cNvSpPr txBox="1"/>
            <p:nvPr/>
          </p:nvSpPr>
          <p:spPr>
            <a:xfrm>
              <a:off x="10162858" y="2698433"/>
              <a:ext cx="765175" cy="18415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200" b="1" dirty="0">
                  <a:solidFill>
                    <a:srgbClr val="0B57D0"/>
                  </a:solidFill>
                  <a:latin typeface="MiSans Normal" panose="00000500000000000000" charset="-122"/>
                  <a:ea typeface="MiSans Normal" panose="00000500000000000000" charset="-122"/>
                  <a:cs typeface="等线" panose="02010600030101010101" charset="-122"/>
                </a:rPr>
                <a:t>关系会成长</a:t>
              </a:r>
              <a:endParaRPr lang="zh-CN" sz="1200" b="1" dirty="0">
                <a:solidFill>
                  <a:srgbClr val="0B57D0"/>
                </a:solidFill>
                <a:latin typeface="MiSans Normal" panose="00000500000000000000" charset="-122"/>
                <a:ea typeface="MiSans Normal" panose="00000500000000000000" charset="-122"/>
                <a:cs typeface="等线" panose="02010600030101010101" charset="-122"/>
              </a:endParaRPr>
            </a:p>
          </p:txBody>
        </p:sp>
        <p:sp>
          <p:nvSpPr>
            <p:cNvPr id="69" name="Rectangle 69"/>
            <p:cNvSpPr/>
            <p:nvPr/>
          </p:nvSpPr>
          <p:spPr>
            <a:xfrm>
              <a:off x="6477000" y="3702050"/>
              <a:ext cx="3409950" cy="1581150"/>
            </a:xfrm>
            <a:prstGeom prst="roundRect">
              <a:avLst>
                <a:gd name="adj" fmla="val 8434"/>
              </a:avLst>
            </a:prstGeom>
            <a:solidFill>
              <a:srgbClr val="0B57D0">
                <a:alpha val="5000"/>
              </a:srgbClr>
            </a:solidFill>
            <a:ln>
              <a:noFill/>
            </a:ln>
          </p:spPr>
          <p:txBody>
            <a:bodyPr/>
            <a:p>
              <a:endParaRPr lang="zh-CN" altLang="en-US"/>
            </a:p>
          </p:txBody>
        </p:sp>
        <p:sp>
          <p:nvSpPr>
            <p:cNvPr id="70" name="Rectangle 70"/>
            <p:cNvSpPr/>
            <p:nvPr/>
          </p:nvSpPr>
          <p:spPr>
            <a:xfrm>
              <a:off x="6324600" y="3606800"/>
              <a:ext cx="3409950" cy="1581150"/>
            </a:xfrm>
            <a:prstGeom prst="roundRect">
              <a:avLst>
                <a:gd name="adj" fmla="val 8434"/>
              </a:avLst>
            </a:prstGeom>
            <a:solidFill>
              <a:srgbClr val="FFFFFF"/>
            </a:solidFill>
            <a:ln w="11430">
              <a:solidFill>
                <a:srgbClr val="BFD9F4"/>
              </a:solidFill>
            </a:ln>
          </p:spPr>
        </p:sp>
        <p:sp>
          <p:nvSpPr>
            <p:cNvPr id="71" name="Line 71"/>
            <p:cNvSpPr/>
            <p:nvPr/>
          </p:nvSpPr>
          <p:spPr>
            <a:xfrm>
              <a:off x="6524625" y="3631565"/>
              <a:ext cx="1238250" cy="9525"/>
            </a:xfrm>
            <a:custGeom>
              <a:avLst/>
              <a:gdLst/>
              <a:ahLst/>
              <a:cxnLst/>
              <a:rect l="l" t="t" r="r" b="b"/>
              <a:pathLst>
                <a:path w="1238250" h="9525">
                  <a:moveTo>
                    <a:pt x="0" y="0"/>
                  </a:moveTo>
                  <a:lnTo>
                    <a:pt x="1238250" y="0"/>
                  </a:lnTo>
                </a:path>
              </a:pathLst>
            </a:custGeom>
            <a:noFill/>
            <a:ln w="19050">
              <a:solidFill>
                <a:srgbClr val="26A7FF">
                  <a:alpha val="90000"/>
                </a:srgbClr>
              </a:solidFill>
            </a:ln>
          </p:spPr>
        </p:sp>
        <p:sp>
          <p:nvSpPr>
            <p:cNvPr id="72" name="Rectangle 72"/>
            <p:cNvSpPr/>
            <p:nvPr/>
          </p:nvSpPr>
          <p:spPr>
            <a:xfrm>
              <a:off x="6581775" y="3745230"/>
              <a:ext cx="285750" cy="285750"/>
            </a:xfrm>
            <a:prstGeom prst="roundRect">
              <a:avLst>
                <a:gd name="adj" fmla="val 33333"/>
              </a:avLst>
            </a:prstGeom>
            <a:solidFill>
              <a:srgbClr val="E7F2FF"/>
            </a:solidFill>
            <a:ln>
              <a:noFill/>
            </a:ln>
          </p:spPr>
          <p:txBody>
            <a:bodyPr/>
            <a:p>
              <a:endParaRPr lang="zh-CN" altLang="en-US"/>
            </a:p>
          </p:txBody>
        </p:sp>
        <p:sp>
          <p:nvSpPr>
            <p:cNvPr id="73" name="Freeform 73"/>
            <p:cNvSpPr/>
            <p:nvPr/>
          </p:nvSpPr>
          <p:spPr>
            <a:xfrm>
              <a:off x="6635750" y="3823018"/>
              <a:ext cx="158750" cy="151184"/>
            </a:xfrm>
            <a:custGeom>
              <a:avLst/>
              <a:gdLst/>
              <a:ahLst/>
              <a:cxnLst/>
              <a:rect l="l" t="t" r="r" b="b"/>
              <a:pathLst>
                <a:path w="158750" h="151184">
                  <a:moveTo>
                    <a:pt x="127000" y="0"/>
                  </a:moveTo>
                  <a:cubicBezTo>
                    <a:pt x="144535" y="0"/>
                    <a:pt x="158750" y="14215"/>
                    <a:pt x="158750" y="31750"/>
                  </a:cubicBezTo>
                  <a:lnTo>
                    <a:pt x="158750" y="95250"/>
                  </a:lnTo>
                  <a:cubicBezTo>
                    <a:pt x="158750" y="112785"/>
                    <a:pt x="144535" y="127000"/>
                    <a:pt x="127000" y="127000"/>
                  </a:cubicBezTo>
                  <a:lnTo>
                    <a:pt x="89503" y="127000"/>
                  </a:lnTo>
                  <a:lnTo>
                    <a:pt x="51705" y="149677"/>
                  </a:lnTo>
                  <a:cubicBezTo>
                    <a:pt x="49392" y="151066"/>
                    <a:pt x="46532" y="151184"/>
                    <a:pt x="44112" y="149992"/>
                  </a:cubicBezTo>
                  <a:cubicBezTo>
                    <a:pt x="41693" y="148799"/>
                    <a:pt x="40044" y="146460"/>
                    <a:pt x="39735" y="143780"/>
                  </a:cubicBezTo>
                  <a:lnTo>
                    <a:pt x="39688" y="142875"/>
                  </a:lnTo>
                  <a:lnTo>
                    <a:pt x="39688" y="127000"/>
                  </a:lnTo>
                  <a:lnTo>
                    <a:pt x="31750" y="127000"/>
                  </a:lnTo>
                  <a:cubicBezTo>
                    <a:pt x="14832" y="127000"/>
                    <a:pt x="886" y="113734"/>
                    <a:pt x="40" y="96838"/>
                  </a:cubicBezTo>
                  <a:lnTo>
                    <a:pt x="0" y="95250"/>
                  </a:lnTo>
                  <a:lnTo>
                    <a:pt x="0" y="31750"/>
                  </a:lnTo>
                  <a:cubicBezTo>
                    <a:pt x="0" y="14215"/>
                    <a:pt x="14215" y="0"/>
                    <a:pt x="31750" y="0"/>
                  </a:cubicBezTo>
                  <a:close/>
                  <a:moveTo>
                    <a:pt x="104775" y="73708"/>
                  </a:moveTo>
                  <a:cubicBezTo>
                    <a:pt x="101645" y="70639"/>
                    <a:pt x="96620" y="70689"/>
                    <a:pt x="93551" y="73819"/>
                  </a:cubicBezTo>
                  <a:cubicBezTo>
                    <a:pt x="89819" y="77630"/>
                    <a:pt x="84709" y="79777"/>
                    <a:pt x="79375" y="79777"/>
                  </a:cubicBezTo>
                  <a:cubicBezTo>
                    <a:pt x="74041" y="79777"/>
                    <a:pt x="68931" y="77630"/>
                    <a:pt x="65199" y="73819"/>
                  </a:cubicBezTo>
                  <a:cubicBezTo>
                    <a:pt x="62117" y="70764"/>
                    <a:pt x="57153" y="70750"/>
                    <a:pt x="54054" y="73788"/>
                  </a:cubicBezTo>
                  <a:cubicBezTo>
                    <a:pt x="50955" y="76826"/>
                    <a:pt x="50870" y="81789"/>
                    <a:pt x="53864" y="84931"/>
                  </a:cubicBezTo>
                  <a:cubicBezTo>
                    <a:pt x="60582" y="91787"/>
                    <a:pt x="69777" y="95650"/>
                    <a:pt x="79375" y="95650"/>
                  </a:cubicBezTo>
                  <a:cubicBezTo>
                    <a:pt x="88973" y="95650"/>
                    <a:pt x="98168" y="91787"/>
                    <a:pt x="104886" y="84931"/>
                  </a:cubicBezTo>
                  <a:cubicBezTo>
                    <a:pt x="107954" y="81801"/>
                    <a:pt x="107905" y="76776"/>
                    <a:pt x="104775" y="73708"/>
                  </a:cubicBezTo>
                  <a:moveTo>
                    <a:pt x="59611" y="39688"/>
                  </a:moveTo>
                  <a:lnTo>
                    <a:pt x="59531" y="39688"/>
                  </a:lnTo>
                  <a:cubicBezTo>
                    <a:pt x="55147" y="39688"/>
                    <a:pt x="51594" y="43241"/>
                    <a:pt x="51594" y="47625"/>
                  </a:cubicBezTo>
                  <a:cubicBezTo>
                    <a:pt x="51594" y="52009"/>
                    <a:pt x="55147" y="55562"/>
                    <a:pt x="59531" y="55562"/>
                  </a:cubicBezTo>
                  <a:lnTo>
                    <a:pt x="59611" y="55562"/>
                  </a:lnTo>
                  <a:cubicBezTo>
                    <a:pt x="63994" y="55562"/>
                    <a:pt x="67548" y="52009"/>
                    <a:pt x="67548" y="47625"/>
                  </a:cubicBezTo>
                  <a:cubicBezTo>
                    <a:pt x="67548" y="43241"/>
                    <a:pt x="63994" y="39688"/>
                    <a:pt x="59611" y="39688"/>
                  </a:cubicBezTo>
                  <a:moveTo>
                    <a:pt x="99298" y="39688"/>
                  </a:moveTo>
                  <a:lnTo>
                    <a:pt x="99219" y="39688"/>
                  </a:lnTo>
                  <a:cubicBezTo>
                    <a:pt x="94835" y="39688"/>
                    <a:pt x="91281" y="43241"/>
                    <a:pt x="91281" y="47625"/>
                  </a:cubicBezTo>
                  <a:cubicBezTo>
                    <a:pt x="91281" y="52009"/>
                    <a:pt x="94835" y="55562"/>
                    <a:pt x="99219" y="55562"/>
                  </a:cubicBezTo>
                  <a:lnTo>
                    <a:pt x="99298" y="55562"/>
                  </a:lnTo>
                  <a:cubicBezTo>
                    <a:pt x="103682" y="55562"/>
                    <a:pt x="107236" y="52009"/>
                    <a:pt x="107236" y="47625"/>
                  </a:cubicBezTo>
                  <a:cubicBezTo>
                    <a:pt x="107236" y="43241"/>
                    <a:pt x="103682" y="39688"/>
                    <a:pt x="99298" y="39688"/>
                  </a:cubicBezTo>
                </a:path>
              </a:pathLst>
            </a:custGeom>
            <a:solidFill>
              <a:srgbClr val="0B57D0"/>
            </a:solidFill>
            <a:ln>
              <a:noFill/>
            </a:ln>
          </p:spPr>
        </p:sp>
        <p:sp>
          <p:nvSpPr>
            <p:cNvPr id="74" name="TextBox 74"/>
            <p:cNvSpPr txBox="1"/>
            <p:nvPr/>
          </p:nvSpPr>
          <p:spPr>
            <a:xfrm>
              <a:off x="6954202" y="3785076"/>
              <a:ext cx="611505" cy="245745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600" b="1" dirty="0">
                  <a:solidFill>
                    <a:srgbClr val="102033"/>
                  </a:solidFill>
                  <a:latin typeface="MiSans Normal" panose="00000500000000000000" charset="-122"/>
                  <a:ea typeface="MiSans Normal" panose="00000500000000000000" charset="-122"/>
                  <a:cs typeface="等线" panose="02010600030101010101" charset="-122"/>
                </a:rPr>
                <a:t>差异化</a:t>
              </a:r>
              <a:endParaRPr lang="zh-CN" sz="1600" b="1" dirty="0">
                <a:solidFill>
                  <a:srgbClr val="102033"/>
                </a:solidFill>
                <a:latin typeface="MiSans Normal" panose="00000500000000000000" charset="-122"/>
                <a:ea typeface="MiSans Normal" panose="00000500000000000000" charset="-122"/>
                <a:cs typeface="等线" panose="02010600030101010101" charset="-122"/>
              </a:endParaRPr>
            </a:p>
          </p:txBody>
        </p:sp>
        <p:sp>
          <p:nvSpPr>
            <p:cNvPr id="75" name="TextBox 75"/>
            <p:cNvSpPr txBox="1"/>
            <p:nvPr/>
          </p:nvSpPr>
          <p:spPr>
            <a:xfrm>
              <a:off x="6624637" y="4131786"/>
              <a:ext cx="1219200" cy="18415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00" dirty="0">
                  <a:solidFill>
                    <a:srgbClr val="51677F"/>
                  </a:solidFill>
                  <a:latin typeface="微软雅黑" panose="020B0503020204020204" charset="-122"/>
                  <a:ea typeface="微软雅黑" panose="020B0503020204020204" charset="-122"/>
                  <a:cs typeface="等线" panose="02010600030101010101" charset="-122"/>
                </a:rPr>
                <a:t>出行前：理解偏好</a:t>
              </a:r>
              <a:endParaRPr lang="zh-CN" sz="1200" dirty="0">
                <a:solidFill>
                  <a:srgbClr val="51677F"/>
                </a:solidFill>
                <a:latin typeface="微软雅黑" panose="020B0503020204020204" charset="-122"/>
                <a:ea typeface="微软雅黑" panose="020B0503020204020204" charset="-122"/>
                <a:cs typeface="等线" panose="02010600030101010101" charset="-122"/>
              </a:endParaRPr>
            </a:p>
          </p:txBody>
        </p:sp>
        <p:sp>
          <p:nvSpPr>
            <p:cNvPr id="76" name="TextBox 76"/>
            <p:cNvSpPr txBox="1"/>
            <p:nvPr/>
          </p:nvSpPr>
          <p:spPr>
            <a:xfrm>
              <a:off x="7427912" y="4456906"/>
              <a:ext cx="1219200" cy="18415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00" dirty="0">
                  <a:solidFill>
                    <a:srgbClr val="51677F"/>
                  </a:solidFill>
                  <a:latin typeface="MiSans Normal" panose="00000500000000000000" charset="-122"/>
                  <a:ea typeface="MiSans Normal" panose="00000500000000000000" charset="-122"/>
                  <a:cs typeface="等线" panose="02010600030101010101" charset="-122"/>
                </a:rPr>
                <a:t>出行中：主动陪伴</a:t>
              </a:r>
              <a:endParaRPr lang="zh-CN" sz="1200" dirty="0">
                <a:solidFill>
                  <a:srgbClr val="51677F"/>
                </a:solidFill>
                <a:latin typeface="MiSans Normal" panose="00000500000000000000" charset="-122"/>
                <a:ea typeface="MiSans Normal" panose="00000500000000000000" charset="-122"/>
                <a:cs typeface="等线" panose="02010600030101010101" charset="-122"/>
              </a:endParaRPr>
            </a:p>
          </p:txBody>
        </p:sp>
        <p:sp>
          <p:nvSpPr>
            <p:cNvPr id="77" name="TextBox 77"/>
            <p:cNvSpPr txBox="1"/>
            <p:nvPr/>
          </p:nvSpPr>
          <p:spPr>
            <a:xfrm>
              <a:off x="8361997" y="4775041"/>
              <a:ext cx="1219200" cy="18415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00" dirty="0">
                  <a:solidFill>
                    <a:srgbClr val="51677F"/>
                  </a:solidFill>
                  <a:latin typeface="MiSans Normal" panose="00000500000000000000" charset="-122"/>
                  <a:ea typeface="MiSans Normal" panose="00000500000000000000" charset="-122"/>
                  <a:cs typeface="等线" panose="02010600030101010101" charset="-122"/>
                </a:rPr>
                <a:t>出行后：沉淀记忆</a:t>
              </a:r>
              <a:endParaRPr lang="zh-CN" sz="1200" dirty="0">
                <a:solidFill>
                  <a:srgbClr val="51677F"/>
                </a:solidFill>
                <a:latin typeface="MiSans Normal" panose="00000500000000000000" charset="-122"/>
                <a:ea typeface="MiSans Normal" panose="00000500000000000000" charset="-122"/>
                <a:cs typeface="等线" panose="02010600030101010101" charset="-122"/>
              </a:endParaRPr>
            </a:p>
          </p:txBody>
        </p:sp>
        <p:sp>
          <p:nvSpPr>
            <p:cNvPr id="78" name="Rectangle 78"/>
            <p:cNvSpPr/>
            <p:nvPr/>
          </p:nvSpPr>
          <p:spPr>
            <a:xfrm>
              <a:off x="10096500" y="3282950"/>
              <a:ext cx="1466850" cy="2000250"/>
            </a:xfrm>
            <a:prstGeom prst="roundRect">
              <a:avLst>
                <a:gd name="adj" fmla="val 11688"/>
              </a:avLst>
            </a:prstGeom>
            <a:solidFill>
              <a:srgbClr val="0B57D0">
                <a:alpha val="5000"/>
              </a:srgbClr>
            </a:solidFill>
            <a:ln>
              <a:noFill/>
            </a:ln>
          </p:spPr>
        </p:sp>
        <p:sp>
          <p:nvSpPr>
            <p:cNvPr id="79" name="Rectangle 79"/>
            <p:cNvSpPr/>
            <p:nvPr/>
          </p:nvSpPr>
          <p:spPr>
            <a:xfrm>
              <a:off x="10020300" y="3187700"/>
              <a:ext cx="1466850" cy="2000250"/>
            </a:xfrm>
            <a:prstGeom prst="roundRect">
              <a:avLst>
                <a:gd name="adj" fmla="val 11688"/>
              </a:avLst>
            </a:prstGeom>
            <a:solidFill>
              <a:srgbClr val="E7F2FF"/>
            </a:solidFill>
            <a:ln w="11430">
              <a:solidFill>
                <a:srgbClr val="BFD9F4"/>
              </a:solidFill>
            </a:ln>
          </p:spPr>
        </p:sp>
        <p:sp>
          <p:nvSpPr>
            <p:cNvPr id="80" name="Line 80"/>
            <p:cNvSpPr/>
            <p:nvPr/>
          </p:nvSpPr>
          <p:spPr>
            <a:xfrm>
              <a:off x="10191750" y="3197225"/>
              <a:ext cx="1123950" cy="9525"/>
            </a:xfrm>
            <a:custGeom>
              <a:avLst/>
              <a:gdLst/>
              <a:ahLst/>
              <a:cxnLst/>
              <a:rect l="l" t="t" r="r" b="b"/>
              <a:pathLst>
                <a:path w="1123950" h="9525">
                  <a:moveTo>
                    <a:pt x="0" y="0"/>
                  </a:moveTo>
                  <a:lnTo>
                    <a:pt x="1123950" y="0"/>
                  </a:lnTo>
                </a:path>
              </a:pathLst>
            </a:custGeom>
            <a:noFill/>
            <a:ln w="19050">
              <a:solidFill>
                <a:srgbClr val="26A7FF">
                  <a:alpha val="90000"/>
                </a:srgbClr>
              </a:solidFill>
            </a:ln>
          </p:spPr>
        </p:sp>
        <p:pic>
          <p:nvPicPr>
            <p:cNvPr id="81" name="Image 81"/>
            <p:cNvPicPr>
              <a:picLocks noChangeAspect="1"/>
            </p:cNvPicPr>
            <p:nvPr/>
          </p:nvPicPr>
          <p:blipFill>
            <a:blip r:embed="rId1"/>
            <a:stretch>
              <a:fillRect/>
            </a:stretch>
          </p:blipFill>
          <p:spPr>
            <a:xfrm>
              <a:off x="10210800" y="3442970"/>
              <a:ext cx="1085850" cy="1447800"/>
            </a:xfrm>
            <a:prstGeom prst="rect">
              <a:avLst/>
            </a:prstGeom>
          </p:spPr>
        </p:pic>
        <p:sp>
          <p:nvSpPr>
            <p:cNvPr id="82" name="TextBox 82"/>
            <p:cNvSpPr txBox="1"/>
            <p:nvPr/>
          </p:nvSpPr>
          <p:spPr>
            <a:xfrm>
              <a:off x="521970" y="6598920"/>
              <a:ext cx="2106263" cy="18288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00" dirty="0">
                  <a:solidFill>
                    <a:srgbClr val="8AA1B7"/>
                  </a:solidFill>
                  <a:latin typeface="等线" panose="02010600030101010101" charset="-122"/>
                  <a:ea typeface="微软雅黑" panose="020B0503020204020204" charset="-122"/>
                  <a:cs typeface="等线" panose="02010600030101010101" charset="-122"/>
                </a:rPr>
                <a:t>蓝心同行 | AIGC创新赛应用赛道初赛</a:t>
              </a:r>
              <a:endParaRPr lang="zh-CN" sz="900" dirty="0">
                <a:solidFill>
                  <a:srgbClr val="8AA1B7"/>
                </a:solidFill>
                <a:latin typeface="等线" panose="02010600030101010101" charset="-122"/>
                <a:ea typeface="微软雅黑" panose="020B0503020204020204" charset="-122"/>
                <a:cs typeface="等线" panose="02010600030101010101" charset="-122"/>
              </a:endParaRPr>
            </a:p>
          </p:txBody>
        </p:sp>
        <p:sp>
          <p:nvSpPr>
            <p:cNvPr id="83" name="TextBox 83"/>
            <p:cNvSpPr txBox="1"/>
            <p:nvPr/>
          </p:nvSpPr>
          <p:spPr>
            <a:xfrm>
              <a:off x="11464480" y="6598920"/>
              <a:ext cx="167449" cy="18288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r"/>
              <a:r>
                <a:rPr lang="zh-CN" sz="900" dirty="0">
                  <a:solidFill>
                    <a:srgbClr val="8AA1B7"/>
                  </a:solidFill>
                  <a:latin typeface="等线" panose="02010600030101010101" charset="-122"/>
                  <a:ea typeface="微软雅黑" panose="020B0503020204020204" charset="-122"/>
                  <a:cs typeface="等线" panose="02010600030101010101" charset="-122"/>
                </a:rPr>
                <a:t>03</a:t>
              </a:r>
              <a:endParaRPr lang="zh-CN" sz="900" dirty="0">
                <a:solidFill>
                  <a:srgbClr val="8AA1B7"/>
                </a:solidFill>
                <a:latin typeface="等线" panose="02010600030101010101" charset="-122"/>
                <a:ea typeface="微软雅黑" panose="020B0503020204020204" charset="-122"/>
                <a:cs typeface="等线" panose="02010600030101010101" charset="-122"/>
              </a:endParaRPr>
            </a:p>
          </p:txBody>
        </p:sp>
      </p:grp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p14:dur="400">
        <p:fade/>
      </p:transition>
    </mc:Choice>
    <mc:Fallback>
      <p:transition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400"/>
                                        <p:tgtEl>
                                          <p:spTgt spid="8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84" grpId="0"/>
    </p:bld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2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4F9FF"/>
          </a:solidFill>
          <a:ln>
            <a:noFill/>
          </a:ln>
        </p:spPr>
      </p:sp>
      <p:sp>
        <p:nvSpPr>
          <p:cNvPr id="3" name="Rectangle 3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gradFill>
            <a:gsLst>
              <a:gs pos="0">
                <a:srgbClr val="26A7FF">
                  <a:alpha val="12000"/>
                </a:srgbClr>
              </a:gs>
              <a:gs pos="100000">
                <a:srgbClr val="26A7FF">
                  <a:alpha val="0"/>
                </a:srgbClr>
              </a:gs>
            </a:gsLst>
            <a:path path="circle">
              <a:fillToRect l="50000" t="50000" r="50000" b="50000"/>
            </a:path>
          </a:gradFill>
          <a:ln>
            <a:noFill/>
          </a:ln>
        </p:spPr>
      </p:sp>
      <p:sp>
        <p:nvSpPr>
          <p:cNvPr id="4" name="Ellipse 4"/>
          <p:cNvSpPr/>
          <p:nvPr/>
        </p:nvSpPr>
        <p:spPr>
          <a:xfrm>
            <a:off x="9391650" y="-304800"/>
            <a:ext cx="2362200" cy="2362200"/>
          </a:xfrm>
          <a:prstGeom prst="ellipse">
            <a:avLst/>
          </a:prstGeom>
          <a:solidFill>
            <a:srgbClr val="26A7FF">
              <a:alpha val="8000"/>
            </a:srgbClr>
          </a:solidFill>
          <a:ln>
            <a:noFill/>
          </a:ln>
        </p:spPr>
      </p:sp>
      <p:sp>
        <p:nvSpPr>
          <p:cNvPr id="5" name="Ellipse 5"/>
          <p:cNvSpPr/>
          <p:nvPr/>
        </p:nvSpPr>
        <p:spPr>
          <a:xfrm>
            <a:off x="10553700" y="647700"/>
            <a:ext cx="1638300" cy="1638300"/>
          </a:xfrm>
          <a:prstGeom prst="ellipse">
            <a:avLst/>
          </a:prstGeom>
          <a:solidFill>
            <a:srgbClr val="00D4FF">
              <a:alpha val="7000"/>
            </a:srgbClr>
          </a:solidFill>
          <a:ln>
            <a:noFill/>
          </a:ln>
        </p:spPr>
      </p:sp>
      <p:sp>
        <p:nvSpPr>
          <p:cNvPr id="6" name="Freeform 6"/>
          <p:cNvSpPr/>
          <p:nvPr/>
        </p:nvSpPr>
        <p:spPr>
          <a:xfrm>
            <a:off x="8382000" y="781050"/>
            <a:ext cx="3390900" cy="438150"/>
          </a:xfrm>
          <a:custGeom>
            <a:avLst/>
            <a:gdLst/>
            <a:ahLst/>
            <a:cxnLst/>
            <a:rect l="l" t="t" r="r" b="b"/>
            <a:pathLst>
              <a:path w="3390900" h="438150">
                <a:moveTo>
                  <a:pt x="0" y="0"/>
                </a:moveTo>
                <a:lnTo>
                  <a:pt x="1600200" y="0"/>
                </a:lnTo>
                <a:lnTo>
                  <a:pt x="2038350" y="438150"/>
                </a:lnTo>
                <a:lnTo>
                  <a:pt x="3390900" y="438150"/>
                </a:lnTo>
              </a:path>
            </a:pathLst>
          </a:custGeom>
          <a:noFill/>
          <a:ln w="13335">
            <a:solidFill>
              <a:srgbClr val="BFD9F4">
                <a:alpha val="75000"/>
              </a:srgbClr>
            </a:solidFill>
          </a:ln>
        </p:spPr>
      </p:sp>
      <p:sp>
        <p:nvSpPr>
          <p:cNvPr id="7" name="Freeform 7"/>
          <p:cNvSpPr/>
          <p:nvPr/>
        </p:nvSpPr>
        <p:spPr>
          <a:xfrm>
            <a:off x="8705850" y="5638800"/>
            <a:ext cx="2990850" cy="457200"/>
          </a:xfrm>
          <a:custGeom>
            <a:avLst/>
            <a:gdLst/>
            <a:ahLst/>
            <a:cxnLst/>
            <a:rect l="l" t="t" r="r" b="b"/>
            <a:pathLst>
              <a:path w="2990850" h="457200">
                <a:moveTo>
                  <a:pt x="0" y="457200"/>
                </a:moveTo>
                <a:lnTo>
                  <a:pt x="1295400" y="457200"/>
                </a:lnTo>
                <a:lnTo>
                  <a:pt x="1752600" y="0"/>
                </a:lnTo>
                <a:lnTo>
                  <a:pt x="2990850" y="0"/>
                </a:lnTo>
              </a:path>
            </a:pathLst>
          </a:custGeom>
          <a:noFill/>
          <a:ln w="11430">
            <a:solidFill>
              <a:srgbClr val="BFD9F4">
                <a:alpha val="65000"/>
              </a:srgbClr>
            </a:solidFill>
          </a:ln>
        </p:spPr>
      </p:sp>
      <p:sp>
        <p:nvSpPr>
          <p:cNvPr id="8" name="Freeform 8"/>
          <p:cNvSpPr/>
          <p:nvPr/>
        </p:nvSpPr>
        <p:spPr>
          <a:xfrm>
            <a:off x="419100" y="5734050"/>
            <a:ext cx="2057400" cy="381000"/>
          </a:xfrm>
          <a:custGeom>
            <a:avLst/>
            <a:gdLst/>
            <a:ahLst/>
            <a:cxnLst/>
            <a:rect l="l" t="t" r="r" b="b"/>
            <a:pathLst>
              <a:path w="2057400" h="381000">
                <a:moveTo>
                  <a:pt x="0" y="381000"/>
                </a:moveTo>
                <a:lnTo>
                  <a:pt x="1676400" y="381000"/>
                </a:lnTo>
                <a:lnTo>
                  <a:pt x="2057400" y="0"/>
                </a:lnTo>
              </a:path>
            </a:pathLst>
          </a:custGeom>
          <a:noFill/>
          <a:ln w="11430">
            <a:solidFill>
              <a:srgbClr val="D7EAFF">
                <a:alpha val="90000"/>
              </a:srgbClr>
            </a:solidFill>
          </a:ln>
        </p:spPr>
      </p:sp>
      <p:sp>
        <p:nvSpPr>
          <p:cNvPr id="9" name="Ellipse 9"/>
          <p:cNvSpPr/>
          <p:nvPr/>
        </p:nvSpPr>
        <p:spPr>
          <a:xfrm>
            <a:off x="9944100" y="742950"/>
            <a:ext cx="76200" cy="76200"/>
          </a:xfrm>
          <a:prstGeom prst="ellipse">
            <a:avLst/>
          </a:prstGeom>
          <a:solidFill>
            <a:srgbClr val="26A7FF"/>
          </a:solidFill>
          <a:ln>
            <a:noFill/>
          </a:ln>
        </p:spPr>
      </p:sp>
      <p:sp>
        <p:nvSpPr>
          <p:cNvPr id="10" name="Ellipse 10"/>
          <p:cNvSpPr/>
          <p:nvPr/>
        </p:nvSpPr>
        <p:spPr>
          <a:xfrm>
            <a:off x="10382250" y="1181100"/>
            <a:ext cx="76200" cy="76200"/>
          </a:xfrm>
          <a:prstGeom prst="ellipse">
            <a:avLst/>
          </a:prstGeom>
          <a:solidFill>
            <a:srgbClr val="00D4FF"/>
          </a:solidFill>
          <a:ln>
            <a:noFill/>
          </a:ln>
        </p:spPr>
      </p:sp>
      <p:sp>
        <p:nvSpPr>
          <p:cNvPr id="11" name="Ellipse 11"/>
          <p:cNvSpPr/>
          <p:nvPr/>
        </p:nvSpPr>
        <p:spPr>
          <a:xfrm>
            <a:off x="2438400" y="5695950"/>
            <a:ext cx="76200" cy="76200"/>
          </a:xfrm>
          <a:prstGeom prst="ellipse">
            <a:avLst/>
          </a:prstGeom>
          <a:solidFill>
            <a:srgbClr val="26A7FF"/>
          </a:solidFill>
          <a:ln>
            <a:noFill/>
          </a:ln>
        </p:spPr>
      </p:sp>
      <p:sp>
        <p:nvSpPr>
          <p:cNvPr id="12" name="Line 12"/>
          <p:cNvSpPr/>
          <p:nvPr/>
        </p:nvSpPr>
        <p:spPr>
          <a:xfrm>
            <a:off x="762000" y="0"/>
            <a:ext cx="9525" cy="6858000"/>
          </a:xfrm>
          <a:custGeom>
            <a:avLst/>
            <a:gdLst/>
            <a:ahLst/>
            <a:cxnLst/>
            <a:rect l="l" t="t" r="r" b="b"/>
            <a:pathLst>
              <a:path w="9525" h="6858000">
                <a:moveTo>
                  <a:pt x="0" y="0"/>
                </a:moveTo>
                <a:lnTo>
                  <a:pt x="0" y="6858000"/>
                </a:lnTo>
              </a:path>
            </a:pathLst>
          </a:custGeom>
          <a:noFill/>
          <a:ln w="4762">
            <a:solidFill>
              <a:srgbClr val="D7EAFF">
                <a:alpha val="22000"/>
              </a:srgbClr>
            </a:solidFill>
          </a:ln>
        </p:spPr>
      </p:sp>
      <p:sp>
        <p:nvSpPr>
          <p:cNvPr id="13" name="Line 13"/>
          <p:cNvSpPr/>
          <p:nvPr/>
        </p:nvSpPr>
        <p:spPr>
          <a:xfrm>
            <a:off x="1524000" y="0"/>
            <a:ext cx="9525" cy="6858000"/>
          </a:xfrm>
          <a:custGeom>
            <a:avLst/>
            <a:gdLst/>
            <a:ahLst/>
            <a:cxnLst/>
            <a:rect l="l" t="t" r="r" b="b"/>
            <a:pathLst>
              <a:path w="9525" h="6858000">
                <a:moveTo>
                  <a:pt x="0" y="0"/>
                </a:moveTo>
                <a:lnTo>
                  <a:pt x="0" y="6858000"/>
                </a:lnTo>
              </a:path>
            </a:pathLst>
          </a:custGeom>
          <a:noFill/>
          <a:ln w="4762">
            <a:solidFill>
              <a:srgbClr val="D7EAFF">
                <a:alpha val="22000"/>
              </a:srgbClr>
            </a:solidFill>
          </a:ln>
        </p:spPr>
      </p:sp>
      <p:sp>
        <p:nvSpPr>
          <p:cNvPr id="14" name="Line 14"/>
          <p:cNvSpPr/>
          <p:nvPr/>
        </p:nvSpPr>
        <p:spPr>
          <a:xfrm>
            <a:off x="2286000" y="0"/>
            <a:ext cx="9525" cy="6858000"/>
          </a:xfrm>
          <a:custGeom>
            <a:avLst/>
            <a:gdLst/>
            <a:ahLst/>
            <a:cxnLst/>
            <a:rect l="l" t="t" r="r" b="b"/>
            <a:pathLst>
              <a:path w="9525" h="6858000">
                <a:moveTo>
                  <a:pt x="0" y="0"/>
                </a:moveTo>
                <a:lnTo>
                  <a:pt x="0" y="6858000"/>
                </a:lnTo>
              </a:path>
            </a:pathLst>
          </a:custGeom>
          <a:noFill/>
          <a:ln w="4762">
            <a:solidFill>
              <a:srgbClr val="D7EAFF">
                <a:alpha val="22000"/>
              </a:srgbClr>
            </a:solidFill>
          </a:ln>
        </p:spPr>
      </p:sp>
      <p:sp>
        <p:nvSpPr>
          <p:cNvPr id="15" name="Line 15"/>
          <p:cNvSpPr/>
          <p:nvPr/>
        </p:nvSpPr>
        <p:spPr>
          <a:xfrm>
            <a:off x="3048000" y="0"/>
            <a:ext cx="9525" cy="6858000"/>
          </a:xfrm>
          <a:custGeom>
            <a:avLst/>
            <a:gdLst/>
            <a:ahLst/>
            <a:cxnLst/>
            <a:rect l="l" t="t" r="r" b="b"/>
            <a:pathLst>
              <a:path w="9525" h="6858000">
                <a:moveTo>
                  <a:pt x="0" y="0"/>
                </a:moveTo>
                <a:lnTo>
                  <a:pt x="0" y="6858000"/>
                </a:lnTo>
              </a:path>
            </a:pathLst>
          </a:custGeom>
          <a:noFill/>
          <a:ln w="4762">
            <a:solidFill>
              <a:srgbClr val="D7EAFF">
                <a:alpha val="22000"/>
              </a:srgbClr>
            </a:solidFill>
          </a:ln>
        </p:spPr>
      </p:sp>
      <p:sp>
        <p:nvSpPr>
          <p:cNvPr id="16" name="Line 16"/>
          <p:cNvSpPr/>
          <p:nvPr/>
        </p:nvSpPr>
        <p:spPr>
          <a:xfrm>
            <a:off x="3810000" y="0"/>
            <a:ext cx="9525" cy="6858000"/>
          </a:xfrm>
          <a:custGeom>
            <a:avLst/>
            <a:gdLst/>
            <a:ahLst/>
            <a:cxnLst/>
            <a:rect l="l" t="t" r="r" b="b"/>
            <a:pathLst>
              <a:path w="9525" h="6858000">
                <a:moveTo>
                  <a:pt x="0" y="0"/>
                </a:moveTo>
                <a:lnTo>
                  <a:pt x="0" y="6858000"/>
                </a:lnTo>
              </a:path>
            </a:pathLst>
          </a:custGeom>
          <a:noFill/>
          <a:ln w="4762">
            <a:solidFill>
              <a:srgbClr val="D7EAFF">
                <a:alpha val="22000"/>
              </a:srgbClr>
            </a:solidFill>
          </a:ln>
        </p:spPr>
      </p:sp>
      <p:sp>
        <p:nvSpPr>
          <p:cNvPr id="17" name="Line 17"/>
          <p:cNvSpPr/>
          <p:nvPr/>
        </p:nvSpPr>
        <p:spPr>
          <a:xfrm>
            <a:off x="4572000" y="0"/>
            <a:ext cx="9525" cy="6858000"/>
          </a:xfrm>
          <a:custGeom>
            <a:avLst/>
            <a:gdLst/>
            <a:ahLst/>
            <a:cxnLst/>
            <a:rect l="l" t="t" r="r" b="b"/>
            <a:pathLst>
              <a:path w="9525" h="6858000">
                <a:moveTo>
                  <a:pt x="0" y="0"/>
                </a:moveTo>
                <a:lnTo>
                  <a:pt x="0" y="6858000"/>
                </a:lnTo>
              </a:path>
            </a:pathLst>
          </a:custGeom>
          <a:noFill/>
          <a:ln w="4762">
            <a:solidFill>
              <a:srgbClr val="D7EAFF">
                <a:alpha val="22000"/>
              </a:srgbClr>
            </a:solidFill>
          </a:ln>
        </p:spPr>
      </p:sp>
      <p:sp>
        <p:nvSpPr>
          <p:cNvPr id="18" name="Line 18"/>
          <p:cNvSpPr/>
          <p:nvPr/>
        </p:nvSpPr>
        <p:spPr>
          <a:xfrm>
            <a:off x="5334000" y="0"/>
            <a:ext cx="9525" cy="6858000"/>
          </a:xfrm>
          <a:custGeom>
            <a:avLst/>
            <a:gdLst/>
            <a:ahLst/>
            <a:cxnLst/>
            <a:rect l="l" t="t" r="r" b="b"/>
            <a:pathLst>
              <a:path w="9525" h="6858000">
                <a:moveTo>
                  <a:pt x="0" y="0"/>
                </a:moveTo>
                <a:lnTo>
                  <a:pt x="0" y="6858000"/>
                </a:lnTo>
              </a:path>
            </a:pathLst>
          </a:custGeom>
          <a:noFill/>
          <a:ln w="4762">
            <a:solidFill>
              <a:srgbClr val="D7EAFF">
                <a:alpha val="22000"/>
              </a:srgbClr>
            </a:solidFill>
          </a:ln>
        </p:spPr>
      </p:sp>
      <p:sp>
        <p:nvSpPr>
          <p:cNvPr id="19" name="Line 19"/>
          <p:cNvSpPr/>
          <p:nvPr/>
        </p:nvSpPr>
        <p:spPr>
          <a:xfrm>
            <a:off x="6096000" y="0"/>
            <a:ext cx="9525" cy="6858000"/>
          </a:xfrm>
          <a:custGeom>
            <a:avLst/>
            <a:gdLst/>
            <a:ahLst/>
            <a:cxnLst/>
            <a:rect l="l" t="t" r="r" b="b"/>
            <a:pathLst>
              <a:path w="9525" h="6858000">
                <a:moveTo>
                  <a:pt x="0" y="0"/>
                </a:moveTo>
                <a:lnTo>
                  <a:pt x="0" y="6858000"/>
                </a:lnTo>
              </a:path>
            </a:pathLst>
          </a:custGeom>
          <a:noFill/>
          <a:ln w="4762">
            <a:solidFill>
              <a:srgbClr val="D7EAFF">
                <a:alpha val="22000"/>
              </a:srgbClr>
            </a:solidFill>
          </a:ln>
        </p:spPr>
      </p:sp>
      <p:sp>
        <p:nvSpPr>
          <p:cNvPr id="20" name="Line 20"/>
          <p:cNvSpPr/>
          <p:nvPr/>
        </p:nvSpPr>
        <p:spPr>
          <a:xfrm>
            <a:off x="6858000" y="0"/>
            <a:ext cx="9525" cy="6858000"/>
          </a:xfrm>
          <a:custGeom>
            <a:avLst/>
            <a:gdLst/>
            <a:ahLst/>
            <a:cxnLst/>
            <a:rect l="l" t="t" r="r" b="b"/>
            <a:pathLst>
              <a:path w="9525" h="6858000">
                <a:moveTo>
                  <a:pt x="0" y="0"/>
                </a:moveTo>
                <a:lnTo>
                  <a:pt x="0" y="6858000"/>
                </a:lnTo>
              </a:path>
            </a:pathLst>
          </a:custGeom>
          <a:noFill/>
          <a:ln w="4762">
            <a:solidFill>
              <a:srgbClr val="D7EAFF">
                <a:alpha val="22000"/>
              </a:srgbClr>
            </a:solidFill>
          </a:ln>
        </p:spPr>
      </p:sp>
      <p:sp>
        <p:nvSpPr>
          <p:cNvPr id="21" name="Line 21"/>
          <p:cNvSpPr/>
          <p:nvPr/>
        </p:nvSpPr>
        <p:spPr>
          <a:xfrm>
            <a:off x="7620000" y="0"/>
            <a:ext cx="9525" cy="6858000"/>
          </a:xfrm>
          <a:custGeom>
            <a:avLst/>
            <a:gdLst/>
            <a:ahLst/>
            <a:cxnLst/>
            <a:rect l="l" t="t" r="r" b="b"/>
            <a:pathLst>
              <a:path w="9525" h="6858000">
                <a:moveTo>
                  <a:pt x="0" y="0"/>
                </a:moveTo>
                <a:lnTo>
                  <a:pt x="0" y="6858000"/>
                </a:lnTo>
              </a:path>
            </a:pathLst>
          </a:custGeom>
          <a:noFill/>
          <a:ln w="4762">
            <a:solidFill>
              <a:srgbClr val="D7EAFF">
                <a:alpha val="22000"/>
              </a:srgbClr>
            </a:solidFill>
          </a:ln>
        </p:spPr>
      </p:sp>
      <p:sp>
        <p:nvSpPr>
          <p:cNvPr id="22" name="Line 22"/>
          <p:cNvSpPr/>
          <p:nvPr/>
        </p:nvSpPr>
        <p:spPr>
          <a:xfrm>
            <a:off x="8382000" y="0"/>
            <a:ext cx="9525" cy="6858000"/>
          </a:xfrm>
          <a:custGeom>
            <a:avLst/>
            <a:gdLst/>
            <a:ahLst/>
            <a:cxnLst/>
            <a:rect l="l" t="t" r="r" b="b"/>
            <a:pathLst>
              <a:path w="9525" h="6858000">
                <a:moveTo>
                  <a:pt x="0" y="0"/>
                </a:moveTo>
                <a:lnTo>
                  <a:pt x="0" y="6858000"/>
                </a:lnTo>
              </a:path>
            </a:pathLst>
          </a:custGeom>
          <a:noFill/>
          <a:ln w="4762">
            <a:solidFill>
              <a:srgbClr val="D7EAFF">
                <a:alpha val="22000"/>
              </a:srgbClr>
            </a:solidFill>
          </a:ln>
        </p:spPr>
      </p:sp>
      <p:sp>
        <p:nvSpPr>
          <p:cNvPr id="23" name="Line 23"/>
          <p:cNvSpPr/>
          <p:nvPr/>
        </p:nvSpPr>
        <p:spPr>
          <a:xfrm>
            <a:off x="9144000" y="0"/>
            <a:ext cx="9525" cy="6858000"/>
          </a:xfrm>
          <a:custGeom>
            <a:avLst/>
            <a:gdLst/>
            <a:ahLst/>
            <a:cxnLst/>
            <a:rect l="l" t="t" r="r" b="b"/>
            <a:pathLst>
              <a:path w="9525" h="6858000">
                <a:moveTo>
                  <a:pt x="0" y="0"/>
                </a:moveTo>
                <a:lnTo>
                  <a:pt x="0" y="6858000"/>
                </a:lnTo>
              </a:path>
            </a:pathLst>
          </a:custGeom>
          <a:noFill/>
          <a:ln w="4762">
            <a:solidFill>
              <a:srgbClr val="D7EAFF">
                <a:alpha val="22000"/>
              </a:srgbClr>
            </a:solidFill>
          </a:ln>
        </p:spPr>
      </p:sp>
      <p:sp>
        <p:nvSpPr>
          <p:cNvPr id="24" name="Line 24"/>
          <p:cNvSpPr/>
          <p:nvPr/>
        </p:nvSpPr>
        <p:spPr>
          <a:xfrm>
            <a:off x="9906000" y="0"/>
            <a:ext cx="9525" cy="6858000"/>
          </a:xfrm>
          <a:custGeom>
            <a:avLst/>
            <a:gdLst/>
            <a:ahLst/>
            <a:cxnLst/>
            <a:rect l="l" t="t" r="r" b="b"/>
            <a:pathLst>
              <a:path w="9525" h="6858000">
                <a:moveTo>
                  <a:pt x="0" y="0"/>
                </a:moveTo>
                <a:lnTo>
                  <a:pt x="0" y="6858000"/>
                </a:lnTo>
              </a:path>
            </a:pathLst>
          </a:custGeom>
          <a:noFill/>
          <a:ln w="4762">
            <a:solidFill>
              <a:srgbClr val="D7EAFF">
                <a:alpha val="22000"/>
              </a:srgbClr>
            </a:solidFill>
          </a:ln>
        </p:spPr>
      </p:sp>
      <p:sp>
        <p:nvSpPr>
          <p:cNvPr id="25" name="Line 25"/>
          <p:cNvSpPr/>
          <p:nvPr/>
        </p:nvSpPr>
        <p:spPr>
          <a:xfrm>
            <a:off x="10668000" y="0"/>
            <a:ext cx="9525" cy="6858000"/>
          </a:xfrm>
          <a:custGeom>
            <a:avLst/>
            <a:gdLst/>
            <a:ahLst/>
            <a:cxnLst/>
            <a:rect l="l" t="t" r="r" b="b"/>
            <a:pathLst>
              <a:path w="9525" h="6858000">
                <a:moveTo>
                  <a:pt x="0" y="0"/>
                </a:moveTo>
                <a:lnTo>
                  <a:pt x="0" y="6858000"/>
                </a:lnTo>
              </a:path>
            </a:pathLst>
          </a:custGeom>
          <a:noFill/>
          <a:ln w="4762">
            <a:solidFill>
              <a:srgbClr val="D7EAFF">
                <a:alpha val="22000"/>
              </a:srgbClr>
            </a:solidFill>
          </a:ln>
        </p:spPr>
      </p:sp>
      <p:sp>
        <p:nvSpPr>
          <p:cNvPr id="26" name="Line 26"/>
          <p:cNvSpPr/>
          <p:nvPr/>
        </p:nvSpPr>
        <p:spPr>
          <a:xfrm>
            <a:off x="11430000" y="0"/>
            <a:ext cx="9525" cy="6858000"/>
          </a:xfrm>
          <a:custGeom>
            <a:avLst/>
            <a:gdLst/>
            <a:ahLst/>
            <a:cxnLst/>
            <a:rect l="l" t="t" r="r" b="b"/>
            <a:pathLst>
              <a:path w="9525" h="6858000">
                <a:moveTo>
                  <a:pt x="0" y="0"/>
                </a:moveTo>
                <a:lnTo>
                  <a:pt x="0" y="6858000"/>
                </a:lnTo>
              </a:path>
            </a:pathLst>
          </a:custGeom>
          <a:noFill/>
          <a:ln w="4762">
            <a:solidFill>
              <a:srgbClr val="D7EAFF">
                <a:alpha val="22000"/>
              </a:srgbClr>
            </a:solidFill>
          </a:ln>
        </p:spPr>
      </p:sp>
      <p:sp>
        <p:nvSpPr>
          <p:cNvPr id="27" name="Line 27"/>
          <p:cNvSpPr/>
          <p:nvPr/>
        </p:nvSpPr>
        <p:spPr>
          <a:xfrm>
            <a:off x="0" y="762000"/>
            <a:ext cx="12192000" cy="9525"/>
          </a:xfrm>
          <a:custGeom>
            <a:avLst/>
            <a:gdLst/>
            <a:ahLst/>
            <a:cxnLst/>
            <a:rect l="l" t="t" r="r" b="b"/>
            <a:pathLst>
              <a:path w="12192000" h="9525">
                <a:moveTo>
                  <a:pt x="0" y="0"/>
                </a:moveTo>
                <a:lnTo>
                  <a:pt x="12192000" y="0"/>
                </a:lnTo>
              </a:path>
            </a:pathLst>
          </a:custGeom>
          <a:noFill/>
          <a:ln w="4762">
            <a:solidFill>
              <a:srgbClr val="D7EAFF">
                <a:alpha val="22000"/>
              </a:srgbClr>
            </a:solidFill>
          </a:ln>
        </p:spPr>
      </p:sp>
      <p:sp>
        <p:nvSpPr>
          <p:cNvPr id="28" name="Line 28"/>
          <p:cNvSpPr/>
          <p:nvPr/>
        </p:nvSpPr>
        <p:spPr>
          <a:xfrm>
            <a:off x="0" y="1524000"/>
            <a:ext cx="12192000" cy="9525"/>
          </a:xfrm>
          <a:custGeom>
            <a:avLst/>
            <a:gdLst/>
            <a:ahLst/>
            <a:cxnLst/>
            <a:rect l="l" t="t" r="r" b="b"/>
            <a:pathLst>
              <a:path w="12192000" h="9525">
                <a:moveTo>
                  <a:pt x="0" y="0"/>
                </a:moveTo>
                <a:lnTo>
                  <a:pt x="12192000" y="0"/>
                </a:lnTo>
              </a:path>
            </a:pathLst>
          </a:custGeom>
          <a:noFill/>
          <a:ln w="4762">
            <a:solidFill>
              <a:srgbClr val="D7EAFF">
                <a:alpha val="22000"/>
              </a:srgbClr>
            </a:solidFill>
          </a:ln>
        </p:spPr>
      </p:sp>
      <p:sp>
        <p:nvSpPr>
          <p:cNvPr id="29" name="Line 29"/>
          <p:cNvSpPr/>
          <p:nvPr/>
        </p:nvSpPr>
        <p:spPr>
          <a:xfrm>
            <a:off x="0" y="2286000"/>
            <a:ext cx="12192000" cy="9525"/>
          </a:xfrm>
          <a:custGeom>
            <a:avLst/>
            <a:gdLst/>
            <a:ahLst/>
            <a:cxnLst/>
            <a:rect l="l" t="t" r="r" b="b"/>
            <a:pathLst>
              <a:path w="12192000" h="9525">
                <a:moveTo>
                  <a:pt x="0" y="0"/>
                </a:moveTo>
                <a:lnTo>
                  <a:pt x="12192000" y="0"/>
                </a:lnTo>
              </a:path>
            </a:pathLst>
          </a:custGeom>
          <a:noFill/>
          <a:ln w="4762">
            <a:solidFill>
              <a:srgbClr val="D7EAFF">
                <a:alpha val="22000"/>
              </a:srgbClr>
            </a:solidFill>
          </a:ln>
        </p:spPr>
      </p:sp>
      <p:sp>
        <p:nvSpPr>
          <p:cNvPr id="30" name="Line 30"/>
          <p:cNvSpPr/>
          <p:nvPr/>
        </p:nvSpPr>
        <p:spPr>
          <a:xfrm>
            <a:off x="0" y="3048000"/>
            <a:ext cx="12192000" cy="9525"/>
          </a:xfrm>
          <a:custGeom>
            <a:avLst/>
            <a:gdLst/>
            <a:ahLst/>
            <a:cxnLst/>
            <a:rect l="l" t="t" r="r" b="b"/>
            <a:pathLst>
              <a:path w="12192000" h="9525">
                <a:moveTo>
                  <a:pt x="0" y="0"/>
                </a:moveTo>
                <a:lnTo>
                  <a:pt x="12192000" y="0"/>
                </a:lnTo>
              </a:path>
            </a:pathLst>
          </a:custGeom>
          <a:noFill/>
          <a:ln w="4762">
            <a:solidFill>
              <a:srgbClr val="D7EAFF">
                <a:alpha val="22000"/>
              </a:srgbClr>
            </a:solidFill>
          </a:ln>
        </p:spPr>
      </p:sp>
      <p:sp>
        <p:nvSpPr>
          <p:cNvPr id="31" name="Line 31"/>
          <p:cNvSpPr/>
          <p:nvPr/>
        </p:nvSpPr>
        <p:spPr>
          <a:xfrm>
            <a:off x="0" y="3810000"/>
            <a:ext cx="12192000" cy="9525"/>
          </a:xfrm>
          <a:custGeom>
            <a:avLst/>
            <a:gdLst/>
            <a:ahLst/>
            <a:cxnLst/>
            <a:rect l="l" t="t" r="r" b="b"/>
            <a:pathLst>
              <a:path w="12192000" h="9525">
                <a:moveTo>
                  <a:pt x="0" y="0"/>
                </a:moveTo>
                <a:lnTo>
                  <a:pt x="12192000" y="0"/>
                </a:lnTo>
              </a:path>
            </a:pathLst>
          </a:custGeom>
          <a:noFill/>
          <a:ln w="4762">
            <a:solidFill>
              <a:srgbClr val="D7EAFF">
                <a:alpha val="22000"/>
              </a:srgbClr>
            </a:solidFill>
          </a:ln>
        </p:spPr>
      </p:sp>
      <p:sp>
        <p:nvSpPr>
          <p:cNvPr id="32" name="Line 32"/>
          <p:cNvSpPr/>
          <p:nvPr/>
        </p:nvSpPr>
        <p:spPr>
          <a:xfrm>
            <a:off x="0" y="4572000"/>
            <a:ext cx="12192000" cy="9525"/>
          </a:xfrm>
          <a:custGeom>
            <a:avLst/>
            <a:gdLst/>
            <a:ahLst/>
            <a:cxnLst/>
            <a:rect l="l" t="t" r="r" b="b"/>
            <a:pathLst>
              <a:path w="12192000" h="9525">
                <a:moveTo>
                  <a:pt x="0" y="0"/>
                </a:moveTo>
                <a:lnTo>
                  <a:pt x="12192000" y="0"/>
                </a:lnTo>
              </a:path>
            </a:pathLst>
          </a:custGeom>
          <a:noFill/>
          <a:ln w="4762">
            <a:solidFill>
              <a:srgbClr val="D7EAFF">
                <a:alpha val="22000"/>
              </a:srgbClr>
            </a:solidFill>
          </a:ln>
        </p:spPr>
      </p:sp>
      <p:sp>
        <p:nvSpPr>
          <p:cNvPr id="33" name="Line 33"/>
          <p:cNvSpPr/>
          <p:nvPr/>
        </p:nvSpPr>
        <p:spPr>
          <a:xfrm>
            <a:off x="0" y="5334000"/>
            <a:ext cx="12192000" cy="9525"/>
          </a:xfrm>
          <a:custGeom>
            <a:avLst/>
            <a:gdLst/>
            <a:ahLst/>
            <a:cxnLst/>
            <a:rect l="l" t="t" r="r" b="b"/>
            <a:pathLst>
              <a:path w="12192000" h="9525">
                <a:moveTo>
                  <a:pt x="0" y="0"/>
                </a:moveTo>
                <a:lnTo>
                  <a:pt x="12192000" y="0"/>
                </a:lnTo>
              </a:path>
            </a:pathLst>
          </a:custGeom>
          <a:noFill/>
          <a:ln w="4762">
            <a:solidFill>
              <a:srgbClr val="D7EAFF">
                <a:alpha val="22000"/>
              </a:srgbClr>
            </a:solidFill>
          </a:ln>
        </p:spPr>
      </p:sp>
      <p:sp>
        <p:nvSpPr>
          <p:cNvPr id="34" name="Line 34"/>
          <p:cNvSpPr/>
          <p:nvPr/>
        </p:nvSpPr>
        <p:spPr>
          <a:xfrm>
            <a:off x="0" y="6096000"/>
            <a:ext cx="12192000" cy="9525"/>
          </a:xfrm>
          <a:custGeom>
            <a:avLst/>
            <a:gdLst/>
            <a:ahLst/>
            <a:cxnLst/>
            <a:rect l="l" t="t" r="r" b="b"/>
            <a:pathLst>
              <a:path w="12192000" h="9525">
                <a:moveTo>
                  <a:pt x="0" y="0"/>
                </a:moveTo>
                <a:lnTo>
                  <a:pt x="12192000" y="0"/>
                </a:lnTo>
              </a:path>
            </a:pathLst>
          </a:custGeom>
          <a:noFill/>
          <a:ln w="4762">
            <a:solidFill>
              <a:srgbClr val="D7EAFF">
                <a:alpha val="22000"/>
              </a:srgbClr>
            </a:solidFill>
          </a:ln>
        </p:spPr>
      </p:sp>
      <p:grpSp>
        <p:nvGrpSpPr>
          <p:cNvPr id="77" name="Group 77"/>
          <p:cNvGrpSpPr/>
          <p:nvPr/>
        </p:nvGrpSpPr>
        <p:grpSpPr>
          <a:xfrm>
            <a:off x="0" y="0"/>
            <a:ext cx="12192000" cy="6781800"/>
            <a:chOff x="0" y="0"/>
            <a:chExt cx="12192000" cy="6781800"/>
          </a:xfrm>
        </p:grpSpPr>
        <p:sp>
          <p:nvSpPr>
            <p:cNvPr id="35" name="Rectangle 35"/>
            <p:cNvSpPr/>
            <p:nvPr/>
          </p:nvSpPr>
          <p:spPr>
            <a:xfrm>
              <a:off x="0" y="0"/>
              <a:ext cx="12192000" cy="47625"/>
            </a:xfrm>
            <a:prstGeom prst="rect">
              <a:avLst/>
            </a:prstGeom>
            <a:gradFill>
              <a:gsLst>
                <a:gs pos="0">
                  <a:srgbClr val="0B57D0"/>
                </a:gs>
                <a:gs pos="52000">
                  <a:srgbClr val="26A7FF"/>
                </a:gs>
                <a:gs pos="100000">
                  <a:srgbClr val="00D4FF"/>
                </a:gs>
              </a:gsLst>
              <a:lin ang="0" scaled="1"/>
            </a:gradFill>
            <a:ln>
              <a:noFill/>
            </a:ln>
          </p:spPr>
        </p:sp>
        <p:sp>
          <p:nvSpPr>
            <p:cNvPr id="36" name="TextBox 36"/>
            <p:cNvSpPr txBox="1"/>
            <p:nvPr/>
          </p:nvSpPr>
          <p:spPr>
            <a:xfrm>
              <a:off x="504825" y="233362"/>
              <a:ext cx="1718310" cy="346075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2250" b="1" dirty="0">
                  <a:solidFill>
                    <a:srgbClr val="102033"/>
                  </a:solidFill>
                  <a:latin typeface="MiSans Heavy" panose="00000A00000000000000" charset="-122"/>
                  <a:ea typeface="MiSans Heavy" panose="00000A00000000000000" charset="-122"/>
                  <a:cs typeface="等线" panose="02010600030101010101" charset="-122"/>
                </a:rPr>
                <a:t>作品设计理念</a:t>
              </a:r>
              <a:endParaRPr lang="zh-CN" sz="2250" b="1" dirty="0">
                <a:solidFill>
                  <a:srgbClr val="102033"/>
                </a:solidFill>
                <a:latin typeface="MiSans Heavy" panose="00000A00000000000000" charset="-122"/>
                <a:ea typeface="MiSans Heavy" panose="00000A00000000000000" charset="-122"/>
                <a:cs typeface="等线" panose="02010600030101010101" charset="-122"/>
              </a:endParaRPr>
            </a:p>
          </p:txBody>
        </p:sp>
        <p:sp>
          <p:nvSpPr>
            <p:cNvPr id="37" name="TextBox 37"/>
            <p:cNvSpPr txBox="1"/>
            <p:nvPr/>
          </p:nvSpPr>
          <p:spPr>
            <a:xfrm>
              <a:off x="521970" y="645795"/>
              <a:ext cx="1093470" cy="13843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00" b="1" dirty="0">
                  <a:solidFill>
                    <a:srgbClr val="0B57D0"/>
                  </a:solidFill>
                  <a:latin typeface="金山云技术体" charset="-122"/>
                  <a:ea typeface="金山云技术体" charset="-122"/>
                  <a:cs typeface="等线" panose="02010600030101010101" charset="-122"/>
                </a:rPr>
                <a:t>DESIGN RATIONALE</a:t>
              </a:r>
              <a:endParaRPr lang="zh-CN" sz="900" b="1" dirty="0">
                <a:solidFill>
                  <a:srgbClr val="0B57D0"/>
                </a:solidFill>
                <a:latin typeface="金山云技术体" charset="-122"/>
                <a:ea typeface="金山云技术体" charset="-122"/>
                <a:cs typeface="等线" panose="02010600030101010101" charset="-122"/>
              </a:endParaRPr>
            </a:p>
          </p:txBody>
        </p:sp>
        <p:sp>
          <p:nvSpPr>
            <p:cNvPr id="38" name="Line 38"/>
            <p:cNvSpPr/>
            <p:nvPr/>
          </p:nvSpPr>
          <p:spPr>
            <a:xfrm>
              <a:off x="533400" y="876300"/>
              <a:ext cx="11125200" cy="9525"/>
            </a:xfrm>
            <a:custGeom>
              <a:avLst/>
              <a:gdLst/>
              <a:ahLst/>
              <a:cxnLst/>
              <a:rect l="l" t="t" r="r" b="b"/>
              <a:pathLst>
                <a:path w="11125200" h="9525">
                  <a:moveTo>
                    <a:pt x="0" y="0"/>
                  </a:moveTo>
                  <a:lnTo>
                    <a:pt x="11125200" y="0"/>
                  </a:lnTo>
                </a:path>
              </a:pathLst>
            </a:custGeom>
            <a:noFill/>
            <a:ln w="11430">
              <a:solidFill>
                <a:srgbClr val="BFD9F4"/>
              </a:solidFill>
            </a:ln>
          </p:spPr>
        </p:sp>
        <p:sp>
          <p:nvSpPr>
            <p:cNvPr id="39" name="Rectangle 39"/>
            <p:cNvSpPr/>
            <p:nvPr/>
          </p:nvSpPr>
          <p:spPr>
            <a:xfrm>
              <a:off x="533400" y="1028700"/>
              <a:ext cx="95250" cy="95250"/>
            </a:xfrm>
            <a:prstGeom prst="roundRect">
              <a:avLst>
                <a:gd name="adj" fmla="val 50000"/>
              </a:avLst>
            </a:prstGeom>
            <a:solidFill>
              <a:srgbClr val="00D4FF"/>
            </a:solidFill>
            <a:ln>
              <a:noFill/>
            </a:ln>
          </p:spPr>
        </p:sp>
        <p:sp>
          <p:nvSpPr>
            <p:cNvPr id="40" name="TextBox 40"/>
            <p:cNvSpPr txBox="1"/>
            <p:nvPr/>
          </p:nvSpPr>
          <p:spPr>
            <a:xfrm>
              <a:off x="765810" y="1003935"/>
              <a:ext cx="5509260" cy="18415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00" b="1" dirty="0">
                  <a:solidFill>
                    <a:srgbClr val="51677F"/>
                  </a:solidFill>
                  <a:latin typeface="MiSans Normal" panose="00000500000000000000" charset="-122"/>
                  <a:ea typeface="MiSans Normal" panose="00000500000000000000" charset="-122"/>
                  <a:cs typeface="等线" panose="02010600030101010101" charset="-122"/>
                </a:rPr>
                <a:t>作品设计理念并不抽象，而是针对四个真实高频问题逐一给出可验证的产品回应。</a:t>
              </a:r>
              <a:endParaRPr lang="zh-CN" sz="1200" b="1" dirty="0">
                <a:solidFill>
                  <a:srgbClr val="51677F"/>
                </a:solidFill>
                <a:latin typeface="MiSans Normal" panose="00000500000000000000" charset="-122"/>
                <a:ea typeface="MiSans Normal" panose="00000500000000000000" charset="-122"/>
                <a:cs typeface="等线" panose="02010600030101010101" charset="-122"/>
              </a:endParaRPr>
            </a:p>
          </p:txBody>
        </p:sp>
        <p:sp>
          <p:nvSpPr>
            <p:cNvPr id="41" name="Rectangle 41"/>
            <p:cNvSpPr/>
            <p:nvPr/>
          </p:nvSpPr>
          <p:spPr>
            <a:xfrm>
              <a:off x="495300" y="1581150"/>
              <a:ext cx="11353800" cy="885190"/>
            </a:xfrm>
            <a:prstGeom prst="roundRect">
              <a:avLst>
                <a:gd name="adj" fmla="val 17949"/>
              </a:avLst>
            </a:prstGeom>
            <a:solidFill>
              <a:srgbClr val="0B57D0">
                <a:alpha val="5000"/>
              </a:srgbClr>
            </a:solidFill>
            <a:ln>
              <a:noFill/>
            </a:ln>
          </p:spPr>
        </p:sp>
        <p:sp>
          <p:nvSpPr>
            <p:cNvPr id="42" name="Rectangle 42"/>
            <p:cNvSpPr/>
            <p:nvPr/>
          </p:nvSpPr>
          <p:spPr>
            <a:xfrm>
              <a:off x="419100" y="1485900"/>
              <a:ext cx="11353800" cy="834390"/>
            </a:xfrm>
            <a:prstGeom prst="roundRect">
              <a:avLst>
                <a:gd name="adj" fmla="val 17949"/>
              </a:avLst>
            </a:prstGeom>
            <a:solidFill>
              <a:srgbClr val="FFFFFF"/>
            </a:solidFill>
            <a:ln w="11430">
              <a:solidFill>
                <a:srgbClr val="BFD9F4"/>
              </a:solidFill>
            </a:ln>
          </p:spPr>
          <p:txBody>
            <a:bodyPr/>
            <a:p>
              <a:endParaRPr lang="zh-CN" altLang="en-US"/>
            </a:p>
          </p:txBody>
        </p:sp>
        <p:sp>
          <p:nvSpPr>
            <p:cNvPr id="43" name="Line 43"/>
            <p:cNvSpPr/>
            <p:nvPr/>
          </p:nvSpPr>
          <p:spPr>
            <a:xfrm>
              <a:off x="590550" y="1495425"/>
              <a:ext cx="1238250" cy="9525"/>
            </a:xfrm>
            <a:custGeom>
              <a:avLst/>
              <a:gdLst/>
              <a:ahLst/>
              <a:cxnLst/>
              <a:rect l="l" t="t" r="r" b="b"/>
              <a:pathLst>
                <a:path w="1238250" h="9525">
                  <a:moveTo>
                    <a:pt x="0" y="0"/>
                  </a:moveTo>
                  <a:lnTo>
                    <a:pt x="1238250" y="0"/>
                  </a:lnTo>
                </a:path>
              </a:pathLst>
            </a:custGeom>
            <a:noFill/>
            <a:ln w="19050">
              <a:solidFill>
                <a:srgbClr val="26A7FF">
                  <a:alpha val="90000"/>
                </a:srgbClr>
              </a:solidFill>
            </a:ln>
          </p:spPr>
        </p:sp>
        <p:sp>
          <p:nvSpPr>
            <p:cNvPr id="44" name="Rectangle 44"/>
            <p:cNvSpPr/>
            <p:nvPr/>
          </p:nvSpPr>
          <p:spPr>
            <a:xfrm>
              <a:off x="590550" y="1657350"/>
              <a:ext cx="285750" cy="285750"/>
            </a:xfrm>
            <a:prstGeom prst="roundRect">
              <a:avLst>
                <a:gd name="adj" fmla="val 33333"/>
              </a:avLst>
            </a:prstGeom>
            <a:solidFill>
              <a:srgbClr val="E7F2FF"/>
            </a:solidFill>
            <a:ln>
              <a:noFill/>
            </a:ln>
          </p:spPr>
        </p:sp>
        <p:grpSp>
          <p:nvGrpSpPr>
            <p:cNvPr id="48" name="Group 48"/>
            <p:cNvGrpSpPr/>
            <p:nvPr/>
          </p:nvGrpSpPr>
          <p:grpSpPr>
            <a:xfrm>
              <a:off x="651407" y="1726144"/>
              <a:ext cx="156099" cy="148161"/>
              <a:chOff x="651407" y="1726144"/>
              <a:chExt cx="156099" cy="148161"/>
            </a:xfrm>
          </p:grpSpPr>
          <p:sp>
            <p:nvSpPr>
              <p:cNvPr id="45" name="Freeform 45"/>
              <p:cNvSpPr/>
              <p:nvPr/>
            </p:nvSpPr>
            <p:spPr>
              <a:xfrm>
                <a:off x="757238" y="1821394"/>
                <a:ext cx="50268" cy="52911"/>
              </a:xfrm>
              <a:custGeom>
                <a:avLst/>
                <a:gdLst/>
                <a:ahLst/>
                <a:cxnLst/>
                <a:rect l="l" t="t" r="r" b="b"/>
                <a:pathLst>
                  <a:path w="50268" h="52911">
                    <a:moveTo>
                      <a:pt x="7937" y="34393"/>
                    </a:moveTo>
                    <a:cubicBezTo>
                      <a:pt x="3554" y="34393"/>
                      <a:pt x="0" y="30839"/>
                      <a:pt x="0" y="26456"/>
                    </a:cubicBezTo>
                    <a:cubicBezTo>
                      <a:pt x="0" y="22072"/>
                      <a:pt x="3554" y="18518"/>
                      <a:pt x="7937" y="18518"/>
                    </a:cubicBezTo>
                    <a:cubicBezTo>
                      <a:pt x="12321" y="18518"/>
                      <a:pt x="15875" y="14964"/>
                      <a:pt x="15875" y="10581"/>
                    </a:cubicBezTo>
                    <a:cubicBezTo>
                      <a:pt x="15875" y="0"/>
                      <a:pt x="31750" y="0"/>
                      <a:pt x="31750" y="10581"/>
                    </a:cubicBezTo>
                    <a:cubicBezTo>
                      <a:pt x="31750" y="14964"/>
                      <a:pt x="35304" y="18518"/>
                      <a:pt x="39688" y="18518"/>
                    </a:cubicBezTo>
                    <a:cubicBezTo>
                      <a:pt x="50268" y="18518"/>
                      <a:pt x="50268" y="34393"/>
                      <a:pt x="39688" y="34393"/>
                    </a:cubicBezTo>
                    <a:cubicBezTo>
                      <a:pt x="35304" y="34393"/>
                      <a:pt x="31750" y="37947"/>
                      <a:pt x="31750" y="42331"/>
                    </a:cubicBezTo>
                    <a:cubicBezTo>
                      <a:pt x="31750" y="52911"/>
                      <a:pt x="15875" y="52911"/>
                      <a:pt x="15875" y="42331"/>
                    </a:cubicBezTo>
                    <a:cubicBezTo>
                      <a:pt x="15875" y="37947"/>
                      <a:pt x="12321" y="34393"/>
                      <a:pt x="7937" y="34393"/>
                    </a:cubicBezTo>
                  </a:path>
                </a:pathLst>
              </a:custGeom>
              <a:solidFill>
                <a:srgbClr val="0B57D0"/>
              </a:solidFill>
              <a:ln>
                <a:noFill/>
              </a:ln>
            </p:spPr>
          </p:sp>
          <p:sp>
            <p:nvSpPr>
              <p:cNvPr id="46" name="Freeform 46"/>
              <p:cNvSpPr/>
              <p:nvPr/>
            </p:nvSpPr>
            <p:spPr>
              <a:xfrm>
                <a:off x="651407" y="1742019"/>
                <a:ext cx="116411" cy="113768"/>
              </a:xfrm>
              <a:custGeom>
                <a:avLst/>
                <a:gdLst/>
                <a:ahLst/>
                <a:cxnLst/>
                <a:rect l="l" t="t" r="r" b="b"/>
                <a:pathLst>
                  <a:path w="116411" h="113768">
                    <a:moveTo>
                      <a:pt x="10581" y="50268"/>
                    </a:moveTo>
                    <a:cubicBezTo>
                      <a:pt x="32499" y="50268"/>
                      <a:pt x="50268" y="32499"/>
                      <a:pt x="50268" y="10581"/>
                    </a:cubicBezTo>
                    <a:cubicBezTo>
                      <a:pt x="50268" y="0"/>
                      <a:pt x="66143" y="0"/>
                      <a:pt x="66143" y="10581"/>
                    </a:cubicBezTo>
                    <a:cubicBezTo>
                      <a:pt x="66143" y="32499"/>
                      <a:pt x="83912" y="50268"/>
                      <a:pt x="105831" y="50268"/>
                    </a:cubicBezTo>
                    <a:cubicBezTo>
                      <a:pt x="116411" y="50268"/>
                      <a:pt x="116411" y="66143"/>
                      <a:pt x="105831" y="66143"/>
                    </a:cubicBezTo>
                    <a:cubicBezTo>
                      <a:pt x="83912" y="66143"/>
                      <a:pt x="66143" y="83912"/>
                      <a:pt x="66143" y="105831"/>
                    </a:cubicBezTo>
                    <a:cubicBezTo>
                      <a:pt x="66143" y="110214"/>
                      <a:pt x="62589" y="113768"/>
                      <a:pt x="58206" y="113768"/>
                    </a:cubicBezTo>
                    <a:cubicBezTo>
                      <a:pt x="53822" y="113768"/>
                      <a:pt x="50268" y="110214"/>
                      <a:pt x="50268" y="105831"/>
                    </a:cubicBezTo>
                    <a:cubicBezTo>
                      <a:pt x="50268" y="83912"/>
                      <a:pt x="32499" y="66143"/>
                      <a:pt x="10581" y="66143"/>
                    </a:cubicBezTo>
                    <a:cubicBezTo>
                      <a:pt x="0" y="66143"/>
                      <a:pt x="0" y="50268"/>
                      <a:pt x="10581" y="50268"/>
                    </a:cubicBezTo>
                  </a:path>
                </a:pathLst>
              </a:custGeom>
              <a:solidFill>
                <a:srgbClr val="0B57D0"/>
              </a:solidFill>
              <a:ln>
                <a:noFill/>
              </a:ln>
            </p:spPr>
          </p:sp>
          <p:sp>
            <p:nvSpPr>
              <p:cNvPr id="47" name="Freeform 47"/>
              <p:cNvSpPr/>
              <p:nvPr/>
            </p:nvSpPr>
            <p:spPr>
              <a:xfrm>
                <a:off x="757238" y="1726144"/>
                <a:ext cx="50268" cy="52911"/>
              </a:xfrm>
              <a:custGeom>
                <a:avLst/>
                <a:gdLst/>
                <a:ahLst/>
                <a:cxnLst/>
                <a:rect l="l" t="t" r="r" b="b"/>
                <a:pathLst>
                  <a:path w="50268" h="52911">
                    <a:moveTo>
                      <a:pt x="7937" y="34393"/>
                    </a:moveTo>
                    <a:cubicBezTo>
                      <a:pt x="3554" y="34393"/>
                      <a:pt x="0" y="30839"/>
                      <a:pt x="0" y="26456"/>
                    </a:cubicBezTo>
                    <a:cubicBezTo>
                      <a:pt x="0" y="22072"/>
                      <a:pt x="3554" y="18518"/>
                      <a:pt x="7937" y="18518"/>
                    </a:cubicBezTo>
                    <a:cubicBezTo>
                      <a:pt x="12321" y="18518"/>
                      <a:pt x="15875" y="14964"/>
                      <a:pt x="15875" y="10581"/>
                    </a:cubicBezTo>
                    <a:cubicBezTo>
                      <a:pt x="15875" y="0"/>
                      <a:pt x="31750" y="0"/>
                      <a:pt x="31750" y="10581"/>
                    </a:cubicBezTo>
                    <a:cubicBezTo>
                      <a:pt x="31750" y="14964"/>
                      <a:pt x="35304" y="18518"/>
                      <a:pt x="39688" y="18518"/>
                    </a:cubicBezTo>
                    <a:cubicBezTo>
                      <a:pt x="50268" y="18518"/>
                      <a:pt x="50268" y="34393"/>
                      <a:pt x="39688" y="34393"/>
                    </a:cubicBezTo>
                    <a:cubicBezTo>
                      <a:pt x="35304" y="34393"/>
                      <a:pt x="31750" y="37947"/>
                      <a:pt x="31750" y="42331"/>
                    </a:cubicBezTo>
                    <a:cubicBezTo>
                      <a:pt x="31750" y="52911"/>
                      <a:pt x="15875" y="52911"/>
                      <a:pt x="15875" y="42331"/>
                    </a:cubicBezTo>
                    <a:cubicBezTo>
                      <a:pt x="15875" y="37947"/>
                      <a:pt x="12321" y="34393"/>
                      <a:pt x="7937" y="34393"/>
                    </a:cubicBezTo>
                  </a:path>
                </a:pathLst>
              </a:custGeom>
              <a:solidFill>
                <a:srgbClr val="0B57D0"/>
              </a:solidFill>
              <a:ln>
                <a:noFill/>
              </a:ln>
            </p:spPr>
          </p:sp>
        </p:grpSp>
        <p:sp>
          <p:nvSpPr>
            <p:cNvPr id="49" name="TextBox 49"/>
            <p:cNvSpPr txBox="1"/>
            <p:nvPr/>
          </p:nvSpPr>
          <p:spPr>
            <a:xfrm>
              <a:off x="1013777" y="1697196"/>
              <a:ext cx="1019175" cy="245745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600" b="1" dirty="0">
                  <a:solidFill>
                    <a:srgbClr val="102033"/>
                  </a:solidFill>
                  <a:latin typeface="MiSans Normal" panose="00000500000000000000" charset="-122"/>
                  <a:ea typeface="MiSans Normal" panose="00000500000000000000" charset="-122"/>
                  <a:cs typeface="等线" panose="02010600030101010101" charset="-122"/>
                </a:rPr>
                <a:t>核心创新点</a:t>
              </a:r>
              <a:endParaRPr lang="zh-CN" sz="1600" b="1" dirty="0">
                <a:solidFill>
                  <a:srgbClr val="102033"/>
                </a:solidFill>
                <a:latin typeface="MiSans Normal" panose="00000500000000000000" charset="-122"/>
                <a:ea typeface="MiSans Normal" panose="00000500000000000000" charset="-122"/>
                <a:cs typeface="等线" panose="02010600030101010101" charset="-122"/>
              </a:endParaRPr>
            </a:p>
          </p:txBody>
        </p:sp>
        <p:sp>
          <p:nvSpPr>
            <p:cNvPr id="50" name="TextBox 50"/>
            <p:cNvSpPr txBox="1"/>
            <p:nvPr/>
          </p:nvSpPr>
          <p:spPr>
            <a:xfrm>
              <a:off x="651827" y="2055336"/>
              <a:ext cx="4373245" cy="173355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125" dirty="0">
                  <a:solidFill>
                    <a:srgbClr val="51677F"/>
                  </a:solidFill>
                  <a:latin typeface="MiSans Normal" panose="00000500000000000000" charset="-122"/>
                  <a:ea typeface="MiSans Normal" panose="00000500000000000000" charset="-122"/>
                  <a:cs typeface="MiSans Normal" panose="00000500000000000000" charset="-122"/>
                </a:rPr>
                <a:t>让 AI 从一次性攻略工具，变成可培养、会陪伴、能成长的旅行搭子。</a:t>
              </a:r>
              <a:endParaRPr lang="zh-CN" sz="1125" dirty="0">
                <a:solidFill>
                  <a:srgbClr val="51677F"/>
                </a:solidFill>
                <a:latin typeface="MiSans Normal" panose="00000500000000000000" charset="-122"/>
                <a:ea typeface="MiSans Normal" panose="00000500000000000000" charset="-122"/>
                <a:cs typeface="MiSans Normal" panose="00000500000000000000" charset="-122"/>
              </a:endParaRPr>
            </a:p>
          </p:txBody>
        </p:sp>
        <p:sp>
          <p:nvSpPr>
            <p:cNvPr id="51" name="Rectangle 51"/>
            <p:cNvSpPr/>
            <p:nvPr/>
          </p:nvSpPr>
          <p:spPr>
            <a:xfrm>
              <a:off x="838200" y="2724150"/>
              <a:ext cx="5143500" cy="1409700"/>
            </a:xfrm>
            <a:prstGeom prst="roundRect">
              <a:avLst>
                <a:gd name="adj" fmla="val 12162"/>
              </a:avLst>
            </a:prstGeom>
            <a:solidFill>
              <a:srgbClr val="0B57D0">
                <a:alpha val="5000"/>
              </a:srgbClr>
            </a:solidFill>
            <a:ln>
              <a:noFill/>
            </a:ln>
          </p:spPr>
        </p:sp>
        <p:sp>
          <p:nvSpPr>
            <p:cNvPr id="52" name="Rectangle 52"/>
            <p:cNvSpPr/>
            <p:nvPr/>
          </p:nvSpPr>
          <p:spPr>
            <a:xfrm>
              <a:off x="762000" y="2628900"/>
              <a:ext cx="5143500" cy="1409700"/>
            </a:xfrm>
            <a:prstGeom prst="roundRect">
              <a:avLst>
                <a:gd name="adj" fmla="val 12162"/>
              </a:avLst>
            </a:prstGeom>
            <a:solidFill>
              <a:srgbClr val="E7F2FF"/>
            </a:solidFill>
            <a:ln w="11430">
              <a:solidFill>
                <a:srgbClr val="BFD9F4"/>
              </a:solidFill>
            </a:ln>
          </p:spPr>
        </p:sp>
        <p:sp>
          <p:nvSpPr>
            <p:cNvPr id="53" name="Line 53"/>
            <p:cNvSpPr/>
            <p:nvPr/>
          </p:nvSpPr>
          <p:spPr>
            <a:xfrm>
              <a:off x="933450" y="2638425"/>
              <a:ext cx="1238250" cy="9525"/>
            </a:xfrm>
            <a:custGeom>
              <a:avLst/>
              <a:gdLst/>
              <a:ahLst/>
              <a:cxnLst/>
              <a:rect l="l" t="t" r="r" b="b"/>
              <a:pathLst>
                <a:path w="1238250" h="9525">
                  <a:moveTo>
                    <a:pt x="0" y="0"/>
                  </a:moveTo>
                  <a:lnTo>
                    <a:pt x="1238250" y="0"/>
                  </a:lnTo>
                </a:path>
              </a:pathLst>
            </a:custGeom>
            <a:noFill/>
            <a:ln w="19050">
              <a:solidFill>
                <a:srgbClr val="26A7FF">
                  <a:alpha val="90000"/>
                </a:srgbClr>
              </a:solidFill>
            </a:ln>
          </p:spPr>
        </p:sp>
        <p:sp>
          <p:nvSpPr>
            <p:cNvPr id="54" name="Rectangle 54"/>
            <p:cNvSpPr/>
            <p:nvPr/>
          </p:nvSpPr>
          <p:spPr>
            <a:xfrm>
              <a:off x="6362700" y="2724150"/>
              <a:ext cx="5143500" cy="1409700"/>
            </a:xfrm>
            <a:prstGeom prst="roundRect">
              <a:avLst>
                <a:gd name="adj" fmla="val 12162"/>
              </a:avLst>
            </a:prstGeom>
            <a:solidFill>
              <a:srgbClr val="0B57D0">
                <a:alpha val="5000"/>
              </a:srgbClr>
            </a:solidFill>
            <a:ln>
              <a:noFill/>
            </a:ln>
          </p:spPr>
        </p:sp>
        <p:sp>
          <p:nvSpPr>
            <p:cNvPr id="55" name="Rectangle 55"/>
            <p:cNvSpPr/>
            <p:nvPr/>
          </p:nvSpPr>
          <p:spPr>
            <a:xfrm>
              <a:off x="6286500" y="2628900"/>
              <a:ext cx="5143500" cy="1409700"/>
            </a:xfrm>
            <a:prstGeom prst="roundRect">
              <a:avLst>
                <a:gd name="adj" fmla="val 12162"/>
              </a:avLst>
            </a:prstGeom>
            <a:solidFill>
              <a:srgbClr val="E6FAFF"/>
            </a:solidFill>
            <a:ln w="11430">
              <a:solidFill>
                <a:srgbClr val="BFD9F4"/>
              </a:solidFill>
            </a:ln>
          </p:spPr>
        </p:sp>
        <p:sp>
          <p:nvSpPr>
            <p:cNvPr id="56" name="Line 56"/>
            <p:cNvSpPr/>
            <p:nvPr/>
          </p:nvSpPr>
          <p:spPr>
            <a:xfrm>
              <a:off x="6457950" y="2638425"/>
              <a:ext cx="1238250" cy="9525"/>
            </a:xfrm>
            <a:custGeom>
              <a:avLst/>
              <a:gdLst/>
              <a:ahLst/>
              <a:cxnLst/>
              <a:rect l="l" t="t" r="r" b="b"/>
              <a:pathLst>
                <a:path w="1238250" h="9525">
                  <a:moveTo>
                    <a:pt x="0" y="0"/>
                  </a:moveTo>
                  <a:lnTo>
                    <a:pt x="1238250" y="0"/>
                  </a:lnTo>
                </a:path>
              </a:pathLst>
            </a:custGeom>
            <a:noFill/>
            <a:ln w="19050">
              <a:solidFill>
                <a:srgbClr val="26A7FF">
                  <a:alpha val="90000"/>
                </a:srgbClr>
              </a:solidFill>
            </a:ln>
          </p:spPr>
        </p:sp>
        <p:sp>
          <p:nvSpPr>
            <p:cNvPr id="57" name="Rectangle 57"/>
            <p:cNvSpPr/>
            <p:nvPr/>
          </p:nvSpPr>
          <p:spPr>
            <a:xfrm>
              <a:off x="838200" y="4362450"/>
              <a:ext cx="5143500" cy="1409700"/>
            </a:xfrm>
            <a:prstGeom prst="roundRect">
              <a:avLst>
                <a:gd name="adj" fmla="val 12162"/>
              </a:avLst>
            </a:prstGeom>
            <a:solidFill>
              <a:srgbClr val="0B57D0">
                <a:alpha val="5000"/>
              </a:srgbClr>
            </a:solidFill>
            <a:ln>
              <a:noFill/>
            </a:ln>
          </p:spPr>
        </p:sp>
        <p:sp>
          <p:nvSpPr>
            <p:cNvPr id="58" name="Rectangle 58"/>
            <p:cNvSpPr/>
            <p:nvPr/>
          </p:nvSpPr>
          <p:spPr>
            <a:xfrm>
              <a:off x="762000" y="4267200"/>
              <a:ext cx="5143500" cy="1409700"/>
            </a:xfrm>
            <a:prstGeom prst="roundRect">
              <a:avLst>
                <a:gd name="adj" fmla="val 12162"/>
              </a:avLst>
            </a:prstGeom>
            <a:solidFill>
              <a:srgbClr val="F8FCFF"/>
            </a:solidFill>
            <a:ln w="11430">
              <a:solidFill>
                <a:srgbClr val="BFD9F4"/>
              </a:solidFill>
            </a:ln>
          </p:spPr>
        </p:sp>
        <p:sp>
          <p:nvSpPr>
            <p:cNvPr id="59" name="Line 59"/>
            <p:cNvSpPr/>
            <p:nvPr/>
          </p:nvSpPr>
          <p:spPr>
            <a:xfrm>
              <a:off x="933450" y="4276725"/>
              <a:ext cx="1238250" cy="9525"/>
            </a:xfrm>
            <a:custGeom>
              <a:avLst/>
              <a:gdLst/>
              <a:ahLst/>
              <a:cxnLst/>
              <a:rect l="l" t="t" r="r" b="b"/>
              <a:pathLst>
                <a:path w="1238250" h="9525">
                  <a:moveTo>
                    <a:pt x="0" y="0"/>
                  </a:moveTo>
                  <a:lnTo>
                    <a:pt x="1238250" y="0"/>
                  </a:lnTo>
                </a:path>
              </a:pathLst>
            </a:custGeom>
            <a:noFill/>
            <a:ln w="19050">
              <a:solidFill>
                <a:srgbClr val="26A7FF">
                  <a:alpha val="90000"/>
                </a:srgbClr>
              </a:solidFill>
            </a:ln>
          </p:spPr>
        </p:sp>
        <p:sp>
          <p:nvSpPr>
            <p:cNvPr id="60" name="Rectangle 60"/>
            <p:cNvSpPr/>
            <p:nvPr/>
          </p:nvSpPr>
          <p:spPr>
            <a:xfrm>
              <a:off x="6362700" y="4362450"/>
              <a:ext cx="5143500" cy="1409700"/>
            </a:xfrm>
            <a:prstGeom prst="roundRect">
              <a:avLst>
                <a:gd name="adj" fmla="val 12162"/>
              </a:avLst>
            </a:prstGeom>
            <a:solidFill>
              <a:srgbClr val="0B57D0">
                <a:alpha val="5000"/>
              </a:srgbClr>
            </a:solidFill>
            <a:ln>
              <a:noFill/>
            </a:ln>
          </p:spPr>
        </p:sp>
        <p:sp>
          <p:nvSpPr>
            <p:cNvPr id="61" name="Rectangle 61"/>
            <p:cNvSpPr/>
            <p:nvPr/>
          </p:nvSpPr>
          <p:spPr>
            <a:xfrm>
              <a:off x="6286500" y="4267200"/>
              <a:ext cx="5143500" cy="1409700"/>
            </a:xfrm>
            <a:prstGeom prst="roundRect">
              <a:avLst>
                <a:gd name="adj" fmla="val 12162"/>
              </a:avLst>
            </a:prstGeom>
            <a:solidFill>
              <a:srgbClr val="E7F2FF"/>
            </a:solidFill>
            <a:ln w="11430">
              <a:solidFill>
                <a:srgbClr val="BFD9F4"/>
              </a:solidFill>
            </a:ln>
          </p:spPr>
        </p:sp>
        <p:sp>
          <p:nvSpPr>
            <p:cNvPr id="62" name="Line 62"/>
            <p:cNvSpPr/>
            <p:nvPr/>
          </p:nvSpPr>
          <p:spPr>
            <a:xfrm>
              <a:off x="6457950" y="4276725"/>
              <a:ext cx="1238250" cy="9525"/>
            </a:xfrm>
            <a:custGeom>
              <a:avLst/>
              <a:gdLst/>
              <a:ahLst/>
              <a:cxnLst/>
              <a:rect l="l" t="t" r="r" b="b"/>
              <a:pathLst>
                <a:path w="1238250" h="9525">
                  <a:moveTo>
                    <a:pt x="0" y="0"/>
                  </a:moveTo>
                  <a:lnTo>
                    <a:pt x="1238250" y="0"/>
                  </a:lnTo>
                </a:path>
              </a:pathLst>
            </a:custGeom>
            <a:noFill/>
            <a:ln w="19050">
              <a:solidFill>
                <a:srgbClr val="26A7FF">
                  <a:alpha val="90000"/>
                </a:srgbClr>
              </a:solidFill>
            </a:ln>
          </p:spPr>
        </p:sp>
        <p:sp>
          <p:nvSpPr>
            <p:cNvPr id="63" name="TextBox 63"/>
            <p:cNvSpPr txBox="1"/>
            <p:nvPr/>
          </p:nvSpPr>
          <p:spPr>
            <a:xfrm>
              <a:off x="1007745" y="2831782"/>
              <a:ext cx="1664335" cy="253365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650" b="1" dirty="0">
                  <a:solidFill>
                    <a:srgbClr val="0B57D0"/>
                  </a:solidFill>
                  <a:latin typeface="金山云技术体" charset="-122"/>
                  <a:ea typeface="金山云技术体" charset="-122"/>
                  <a:cs typeface="金山云技术体" charset="-122"/>
                </a:rPr>
                <a:t>问题 1：信息过载</a:t>
              </a:r>
              <a:endParaRPr lang="zh-CN" sz="1650" b="1" dirty="0">
                <a:solidFill>
                  <a:srgbClr val="0B57D0"/>
                </a:solidFill>
                <a:latin typeface="金山云技术体" charset="-122"/>
                <a:ea typeface="金山云技术体" charset="-122"/>
                <a:cs typeface="金山云技术体" charset="-122"/>
              </a:endParaRPr>
            </a:p>
          </p:txBody>
        </p:sp>
        <p:sp>
          <p:nvSpPr>
            <p:cNvPr id="64" name="TextBox 64"/>
            <p:cNvSpPr txBox="1"/>
            <p:nvPr/>
          </p:nvSpPr>
          <p:spPr>
            <a:xfrm>
              <a:off x="1013460" y="3204210"/>
              <a:ext cx="3200400" cy="18415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00" dirty="0">
                  <a:solidFill>
                    <a:srgbClr val="51677F"/>
                  </a:solidFill>
                  <a:latin typeface="MiSans Normal" panose="00000500000000000000" charset="-122"/>
                  <a:ea typeface="MiSans Normal" panose="00000500000000000000" charset="-122"/>
                  <a:cs typeface="等线" panose="02010600030101010101" charset="-122"/>
                </a:rPr>
                <a:t>用户要在地图、点评和社交平台之间来回切换。</a:t>
              </a:r>
              <a:endParaRPr lang="zh-CN" sz="1200" dirty="0">
                <a:solidFill>
                  <a:srgbClr val="51677F"/>
                </a:solidFill>
                <a:latin typeface="MiSans Normal" panose="00000500000000000000" charset="-122"/>
                <a:ea typeface="MiSans Normal" panose="00000500000000000000" charset="-122"/>
                <a:cs typeface="等线" panose="02010600030101010101" charset="-122"/>
              </a:endParaRPr>
            </a:p>
          </p:txBody>
        </p:sp>
        <p:sp>
          <p:nvSpPr>
            <p:cNvPr id="65" name="TextBox 65"/>
            <p:cNvSpPr txBox="1"/>
            <p:nvPr/>
          </p:nvSpPr>
          <p:spPr>
            <a:xfrm>
              <a:off x="1013460" y="3451860"/>
              <a:ext cx="3705225" cy="18415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00" dirty="0">
                  <a:solidFill>
                    <a:srgbClr val="51677F"/>
                  </a:solidFill>
                  <a:latin typeface="MiSans Normal" panose="00000500000000000000" charset="-122"/>
                  <a:ea typeface="MiSans Normal" panose="00000500000000000000" charset="-122"/>
                  <a:cs typeface="MiSans Normal" panose="00000500000000000000" charset="-122"/>
                </a:rPr>
                <a:t>设计回应：由 Agent 整合信息并直接给出可执行建议。</a:t>
              </a:r>
              <a:endParaRPr lang="zh-CN" sz="1200" dirty="0">
                <a:solidFill>
                  <a:srgbClr val="51677F"/>
                </a:solidFill>
                <a:latin typeface="MiSans Normal" panose="00000500000000000000" charset="-122"/>
                <a:ea typeface="MiSans Normal" panose="00000500000000000000" charset="-122"/>
                <a:cs typeface="MiSans Normal" panose="00000500000000000000" charset="-122"/>
              </a:endParaRPr>
            </a:p>
          </p:txBody>
        </p:sp>
        <p:sp>
          <p:nvSpPr>
            <p:cNvPr id="66" name="TextBox 66"/>
            <p:cNvSpPr txBox="1"/>
            <p:nvPr/>
          </p:nvSpPr>
          <p:spPr>
            <a:xfrm>
              <a:off x="6532245" y="2831782"/>
              <a:ext cx="1874520" cy="253365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650" b="1" dirty="0">
                  <a:solidFill>
                    <a:srgbClr val="0B57D0"/>
                  </a:solidFill>
                  <a:latin typeface="金山云技术体" charset="-122"/>
                  <a:ea typeface="金山云技术体" charset="-122"/>
                  <a:cs typeface="金山云技术体" charset="-122"/>
                </a:rPr>
                <a:t>问题 2：推荐不懂我</a:t>
              </a:r>
              <a:endParaRPr lang="zh-CN" sz="1650" b="1" dirty="0">
                <a:solidFill>
                  <a:srgbClr val="0B57D0"/>
                </a:solidFill>
                <a:latin typeface="金山云技术体" charset="-122"/>
                <a:ea typeface="金山云技术体" charset="-122"/>
                <a:cs typeface="金山云技术体" charset="-122"/>
              </a:endParaRPr>
            </a:p>
          </p:txBody>
        </p:sp>
        <p:sp>
          <p:nvSpPr>
            <p:cNvPr id="67" name="TextBox 67"/>
            <p:cNvSpPr txBox="1"/>
            <p:nvPr/>
          </p:nvSpPr>
          <p:spPr>
            <a:xfrm>
              <a:off x="6537960" y="3204210"/>
              <a:ext cx="3352800" cy="18415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00" dirty="0">
                  <a:solidFill>
                    <a:srgbClr val="51677F"/>
                  </a:solidFill>
                  <a:latin typeface="MiSans Normal" panose="00000500000000000000" charset="-122"/>
                  <a:ea typeface="MiSans Normal" panose="00000500000000000000" charset="-122"/>
                  <a:cs typeface="等线" panose="02010600030101010101" charset="-122"/>
                </a:rPr>
                <a:t>普通攻略不知道饮食忌口、节奏偏好和体力状态。</a:t>
              </a:r>
              <a:endParaRPr lang="zh-CN" sz="1200" dirty="0">
                <a:solidFill>
                  <a:srgbClr val="51677F"/>
                </a:solidFill>
                <a:latin typeface="MiSans Normal" panose="00000500000000000000" charset="-122"/>
                <a:ea typeface="MiSans Normal" panose="00000500000000000000" charset="-122"/>
                <a:cs typeface="等线" panose="02010600030101010101" charset="-122"/>
              </a:endParaRPr>
            </a:p>
          </p:txBody>
        </p:sp>
        <p:sp>
          <p:nvSpPr>
            <p:cNvPr id="68" name="TextBox 68"/>
            <p:cNvSpPr txBox="1"/>
            <p:nvPr/>
          </p:nvSpPr>
          <p:spPr>
            <a:xfrm>
              <a:off x="6537960" y="3451860"/>
              <a:ext cx="2895600" cy="18415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00" dirty="0">
                  <a:solidFill>
                    <a:srgbClr val="51677F"/>
                  </a:solidFill>
                  <a:latin typeface="MiSans Normal" panose="00000500000000000000" charset="-122"/>
                  <a:ea typeface="MiSans Normal" panose="00000500000000000000" charset="-122"/>
                  <a:cs typeface="等线" panose="02010600030101010101" charset="-122"/>
                </a:rPr>
                <a:t>设计回应：用记忆胶囊沉淀长期旅行画像。</a:t>
              </a:r>
              <a:endParaRPr lang="zh-CN" sz="1200" dirty="0">
                <a:solidFill>
                  <a:srgbClr val="51677F"/>
                </a:solidFill>
                <a:latin typeface="MiSans Normal" panose="00000500000000000000" charset="-122"/>
                <a:ea typeface="MiSans Normal" panose="00000500000000000000" charset="-122"/>
                <a:cs typeface="等线" panose="02010600030101010101" charset="-122"/>
              </a:endParaRPr>
            </a:p>
          </p:txBody>
        </p:sp>
        <p:sp>
          <p:nvSpPr>
            <p:cNvPr id="69" name="TextBox 69"/>
            <p:cNvSpPr txBox="1"/>
            <p:nvPr/>
          </p:nvSpPr>
          <p:spPr>
            <a:xfrm>
              <a:off x="1007745" y="4470082"/>
              <a:ext cx="2084705" cy="253365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650" b="1" dirty="0">
                  <a:solidFill>
                    <a:srgbClr val="0B57D0"/>
                  </a:solidFill>
                  <a:latin typeface="金山云技术体" charset="-122"/>
                  <a:ea typeface="金山云技术体" charset="-122"/>
                  <a:cs typeface="金山云技术体" charset="-122"/>
                </a:rPr>
                <a:t>问题 3：旅途中变化多</a:t>
              </a:r>
              <a:endParaRPr lang="zh-CN" sz="1650" b="1" dirty="0">
                <a:solidFill>
                  <a:srgbClr val="0B57D0"/>
                </a:solidFill>
                <a:latin typeface="金山云技术体" charset="-122"/>
                <a:ea typeface="金山云技术体" charset="-122"/>
                <a:cs typeface="金山云技术体" charset="-122"/>
              </a:endParaRPr>
            </a:p>
          </p:txBody>
        </p:sp>
        <p:sp>
          <p:nvSpPr>
            <p:cNvPr id="70" name="TextBox 70"/>
            <p:cNvSpPr txBox="1"/>
            <p:nvPr/>
          </p:nvSpPr>
          <p:spPr>
            <a:xfrm>
              <a:off x="1013460" y="4842510"/>
              <a:ext cx="2743200" cy="18415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00" dirty="0">
                  <a:solidFill>
                    <a:srgbClr val="51677F"/>
                  </a:solidFill>
                  <a:latin typeface="MiSans Normal" panose="00000500000000000000" charset="-122"/>
                  <a:ea typeface="MiSans Normal" panose="00000500000000000000" charset="-122"/>
                  <a:cs typeface="等线" panose="02010600030101010101" charset="-122"/>
                </a:rPr>
                <a:t>排队、天气和兴趣变化会快速打乱计划。</a:t>
              </a:r>
              <a:endParaRPr lang="zh-CN" sz="1200" dirty="0">
                <a:solidFill>
                  <a:srgbClr val="51677F"/>
                </a:solidFill>
                <a:latin typeface="MiSans Normal" panose="00000500000000000000" charset="-122"/>
                <a:ea typeface="MiSans Normal" panose="00000500000000000000" charset="-122"/>
                <a:cs typeface="等线" panose="02010600030101010101" charset="-122"/>
              </a:endParaRPr>
            </a:p>
          </p:txBody>
        </p:sp>
        <p:sp>
          <p:nvSpPr>
            <p:cNvPr id="71" name="TextBox 71"/>
            <p:cNvSpPr txBox="1"/>
            <p:nvPr/>
          </p:nvSpPr>
          <p:spPr>
            <a:xfrm>
              <a:off x="1013460" y="5090160"/>
              <a:ext cx="2895600" cy="18415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00" dirty="0">
                  <a:solidFill>
                    <a:srgbClr val="51677F"/>
                  </a:solidFill>
                  <a:latin typeface="MiSans Normal" panose="00000500000000000000" charset="-122"/>
                  <a:ea typeface="MiSans Normal" panose="00000500000000000000" charset="-122"/>
                  <a:cs typeface="等线" panose="02010600030101010101" charset="-122"/>
                </a:rPr>
                <a:t>设计回应：主动情境提醒和路线动态调整。</a:t>
              </a:r>
              <a:endParaRPr lang="zh-CN" sz="1200" dirty="0">
                <a:solidFill>
                  <a:srgbClr val="51677F"/>
                </a:solidFill>
                <a:latin typeface="MiSans Normal" panose="00000500000000000000" charset="-122"/>
                <a:ea typeface="MiSans Normal" panose="00000500000000000000" charset="-122"/>
                <a:cs typeface="等线" panose="02010600030101010101" charset="-122"/>
              </a:endParaRPr>
            </a:p>
          </p:txBody>
        </p:sp>
        <p:sp>
          <p:nvSpPr>
            <p:cNvPr id="72" name="TextBox 72"/>
            <p:cNvSpPr txBox="1"/>
            <p:nvPr/>
          </p:nvSpPr>
          <p:spPr>
            <a:xfrm>
              <a:off x="6532245" y="4470082"/>
              <a:ext cx="1874520" cy="253365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650" b="1" dirty="0">
                  <a:solidFill>
                    <a:srgbClr val="0B57D0"/>
                  </a:solidFill>
                  <a:latin typeface="金山云技术体" charset="-122"/>
                  <a:ea typeface="金山云技术体" charset="-122"/>
                  <a:cs typeface="金山云技术体" charset="-122"/>
                </a:rPr>
                <a:t>问题 4：独旅缺陪伴</a:t>
              </a:r>
              <a:endParaRPr lang="zh-CN" sz="1650" b="1" dirty="0">
                <a:solidFill>
                  <a:srgbClr val="0B57D0"/>
                </a:solidFill>
                <a:latin typeface="金山云技术体" charset="-122"/>
                <a:ea typeface="金山云技术体" charset="-122"/>
                <a:cs typeface="金山云技术体" charset="-122"/>
              </a:endParaRPr>
            </a:p>
          </p:txBody>
        </p:sp>
        <p:sp>
          <p:nvSpPr>
            <p:cNvPr id="73" name="TextBox 73"/>
            <p:cNvSpPr txBox="1"/>
            <p:nvPr/>
          </p:nvSpPr>
          <p:spPr>
            <a:xfrm>
              <a:off x="6537960" y="4842510"/>
              <a:ext cx="2438400" cy="18415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00" dirty="0">
                  <a:solidFill>
                    <a:srgbClr val="51677F"/>
                  </a:solidFill>
                  <a:latin typeface="MiSans Normal" panose="00000500000000000000" charset="-122"/>
                  <a:ea typeface="MiSans Normal" panose="00000500000000000000" charset="-122"/>
                  <a:cs typeface="等线" panose="02010600030101010101" charset="-122"/>
                </a:rPr>
                <a:t>排队、坐车和拍照时缺少互动对象。</a:t>
              </a:r>
              <a:endParaRPr lang="zh-CN" sz="1200" dirty="0">
                <a:solidFill>
                  <a:srgbClr val="51677F"/>
                </a:solidFill>
                <a:latin typeface="MiSans Normal" panose="00000500000000000000" charset="-122"/>
                <a:ea typeface="MiSans Normal" panose="00000500000000000000" charset="-122"/>
                <a:cs typeface="等线" panose="02010600030101010101" charset="-122"/>
              </a:endParaRPr>
            </a:p>
          </p:txBody>
        </p:sp>
        <p:sp>
          <p:nvSpPr>
            <p:cNvPr id="74" name="TextBox 74"/>
            <p:cNvSpPr txBox="1"/>
            <p:nvPr/>
          </p:nvSpPr>
          <p:spPr>
            <a:xfrm>
              <a:off x="6537960" y="5090160"/>
              <a:ext cx="3200400" cy="18415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00" dirty="0">
                  <a:solidFill>
                    <a:srgbClr val="51677F"/>
                  </a:solidFill>
                  <a:latin typeface="MiSans Normal" panose="00000500000000000000" charset="-122"/>
                  <a:ea typeface="MiSans Normal" panose="00000500000000000000" charset="-122"/>
                  <a:cs typeface="等线" panose="02010600030101010101" charset="-122"/>
                </a:rPr>
                <a:t>设计回应：蓝小心承担情绪、状态与陪伴反馈。</a:t>
              </a:r>
              <a:endParaRPr lang="zh-CN" sz="1200" dirty="0">
                <a:solidFill>
                  <a:srgbClr val="51677F"/>
                </a:solidFill>
                <a:latin typeface="MiSans Normal" panose="00000500000000000000" charset="-122"/>
                <a:ea typeface="MiSans Normal" panose="00000500000000000000" charset="-122"/>
                <a:cs typeface="等线" panose="02010600030101010101" charset="-122"/>
              </a:endParaRPr>
            </a:p>
          </p:txBody>
        </p:sp>
        <p:sp>
          <p:nvSpPr>
            <p:cNvPr id="75" name="TextBox 75"/>
            <p:cNvSpPr txBox="1"/>
            <p:nvPr/>
          </p:nvSpPr>
          <p:spPr>
            <a:xfrm>
              <a:off x="521970" y="6598920"/>
              <a:ext cx="2106263" cy="18288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00" dirty="0">
                  <a:solidFill>
                    <a:srgbClr val="8AA1B7"/>
                  </a:solidFill>
                  <a:latin typeface="等线" panose="02010600030101010101" charset="-122"/>
                  <a:ea typeface="微软雅黑" panose="020B0503020204020204" charset="-122"/>
                  <a:cs typeface="等线" panose="02010600030101010101" charset="-122"/>
                </a:rPr>
                <a:t>蓝心同行 | AIGC创新赛应用赛道初赛</a:t>
              </a:r>
              <a:endParaRPr lang="zh-CN" sz="900" dirty="0">
                <a:solidFill>
                  <a:srgbClr val="8AA1B7"/>
                </a:solidFill>
                <a:latin typeface="等线" panose="02010600030101010101" charset="-122"/>
                <a:ea typeface="微软雅黑" panose="020B0503020204020204" charset="-122"/>
                <a:cs typeface="等线" panose="02010600030101010101" charset="-122"/>
              </a:endParaRPr>
            </a:p>
          </p:txBody>
        </p:sp>
        <p:sp>
          <p:nvSpPr>
            <p:cNvPr id="76" name="TextBox 76"/>
            <p:cNvSpPr txBox="1"/>
            <p:nvPr/>
          </p:nvSpPr>
          <p:spPr>
            <a:xfrm>
              <a:off x="11464480" y="6598920"/>
              <a:ext cx="167449" cy="18288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r"/>
              <a:r>
                <a:rPr lang="zh-CN" sz="900" dirty="0">
                  <a:solidFill>
                    <a:srgbClr val="8AA1B7"/>
                  </a:solidFill>
                  <a:latin typeface="等线" panose="02010600030101010101" charset="-122"/>
                  <a:ea typeface="微软雅黑" panose="020B0503020204020204" charset="-122"/>
                  <a:cs typeface="等线" panose="02010600030101010101" charset="-122"/>
                </a:rPr>
                <a:t>04</a:t>
              </a:r>
              <a:endParaRPr lang="zh-CN" sz="900" dirty="0">
                <a:solidFill>
                  <a:srgbClr val="8AA1B7"/>
                </a:solidFill>
                <a:latin typeface="等线" panose="02010600030101010101" charset="-122"/>
                <a:ea typeface="微软雅黑" panose="020B0503020204020204" charset="-122"/>
                <a:cs typeface="等线" panose="02010600030101010101" charset="-122"/>
              </a:endParaRPr>
            </a:p>
          </p:txBody>
        </p:sp>
      </p:grp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p14:dur="400">
        <p:fade/>
      </p:transition>
    </mc:Choice>
    <mc:Fallback>
      <p:transition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400"/>
                                        <p:tgtEl>
                                          <p:spTgt spid="7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77" grpId="0"/>
    </p:bld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2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4F9FF"/>
          </a:solidFill>
          <a:ln>
            <a:noFill/>
          </a:ln>
        </p:spPr>
      </p:sp>
      <p:sp>
        <p:nvSpPr>
          <p:cNvPr id="3" name="Rectangle 3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gradFill>
            <a:gsLst>
              <a:gs pos="0">
                <a:srgbClr val="26A7FF">
                  <a:alpha val="12000"/>
                </a:srgbClr>
              </a:gs>
              <a:gs pos="100000">
                <a:srgbClr val="26A7FF">
                  <a:alpha val="0"/>
                </a:srgbClr>
              </a:gs>
            </a:gsLst>
            <a:path path="circle">
              <a:fillToRect l="50000" t="50000" r="50000" b="50000"/>
            </a:path>
          </a:gradFill>
          <a:ln>
            <a:noFill/>
          </a:ln>
        </p:spPr>
      </p:sp>
      <p:sp>
        <p:nvSpPr>
          <p:cNvPr id="4" name="Ellipse 4"/>
          <p:cNvSpPr/>
          <p:nvPr/>
        </p:nvSpPr>
        <p:spPr>
          <a:xfrm>
            <a:off x="9391650" y="-304800"/>
            <a:ext cx="2362200" cy="2362200"/>
          </a:xfrm>
          <a:prstGeom prst="ellipse">
            <a:avLst/>
          </a:prstGeom>
          <a:solidFill>
            <a:srgbClr val="26A7FF">
              <a:alpha val="8000"/>
            </a:srgbClr>
          </a:solidFill>
          <a:ln>
            <a:noFill/>
          </a:ln>
        </p:spPr>
      </p:sp>
      <p:sp>
        <p:nvSpPr>
          <p:cNvPr id="5" name="Ellipse 5"/>
          <p:cNvSpPr/>
          <p:nvPr/>
        </p:nvSpPr>
        <p:spPr>
          <a:xfrm>
            <a:off x="10553700" y="647700"/>
            <a:ext cx="1638300" cy="1638300"/>
          </a:xfrm>
          <a:prstGeom prst="ellipse">
            <a:avLst/>
          </a:prstGeom>
          <a:solidFill>
            <a:srgbClr val="00D4FF">
              <a:alpha val="7000"/>
            </a:srgbClr>
          </a:solidFill>
          <a:ln>
            <a:noFill/>
          </a:ln>
        </p:spPr>
      </p:sp>
      <p:sp>
        <p:nvSpPr>
          <p:cNvPr id="6" name="Freeform 6"/>
          <p:cNvSpPr/>
          <p:nvPr/>
        </p:nvSpPr>
        <p:spPr>
          <a:xfrm>
            <a:off x="8382000" y="781050"/>
            <a:ext cx="3390900" cy="438150"/>
          </a:xfrm>
          <a:custGeom>
            <a:avLst/>
            <a:gdLst/>
            <a:ahLst/>
            <a:cxnLst/>
            <a:rect l="l" t="t" r="r" b="b"/>
            <a:pathLst>
              <a:path w="3390900" h="438150">
                <a:moveTo>
                  <a:pt x="0" y="0"/>
                </a:moveTo>
                <a:lnTo>
                  <a:pt x="1600200" y="0"/>
                </a:lnTo>
                <a:lnTo>
                  <a:pt x="2038350" y="438150"/>
                </a:lnTo>
                <a:lnTo>
                  <a:pt x="3390900" y="438150"/>
                </a:lnTo>
              </a:path>
            </a:pathLst>
          </a:custGeom>
          <a:noFill/>
          <a:ln w="13335">
            <a:solidFill>
              <a:srgbClr val="BFD9F4">
                <a:alpha val="75000"/>
              </a:srgbClr>
            </a:solidFill>
          </a:ln>
        </p:spPr>
      </p:sp>
      <p:sp>
        <p:nvSpPr>
          <p:cNvPr id="7" name="Freeform 7"/>
          <p:cNvSpPr/>
          <p:nvPr/>
        </p:nvSpPr>
        <p:spPr>
          <a:xfrm>
            <a:off x="8705850" y="5638800"/>
            <a:ext cx="2990850" cy="457200"/>
          </a:xfrm>
          <a:custGeom>
            <a:avLst/>
            <a:gdLst/>
            <a:ahLst/>
            <a:cxnLst/>
            <a:rect l="l" t="t" r="r" b="b"/>
            <a:pathLst>
              <a:path w="2990850" h="457200">
                <a:moveTo>
                  <a:pt x="0" y="457200"/>
                </a:moveTo>
                <a:lnTo>
                  <a:pt x="1295400" y="457200"/>
                </a:lnTo>
                <a:lnTo>
                  <a:pt x="1752600" y="0"/>
                </a:lnTo>
                <a:lnTo>
                  <a:pt x="2990850" y="0"/>
                </a:lnTo>
              </a:path>
            </a:pathLst>
          </a:custGeom>
          <a:noFill/>
          <a:ln w="11430">
            <a:solidFill>
              <a:srgbClr val="BFD9F4">
                <a:alpha val="65000"/>
              </a:srgbClr>
            </a:solidFill>
          </a:ln>
        </p:spPr>
      </p:sp>
      <p:sp>
        <p:nvSpPr>
          <p:cNvPr id="8" name="Freeform 8"/>
          <p:cNvSpPr/>
          <p:nvPr/>
        </p:nvSpPr>
        <p:spPr>
          <a:xfrm>
            <a:off x="419100" y="5734050"/>
            <a:ext cx="2057400" cy="381000"/>
          </a:xfrm>
          <a:custGeom>
            <a:avLst/>
            <a:gdLst/>
            <a:ahLst/>
            <a:cxnLst/>
            <a:rect l="l" t="t" r="r" b="b"/>
            <a:pathLst>
              <a:path w="2057400" h="381000">
                <a:moveTo>
                  <a:pt x="0" y="381000"/>
                </a:moveTo>
                <a:lnTo>
                  <a:pt x="1676400" y="381000"/>
                </a:lnTo>
                <a:lnTo>
                  <a:pt x="2057400" y="0"/>
                </a:lnTo>
              </a:path>
            </a:pathLst>
          </a:custGeom>
          <a:noFill/>
          <a:ln w="11430">
            <a:solidFill>
              <a:srgbClr val="D7EAFF">
                <a:alpha val="90000"/>
              </a:srgbClr>
            </a:solidFill>
          </a:ln>
        </p:spPr>
      </p:sp>
      <p:sp>
        <p:nvSpPr>
          <p:cNvPr id="9" name="Ellipse 9"/>
          <p:cNvSpPr/>
          <p:nvPr/>
        </p:nvSpPr>
        <p:spPr>
          <a:xfrm>
            <a:off x="9944100" y="742950"/>
            <a:ext cx="76200" cy="76200"/>
          </a:xfrm>
          <a:prstGeom prst="ellipse">
            <a:avLst/>
          </a:prstGeom>
          <a:solidFill>
            <a:srgbClr val="26A7FF"/>
          </a:solidFill>
          <a:ln>
            <a:noFill/>
          </a:ln>
        </p:spPr>
      </p:sp>
      <p:sp>
        <p:nvSpPr>
          <p:cNvPr id="10" name="Ellipse 10"/>
          <p:cNvSpPr/>
          <p:nvPr/>
        </p:nvSpPr>
        <p:spPr>
          <a:xfrm>
            <a:off x="10382250" y="1181100"/>
            <a:ext cx="76200" cy="76200"/>
          </a:xfrm>
          <a:prstGeom prst="ellipse">
            <a:avLst/>
          </a:prstGeom>
          <a:solidFill>
            <a:srgbClr val="00D4FF"/>
          </a:solidFill>
          <a:ln>
            <a:noFill/>
          </a:ln>
        </p:spPr>
      </p:sp>
      <p:sp>
        <p:nvSpPr>
          <p:cNvPr id="11" name="Ellipse 11"/>
          <p:cNvSpPr/>
          <p:nvPr/>
        </p:nvSpPr>
        <p:spPr>
          <a:xfrm>
            <a:off x="2438400" y="5695950"/>
            <a:ext cx="76200" cy="76200"/>
          </a:xfrm>
          <a:prstGeom prst="ellipse">
            <a:avLst/>
          </a:prstGeom>
          <a:solidFill>
            <a:srgbClr val="26A7FF"/>
          </a:solidFill>
          <a:ln>
            <a:noFill/>
          </a:ln>
        </p:spPr>
      </p:sp>
      <p:sp>
        <p:nvSpPr>
          <p:cNvPr id="12" name="Line 12"/>
          <p:cNvSpPr/>
          <p:nvPr/>
        </p:nvSpPr>
        <p:spPr>
          <a:xfrm>
            <a:off x="762000" y="0"/>
            <a:ext cx="9525" cy="6858000"/>
          </a:xfrm>
          <a:custGeom>
            <a:avLst/>
            <a:gdLst/>
            <a:ahLst/>
            <a:cxnLst/>
            <a:rect l="l" t="t" r="r" b="b"/>
            <a:pathLst>
              <a:path w="9525" h="6858000">
                <a:moveTo>
                  <a:pt x="0" y="0"/>
                </a:moveTo>
                <a:lnTo>
                  <a:pt x="0" y="6858000"/>
                </a:lnTo>
              </a:path>
            </a:pathLst>
          </a:custGeom>
          <a:noFill/>
          <a:ln w="4762">
            <a:solidFill>
              <a:srgbClr val="D7EAFF">
                <a:alpha val="22000"/>
              </a:srgbClr>
            </a:solidFill>
          </a:ln>
        </p:spPr>
      </p:sp>
      <p:sp>
        <p:nvSpPr>
          <p:cNvPr id="13" name="Line 13"/>
          <p:cNvSpPr/>
          <p:nvPr/>
        </p:nvSpPr>
        <p:spPr>
          <a:xfrm>
            <a:off x="1524000" y="0"/>
            <a:ext cx="9525" cy="6858000"/>
          </a:xfrm>
          <a:custGeom>
            <a:avLst/>
            <a:gdLst/>
            <a:ahLst/>
            <a:cxnLst/>
            <a:rect l="l" t="t" r="r" b="b"/>
            <a:pathLst>
              <a:path w="9525" h="6858000">
                <a:moveTo>
                  <a:pt x="0" y="0"/>
                </a:moveTo>
                <a:lnTo>
                  <a:pt x="0" y="6858000"/>
                </a:lnTo>
              </a:path>
            </a:pathLst>
          </a:custGeom>
          <a:noFill/>
          <a:ln w="4762">
            <a:solidFill>
              <a:srgbClr val="D7EAFF">
                <a:alpha val="22000"/>
              </a:srgbClr>
            </a:solidFill>
          </a:ln>
        </p:spPr>
      </p:sp>
      <p:sp>
        <p:nvSpPr>
          <p:cNvPr id="14" name="Line 14"/>
          <p:cNvSpPr/>
          <p:nvPr/>
        </p:nvSpPr>
        <p:spPr>
          <a:xfrm>
            <a:off x="2286000" y="0"/>
            <a:ext cx="9525" cy="6858000"/>
          </a:xfrm>
          <a:custGeom>
            <a:avLst/>
            <a:gdLst/>
            <a:ahLst/>
            <a:cxnLst/>
            <a:rect l="l" t="t" r="r" b="b"/>
            <a:pathLst>
              <a:path w="9525" h="6858000">
                <a:moveTo>
                  <a:pt x="0" y="0"/>
                </a:moveTo>
                <a:lnTo>
                  <a:pt x="0" y="6858000"/>
                </a:lnTo>
              </a:path>
            </a:pathLst>
          </a:custGeom>
          <a:noFill/>
          <a:ln w="4762">
            <a:solidFill>
              <a:srgbClr val="D7EAFF">
                <a:alpha val="22000"/>
              </a:srgbClr>
            </a:solidFill>
          </a:ln>
        </p:spPr>
      </p:sp>
      <p:sp>
        <p:nvSpPr>
          <p:cNvPr id="15" name="Line 15"/>
          <p:cNvSpPr/>
          <p:nvPr/>
        </p:nvSpPr>
        <p:spPr>
          <a:xfrm>
            <a:off x="3048000" y="0"/>
            <a:ext cx="9525" cy="6858000"/>
          </a:xfrm>
          <a:custGeom>
            <a:avLst/>
            <a:gdLst/>
            <a:ahLst/>
            <a:cxnLst/>
            <a:rect l="l" t="t" r="r" b="b"/>
            <a:pathLst>
              <a:path w="9525" h="6858000">
                <a:moveTo>
                  <a:pt x="0" y="0"/>
                </a:moveTo>
                <a:lnTo>
                  <a:pt x="0" y="6858000"/>
                </a:lnTo>
              </a:path>
            </a:pathLst>
          </a:custGeom>
          <a:noFill/>
          <a:ln w="4762">
            <a:solidFill>
              <a:srgbClr val="D7EAFF">
                <a:alpha val="22000"/>
              </a:srgbClr>
            </a:solidFill>
          </a:ln>
        </p:spPr>
      </p:sp>
      <p:sp>
        <p:nvSpPr>
          <p:cNvPr id="16" name="Line 16"/>
          <p:cNvSpPr/>
          <p:nvPr/>
        </p:nvSpPr>
        <p:spPr>
          <a:xfrm>
            <a:off x="3810000" y="0"/>
            <a:ext cx="9525" cy="6858000"/>
          </a:xfrm>
          <a:custGeom>
            <a:avLst/>
            <a:gdLst/>
            <a:ahLst/>
            <a:cxnLst/>
            <a:rect l="l" t="t" r="r" b="b"/>
            <a:pathLst>
              <a:path w="9525" h="6858000">
                <a:moveTo>
                  <a:pt x="0" y="0"/>
                </a:moveTo>
                <a:lnTo>
                  <a:pt x="0" y="6858000"/>
                </a:lnTo>
              </a:path>
            </a:pathLst>
          </a:custGeom>
          <a:noFill/>
          <a:ln w="4762">
            <a:solidFill>
              <a:srgbClr val="D7EAFF">
                <a:alpha val="22000"/>
              </a:srgbClr>
            </a:solidFill>
          </a:ln>
        </p:spPr>
      </p:sp>
      <p:sp>
        <p:nvSpPr>
          <p:cNvPr id="17" name="Line 17"/>
          <p:cNvSpPr/>
          <p:nvPr/>
        </p:nvSpPr>
        <p:spPr>
          <a:xfrm>
            <a:off x="4572000" y="0"/>
            <a:ext cx="9525" cy="6858000"/>
          </a:xfrm>
          <a:custGeom>
            <a:avLst/>
            <a:gdLst/>
            <a:ahLst/>
            <a:cxnLst/>
            <a:rect l="l" t="t" r="r" b="b"/>
            <a:pathLst>
              <a:path w="9525" h="6858000">
                <a:moveTo>
                  <a:pt x="0" y="0"/>
                </a:moveTo>
                <a:lnTo>
                  <a:pt x="0" y="6858000"/>
                </a:lnTo>
              </a:path>
            </a:pathLst>
          </a:custGeom>
          <a:noFill/>
          <a:ln w="4762">
            <a:solidFill>
              <a:srgbClr val="D7EAFF">
                <a:alpha val="22000"/>
              </a:srgbClr>
            </a:solidFill>
          </a:ln>
        </p:spPr>
      </p:sp>
      <p:sp>
        <p:nvSpPr>
          <p:cNvPr id="18" name="Line 18"/>
          <p:cNvSpPr/>
          <p:nvPr/>
        </p:nvSpPr>
        <p:spPr>
          <a:xfrm>
            <a:off x="5334000" y="0"/>
            <a:ext cx="9525" cy="6858000"/>
          </a:xfrm>
          <a:custGeom>
            <a:avLst/>
            <a:gdLst/>
            <a:ahLst/>
            <a:cxnLst/>
            <a:rect l="l" t="t" r="r" b="b"/>
            <a:pathLst>
              <a:path w="9525" h="6858000">
                <a:moveTo>
                  <a:pt x="0" y="0"/>
                </a:moveTo>
                <a:lnTo>
                  <a:pt x="0" y="6858000"/>
                </a:lnTo>
              </a:path>
            </a:pathLst>
          </a:custGeom>
          <a:noFill/>
          <a:ln w="4762">
            <a:solidFill>
              <a:srgbClr val="D7EAFF">
                <a:alpha val="22000"/>
              </a:srgbClr>
            </a:solidFill>
          </a:ln>
        </p:spPr>
      </p:sp>
      <p:sp>
        <p:nvSpPr>
          <p:cNvPr id="19" name="Line 19"/>
          <p:cNvSpPr/>
          <p:nvPr/>
        </p:nvSpPr>
        <p:spPr>
          <a:xfrm>
            <a:off x="6096000" y="0"/>
            <a:ext cx="9525" cy="6858000"/>
          </a:xfrm>
          <a:custGeom>
            <a:avLst/>
            <a:gdLst/>
            <a:ahLst/>
            <a:cxnLst/>
            <a:rect l="l" t="t" r="r" b="b"/>
            <a:pathLst>
              <a:path w="9525" h="6858000">
                <a:moveTo>
                  <a:pt x="0" y="0"/>
                </a:moveTo>
                <a:lnTo>
                  <a:pt x="0" y="6858000"/>
                </a:lnTo>
              </a:path>
            </a:pathLst>
          </a:custGeom>
          <a:noFill/>
          <a:ln w="4762">
            <a:solidFill>
              <a:srgbClr val="D7EAFF">
                <a:alpha val="22000"/>
              </a:srgbClr>
            </a:solidFill>
          </a:ln>
        </p:spPr>
      </p:sp>
      <p:sp>
        <p:nvSpPr>
          <p:cNvPr id="20" name="Line 20"/>
          <p:cNvSpPr/>
          <p:nvPr/>
        </p:nvSpPr>
        <p:spPr>
          <a:xfrm>
            <a:off x="6858000" y="0"/>
            <a:ext cx="9525" cy="6858000"/>
          </a:xfrm>
          <a:custGeom>
            <a:avLst/>
            <a:gdLst/>
            <a:ahLst/>
            <a:cxnLst/>
            <a:rect l="l" t="t" r="r" b="b"/>
            <a:pathLst>
              <a:path w="9525" h="6858000">
                <a:moveTo>
                  <a:pt x="0" y="0"/>
                </a:moveTo>
                <a:lnTo>
                  <a:pt x="0" y="6858000"/>
                </a:lnTo>
              </a:path>
            </a:pathLst>
          </a:custGeom>
          <a:noFill/>
          <a:ln w="4762">
            <a:solidFill>
              <a:srgbClr val="D7EAFF">
                <a:alpha val="22000"/>
              </a:srgbClr>
            </a:solidFill>
          </a:ln>
        </p:spPr>
      </p:sp>
      <p:sp>
        <p:nvSpPr>
          <p:cNvPr id="21" name="Line 21"/>
          <p:cNvSpPr/>
          <p:nvPr/>
        </p:nvSpPr>
        <p:spPr>
          <a:xfrm>
            <a:off x="7620000" y="0"/>
            <a:ext cx="9525" cy="6858000"/>
          </a:xfrm>
          <a:custGeom>
            <a:avLst/>
            <a:gdLst/>
            <a:ahLst/>
            <a:cxnLst/>
            <a:rect l="l" t="t" r="r" b="b"/>
            <a:pathLst>
              <a:path w="9525" h="6858000">
                <a:moveTo>
                  <a:pt x="0" y="0"/>
                </a:moveTo>
                <a:lnTo>
                  <a:pt x="0" y="6858000"/>
                </a:lnTo>
              </a:path>
            </a:pathLst>
          </a:custGeom>
          <a:noFill/>
          <a:ln w="4762">
            <a:solidFill>
              <a:srgbClr val="D7EAFF">
                <a:alpha val="22000"/>
              </a:srgbClr>
            </a:solidFill>
          </a:ln>
        </p:spPr>
      </p:sp>
      <p:sp>
        <p:nvSpPr>
          <p:cNvPr id="22" name="Line 22"/>
          <p:cNvSpPr/>
          <p:nvPr/>
        </p:nvSpPr>
        <p:spPr>
          <a:xfrm>
            <a:off x="8382000" y="0"/>
            <a:ext cx="9525" cy="6858000"/>
          </a:xfrm>
          <a:custGeom>
            <a:avLst/>
            <a:gdLst/>
            <a:ahLst/>
            <a:cxnLst/>
            <a:rect l="l" t="t" r="r" b="b"/>
            <a:pathLst>
              <a:path w="9525" h="6858000">
                <a:moveTo>
                  <a:pt x="0" y="0"/>
                </a:moveTo>
                <a:lnTo>
                  <a:pt x="0" y="6858000"/>
                </a:lnTo>
              </a:path>
            </a:pathLst>
          </a:custGeom>
          <a:noFill/>
          <a:ln w="4762">
            <a:solidFill>
              <a:srgbClr val="D7EAFF">
                <a:alpha val="22000"/>
              </a:srgbClr>
            </a:solidFill>
          </a:ln>
        </p:spPr>
      </p:sp>
      <p:sp>
        <p:nvSpPr>
          <p:cNvPr id="23" name="Line 23"/>
          <p:cNvSpPr/>
          <p:nvPr/>
        </p:nvSpPr>
        <p:spPr>
          <a:xfrm>
            <a:off x="9144000" y="0"/>
            <a:ext cx="9525" cy="6858000"/>
          </a:xfrm>
          <a:custGeom>
            <a:avLst/>
            <a:gdLst/>
            <a:ahLst/>
            <a:cxnLst/>
            <a:rect l="l" t="t" r="r" b="b"/>
            <a:pathLst>
              <a:path w="9525" h="6858000">
                <a:moveTo>
                  <a:pt x="0" y="0"/>
                </a:moveTo>
                <a:lnTo>
                  <a:pt x="0" y="6858000"/>
                </a:lnTo>
              </a:path>
            </a:pathLst>
          </a:custGeom>
          <a:noFill/>
          <a:ln w="4762">
            <a:solidFill>
              <a:srgbClr val="D7EAFF">
                <a:alpha val="22000"/>
              </a:srgbClr>
            </a:solidFill>
          </a:ln>
        </p:spPr>
      </p:sp>
      <p:sp>
        <p:nvSpPr>
          <p:cNvPr id="24" name="Line 24"/>
          <p:cNvSpPr/>
          <p:nvPr/>
        </p:nvSpPr>
        <p:spPr>
          <a:xfrm>
            <a:off x="9906000" y="0"/>
            <a:ext cx="9525" cy="6858000"/>
          </a:xfrm>
          <a:custGeom>
            <a:avLst/>
            <a:gdLst/>
            <a:ahLst/>
            <a:cxnLst/>
            <a:rect l="l" t="t" r="r" b="b"/>
            <a:pathLst>
              <a:path w="9525" h="6858000">
                <a:moveTo>
                  <a:pt x="0" y="0"/>
                </a:moveTo>
                <a:lnTo>
                  <a:pt x="0" y="6858000"/>
                </a:lnTo>
              </a:path>
            </a:pathLst>
          </a:custGeom>
          <a:noFill/>
          <a:ln w="4762">
            <a:solidFill>
              <a:srgbClr val="D7EAFF">
                <a:alpha val="22000"/>
              </a:srgbClr>
            </a:solidFill>
          </a:ln>
        </p:spPr>
      </p:sp>
      <p:sp>
        <p:nvSpPr>
          <p:cNvPr id="25" name="Line 25"/>
          <p:cNvSpPr/>
          <p:nvPr/>
        </p:nvSpPr>
        <p:spPr>
          <a:xfrm>
            <a:off x="10668000" y="0"/>
            <a:ext cx="9525" cy="6858000"/>
          </a:xfrm>
          <a:custGeom>
            <a:avLst/>
            <a:gdLst/>
            <a:ahLst/>
            <a:cxnLst/>
            <a:rect l="l" t="t" r="r" b="b"/>
            <a:pathLst>
              <a:path w="9525" h="6858000">
                <a:moveTo>
                  <a:pt x="0" y="0"/>
                </a:moveTo>
                <a:lnTo>
                  <a:pt x="0" y="6858000"/>
                </a:lnTo>
              </a:path>
            </a:pathLst>
          </a:custGeom>
          <a:noFill/>
          <a:ln w="4762">
            <a:solidFill>
              <a:srgbClr val="D7EAFF">
                <a:alpha val="22000"/>
              </a:srgbClr>
            </a:solidFill>
          </a:ln>
        </p:spPr>
      </p:sp>
      <p:sp>
        <p:nvSpPr>
          <p:cNvPr id="26" name="Line 26"/>
          <p:cNvSpPr/>
          <p:nvPr/>
        </p:nvSpPr>
        <p:spPr>
          <a:xfrm>
            <a:off x="11430000" y="0"/>
            <a:ext cx="9525" cy="6858000"/>
          </a:xfrm>
          <a:custGeom>
            <a:avLst/>
            <a:gdLst/>
            <a:ahLst/>
            <a:cxnLst/>
            <a:rect l="l" t="t" r="r" b="b"/>
            <a:pathLst>
              <a:path w="9525" h="6858000">
                <a:moveTo>
                  <a:pt x="0" y="0"/>
                </a:moveTo>
                <a:lnTo>
                  <a:pt x="0" y="6858000"/>
                </a:lnTo>
              </a:path>
            </a:pathLst>
          </a:custGeom>
          <a:noFill/>
          <a:ln w="4762">
            <a:solidFill>
              <a:srgbClr val="D7EAFF">
                <a:alpha val="22000"/>
              </a:srgbClr>
            </a:solidFill>
          </a:ln>
        </p:spPr>
      </p:sp>
      <p:sp>
        <p:nvSpPr>
          <p:cNvPr id="27" name="Line 27"/>
          <p:cNvSpPr/>
          <p:nvPr/>
        </p:nvSpPr>
        <p:spPr>
          <a:xfrm>
            <a:off x="0" y="762000"/>
            <a:ext cx="12192000" cy="9525"/>
          </a:xfrm>
          <a:custGeom>
            <a:avLst/>
            <a:gdLst/>
            <a:ahLst/>
            <a:cxnLst/>
            <a:rect l="l" t="t" r="r" b="b"/>
            <a:pathLst>
              <a:path w="12192000" h="9525">
                <a:moveTo>
                  <a:pt x="0" y="0"/>
                </a:moveTo>
                <a:lnTo>
                  <a:pt x="12192000" y="0"/>
                </a:lnTo>
              </a:path>
            </a:pathLst>
          </a:custGeom>
          <a:noFill/>
          <a:ln w="4762">
            <a:solidFill>
              <a:srgbClr val="D7EAFF">
                <a:alpha val="22000"/>
              </a:srgbClr>
            </a:solidFill>
          </a:ln>
        </p:spPr>
      </p:sp>
      <p:sp>
        <p:nvSpPr>
          <p:cNvPr id="28" name="Line 28"/>
          <p:cNvSpPr/>
          <p:nvPr/>
        </p:nvSpPr>
        <p:spPr>
          <a:xfrm>
            <a:off x="0" y="1524000"/>
            <a:ext cx="12192000" cy="9525"/>
          </a:xfrm>
          <a:custGeom>
            <a:avLst/>
            <a:gdLst/>
            <a:ahLst/>
            <a:cxnLst/>
            <a:rect l="l" t="t" r="r" b="b"/>
            <a:pathLst>
              <a:path w="12192000" h="9525">
                <a:moveTo>
                  <a:pt x="0" y="0"/>
                </a:moveTo>
                <a:lnTo>
                  <a:pt x="12192000" y="0"/>
                </a:lnTo>
              </a:path>
            </a:pathLst>
          </a:custGeom>
          <a:noFill/>
          <a:ln w="4762">
            <a:solidFill>
              <a:srgbClr val="D7EAFF">
                <a:alpha val="22000"/>
              </a:srgbClr>
            </a:solidFill>
          </a:ln>
        </p:spPr>
      </p:sp>
      <p:sp>
        <p:nvSpPr>
          <p:cNvPr id="29" name="Line 29"/>
          <p:cNvSpPr/>
          <p:nvPr/>
        </p:nvSpPr>
        <p:spPr>
          <a:xfrm>
            <a:off x="0" y="2286000"/>
            <a:ext cx="12192000" cy="9525"/>
          </a:xfrm>
          <a:custGeom>
            <a:avLst/>
            <a:gdLst/>
            <a:ahLst/>
            <a:cxnLst/>
            <a:rect l="l" t="t" r="r" b="b"/>
            <a:pathLst>
              <a:path w="12192000" h="9525">
                <a:moveTo>
                  <a:pt x="0" y="0"/>
                </a:moveTo>
                <a:lnTo>
                  <a:pt x="12192000" y="0"/>
                </a:lnTo>
              </a:path>
            </a:pathLst>
          </a:custGeom>
          <a:noFill/>
          <a:ln w="4762">
            <a:solidFill>
              <a:srgbClr val="D7EAFF">
                <a:alpha val="22000"/>
              </a:srgbClr>
            </a:solidFill>
          </a:ln>
        </p:spPr>
      </p:sp>
      <p:sp>
        <p:nvSpPr>
          <p:cNvPr id="30" name="Line 30"/>
          <p:cNvSpPr/>
          <p:nvPr/>
        </p:nvSpPr>
        <p:spPr>
          <a:xfrm>
            <a:off x="0" y="3048000"/>
            <a:ext cx="12192000" cy="9525"/>
          </a:xfrm>
          <a:custGeom>
            <a:avLst/>
            <a:gdLst/>
            <a:ahLst/>
            <a:cxnLst/>
            <a:rect l="l" t="t" r="r" b="b"/>
            <a:pathLst>
              <a:path w="12192000" h="9525">
                <a:moveTo>
                  <a:pt x="0" y="0"/>
                </a:moveTo>
                <a:lnTo>
                  <a:pt x="12192000" y="0"/>
                </a:lnTo>
              </a:path>
            </a:pathLst>
          </a:custGeom>
          <a:noFill/>
          <a:ln w="4762">
            <a:solidFill>
              <a:srgbClr val="D7EAFF">
                <a:alpha val="22000"/>
              </a:srgbClr>
            </a:solidFill>
          </a:ln>
        </p:spPr>
      </p:sp>
      <p:sp>
        <p:nvSpPr>
          <p:cNvPr id="31" name="Line 31"/>
          <p:cNvSpPr/>
          <p:nvPr/>
        </p:nvSpPr>
        <p:spPr>
          <a:xfrm>
            <a:off x="0" y="3810000"/>
            <a:ext cx="12192000" cy="9525"/>
          </a:xfrm>
          <a:custGeom>
            <a:avLst/>
            <a:gdLst/>
            <a:ahLst/>
            <a:cxnLst/>
            <a:rect l="l" t="t" r="r" b="b"/>
            <a:pathLst>
              <a:path w="12192000" h="9525">
                <a:moveTo>
                  <a:pt x="0" y="0"/>
                </a:moveTo>
                <a:lnTo>
                  <a:pt x="12192000" y="0"/>
                </a:lnTo>
              </a:path>
            </a:pathLst>
          </a:custGeom>
          <a:noFill/>
          <a:ln w="4762">
            <a:solidFill>
              <a:srgbClr val="D7EAFF">
                <a:alpha val="22000"/>
              </a:srgbClr>
            </a:solidFill>
          </a:ln>
        </p:spPr>
      </p:sp>
      <p:sp>
        <p:nvSpPr>
          <p:cNvPr id="32" name="Line 32"/>
          <p:cNvSpPr/>
          <p:nvPr/>
        </p:nvSpPr>
        <p:spPr>
          <a:xfrm>
            <a:off x="0" y="4572000"/>
            <a:ext cx="12192000" cy="9525"/>
          </a:xfrm>
          <a:custGeom>
            <a:avLst/>
            <a:gdLst/>
            <a:ahLst/>
            <a:cxnLst/>
            <a:rect l="l" t="t" r="r" b="b"/>
            <a:pathLst>
              <a:path w="12192000" h="9525">
                <a:moveTo>
                  <a:pt x="0" y="0"/>
                </a:moveTo>
                <a:lnTo>
                  <a:pt x="12192000" y="0"/>
                </a:lnTo>
              </a:path>
            </a:pathLst>
          </a:custGeom>
          <a:noFill/>
          <a:ln w="4762">
            <a:solidFill>
              <a:srgbClr val="D7EAFF">
                <a:alpha val="22000"/>
              </a:srgbClr>
            </a:solidFill>
          </a:ln>
        </p:spPr>
      </p:sp>
      <p:sp>
        <p:nvSpPr>
          <p:cNvPr id="33" name="Line 33"/>
          <p:cNvSpPr/>
          <p:nvPr/>
        </p:nvSpPr>
        <p:spPr>
          <a:xfrm>
            <a:off x="0" y="5334000"/>
            <a:ext cx="12192000" cy="9525"/>
          </a:xfrm>
          <a:custGeom>
            <a:avLst/>
            <a:gdLst/>
            <a:ahLst/>
            <a:cxnLst/>
            <a:rect l="l" t="t" r="r" b="b"/>
            <a:pathLst>
              <a:path w="12192000" h="9525">
                <a:moveTo>
                  <a:pt x="0" y="0"/>
                </a:moveTo>
                <a:lnTo>
                  <a:pt x="12192000" y="0"/>
                </a:lnTo>
              </a:path>
            </a:pathLst>
          </a:custGeom>
          <a:noFill/>
          <a:ln w="4762">
            <a:solidFill>
              <a:srgbClr val="D7EAFF">
                <a:alpha val="22000"/>
              </a:srgbClr>
            </a:solidFill>
          </a:ln>
        </p:spPr>
      </p:sp>
      <p:sp>
        <p:nvSpPr>
          <p:cNvPr id="34" name="Line 34"/>
          <p:cNvSpPr/>
          <p:nvPr/>
        </p:nvSpPr>
        <p:spPr>
          <a:xfrm>
            <a:off x="0" y="6096000"/>
            <a:ext cx="12192000" cy="9525"/>
          </a:xfrm>
          <a:custGeom>
            <a:avLst/>
            <a:gdLst/>
            <a:ahLst/>
            <a:cxnLst/>
            <a:rect l="l" t="t" r="r" b="b"/>
            <a:pathLst>
              <a:path w="12192000" h="9525">
                <a:moveTo>
                  <a:pt x="0" y="0"/>
                </a:moveTo>
                <a:lnTo>
                  <a:pt x="12192000" y="0"/>
                </a:lnTo>
              </a:path>
            </a:pathLst>
          </a:custGeom>
          <a:noFill/>
          <a:ln w="4762">
            <a:solidFill>
              <a:srgbClr val="D7EAFF">
                <a:alpha val="22000"/>
              </a:srgbClr>
            </a:solidFill>
          </a:ln>
        </p:spPr>
      </p:sp>
      <p:grpSp>
        <p:nvGrpSpPr>
          <p:cNvPr id="99" name="Group 99"/>
          <p:cNvGrpSpPr/>
          <p:nvPr/>
        </p:nvGrpSpPr>
        <p:grpSpPr>
          <a:xfrm>
            <a:off x="0" y="0"/>
            <a:ext cx="12192000" cy="6781800"/>
            <a:chOff x="0" y="0"/>
            <a:chExt cx="12192000" cy="6781800"/>
          </a:xfrm>
        </p:grpSpPr>
        <p:sp>
          <p:nvSpPr>
            <p:cNvPr id="35" name="Rectangle 35"/>
            <p:cNvSpPr/>
            <p:nvPr/>
          </p:nvSpPr>
          <p:spPr>
            <a:xfrm>
              <a:off x="0" y="0"/>
              <a:ext cx="12192000" cy="47625"/>
            </a:xfrm>
            <a:prstGeom prst="rect">
              <a:avLst/>
            </a:prstGeom>
            <a:gradFill>
              <a:gsLst>
                <a:gs pos="0">
                  <a:srgbClr val="0B57D0"/>
                </a:gs>
                <a:gs pos="52000">
                  <a:srgbClr val="26A7FF"/>
                </a:gs>
                <a:gs pos="100000">
                  <a:srgbClr val="00D4FF"/>
                </a:gs>
              </a:gsLst>
              <a:lin ang="0" scaled="1"/>
            </a:gradFill>
            <a:ln>
              <a:noFill/>
            </a:ln>
          </p:spPr>
        </p:sp>
        <p:sp>
          <p:nvSpPr>
            <p:cNvPr id="36" name="TextBox 36"/>
            <p:cNvSpPr txBox="1"/>
            <p:nvPr/>
          </p:nvSpPr>
          <p:spPr>
            <a:xfrm>
              <a:off x="504825" y="233362"/>
              <a:ext cx="3723005" cy="346075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2250" b="1" dirty="0">
                  <a:solidFill>
                    <a:srgbClr val="102033"/>
                  </a:solidFill>
                  <a:latin typeface="MiSans Heavy" panose="00000A00000000000000" charset="-122"/>
                  <a:ea typeface="MiSans Heavy" panose="00000A00000000000000" charset="-122"/>
                  <a:cs typeface="等线" panose="02010600030101010101" charset="-122"/>
                </a:rPr>
                <a:t>产品原型设计：核心界面展示</a:t>
              </a:r>
              <a:endParaRPr lang="zh-CN" sz="2250" b="1" dirty="0">
                <a:solidFill>
                  <a:srgbClr val="102033"/>
                </a:solidFill>
                <a:latin typeface="MiSans Heavy" panose="00000A00000000000000" charset="-122"/>
                <a:ea typeface="MiSans Heavy" panose="00000A00000000000000" charset="-122"/>
                <a:cs typeface="等线" panose="02010600030101010101" charset="-122"/>
              </a:endParaRPr>
            </a:p>
          </p:txBody>
        </p:sp>
        <p:sp>
          <p:nvSpPr>
            <p:cNvPr id="37" name="TextBox 37"/>
            <p:cNvSpPr txBox="1"/>
            <p:nvPr/>
          </p:nvSpPr>
          <p:spPr>
            <a:xfrm>
              <a:off x="521970" y="645795"/>
              <a:ext cx="809625" cy="13843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00" b="1" dirty="0">
                  <a:solidFill>
                    <a:srgbClr val="0B57D0"/>
                  </a:solidFill>
                  <a:latin typeface="金山云技术体" charset="-122"/>
                  <a:ea typeface="金山云技术体" charset="-122"/>
                  <a:cs typeface="等线" panose="02010600030101010101" charset="-122"/>
                </a:rPr>
                <a:t>PROTOTYPE UI</a:t>
              </a:r>
              <a:endParaRPr lang="zh-CN" sz="900" b="1" dirty="0">
                <a:solidFill>
                  <a:srgbClr val="0B57D0"/>
                </a:solidFill>
                <a:latin typeface="金山云技术体" charset="-122"/>
                <a:ea typeface="金山云技术体" charset="-122"/>
                <a:cs typeface="等线" panose="02010600030101010101" charset="-122"/>
              </a:endParaRPr>
            </a:p>
          </p:txBody>
        </p:sp>
        <p:sp>
          <p:nvSpPr>
            <p:cNvPr id="38" name="Line 38"/>
            <p:cNvSpPr/>
            <p:nvPr/>
          </p:nvSpPr>
          <p:spPr>
            <a:xfrm>
              <a:off x="533400" y="876300"/>
              <a:ext cx="11125200" cy="9525"/>
            </a:xfrm>
            <a:custGeom>
              <a:avLst/>
              <a:gdLst/>
              <a:ahLst/>
              <a:cxnLst/>
              <a:rect l="l" t="t" r="r" b="b"/>
              <a:pathLst>
                <a:path w="11125200" h="9525">
                  <a:moveTo>
                    <a:pt x="0" y="0"/>
                  </a:moveTo>
                  <a:lnTo>
                    <a:pt x="11125200" y="0"/>
                  </a:lnTo>
                </a:path>
              </a:pathLst>
            </a:custGeom>
            <a:noFill/>
            <a:ln w="11430">
              <a:solidFill>
                <a:srgbClr val="BFD9F4"/>
              </a:solidFill>
            </a:ln>
          </p:spPr>
        </p:sp>
        <p:sp>
          <p:nvSpPr>
            <p:cNvPr id="39" name="Rectangle 39"/>
            <p:cNvSpPr/>
            <p:nvPr/>
          </p:nvSpPr>
          <p:spPr>
            <a:xfrm>
              <a:off x="533400" y="1028700"/>
              <a:ext cx="95250" cy="95250"/>
            </a:xfrm>
            <a:prstGeom prst="roundRect">
              <a:avLst>
                <a:gd name="adj" fmla="val 50000"/>
              </a:avLst>
            </a:prstGeom>
            <a:solidFill>
              <a:srgbClr val="00D4FF"/>
            </a:solidFill>
            <a:ln>
              <a:noFill/>
            </a:ln>
          </p:spPr>
        </p:sp>
        <p:sp>
          <p:nvSpPr>
            <p:cNvPr id="40" name="TextBox 40"/>
            <p:cNvSpPr txBox="1"/>
            <p:nvPr/>
          </p:nvSpPr>
          <p:spPr>
            <a:xfrm>
              <a:off x="765810" y="1003935"/>
              <a:ext cx="3978910" cy="18415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00" b="1" dirty="0">
                  <a:solidFill>
                    <a:srgbClr val="51677F"/>
                  </a:solidFill>
                  <a:latin typeface="MiSans Normal" panose="00000500000000000000" charset="-122"/>
                  <a:ea typeface="MiSans Normal" panose="00000500000000000000" charset="-122"/>
                  <a:cs typeface="等线" panose="02010600030101010101" charset="-122"/>
                </a:rPr>
                <a:t>原型重点展示记忆、规划、陪伴和复盘如何形成完整闭环。</a:t>
              </a:r>
              <a:endParaRPr lang="zh-CN" sz="1200" b="1" dirty="0">
                <a:solidFill>
                  <a:srgbClr val="51677F"/>
                </a:solidFill>
                <a:latin typeface="MiSans Normal" panose="00000500000000000000" charset="-122"/>
                <a:ea typeface="MiSans Normal" panose="00000500000000000000" charset="-122"/>
                <a:cs typeface="等线" panose="02010600030101010101" charset="-122"/>
              </a:endParaRPr>
            </a:p>
          </p:txBody>
        </p:sp>
        <p:sp>
          <p:nvSpPr>
            <p:cNvPr id="41" name="Rectangle 41"/>
            <p:cNvSpPr/>
            <p:nvPr/>
          </p:nvSpPr>
          <p:spPr>
            <a:xfrm>
              <a:off x="495300" y="1581150"/>
              <a:ext cx="11353800" cy="935990"/>
            </a:xfrm>
            <a:prstGeom prst="roundRect">
              <a:avLst>
                <a:gd name="adj" fmla="val 17949"/>
              </a:avLst>
            </a:prstGeom>
            <a:solidFill>
              <a:srgbClr val="0B57D0">
                <a:alpha val="5000"/>
              </a:srgbClr>
            </a:solidFill>
            <a:ln>
              <a:noFill/>
            </a:ln>
          </p:spPr>
        </p:sp>
        <p:sp>
          <p:nvSpPr>
            <p:cNvPr id="42" name="Rectangle 42"/>
            <p:cNvSpPr/>
            <p:nvPr/>
          </p:nvSpPr>
          <p:spPr>
            <a:xfrm>
              <a:off x="419100" y="1485900"/>
              <a:ext cx="11353800" cy="848995"/>
            </a:xfrm>
            <a:prstGeom prst="roundRect">
              <a:avLst>
                <a:gd name="adj" fmla="val 17949"/>
              </a:avLst>
            </a:prstGeom>
            <a:solidFill>
              <a:srgbClr val="FFFFFF"/>
            </a:solidFill>
            <a:ln w="11430">
              <a:solidFill>
                <a:srgbClr val="BFD9F4"/>
              </a:solidFill>
            </a:ln>
          </p:spPr>
        </p:sp>
        <p:sp>
          <p:nvSpPr>
            <p:cNvPr id="43" name="Line 43"/>
            <p:cNvSpPr/>
            <p:nvPr/>
          </p:nvSpPr>
          <p:spPr>
            <a:xfrm>
              <a:off x="590550" y="1495425"/>
              <a:ext cx="1238250" cy="9525"/>
            </a:xfrm>
            <a:custGeom>
              <a:avLst/>
              <a:gdLst/>
              <a:ahLst/>
              <a:cxnLst/>
              <a:rect l="l" t="t" r="r" b="b"/>
              <a:pathLst>
                <a:path w="1238250" h="9525">
                  <a:moveTo>
                    <a:pt x="0" y="0"/>
                  </a:moveTo>
                  <a:lnTo>
                    <a:pt x="1238250" y="0"/>
                  </a:lnTo>
                </a:path>
              </a:pathLst>
            </a:custGeom>
            <a:noFill/>
            <a:ln w="19050">
              <a:solidFill>
                <a:srgbClr val="26A7FF">
                  <a:alpha val="90000"/>
                </a:srgbClr>
              </a:solidFill>
            </a:ln>
          </p:spPr>
        </p:sp>
        <p:sp>
          <p:nvSpPr>
            <p:cNvPr id="44" name="Rectangle 44"/>
            <p:cNvSpPr/>
            <p:nvPr/>
          </p:nvSpPr>
          <p:spPr>
            <a:xfrm>
              <a:off x="590550" y="1657350"/>
              <a:ext cx="285750" cy="285750"/>
            </a:xfrm>
            <a:prstGeom prst="roundRect">
              <a:avLst>
                <a:gd name="adj" fmla="val 33333"/>
              </a:avLst>
            </a:prstGeom>
            <a:solidFill>
              <a:srgbClr val="E7F2FF"/>
            </a:solidFill>
            <a:ln>
              <a:noFill/>
            </a:ln>
          </p:spPr>
        </p:sp>
        <p:grpSp>
          <p:nvGrpSpPr>
            <p:cNvPr id="48" name="Group 48"/>
            <p:cNvGrpSpPr/>
            <p:nvPr/>
          </p:nvGrpSpPr>
          <p:grpSpPr>
            <a:xfrm>
              <a:off x="661988" y="1728788"/>
              <a:ext cx="142874" cy="142875"/>
              <a:chOff x="661988" y="1728788"/>
              <a:chExt cx="142874" cy="142875"/>
            </a:xfrm>
          </p:grpSpPr>
          <p:sp>
            <p:nvSpPr>
              <p:cNvPr id="45" name="Freeform 45"/>
              <p:cNvSpPr/>
              <p:nvPr/>
            </p:nvSpPr>
            <p:spPr>
              <a:xfrm>
                <a:off x="661988" y="1728788"/>
                <a:ext cx="63500" cy="55563"/>
              </a:xfrm>
              <a:custGeom>
                <a:avLst/>
                <a:gdLst/>
                <a:ahLst/>
                <a:cxnLst/>
                <a:rect l="l" t="t" r="r" b="b"/>
                <a:pathLst>
                  <a:path w="63500" h="55563">
                    <a:moveTo>
                      <a:pt x="39688" y="0"/>
                    </a:moveTo>
                    <a:cubicBezTo>
                      <a:pt x="52839" y="0"/>
                      <a:pt x="63500" y="10661"/>
                      <a:pt x="63500" y="23812"/>
                    </a:cubicBezTo>
                    <a:lnTo>
                      <a:pt x="63500" y="31750"/>
                    </a:lnTo>
                    <a:cubicBezTo>
                      <a:pt x="63500" y="44901"/>
                      <a:pt x="52839" y="55563"/>
                      <a:pt x="39688" y="55563"/>
                    </a:cubicBezTo>
                    <a:lnTo>
                      <a:pt x="23812" y="55563"/>
                    </a:lnTo>
                    <a:cubicBezTo>
                      <a:pt x="10661" y="55563"/>
                      <a:pt x="0" y="44901"/>
                      <a:pt x="0" y="31750"/>
                    </a:cubicBezTo>
                    <a:lnTo>
                      <a:pt x="0" y="23812"/>
                    </a:lnTo>
                    <a:cubicBezTo>
                      <a:pt x="0" y="10661"/>
                      <a:pt x="10661" y="0"/>
                      <a:pt x="23812" y="0"/>
                    </a:cubicBezTo>
                    <a:close/>
                  </a:path>
                </a:pathLst>
              </a:custGeom>
              <a:solidFill>
                <a:srgbClr val="0B57D0"/>
              </a:solidFill>
              <a:ln>
                <a:noFill/>
              </a:ln>
            </p:spPr>
          </p:sp>
          <p:sp>
            <p:nvSpPr>
              <p:cNvPr id="46" name="Freeform 46"/>
              <p:cNvSpPr/>
              <p:nvPr/>
            </p:nvSpPr>
            <p:spPr>
              <a:xfrm>
                <a:off x="661988" y="1800225"/>
                <a:ext cx="63500" cy="71438"/>
              </a:xfrm>
              <a:custGeom>
                <a:avLst/>
                <a:gdLst/>
                <a:ahLst/>
                <a:cxnLst/>
                <a:rect l="l" t="t" r="r" b="b"/>
                <a:pathLst>
                  <a:path w="63500" h="71438">
                    <a:moveTo>
                      <a:pt x="39688" y="0"/>
                    </a:moveTo>
                    <a:cubicBezTo>
                      <a:pt x="52839" y="0"/>
                      <a:pt x="63500" y="10661"/>
                      <a:pt x="63500" y="23812"/>
                    </a:cubicBezTo>
                    <a:lnTo>
                      <a:pt x="63500" y="47625"/>
                    </a:lnTo>
                    <a:cubicBezTo>
                      <a:pt x="63500" y="60776"/>
                      <a:pt x="52839" y="71438"/>
                      <a:pt x="39688" y="71438"/>
                    </a:cubicBezTo>
                    <a:lnTo>
                      <a:pt x="23812" y="71438"/>
                    </a:lnTo>
                    <a:cubicBezTo>
                      <a:pt x="10661" y="71438"/>
                      <a:pt x="0" y="60776"/>
                      <a:pt x="0" y="47625"/>
                    </a:cubicBezTo>
                    <a:lnTo>
                      <a:pt x="0" y="23812"/>
                    </a:lnTo>
                    <a:cubicBezTo>
                      <a:pt x="0" y="10661"/>
                      <a:pt x="10661" y="0"/>
                      <a:pt x="23812" y="0"/>
                    </a:cubicBezTo>
                    <a:close/>
                  </a:path>
                </a:pathLst>
              </a:custGeom>
              <a:solidFill>
                <a:srgbClr val="0B57D0"/>
              </a:solidFill>
              <a:ln>
                <a:noFill/>
              </a:ln>
            </p:spPr>
          </p:sp>
          <p:sp>
            <p:nvSpPr>
              <p:cNvPr id="47" name="Freeform 47"/>
              <p:cNvSpPr/>
              <p:nvPr/>
            </p:nvSpPr>
            <p:spPr>
              <a:xfrm>
                <a:off x="741362" y="1728788"/>
                <a:ext cx="63500" cy="142875"/>
              </a:xfrm>
              <a:custGeom>
                <a:avLst/>
                <a:gdLst/>
                <a:ahLst/>
                <a:cxnLst/>
                <a:rect l="l" t="t" r="r" b="b"/>
                <a:pathLst>
                  <a:path w="63500" h="142875">
                    <a:moveTo>
                      <a:pt x="39688" y="0"/>
                    </a:moveTo>
                    <a:cubicBezTo>
                      <a:pt x="52839" y="0"/>
                      <a:pt x="63500" y="10661"/>
                      <a:pt x="63500" y="23812"/>
                    </a:cubicBezTo>
                    <a:lnTo>
                      <a:pt x="63500" y="119062"/>
                    </a:lnTo>
                    <a:cubicBezTo>
                      <a:pt x="63500" y="132214"/>
                      <a:pt x="52839" y="142875"/>
                      <a:pt x="39688" y="142875"/>
                    </a:cubicBezTo>
                    <a:lnTo>
                      <a:pt x="23812" y="142875"/>
                    </a:lnTo>
                    <a:cubicBezTo>
                      <a:pt x="10661" y="142875"/>
                      <a:pt x="0" y="132214"/>
                      <a:pt x="0" y="119062"/>
                    </a:cubicBezTo>
                    <a:lnTo>
                      <a:pt x="0" y="23812"/>
                    </a:lnTo>
                    <a:cubicBezTo>
                      <a:pt x="0" y="10661"/>
                      <a:pt x="10661" y="0"/>
                      <a:pt x="23812" y="0"/>
                    </a:cubicBezTo>
                    <a:close/>
                  </a:path>
                </a:pathLst>
              </a:custGeom>
              <a:solidFill>
                <a:srgbClr val="0B57D0"/>
              </a:solidFill>
              <a:ln>
                <a:noFill/>
              </a:ln>
            </p:spPr>
          </p:sp>
        </p:grpSp>
        <p:sp>
          <p:nvSpPr>
            <p:cNvPr id="49" name="TextBox 49"/>
            <p:cNvSpPr txBox="1"/>
            <p:nvPr/>
          </p:nvSpPr>
          <p:spPr>
            <a:xfrm>
              <a:off x="953452" y="1697196"/>
              <a:ext cx="1223010" cy="245745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600" b="1" dirty="0">
                  <a:solidFill>
                    <a:srgbClr val="102033"/>
                  </a:solidFill>
                  <a:latin typeface="MiSans Normal" panose="00000500000000000000" charset="-122"/>
                  <a:ea typeface="MiSans Normal" panose="00000500000000000000" charset="-122"/>
                  <a:cs typeface="等线" panose="02010600030101010101" charset="-122"/>
                </a:rPr>
                <a:t>界面风格说明</a:t>
              </a:r>
              <a:endParaRPr lang="zh-CN" sz="1600" b="1" dirty="0">
                <a:solidFill>
                  <a:srgbClr val="102033"/>
                </a:solidFill>
                <a:latin typeface="MiSans Normal" panose="00000500000000000000" charset="-122"/>
                <a:ea typeface="MiSans Normal" panose="00000500000000000000" charset="-122"/>
                <a:cs typeface="等线" panose="02010600030101010101" charset="-122"/>
              </a:endParaRPr>
            </a:p>
          </p:txBody>
        </p:sp>
        <p:sp>
          <p:nvSpPr>
            <p:cNvPr id="50" name="TextBox 50"/>
            <p:cNvSpPr txBox="1"/>
            <p:nvPr/>
          </p:nvSpPr>
          <p:spPr>
            <a:xfrm>
              <a:off x="633412" y="2050256"/>
              <a:ext cx="5596890" cy="173355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125" dirty="0">
                  <a:solidFill>
                    <a:srgbClr val="51677F"/>
                  </a:solidFill>
                  <a:latin typeface="MiSans Normal" panose="00000500000000000000" charset="-122"/>
                  <a:ea typeface="MiSans Normal" panose="00000500000000000000" charset="-122"/>
                  <a:cs typeface="等线" panose="02010600030101010101" charset="-122"/>
                </a:rPr>
                <a:t>整体采用蓝白清爽、圆角轻卡片和移动端优先的设计语言，蓝小心始终作为主交互对象。</a:t>
              </a:r>
              <a:endParaRPr lang="zh-CN" sz="1125" dirty="0">
                <a:solidFill>
                  <a:srgbClr val="51677F"/>
                </a:solidFill>
                <a:latin typeface="MiSans Normal" panose="00000500000000000000" charset="-122"/>
                <a:ea typeface="MiSans Normal" panose="00000500000000000000" charset="-122"/>
                <a:cs typeface="等线" panose="02010600030101010101" charset="-122"/>
              </a:endParaRPr>
            </a:p>
          </p:txBody>
        </p:sp>
        <p:sp>
          <p:nvSpPr>
            <p:cNvPr id="51" name="Rectangle 51"/>
            <p:cNvSpPr/>
            <p:nvPr/>
          </p:nvSpPr>
          <p:spPr>
            <a:xfrm>
              <a:off x="781050" y="2686050"/>
              <a:ext cx="1809750" cy="2895600"/>
            </a:xfrm>
            <a:prstGeom prst="roundRect">
              <a:avLst>
                <a:gd name="adj" fmla="val 13684"/>
              </a:avLst>
            </a:prstGeom>
            <a:solidFill>
              <a:srgbClr val="082044"/>
            </a:solidFill>
            <a:ln>
              <a:noFill/>
            </a:ln>
          </p:spPr>
        </p:sp>
        <p:sp>
          <p:nvSpPr>
            <p:cNvPr id="52" name="Rectangle 52"/>
            <p:cNvSpPr/>
            <p:nvPr/>
          </p:nvSpPr>
          <p:spPr>
            <a:xfrm>
              <a:off x="857250" y="2762250"/>
              <a:ext cx="1657350" cy="2743200"/>
            </a:xfrm>
            <a:prstGeom prst="roundRect">
              <a:avLst>
                <a:gd name="adj" fmla="val 12069"/>
              </a:avLst>
            </a:prstGeom>
            <a:solidFill>
              <a:srgbClr val="FFFFFF"/>
            </a:solidFill>
            <a:ln>
              <a:noFill/>
            </a:ln>
          </p:spPr>
        </p:sp>
        <p:sp>
          <p:nvSpPr>
            <p:cNvPr id="53" name="Rectangle 53"/>
            <p:cNvSpPr/>
            <p:nvPr/>
          </p:nvSpPr>
          <p:spPr>
            <a:xfrm>
              <a:off x="990600" y="2914650"/>
              <a:ext cx="1390650" cy="285750"/>
            </a:xfrm>
            <a:prstGeom prst="roundRect">
              <a:avLst>
                <a:gd name="adj" fmla="val 40000"/>
              </a:avLst>
            </a:prstGeom>
            <a:solidFill>
              <a:srgbClr val="0B57D0"/>
            </a:solidFill>
            <a:ln>
              <a:noFill/>
            </a:ln>
          </p:spPr>
        </p:sp>
        <p:sp>
          <p:nvSpPr>
            <p:cNvPr id="54" name="TextBox 54"/>
            <p:cNvSpPr txBox="1"/>
            <p:nvPr/>
          </p:nvSpPr>
          <p:spPr>
            <a:xfrm>
              <a:off x="1300163" y="2975769"/>
              <a:ext cx="765175" cy="18415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00" b="1" dirty="0">
                  <a:solidFill>
                    <a:srgbClr val="FFFFFF"/>
                  </a:solidFill>
                  <a:latin typeface="MiSans Normal" panose="00000500000000000000" charset="-122"/>
                  <a:ea typeface="MiSans Normal" panose="00000500000000000000" charset="-122"/>
                  <a:cs typeface="等线" panose="02010600030101010101" charset="-122"/>
                </a:rPr>
                <a:t>蓝小心空间</a:t>
              </a:r>
              <a:endParaRPr lang="zh-CN" sz="1200" b="1" dirty="0">
                <a:solidFill>
                  <a:srgbClr val="FFFFFF"/>
                </a:solidFill>
                <a:latin typeface="MiSans Normal" panose="00000500000000000000" charset="-122"/>
                <a:ea typeface="MiSans Normal" panose="00000500000000000000" charset="-122"/>
                <a:cs typeface="等线" panose="02010600030101010101" charset="-122"/>
              </a:endParaRPr>
            </a:p>
          </p:txBody>
        </p:sp>
        <p:sp>
          <p:nvSpPr>
            <p:cNvPr id="55" name="Rectangle 55"/>
            <p:cNvSpPr/>
            <p:nvPr/>
          </p:nvSpPr>
          <p:spPr>
            <a:xfrm>
              <a:off x="1009650" y="3429000"/>
              <a:ext cx="1352550" cy="1390650"/>
            </a:xfrm>
            <a:prstGeom prst="roundRect">
              <a:avLst>
                <a:gd name="adj" fmla="val 9859"/>
              </a:avLst>
            </a:prstGeom>
            <a:solidFill>
              <a:srgbClr val="F8FCFF"/>
            </a:solidFill>
            <a:ln w="9525">
              <a:solidFill>
                <a:srgbClr val="C9E4FF"/>
              </a:solidFill>
              <a:custDash>
                <a:ds d="500000" sp="500000"/>
              </a:custDash>
            </a:ln>
          </p:spPr>
        </p:sp>
        <p:sp>
          <p:nvSpPr>
            <p:cNvPr id="56" name="TextBox 56"/>
            <p:cNvSpPr txBox="1"/>
            <p:nvPr/>
          </p:nvSpPr>
          <p:spPr>
            <a:xfrm>
              <a:off x="1622427" y="3830002"/>
              <a:ext cx="127000" cy="1612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endParaRPr lang="zh-CN" sz="1050" b="1" dirty="0">
                <a:solidFill>
                  <a:srgbClr val="0B57D0"/>
                </a:solidFill>
                <a:latin typeface="等线" panose="02010600030101010101" charset="-122"/>
                <a:ea typeface="微软雅黑" panose="020B0503020204020204" charset="-122"/>
                <a:cs typeface="等线" panose="02010600030101010101" charset="-122"/>
              </a:endParaRPr>
            </a:p>
          </p:txBody>
        </p:sp>
        <p:sp>
          <p:nvSpPr>
            <p:cNvPr id="57" name="TextBox 57"/>
            <p:cNvSpPr txBox="1"/>
            <p:nvPr/>
          </p:nvSpPr>
          <p:spPr>
            <a:xfrm>
              <a:off x="1017270" y="4893945"/>
              <a:ext cx="127000" cy="13843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endParaRPr lang="zh-CN" sz="900" dirty="0">
                <a:solidFill>
                  <a:srgbClr val="51677F"/>
                </a:solidFill>
                <a:latin typeface="等线" panose="02010600030101010101" charset="-122"/>
                <a:ea typeface="微软雅黑" panose="020B0503020204020204" charset="-122"/>
                <a:cs typeface="等线" panose="02010600030101010101" charset="-122"/>
              </a:endParaRPr>
            </a:p>
          </p:txBody>
        </p:sp>
        <p:sp>
          <p:nvSpPr>
            <p:cNvPr id="58" name="TextBox 58"/>
            <p:cNvSpPr txBox="1"/>
            <p:nvPr/>
          </p:nvSpPr>
          <p:spPr>
            <a:xfrm>
              <a:off x="1017270" y="5065395"/>
              <a:ext cx="127000" cy="13843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endParaRPr lang="zh-CN" sz="900" dirty="0">
                <a:solidFill>
                  <a:srgbClr val="51677F"/>
                </a:solidFill>
                <a:latin typeface="等线" panose="02010600030101010101" charset="-122"/>
                <a:ea typeface="微软雅黑" panose="020B0503020204020204" charset="-122"/>
                <a:cs typeface="等线" panose="02010600030101010101" charset="-122"/>
              </a:endParaRPr>
            </a:p>
          </p:txBody>
        </p:sp>
        <p:sp>
          <p:nvSpPr>
            <p:cNvPr id="59" name="Rectangle 59"/>
            <p:cNvSpPr/>
            <p:nvPr/>
          </p:nvSpPr>
          <p:spPr>
            <a:xfrm>
              <a:off x="2952750" y="2686050"/>
              <a:ext cx="1809750" cy="2895600"/>
            </a:xfrm>
            <a:prstGeom prst="roundRect">
              <a:avLst>
                <a:gd name="adj" fmla="val 13684"/>
              </a:avLst>
            </a:prstGeom>
            <a:solidFill>
              <a:srgbClr val="082044"/>
            </a:solidFill>
            <a:ln>
              <a:noFill/>
            </a:ln>
          </p:spPr>
        </p:sp>
        <p:sp>
          <p:nvSpPr>
            <p:cNvPr id="60" name="Rectangle 60"/>
            <p:cNvSpPr/>
            <p:nvPr/>
          </p:nvSpPr>
          <p:spPr>
            <a:xfrm>
              <a:off x="3028950" y="2762250"/>
              <a:ext cx="1657350" cy="2743200"/>
            </a:xfrm>
            <a:prstGeom prst="roundRect">
              <a:avLst>
                <a:gd name="adj" fmla="val 12069"/>
              </a:avLst>
            </a:prstGeom>
            <a:solidFill>
              <a:srgbClr val="FFFFFF"/>
            </a:solidFill>
            <a:ln>
              <a:noFill/>
            </a:ln>
          </p:spPr>
        </p:sp>
        <p:sp>
          <p:nvSpPr>
            <p:cNvPr id="61" name="Rectangle 61"/>
            <p:cNvSpPr/>
            <p:nvPr/>
          </p:nvSpPr>
          <p:spPr>
            <a:xfrm>
              <a:off x="3162300" y="2914650"/>
              <a:ext cx="1390650" cy="285750"/>
            </a:xfrm>
            <a:prstGeom prst="roundRect">
              <a:avLst>
                <a:gd name="adj" fmla="val 40000"/>
              </a:avLst>
            </a:prstGeom>
            <a:solidFill>
              <a:srgbClr val="26A7FF"/>
            </a:solidFill>
            <a:ln>
              <a:noFill/>
            </a:ln>
          </p:spPr>
        </p:sp>
        <p:sp>
          <p:nvSpPr>
            <p:cNvPr id="62" name="TextBox 62"/>
            <p:cNvSpPr txBox="1"/>
            <p:nvPr/>
          </p:nvSpPr>
          <p:spPr>
            <a:xfrm>
              <a:off x="3551238" y="2975769"/>
              <a:ext cx="612140" cy="18415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00" b="1" dirty="0">
                  <a:solidFill>
                    <a:srgbClr val="FFFFFF"/>
                  </a:solidFill>
                  <a:latin typeface="MiSans Normal" panose="00000500000000000000" charset="-122"/>
                  <a:ea typeface="MiSans Normal" panose="00000500000000000000" charset="-122"/>
                  <a:cs typeface="等线" panose="02010600030101010101" charset="-122"/>
                </a:rPr>
                <a:t>记忆列表</a:t>
              </a:r>
              <a:endParaRPr lang="zh-CN" sz="1200" b="1" dirty="0">
                <a:solidFill>
                  <a:srgbClr val="FFFFFF"/>
                </a:solidFill>
                <a:latin typeface="MiSans Normal" panose="00000500000000000000" charset="-122"/>
                <a:ea typeface="MiSans Normal" panose="00000500000000000000" charset="-122"/>
                <a:cs typeface="等线" panose="02010600030101010101" charset="-122"/>
              </a:endParaRPr>
            </a:p>
          </p:txBody>
        </p:sp>
        <p:sp>
          <p:nvSpPr>
            <p:cNvPr id="63" name="Rectangle 63"/>
            <p:cNvSpPr/>
            <p:nvPr/>
          </p:nvSpPr>
          <p:spPr>
            <a:xfrm>
              <a:off x="3181350" y="3429000"/>
              <a:ext cx="1352550" cy="1390650"/>
            </a:xfrm>
            <a:prstGeom prst="roundRect">
              <a:avLst>
                <a:gd name="adj" fmla="val 9859"/>
              </a:avLst>
            </a:prstGeom>
            <a:solidFill>
              <a:srgbClr val="F8FCFF"/>
            </a:solidFill>
            <a:ln w="9525">
              <a:solidFill>
                <a:srgbClr val="C9E4FF"/>
              </a:solidFill>
              <a:custDash>
                <a:ds d="500000" sp="500000"/>
              </a:custDash>
            </a:ln>
          </p:spPr>
        </p:sp>
        <p:sp>
          <p:nvSpPr>
            <p:cNvPr id="64" name="TextBox 64"/>
            <p:cNvSpPr txBox="1"/>
            <p:nvPr/>
          </p:nvSpPr>
          <p:spPr>
            <a:xfrm>
              <a:off x="3794126" y="3830002"/>
              <a:ext cx="127000" cy="1612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endParaRPr lang="zh-CN" sz="1050" b="1" dirty="0">
                <a:solidFill>
                  <a:srgbClr val="0B57D0"/>
                </a:solidFill>
                <a:latin typeface="等线" panose="02010600030101010101" charset="-122"/>
                <a:ea typeface="微软雅黑" panose="020B0503020204020204" charset="-122"/>
                <a:cs typeface="等线" panose="02010600030101010101" charset="-122"/>
              </a:endParaRPr>
            </a:p>
          </p:txBody>
        </p:sp>
        <p:sp>
          <p:nvSpPr>
            <p:cNvPr id="67" name="Rectangle 67"/>
            <p:cNvSpPr/>
            <p:nvPr/>
          </p:nvSpPr>
          <p:spPr>
            <a:xfrm>
              <a:off x="5124450" y="2686050"/>
              <a:ext cx="1809750" cy="2895600"/>
            </a:xfrm>
            <a:prstGeom prst="roundRect">
              <a:avLst>
                <a:gd name="adj" fmla="val 13684"/>
              </a:avLst>
            </a:prstGeom>
            <a:solidFill>
              <a:srgbClr val="082044"/>
            </a:solidFill>
            <a:ln>
              <a:noFill/>
            </a:ln>
          </p:spPr>
        </p:sp>
        <p:sp>
          <p:nvSpPr>
            <p:cNvPr id="68" name="Rectangle 68"/>
            <p:cNvSpPr/>
            <p:nvPr/>
          </p:nvSpPr>
          <p:spPr>
            <a:xfrm>
              <a:off x="5200650" y="2762250"/>
              <a:ext cx="1657350" cy="2743200"/>
            </a:xfrm>
            <a:prstGeom prst="roundRect">
              <a:avLst>
                <a:gd name="adj" fmla="val 12069"/>
              </a:avLst>
            </a:prstGeom>
            <a:solidFill>
              <a:srgbClr val="FFFFFF"/>
            </a:solidFill>
            <a:ln>
              <a:noFill/>
            </a:ln>
          </p:spPr>
        </p:sp>
        <p:sp>
          <p:nvSpPr>
            <p:cNvPr id="69" name="Rectangle 69"/>
            <p:cNvSpPr/>
            <p:nvPr/>
          </p:nvSpPr>
          <p:spPr>
            <a:xfrm>
              <a:off x="5334000" y="2914650"/>
              <a:ext cx="1390650" cy="285750"/>
            </a:xfrm>
            <a:prstGeom prst="roundRect">
              <a:avLst>
                <a:gd name="adj" fmla="val 40000"/>
              </a:avLst>
            </a:prstGeom>
            <a:solidFill>
              <a:srgbClr val="00D4FF"/>
            </a:solidFill>
            <a:ln>
              <a:noFill/>
            </a:ln>
          </p:spPr>
        </p:sp>
        <p:sp>
          <p:nvSpPr>
            <p:cNvPr id="70" name="TextBox 70"/>
            <p:cNvSpPr txBox="1"/>
            <p:nvPr/>
          </p:nvSpPr>
          <p:spPr>
            <a:xfrm>
              <a:off x="5646103" y="2975769"/>
              <a:ext cx="765175" cy="18415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00" b="1" dirty="0">
                  <a:solidFill>
                    <a:srgbClr val="FFFFFF"/>
                  </a:solidFill>
                  <a:latin typeface="MiSans Normal" panose="00000500000000000000" charset="-122"/>
                  <a:ea typeface="MiSans Normal" panose="00000500000000000000" charset="-122"/>
                  <a:cs typeface="等线" panose="02010600030101010101" charset="-122"/>
                </a:rPr>
                <a:t>重庆两日游</a:t>
              </a:r>
              <a:endParaRPr lang="zh-CN" sz="1200" b="1" dirty="0">
                <a:solidFill>
                  <a:srgbClr val="FFFFFF"/>
                </a:solidFill>
                <a:latin typeface="MiSans Normal" panose="00000500000000000000" charset="-122"/>
                <a:ea typeface="MiSans Normal" panose="00000500000000000000" charset="-122"/>
                <a:cs typeface="等线" panose="02010600030101010101" charset="-122"/>
              </a:endParaRPr>
            </a:p>
          </p:txBody>
        </p:sp>
        <p:sp>
          <p:nvSpPr>
            <p:cNvPr id="71" name="Rectangle 71"/>
            <p:cNvSpPr/>
            <p:nvPr/>
          </p:nvSpPr>
          <p:spPr>
            <a:xfrm>
              <a:off x="5353050" y="3429000"/>
              <a:ext cx="1352550" cy="1390650"/>
            </a:xfrm>
            <a:prstGeom prst="roundRect">
              <a:avLst>
                <a:gd name="adj" fmla="val 9859"/>
              </a:avLst>
            </a:prstGeom>
            <a:solidFill>
              <a:srgbClr val="F8FCFF"/>
            </a:solidFill>
            <a:ln w="9525">
              <a:solidFill>
                <a:srgbClr val="C9E4FF"/>
              </a:solidFill>
              <a:custDash>
                <a:ds d="500000" sp="500000"/>
              </a:custDash>
            </a:ln>
          </p:spPr>
        </p:sp>
        <p:sp>
          <p:nvSpPr>
            <p:cNvPr id="72" name="TextBox 72"/>
            <p:cNvSpPr txBox="1"/>
            <p:nvPr/>
          </p:nvSpPr>
          <p:spPr>
            <a:xfrm>
              <a:off x="5965827" y="3830002"/>
              <a:ext cx="127000" cy="1612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endParaRPr lang="zh-CN" sz="1050" b="1" dirty="0">
                <a:solidFill>
                  <a:srgbClr val="0B57D0"/>
                </a:solidFill>
                <a:latin typeface="等线" panose="02010600030101010101" charset="-122"/>
                <a:ea typeface="微软雅黑" panose="020B0503020204020204" charset="-122"/>
                <a:cs typeface="等线" panose="02010600030101010101" charset="-122"/>
              </a:endParaRPr>
            </a:p>
          </p:txBody>
        </p:sp>
        <p:sp>
          <p:nvSpPr>
            <p:cNvPr id="75" name="Rectangle 75"/>
            <p:cNvSpPr/>
            <p:nvPr/>
          </p:nvSpPr>
          <p:spPr>
            <a:xfrm>
              <a:off x="7296150" y="2686050"/>
              <a:ext cx="1809750" cy="2895600"/>
            </a:xfrm>
            <a:prstGeom prst="roundRect">
              <a:avLst>
                <a:gd name="adj" fmla="val 13684"/>
              </a:avLst>
            </a:prstGeom>
            <a:solidFill>
              <a:srgbClr val="082044"/>
            </a:solidFill>
            <a:ln>
              <a:noFill/>
            </a:ln>
          </p:spPr>
        </p:sp>
        <p:sp>
          <p:nvSpPr>
            <p:cNvPr id="76" name="Rectangle 76"/>
            <p:cNvSpPr/>
            <p:nvPr/>
          </p:nvSpPr>
          <p:spPr>
            <a:xfrm>
              <a:off x="7372350" y="2762250"/>
              <a:ext cx="1657350" cy="2743200"/>
            </a:xfrm>
            <a:prstGeom prst="roundRect">
              <a:avLst>
                <a:gd name="adj" fmla="val 12069"/>
              </a:avLst>
            </a:prstGeom>
            <a:solidFill>
              <a:srgbClr val="FFFFFF"/>
            </a:solidFill>
            <a:ln>
              <a:noFill/>
            </a:ln>
          </p:spPr>
        </p:sp>
        <p:sp>
          <p:nvSpPr>
            <p:cNvPr id="77" name="Rectangle 77"/>
            <p:cNvSpPr/>
            <p:nvPr/>
          </p:nvSpPr>
          <p:spPr>
            <a:xfrm>
              <a:off x="7505700" y="2914650"/>
              <a:ext cx="1390650" cy="285750"/>
            </a:xfrm>
            <a:prstGeom prst="roundRect">
              <a:avLst>
                <a:gd name="adj" fmla="val 40000"/>
              </a:avLst>
            </a:prstGeom>
            <a:solidFill>
              <a:srgbClr val="0B57D0"/>
            </a:solidFill>
            <a:ln>
              <a:noFill/>
            </a:ln>
          </p:spPr>
        </p:sp>
        <p:sp>
          <p:nvSpPr>
            <p:cNvPr id="78" name="TextBox 78"/>
            <p:cNvSpPr txBox="1"/>
            <p:nvPr/>
          </p:nvSpPr>
          <p:spPr>
            <a:xfrm>
              <a:off x="7894638" y="2975769"/>
              <a:ext cx="612140" cy="18415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00" b="1" dirty="0">
                  <a:solidFill>
                    <a:srgbClr val="FFFFFF"/>
                  </a:solidFill>
                  <a:latin typeface="MiSans Normal" panose="00000500000000000000" charset="-122"/>
                  <a:ea typeface="MiSans Normal" panose="00000500000000000000" charset="-122"/>
                  <a:cs typeface="等线" panose="02010600030101010101" charset="-122"/>
                </a:rPr>
                <a:t>主动提醒</a:t>
              </a:r>
              <a:endParaRPr lang="zh-CN" sz="1200" b="1" dirty="0">
                <a:solidFill>
                  <a:srgbClr val="FFFFFF"/>
                </a:solidFill>
                <a:latin typeface="MiSans Normal" panose="00000500000000000000" charset="-122"/>
                <a:ea typeface="MiSans Normal" panose="00000500000000000000" charset="-122"/>
                <a:cs typeface="等线" panose="02010600030101010101" charset="-122"/>
              </a:endParaRPr>
            </a:p>
          </p:txBody>
        </p:sp>
        <p:sp>
          <p:nvSpPr>
            <p:cNvPr id="79" name="Rectangle 79"/>
            <p:cNvSpPr/>
            <p:nvPr/>
          </p:nvSpPr>
          <p:spPr>
            <a:xfrm>
              <a:off x="7524750" y="3429000"/>
              <a:ext cx="1352550" cy="1390650"/>
            </a:xfrm>
            <a:prstGeom prst="roundRect">
              <a:avLst>
                <a:gd name="adj" fmla="val 9859"/>
              </a:avLst>
            </a:prstGeom>
            <a:solidFill>
              <a:srgbClr val="F8FCFF"/>
            </a:solidFill>
            <a:ln w="9525">
              <a:solidFill>
                <a:srgbClr val="C9E4FF"/>
              </a:solidFill>
              <a:custDash>
                <a:ds d="500000" sp="500000"/>
              </a:custDash>
            </a:ln>
          </p:spPr>
        </p:sp>
        <p:sp>
          <p:nvSpPr>
            <p:cNvPr id="80" name="TextBox 80"/>
            <p:cNvSpPr txBox="1"/>
            <p:nvPr/>
          </p:nvSpPr>
          <p:spPr>
            <a:xfrm>
              <a:off x="8137527" y="3830002"/>
              <a:ext cx="127000" cy="1612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endParaRPr lang="zh-CN" sz="1050" b="1" dirty="0">
                <a:solidFill>
                  <a:srgbClr val="0B57D0"/>
                </a:solidFill>
                <a:latin typeface="等线" panose="02010600030101010101" charset="-122"/>
                <a:ea typeface="微软雅黑" panose="020B0503020204020204" charset="-122"/>
                <a:cs typeface="等线" panose="02010600030101010101" charset="-122"/>
              </a:endParaRPr>
            </a:p>
          </p:txBody>
        </p:sp>
        <p:sp>
          <p:nvSpPr>
            <p:cNvPr id="81" name="TextBox 81"/>
            <p:cNvSpPr txBox="1"/>
            <p:nvPr/>
          </p:nvSpPr>
          <p:spPr>
            <a:xfrm>
              <a:off x="7532370" y="4893945"/>
              <a:ext cx="127000" cy="13843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endParaRPr lang="zh-CN" sz="900" dirty="0">
                <a:solidFill>
                  <a:srgbClr val="51677F"/>
                </a:solidFill>
                <a:latin typeface="等线" panose="02010600030101010101" charset="-122"/>
                <a:ea typeface="微软雅黑" panose="020B0503020204020204" charset="-122"/>
                <a:cs typeface="等线" panose="02010600030101010101" charset="-122"/>
              </a:endParaRPr>
            </a:p>
          </p:txBody>
        </p:sp>
        <p:sp>
          <p:nvSpPr>
            <p:cNvPr id="83" name="Rectangle 83"/>
            <p:cNvSpPr/>
            <p:nvPr/>
          </p:nvSpPr>
          <p:spPr>
            <a:xfrm>
              <a:off x="9467850" y="2686050"/>
              <a:ext cx="1809750" cy="2895600"/>
            </a:xfrm>
            <a:prstGeom prst="roundRect">
              <a:avLst>
                <a:gd name="adj" fmla="val 13684"/>
              </a:avLst>
            </a:prstGeom>
            <a:solidFill>
              <a:srgbClr val="082044"/>
            </a:solidFill>
            <a:ln>
              <a:noFill/>
            </a:ln>
          </p:spPr>
        </p:sp>
        <p:sp>
          <p:nvSpPr>
            <p:cNvPr id="84" name="Rectangle 84"/>
            <p:cNvSpPr/>
            <p:nvPr/>
          </p:nvSpPr>
          <p:spPr>
            <a:xfrm>
              <a:off x="9544050" y="2762250"/>
              <a:ext cx="1657350" cy="2743200"/>
            </a:xfrm>
            <a:prstGeom prst="roundRect">
              <a:avLst>
                <a:gd name="adj" fmla="val 12069"/>
              </a:avLst>
            </a:prstGeom>
            <a:solidFill>
              <a:srgbClr val="FFFFFF"/>
            </a:solidFill>
            <a:ln>
              <a:noFill/>
            </a:ln>
          </p:spPr>
        </p:sp>
        <p:sp>
          <p:nvSpPr>
            <p:cNvPr id="85" name="Rectangle 85"/>
            <p:cNvSpPr/>
            <p:nvPr/>
          </p:nvSpPr>
          <p:spPr>
            <a:xfrm>
              <a:off x="9677400" y="2914650"/>
              <a:ext cx="1390650" cy="285750"/>
            </a:xfrm>
            <a:prstGeom prst="roundRect">
              <a:avLst>
                <a:gd name="adj" fmla="val 40000"/>
              </a:avLst>
            </a:prstGeom>
            <a:solidFill>
              <a:srgbClr val="26A7FF"/>
            </a:solidFill>
            <a:ln>
              <a:noFill/>
            </a:ln>
          </p:spPr>
        </p:sp>
        <p:sp>
          <p:nvSpPr>
            <p:cNvPr id="86" name="TextBox 86"/>
            <p:cNvSpPr txBox="1"/>
            <p:nvPr/>
          </p:nvSpPr>
          <p:spPr>
            <a:xfrm>
              <a:off x="10093643" y="2975769"/>
              <a:ext cx="612140" cy="18415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00" b="1" dirty="0">
                  <a:solidFill>
                    <a:srgbClr val="FFFFFF"/>
                  </a:solidFill>
                  <a:latin typeface="MiSans Normal" panose="00000500000000000000" charset="-122"/>
                  <a:ea typeface="MiSans Normal" panose="00000500000000000000" charset="-122"/>
                  <a:cs typeface="等线" panose="02010600030101010101" charset="-122"/>
                </a:rPr>
                <a:t>旅行复盘</a:t>
              </a:r>
              <a:endParaRPr lang="zh-CN" sz="1200" b="1" dirty="0">
                <a:solidFill>
                  <a:srgbClr val="FFFFFF"/>
                </a:solidFill>
                <a:latin typeface="MiSans Normal" panose="00000500000000000000" charset="-122"/>
                <a:ea typeface="MiSans Normal" panose="00000500000000000000" charset="-122"/>
                <a:cs typeface="等线" panose="02010600030101010101" charset="-122"/>
              </a:endParaRPr>
            </a:p>
          </p:txBody>
        </p:sp>
        <p:sp>
          <p:nvSpPr>
            <p:cNvPr id="87" name="Rectangle 87"/>
            <p:cNvSpPr/>
            <p:nvPr/>
          </p:nvSpPr>
          <p:spPr>
            <a:xfrm>
              <a:off x="9696450" y="3429000"/>
              <a:ext cx="1352550" cy="1390650"/>
            </a:xfrm>
            <a:prstGeom prst="roundRect">
              <a:avLst>
                <a:gd name="adj" fmla="val 9859"/>
              </a:avLst>
            </a:prstGeom>
            <a:solidFill>
              <a:srgbClr val="F8FCFF"/>
            </a:solidFill>
            <a:ln w="9525">
              <a:solidFill>
                <a:srgbClr val="C9E4FF"/>
              </a:solidFill>
              <a:custDash>
                <a:ds d="500000" sp="500000"/>
              </a:custDash>
            </a:ln>
          </p:spPr>
        </p:sp>
        <p:sp>
          <p:nvSpPr>
            <p:cNvPr id="88" name="TextBox 88"/>
            <p:cNvSpPr txBox="1"/>
            <p:nvPr/>
          </p:nvSpPr>
          <p:spPr>
            <a:xfrm>
              <a:off x="10309227" y="3830002"/>
              <a:ext cx="127000" cy="1612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endParaRPr lang="zh-CN" sz="1050" b="1" dirty="0">
                <a:solidFill>
                  <a:srgbClr val="0B57D0"/>
                </a:solidFill>
                <a:latin typeface="等线" panose="02010600030101010101" charset="-122"/>
                <a:ea typeface="微软雅黑" panose="020B0503020204020204" charset="-122"/>
                <a:cs typeface="等线" panose="02010600030101010101" charset="-122"/>
              </a:endParaRPr>
            </a:p>
          </p:txBody>
        </p:sp>
        <p:sp>
          <p:nvSpPr>
            <p:cNvPr id="91" name="Rectangle 91"/>
            <p:cNvSpPr/>
            <p:nvPr/>
          </p:nvSpPr>
          <p:spPr>
            <a:xfrm>
              <a:off x="762000" y="5905500"/>
              <a:ext cx="10020300" cy="514350"/>
            </a:xfrm>
            <a:prstGeom prst="roundRect">
              <a:avLst>
                <a:gd name="adj" fmla="val 29630"/>
              </a:avLst>
            </a:prstGeom>
            <a:solidFill>
              <a:srgbClr val="0B57D0">
                <a:alpha val="5000"/>
              </a:srgbClr>
            </a:solidFill>
            <a:ln>
              <a:noFill/>
            </a:ln>
          </p:spPr>
        </p:sp>
        <p:sp>
          <p:nvSpPr>
            <p:cNvPr id="92" name="Rectangle 92"/>
            <p:cNvSpPr/>
            <p:nvPr/>
          </p:nvSpPr>
          <p:spPr>
            <a:xfrm>
              <a:off x="685800" y="5810250"/>
              <a:ext cx="10020300" cy="514350"/>
            </a:xfrm>
            <a:prstGeom prst="roundRect">
              <a:avLst>
                <a:gd name="adj" fmla="val 29630"/>
              </a:avLst>
            </a:prstGeom>
            <a:solidFill>
              <a:srgbClr val="FFFFFF"/>
            </a:solidFill>
            <a:ln w="11430">
              <a:solidFill>
                <a:srgbClr val="BFD9F4"/>
              </a:solidFill>
            </a:ln>
          </p:spPr>
        </p:sp>
        <p:sp>
          <p:nvSpPr>
            <p:cNvPr id="93" name="Line 93"/>
            <p:cNvSpPr/>
            <p:nvPr/>
          </p:nvSpPr>
          <p:spPr>
            <a:xfrm>
              <a:off x="857250" y="5819775"/>
              <a:ext cx="1238250" cy="9525"/>
            </a:xfrm>
            <a:custGeom>
              <a:avLst/>
              <a:gdLst/>
              <a:ahLst/>
              <a:cxnLst/>
              <a:rect l="l" t="t" r="r" b="b"/>
              <a:pathLst>
                <a:path w="1238250" h="9525">
                  <a:moveTo>
                    <a:pt x="0" y="0"/>
                  </a:moveTo>
                  <a:lnTo>
                    <a:pt x="1238250" y="0"/>
                  </a:lnTo>
                </a:path>
              </a:pathLst>
            </a:custGeom>
            <a:noFill/>
            <a:ln w="19050">
              <a:solidFill>
                <a:srgbClr val="26A7FF">
                  <a:alpha val="90000"/>
                </a:srgbClr>
              </a:solidFill>
            </a:ln>
          </p:spPr>
        </p:sp>
        <p:sp>
          <p:nvSpPr>
            <p:cNvPr id="94" name="Freeform 94"/>
            <p:cNvSpPr/>
            <p:nvPr/>
          </p:nvSpPr>
          <p:spPr>
            <a:xfrm>
              <a:off x="930274" y="5995985"/>
              <a:ext cx="158751" cy="142878"/>
            </a:xfrm>
            <a:custGeom>
              <a:avLst/>
              <a:gdLst/>
              <a:ahLst/>
              <a:cxnLst/>
              <a:rect l="l" t="t" r="r" b="b"/>
              <a:pathLst>
                <a:path w="158751" h="142878">
                  <a:moveTo>
                    <a:pt x="103188" y="3"/>
                  </a:moveTo>
                  <a:cubicBezTo>
                    <a:pt x="111496" y="0"/>
                    <a:pt x="118400" y="6403"/>
                    <a:pt x="119024" y="14687"/>
                  </a:cubicBezTo>
                  <a:lnTo>
                    <a:pt x="119063" y="15878"/>
                  </a:lnTo>
                  <a:cubicBezTo>
                    <a:pt x="119064" y="19902"/>
                    <a:pt x="122076" y="23289"/>
                    <a:pt x="126072" y="23760"/>
                  </a:cubicBezTo>
                  <a:lnTo>
                    <a:pt x="127001" y="23815"/>
                  </a:lnTo>
                  <a:lnTo>
                    <a:pt x="134938" y="23815"/>
                  </a:lnTo>
                  <a:cubicBezTo>
                    <a:pt x="147547" y="23814"/>
                    <a:pt x="157971" y="33643"/>
                    <a:pt x="158711" y="46231"/>
                  </a:cubicBezTo>
                  <a:lnTo>
                    <a:pt x="158751" y="47628"/>
                  </a:lnTo>
                  <a:lnTo>
                    <a:pt x="158751" y="119065"/>
                  </a:lnTo>
                  <a:cubicBezTo>
                    <a:pt x="158751" y="131674"/>
                    <a:pt x="148923" y="142098"/>
                    <a:pt x="136335" y="142838"/>
                  </a:cubicBezTo>
                  <a:lnTo>
                    <a:pt x="134938" y="142878"/>
                  </a:lnTo>
                  <a:lnTo>
                    <a:pt x="23813" y="142878"/>
                  </a:lnTo>
                  <a:cubicBezTo>
                    <a:pt x="11204" y="142878"/>
                    <a:pt x="780" y="133050"/>
                    <a:pt x="40" y="120462"/>
                  </a:cubicBezTo>
                  <a:lnTo>
                    <a:pt x="1" y="119065"/>
                  </a:lnTo>
                  <a:lnTo>
                    <a:pt x="1" y="47628"/>
                  </a:lnTo>
                  <a:cubicBezTo>
                    <a:pt x="0" y="35018"/>
                    <a:pt x="9829" y="24595"/>
                    <a:pt x="22416" y="23855"/>
                  </a:cubicBezTo>
                  <a:lnTo>
                    <a:pt x="23813" y="23815"/>
                  </a:lnTo>
                  <a:lnTo>
                    <a:pt x="31751" y="23815"/>
                  </a:lnTo>
                  <a:cubicBezTo>
                    <a:pt x="36134" y="23815"/>
                    <a:pt x="39688" y="20261"/>
                    <a:pt x="39688" y="15878"/>
                  </a:cubicBezTo>
                  <a:cubicBezTo>
                    <a:pt x="39686" y="7570"/>
                    <a:pt x="46088" y="665"/>
                    <a:pt x="54373" y="42"/>
                  </a:cubicBezTo>
                  <a:lnTo>
                    <a:pt x="55563" y="3"/>
                  </a:lnTo>
                  <a:lnTo>
                    <a:pt x="103188" y="3"/>
                  </a:lnTo>
                  <a:close/>
                  <a:moveTo>
                    <a:pt x="79376" y="55565"/>
                  </a:moveTo>
                  <a:cubicBezTo>
                    <a:pt x="67152" y="55564"/>
                    <a:pt x="56913" y="64819"/>
                    <a:pt x="55682" y="76981"/>
                  </a:cubicBezTo>
                  <a:lnTo>
                    <a:pt x="55595" y="78187"/>
                  </a:lnTo>
                  <a:lnTo>
                    <a:pt x="55563" y="79378"/>
                  </a:lnTo>
                  <a:lnTo>
                    <a:pt x="55595" y="80568"/>
                  </a:lnTo>
                  <a:cubicBezTo>
                    <a:pt x="56245" y="93549"/>
                    <a:pt x="67183" y="103611"/>
                    <a:pt x="80172" y="103177"/>
                  </a:cubicBezTo>
                  <a:cubicBezTo>
                    <a:pt x="93162" y="102743"/>
                    <a:pt x="103404" y="91974"/>
                    <a:pt x="103187" y="78979"/>
                  </a:cubicBezTo>
                  <a:cubicBezTo>
                    <a:pt x="102969" y="65984"/>
                    <a:pt x="92372" y="55564"/>
                    <a:pt x="79376" y="55565"/>
                  </a:cubicBezTo>
                  <a:close/>
                </a:path>
              </a:pathLst>
            </a:custGeom>
            <a:solidFill>
              <a:srgbClr val="0B57D0"/>
            </a:solidFill>
            <a:ln>
              <a:noFill/>
            </a:ln>
          </p:spPr>
        </p:sp>
        <p:sp>
          <p:nvSpPr>
            <p:cNvPr id="95" name="TextBox 95"/>
            <p:cNvSpPr txBox="1"/>
            <p:nvPr/>
          </p:nvSpPr>
          <p:spPr>
            <a:xfrm>
              <a:off x="1202055" y="5997892"/>
              <a:ext cx="688340" cy="207645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b="1" dirty="0">
                  <a:solidFill>
                    <a:srgbClr val="102033"/>
                  </a:solidFill>
                  <a:latin typeface="MiSans Normal" panose="00000500000000000000" charset="-122"/>
                  <a:ea typeface="MiSans Normal" panose="00000500000000000000" charset="-122"/>
                  <a:cs typeface="等线" panose="02010600030101010101" charset="-122"/>
                </a:rPr>
                <a:t>展示重点</a:t>
              </a:r>
              <a:endParaRPr lang="zh-CN" sz="1350" b="1" dirty="0">
                <a:solidFill>
                  <a:srgbClr val="102033"/>
                </a:solidFill>
                <a:latin typeface="MiSans Normal" panose="00000500000000000000" charset="-122"/>
                <a:ea typeface="MiSans Normal" panose="00000500000000000000" charset="-122"/>
                <a:cs typeface="等线" panose="02010600030101010101" charset="-122"/>
              </a:endParaRPr>
            </a:p>
          </p:txBody>
        </p:sp>
        <p:sp>
          <p:nvSpPr>
            <p:cNvPr id="96" name="TextBox 96"/>
            <p:cNvSpPr txBox="1"/>
            <p:nvPr/>
          </p:nvSpPr>
          <p:spPr>
            <a:xfrm>
              <a:off x="2308542" y="5961221"/>
              <a:ext cx="8128000" cy="245745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600" dirty="0">
                  <a:solidFill>
                    <a:srgbClr val="51677F"/>
                  </a:solidFill>
                  <a:latin typeface="MiSans Normal" panose="00000500000000000000" charset="-122"/>
                  <a:ea typeface="MiSans Normal" panose="00000500000000000000" charset="-122"/>
                  <a:cs typeface="等线" panose="02010600030101010101" charset="-122"/>
                </a:rPr>
                <a:t>首页展示蓝小心；记忆页展示偏好资产；规划解释原因；提醒有触发条件；复盘沉淀记忆。</a:t>
              </a:r>
              <a:endParaRPr lang="zh-CN" sz="1600" dirty="0">
                <a:solidFill>
                  <a:srgbClr val="51677F"/>
                </a:solidFill>
                <a:latin typeface="MiSans Normal" panose="00000500000000000000" charset="-122"/>
                <a:ea typeface="MiSans Normal" panose="00000500000000000000" charset="-122"/>
                <a:cs typeface="等线" panose="02010600030101010101" charset="-122"/>
              </a:endParaRPr>
            </a:p>
          </p:txBody>
        </p:sp>
        <p:sp>
          <p:nvSpPr>
            <p:cNvPr id="97" name="TextBox 97"/>
            <p:cNvSpPr txBox="1"/>
            <p:nvPr/>
          </p:nvSpPr>
          <p:spPr>
            <a:xfrm>
              <a:off x="521970" y="6598920"/>
              <a:ext cx="2106263" cy="18288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00" dirty="0">
                  <a:solidFill>
                    <a:srgbClr val="8AA1B7"/>
                  </a:solidFill>
                  <a:latin typeface="等线" panose="02010600030101010101" charset="-122"/>
                  <a:ea typeface="微软雅黑" panose="020B0503020204020204" charset="-122"/>
                  <a:cs typeface="等线" panose="02010600030101010101" charset="-122"/>
                </a:rPr>
                <a:t>蓝心同行 | AIGC创新赛应用赛道初赛</a:t>
              </a:r>
              <a:endParaRPr lang="zh-CN" sz="900" dirty="0">
                <a:solidFill>
                  <a:srgbClr val="8AA1B7"/>
                </a:solidFill>
                <a:latin typeface="等线" panose="02010600030101010101" charset="-122"/>
                <a:ea typeface="微软雅黑" panose="020B0503020204020204" charset="-122"/>
                <a:cs typeface="等线" panose="02010600030101010101" charset="-122"/>
              </a:endParaRPr>
            </a:p>
          </p:txBody>
        </p:sp>
        <p:sp>
          <p:nvSpPr>
            <p:cNvPr id="98" name="TextBox 98"/>
            <p:cNvSpPr txBox="1"/>
            <p:nvPr/>
          </p:nvSpPr>
          <p:spPr>
            <a:xfrm>
              <a:off x="11464480" y="6598920"/>
              <a:ext cx="167449" cy="18288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r"/>
              <a:r>
                <a:rPr lang="zh-CN" sz="900" dirty="0">
                  <a:solidFill>
                    <a:srgbClr val="8AA1B7"/>
                  </a:solidFill>
                  <a:latin typeface="等线" panose="02010600030101010101" charset="-122"/>
                  <a:ea typeface="微软雅黑" panose="020B0503020204020204" charset="-122"/>
                  <a:cs typeface="等线" panose="02010600030101010101" charset="-122"/>
                </a:rPr>
                <a:t>05</a:t>
              </a:r>
              <a:endParaRPr lang="zh-CN" sz="900" dirty="0">
                <a:solidFill>
                  <a:srgbClr val="8AA1B7"/>
                </a:solidFill>
                <a:latin typeface="等线" panose="02010600030101010101" charset="-122"/>
                <a:ea typeface="微软雅黑" panose="020B0503020204020204" charset="-122"/>
                <a:cs typeface="等线" panose="02010600030101010101" charset="-122"/>
              </a:endParaRPr>
            </a:p>
          </p:txBody>
        </p:sp>
      </p:grpSp>
      <p:sp>
        <p:nvSpPr>
          <p:cNvPr id="105" name="Rectangle 104"/>
          <p:cNvSpPr/>
          <p:nvPr/>
        </p:nvSpPr>
        <p:spPr>
          <a:xfrm>
            <a:off x="420000" y="1450000"/>
            <a:ext cx="11370000" cy="5000000"/>
          </a:xfrm>
          <a:prstGeom prst="rect">
            <a:avLst/>
          </a:prstGeom>
          <a:solidFill>
            <a:srgbClr val="F8FB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6" name="Rounded Rectangle 105"/>
          <p:cNvSpPr/>
          <p:nvPr/>
        </p:nvSpPr>
        <p:spPr>
          <a:xfrm>
            <a:off x="495300" y="1545000"/>
            <a:ext cx="11353800" cy="79000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1E2F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7" name="Rectangle 106"/>
          <p:cNvSpPr/>
          <p:nvPr/>
        </p:nvSpPr>
        <p:spPr>
          <a:xfrm>
            <a:off x="590550" y="1625000"/>
            <a:ext cx="1250000" cy="9525"/>
          </a:xfrm>
          <a:prstGeom prst="rect">
            <a:avLst/>
          </a:prstGeom>
          <a:solidFill>
            <a:srgbClr val="0B57D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8" name="TextBox 107"/>
          <p:cNvSpPr txBox="1"/>
          <p:nvPr/>
        </p:nvSpPr>
        <p:spPr>
          <a:xfrm>
            <a:off x="762070" y="1784135"/>
            <a:ext cx="971550" cy="294640"/>
          </a:xfrm>
          <a:prstGeom prst="rect">
            <a:avLst/>
          </a:prstGeom>
          <a:noFill/>
        </p:spPr>
        <p:txBody>
          <a:bodyPr wrap="none" lIns="27432" tIns="9144" rIns="27432" bIns="9144">
            <a:spAutoFit/>
          </a:bodyPr>
          <a:lstStyle/>
          <a:p>
            <a:pPr algn="ctr"/>
            <a:r>
              <a:rPr b="1">
                <a:solidFill>
                  <a:srgbClr val="0B57D0"/>
                </a:solidFill>
                <a:latin typeface="金山云技术体" charset="-122"/>
                <a:ea typeface="金山云技术体" charset="-122"/>
              </a:rPr>
              <a:t>当前功能</a:t>
            </a:r>
            <a:endParaRPr b="1">
              <a:solidFill>
                <a:srgbClr val="0B57D0"/>
              </a:solidFill>
              <a:latin typeface="金山云技术体" charset="-122"/>
              <a:ea typeface="金山云技术体" charset="-122"/>
            </a:endParaRPr>
          </a:p>
        </p:txBody>
      </p:sp>
      <p:sp>
        <p:nvSpPr>
          <p:cNvPr id="109" name="TextBox 108"/>
          <p:cNvSpPr txBox="1"/>
          <p:nvPr/>
        </p:nvSpPr>
        <p:spPr>
          <a:xfrm>
            <a:off x="1879045" y="1815505"/>
            <a:ext cx="1073785" cy="263525"/>
          </a:xfrm>
          <a:prstGeom prst="rect">
            <a:avLst/>
          </a:prstGeom>
          <a:noFill/>
        </p:spPr>
        <p:txBody>
          <a:bodyPr wrap="none" lIns="27432" tIns="9144" rIns="27432" bIns="9144">
            <a:spAutoFit/>
          </a:bodyPr>
          <a:lstStyle/>
          <a:p>
            <a:pPr algn="l"/>
            <a:r>
              <a:rPr sz="1600" b="1">
                <a:solidFill>
                  <a:srgbClr val="102033"/>
                </a:solidFill>
                <a:latin typeface="MiSans Normal" panose="00000500000000000000" charset="-122"/>
                <a:ea typeface="MiSans Normal" panose="00000500000000000000" charset="-122"/>
              </a:rPr>
              <a:t>蓝小心空间</a:t>
            </a:r>
            <a:endParaRPr sz="1600" b="1">
              <a:solidFill>
                <a:srgbClr val="102033"/>
              </a:solidFill>
              <a:latin typeface="MiSans Normal" panose="00000500000000000000" charset="-122"/>
              <a:ea typeface="MiSans Normal" panose="00000500000000000000" charset="-122"/>
            </a:endParaRPr>
          </a:p>
        </p:txBody>
      </p:sp>
      <p:sp>
        <p:nvSpPr>
          <p:cNvPr id="123" name="Rectangle 122"/>
          <p:cNvSpPr/>
          <p:nvPr/>
        </p:nvSpPr>
        <p:spPr>
          <a:xfrm>
            <a:off x="11370000" y="6540000"/>
            <a:ext cx="420000" cy="260000"/>
          </a:xfrm>
          <a:prstGeom prst="rect">
            <a:avLst/>
          </a:prstGeom>
          <a:solidFill>
            <a:srgbClr val="F8FB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4" name="TextBox 123"/>
          <p:cNvSpPr txBox="1"/>
          <p:nvPr/>
        </p:nvSpPr>
        <p:spPr>
          <a:xfrm>
            <a:off x="11464480" y="6598920"/>
            <a:ext cx="167449" cy="182880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algn="l"/>
            <a:r>
              <a:rPr sz="900" b="0">
                <a:solidFill>
                  <a:srgbClr val="8AA1B7"/>
                </a:solidFill>
                <a:latin typeface="等线" panose="02010600030101010101" charset="-122"/>
              </a:rPr>
              <a:t>05</a:t>
            </a:r>
            <a:endParaRPr sz="900" b="0">
              <a:solidFill>
                <a:srgbClr val="8AA1B7"/>
              </a:solidFill>
              <a:latin typeface="等线" panose="02010600030101010101" charset="-122"/>
            </a:endParaRPr>
          </a:p>
        </p:txBody>
      </p:sp>
      <p:sp>
        <p:nvSpPr>
          <p:cNvPr id="125" name="TextBox 124"/>
          <p:cNvSpPr txBox="1"/>
          <p:nvPr/>
        </p:nvSpPr>
        <p:spPr>
          <a:xfrm>
            <a:off x="780923" y="2487168"/>
            <a:ext cx="768350" cy="233045"/>
          </a:xfrm>
          <a:prstGeom prst="rect">
            <a:avLst/>
          </a:prstGeom>
          <a:noFill/>
        </p:spPr>
        <p:txBody>
          <a:bodyPr wrap="none" lIns="27432" tIns="9144" rIns="27432" bIns="9144">
            <a:spAutoFit/>
          </a:bodyPr>
          <a:lstStyle/>
          <a:p>
            <a:pPr algn="l"/>
            <a:r>
              <a:rPr sz="1400" b="1">
                <a:solidFill>
                  <a:srgbClr val="0B57D0"/>
                </a:solidFill>
                <a:latin typeface="金山云技术体" charset="-122"/>
                <a:ea typeface="金山云技术体" charset="-122"/>
              </a:rPr>
              <a:t>本页看点</a:t>
            </a:r>
            <a:endParaRPr sz="1400" b="1">
              <a:solidFill>
                <a:srgbClr val="0B57D0"/>
              </a:solidFill>
              <a:latin typeface="金山云技术体" charset="-122"/>
              <a:ea typeface="金山云技术体" charset="-122"/>
            </a:endParaRPr>
          </a:p>
        </p:txBody>
      </p:sp>
      <p:sp>
        <p:nvSpPr>
          <p:cNvPr id="126" name="Rectangle 125"/>
          <p:cNvSpPr/>
          <p:nvPr/>
        </p:nvSpPr>
        <p:spPr>
          <a:xfrm>
            <a:off x="740918" y="2761488"/>
            <a:ext cx="987552" cy="16459"/>
          </a:xfrm>
          <a:prstGeom prst="rect">
            <a:avLst/>
          </a:prstGeom>
          <a:solidFill>
            <a:srgbClr val="0B57D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7" name="TextBox 126"/>
          <p:cNvSpPr txBox="1"/>
          <p:nvPr/>
        </p:nvSpPr>
        <p:spPr>
          <a:xfrm>
            <a:off x="804418" y="3035808"/>
            <a:ext cx="1010285" cy="248285"/>
          </a:xfrm>
          <a:prstGeom prst="rect">
            <a:avLst/>
          </a:prstGeom>
          <a:noFill/>
        </p:spPr>
        <p:txBody>
          <a:bodyPr wrap="none" lIns="27432" tIns="9144" rIns="27432" bIns="9144">
            <a:spAutoFit/>
          </a:bodyPr>
          <a:lstStyle/>
          <a:p>
            <a:pPr algn="l"/>
            <a:r>
              <a:rPr sz="1500" b="1">
                <a:solidFill>
                  <a:srgbClr val="102033"/>
                </a:solidFill>
                <a:latin typeface="MiSans Normal" panose="00000500000000000000" charset="-122"/>
                <a:ea typeface="MiSans Normal" panose="00000500000000000000" charset="-122"/>
              </a:rPr>
              <a:t>首页主状态</a:t>
            </a:r>
            <a:endParaRPr sz="1500" b="1">
              <a:solidFill>
                <a:srgbClr val="102033"/>
              </a:solidFill>
              <a:latin typeface="MiSans Normal" panose="00000500000000000000" charset="-122"/>
              <a:ea typeface="MiSans Normal" panose="00000500000000000000" charset="-122"/>
            </a:endParaRPr>
          </a:p>
        </p:txBody>
      </p:sp>
      <p:sp>
        <p:nvSpPr>
          <p:cNvPr id="128" name="TextBox 127"/>
          <p:cNvSpPr txBox="1"/>
          <p:nvPr/>
        </p:nvSpPr>
        <p:spPr>
          <a:xfrm>
            <a:off x="804418" y="3429254"/>
            <a:ext cx="1392555" cy="248285"/>
          </a:xfrm>
          <a:prstGeom prst="rect">
            <a:avLst/>
          </a:prstGeom>
          <a:noFill/>
        </p:spPr>
        <p:txBody>
          <a:bodyPr wrap="none" lIns="27432" tIns="9144" rIns="27432" bIns="9144">
            <a:spAutoFit/>
          </a:bodyPr>
          <a:lstStyle/>
          <a:p>
            <a:pPr algn="l"/>
            <a:r>
              <a:rPr sz="1500" b="1">
                <a:solidFill>
                  <a:srgbClr val="102033"/>
                </a:solidFill>
                <a:latin typeface="MiSans Normal" panose="00000500000000000000" charset="-122"/>
                <a:ea typeface="MiSans Normal" panose="00000500000000000000" charset="-122"/>
              </a:rPr>
              <a:t>入口与陪伴反馈</a:t>
            </a:r>
            <a:endParaRPr sz="1500" b="1">
              <a:solidFill>
                <a:srgbClr val="102033"/>
              </a:solidFill>
              <a:latin typeface="MiSans Normal" panose="00000500000000000000" charset="-122"/>
              <a:ea typeface="MiSans Normal" panose="00000500000000000000" charset="-122"/>
            </a:endParaRPr>
          </a:p>
        </p:txBody>
      </p:sp>
      <p:sp>
        <p:nvSpPr>
          <p:cNvPr id="129" name="Oval 128"/>
          <p:cNvSpPr/>
          <p:nvPr/>
        </p:nvSpPr>
        <p:spPr>
          <a:xfrm>
            <a:off x="877824" y="4101084"/>
            <a:ext cx="68580" cy="68580"/>
          </a:xfrm>
          <a:prstGeom prst="ellipse">
            <a:avLst/>
          </a:prstGeom>
          <a:solidFill>
            <a:srgbClr val="0B57D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0" name="TextBox 129"/>
          <p:cNvSpPr txBox="1"/>
          <p:nvPr/>
        </p:nvSpPr>
        <p:spPr>
          <a:xfrm>
            <a:off x="1042415" y="4041648"/>
            <a:ext cx="2721610" cy="233045"/>
          </a:xfrm>
          <a:prstGeom prst="rect">
            <a:avLst/>
          </a:prstGeom>
          <a:noFill/>
        </p:spPr>
        <p:txBody>
          <a:bodyPr wrap="none" lIns="27432" tIns="9144" rIns="27432" bIns="9144">
            <a:spAutoFit/>
          </a:bodyPr>
          <a:lstStyle/>
          <a:p>
            <a:pPr algn="l"/>
            <a:r>
              <a:rPr sz="1400" b="0">
                <a:solidFill>
                  <a:srgbClr val="51677F"/>
                </a:solidFill>
                <a:latin typeface="MiSans Normal" panose="00000500000000000000" charset="-122"/>
                <a:ea typeface="MiSans Normal" panose="00000500000000000000" charset="-122"/>
              </a:rPr>
              <a:t>展示蓝小心的陪伴状态与情绪反馈</a:t>
            </a:r>
            <a:endParaRPr sz="1400" b="0">
              <a:solidFill>
                <a:srgbClr val="51677F"/>
              </a:solidFill>
              <a:latin typeface="MiSans Normal" panose="00000500000000000000" charset="-122"/>
              <a:ea typeface="MiSans Normal" panose="00000500000000000000" charset="-122"/>
            </a:endParaRPr>
          </a:p>
        </p:txBody>
      </p:sp>
      <p:sp>
        <p:nvSpPr>
          <p:cNvPr id="131" name="Oval 130"/>
          <p:cNvSpPr/>
          <p:nvPr/>
        </p:nvSpPr>
        <p:spPr>
          <a:xfrm>
            <a:off x="877824" y="4649724"/>
            <a:ext cx="68580" cy="68580"/>
          </a:xfrm>
          <a:prstGeom prst="ellipse">
            <a:avLst/>
          </a:prstGeom>
          <a:solidFill>
            <a:srgbClr val="0B57D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2" name="TextBox 131"/>
          <p:cNvSpPr txBox="1"/>
          <p:nvPr/>
        </p:nvSpPr>
        <p:spPr>
          <a:xfrm>
            <a:off x="1042415" y="4590288"/>
            <a:ext cx="2899410" cy="233045"/>
          </a:xfrm>
          <a:prstGeom prst="rect">
            <a:avLst/>
          </a:prstGeom>
          <a:noFill/>
        </p:spPr>
        <p:txBody>
          <a:bodyPr wrap="none" lIns="27432" tIns="9144" rIns="27432" bIns="9144">
            <a:spAutoFit/>
          </a:bodyPr>
          <a:lstStyle/>
          <a:p>
            <a:pPr algn="l"/>
            <a:r>
              <a:rPr sz="1400" b="0">
                <a:solidFill>
                  <a:srgbClr val="51677F"/>
                </a:solidFill>
                <a:latin typeface="MiSans Normal" panose="00000500000000000000" charset="-122"/>
                <a:ea typeface="MiSans Normal" panose="00000500000000000000" charset="-122"/>
              </a:rPr>
              <a:t>突出主入口和用户启动旅程的第一步</a:t>
            </a:r>
            <a:endParaRPr sz="1400" b="0">
              <a:solidFill>
                <a:srgbClr val="51677F"/>
              </a:solidFill>
              <a:latin typeface="MiSans Normal" panose="00000500000000000000" charset="-122"/>
              <a:ea typeface="MiSans Normal" panose="00000500000000000000" charset="-122"/>
            </a:endParaRPr>
          </a:p>
        </p:txBody>
      </p:sp>
      <p:sp>
        <p:nvSpPr>
          <p:cNvPr id="133" name="Oval 132"/>
          <p:cNvSpPr/>
          <p:nvPr/>
        </p:nvSpPr>
        <p:spPr>
          <a:xfrm>
            <a:off x="877824" y="5198364"/>
            <a:ext cx="68580" cy="68580"/>
          </a:xfrm>
          <a:prstGeom prst="ellipse">
            <a:avLst/>
          </a:prstGeom>
          <a:solidFill>
            <a:srgbClr val="0B57D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4" name="TextBox 133"/>
          <p:cNvSpPr txBox="1"/>
          <p:nvPr/>
        </p:nvSpPr>
        <p:spPr>
          <a:xfrm>
            <a:off x="1042415" y="5138928"/>
            <a:ext cx="3260090" cy="233045"/>
          </a:xfrm>
          <a:prstGeom prst="rect">
            <a:avLst/>
          </a:prstGeom>
          <a:noFill/>
        </p:spPr>
        <p:txBody>
          <a:bodyPr wrap="none" lIns="27432" tIns="9144" rIns="27432" bIns="9144">
            <a:spAutoFit/>
          </a:bodyPr>
          <a:lstStyle/>
          <a:p>
            <a:pPr algn="l"/>
            <a:r>
              <a:rPr sz="1400" b="0">
                <a:solidFill>
                  <a:srgbClr val="51677F"/>
                </a:solidFill>
                <a:latin typeface="MiSans Normal" panose="00000500000000000000" charset="-122"/>
                <a:ea typeface="MiSans Normal" panose="00000500000000000000" charset="-122"/>
                <a:cs typeface="MiSans Normal" panose="00000500000000000000" charset="-122"/>
              </a:rPr>
              <a:t>Agent 不是工具栏，而是持续在场的搭子</a:t>
            </a:r>
            <a:endParaRPr sz="1400" b="0">
              <a:solidFill>
                <a:srgbClr val="51677F"/>
              </a:solidFill>
              <a:latin typeface="MiSans Normal" panose="00000500000000000000" charset="-122"/>
              <a:ea typeface="MiSans Normal" panose="00000500000000000000" charset="-122"/>
              <a:cs typeface="MiSans Normal" panose="00000500000000000000" charset="-122"/>
            </a:endParaRPr>
          </a:p>
        </p:txBody>
      </p:sp>
      <p:grpSp>
        <p:nvGrpSpPr>
          <p:cNvPr id="66" name="组合 65"/>
          <p:cNvGrpSpPr/>
          <p:nvPr/>
        </p:nvGrpSpPr>
        <p:grpSpPr>
          <a:xfrm>
            <a:off x="6615430" y="1755775"/>
            <a:ext cx="2148840" cy="4663440"/>
            <a:chOff x="8626" y="2765"/>
            <a:chExt cx="3384" cy="7344"/>
          </a:xfrm>
        </p:grpSpPr>
        <p:sp>
          <p:nvSpPr>
            <p:cNvPr id="135" name="Rounded Rectangle 134"/>
            <p:cNvSpPr/>
            <p:nvPr/>
          </p:nvSpPr>
          <p:spPr>
            <a:xfrm>
              <a:off x="8626" y="2765"/>
              <a:ext cx="3384" cy="7344"/>
            </a:xfrm>
            <a:prstGeom prst="roundRect">
              <a:avLst/>
            </a:prstGeom>
            <a:solidFill>
              <a:srgbClr val="FFFFFF"/>
            </a:solidFill>
            <a:ln w="14604">
              <a:solidFill>
                <a:srgbClr val="9CCAF5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136" name="Rounded Rectangle 135"/>
            <p:cNvSpPr/>
            <p:nvPr/>
          </p:nvSpPr>
          <p:spPr>
            <a:xfrm>
              <a:off x="9749" y="2952"/>
              <a:ext cx="1123" cy="108"/>
            </a:xfrm>
            <a:prstGeom prst="roundRect">
              <a:avLst/>
            </a:prstGeom>
            <a:solidFill>
              <a:srgbClr val="D7EAFF"/>
            </a:solidFill>
            <a:ln>
              <a:noFill/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137" name="Rounded Rectangle 136"/>
            <p:cNvSpPr/>
            <p:nvPr/>
          </p:nvSpPr>
          <p:spPr>
            <a:xfrm>
              <a:off x="8798" y="3211"/>
              <a:ext cx="3038" cy="6566"/>
            </a:xfrm>
            <a:prstGeom prst="roundRect">
              <a:avLst/>
            </a:prstGeom>
            <a:solidFill>
              <a:srgbClr val="F8FCFF"/>
            </a:solidFill>
            <a:ln w="11430">
              <a:solidFill>
                <a:srgbClr val="C9E4FF"/>
              </a:solidFill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138" name="Rectangle 137"/>
            <p:cNvSpPr/>
            <p:nvPr/>
          </p:nvSpPr>
          <p:spPr>
            <a:xfrm>
              <a:off x="9144" y="4003"/>
              <a:ext cx="2333" cy="20"/>
            </a:xfrm>
            <a:prstGeom prst="rect">
              <a:avLst/>
            </a:prstGeom>
            <a:solidFill>
              <a:srgbClr val="E0F0FF"/>
            </a:solidFill>
            <a:ln>
              <a:noFill/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139" name="Rectangle 138"/>
            <p:cNvSpPr/>
            <p:nvPr/>
          </p:nvSpPr>
          <p:spPr>
            <a:xfrm>
              <a:off x="9144" y="5011"/>
              <a:ext cx="1901" cy="20"/>
            </a:xfrm>
            <a:prstGeom prst="rect">
              <a:avLst/>
            </a:prstGeom>
            <a:solidFill>
              <a:srgbClr val="E0F0FF"/>
            </a:solidFill>
            <a:ln>
              <a:noFill/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140" name="Rectangle 139"/>
            <p:cNvSpPr/>
            <p:nvPr/>
          </p:nvSpPr>
          <p:spPr>
            <a:xfrm>
              <a:off x="9144" y="6019"/>
              <a:ext cx="2333" cy="20"/>
            </a:xfrm>
            <a:prstGeom prst="rect">
              <a:avLst/>
            </a:prstGeom>
            <a:solidFill>
              <a:srgbClr val="E0F0FF"/>
            </a:solidFill>
            <a:ln>
              <a:noFill/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141" name="Rectangle 140"/>
            <p:cNvSpPr/>
            <p:nvPr/>
          </p:nvSpPr>
          <p:spPr>
            <a:xfrm>
              <a:off x="9144" y="7027"/>
              <a:ext cx="1901" cy="20"/>
            </a:xfrm>
            <a:prstGeom prst="rect">
              <a:avLst/>
            </a:prstGeom>
            <a:solidFill>
              <a:srgbClr val="E0F0FF"/>
            </a:solidFill>
            <a:ln>
              <a:noFill/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142" name="Rectangle 141"/>
            <p:cNvSpPr/>
            <p:nvPr/>
          </p:nvSpPr>
          <p:spPr>
            <a:xfrm>
              <a:off x="9144" y="8035"/>
              <a:ext cx="2333" cy="20"/>
            </a:xfrm>
            <a:prstGeom prst="rect">
              <a:avLst/>
            </a:prstGeom>
            <a:solidFill>
              <a:srgbClr val="E0F0FF"/>
            </a:solidFill>
            <a:ln>
              <a:noFill/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</p:grpSp>
      <p:grpSp>
        <p:nvGrpSpPr>
          <p:cNvPr id="65" name="组合 64"/>
          <p:cNvGrpSpPr/>
          <p:nvPr/>
        </p:nvGrpSpPr>
        <p:grpSpPr>
          <a:xfrm>
            <a:off x="9594215" y="1755775"/>
            <a:ext cx="2148840" cy="4663440"/>
            <a:chOff x="13205" y="2765"/>
            <a:chExt cx="3384" cy="7344"/>
          </a:xfrm>
        </p:grpSpPr>
        <p:sp>
          <p:nvSpPr>
            <p:cNvPr id="144" name="Rounded Rectangle 143"/>
            <p:cNvSpPr/>
            <p:nvPr/>
          </p:nvSpPr>
          <p:spPr>
            <a:xfrm>
              <a:off x="13205" y="2765"/>
              <a:ext cx="3384" cy="7344"/>
            </a:xfrm>
            <a:prstGeom prst="roundRect">
              <a:avLst/>
            </a:prstGeom>
            <a:solidFill>
              <a:srgbClr val="FFFFFF"/>
            </a:solidFill>
            <a:ln w="14604">
              <a:solidFill>
                <a:srgbClr val="9CCAF5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145" name="Rounded Rectangle 144"/>
            <p:cNvSpPr/>
            <p:nvPr/>
          </p:nvSpPr>
          <p:spPr>
            <a:xfrm>
              <a:off x="14328" y="2952"/>
              <a:ext cx="1123" cy="108"/>
            </a:xfrm>
            <a:prstGeom prst="roundRect">
              <a:avLst/>
            </a:prstGeom>
            <a:solidFill>
              <a:srgbClr val="D7EAFF"/>
            </a:solidFill>
            <a:ln>
              <a:noFill/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146" name="Rounded Rectangle 145"/>
            <p:cNvSpPr/>
            <p:nvPr/>
          </p:nvSpPr>
          <p:spPr>
            <a:xfrm>
              <a:off x="13378" y="3211"/>
              <a:ext cx="3038" cy="6566"/>
            </a:xfrm>
            <a:prstGeom prst="roundRect">
              <a:avLst/>
            </a:prstGeom>
            <a:solidFill>
              <a:srgbClr val="F8FCFF"/>
            </a:solidFill>
            <a:ln w="11430">
              <a:solidFill>
                <a:srgbClr val="C9E4FF"/>
              </a:solidFill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147" name="Rectangle 146"/>
            <p:cNvSpPr/>
            <p:nvPr/>
          </p:nvSpPr>
          <p:spPr>
            <a:xfrm>
              <a:off x="13723" y="4003"/>
              <a:ext cx="2333" cy="20"/>
            </a:xfrm>
            <a:prstGeom prst="rect">
              <a:avLst/>
            </a:prstGeom>
            <a:solidFill>
              <a:srgbClr val="E0F0FF"/>
            </a:solidFill>
            <a:ln>
              <a:noFill/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148" name="Rectangle 147"/>
            <p:cNvSpPr/>
            <p:nvPr/>
          </p:nvSpPr>
          <p:spPr>
            <a:xfrm>
              <a:off x="13723" y="5011"/>
              <a:ext cx="1901" cy="20"/>
            </a:xfrm>
            <a:prstGeom prst="rect">
              <a:avLst/>
            </a:prstGeom>
            <a:solidFill>
              <a:srgbClr val="E0F0FF"/>
            </a:solidFill>
            <a:ln>
              <a:noFill/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149" name="Rectangle 148"/>
            <p:cNvSpPr/>
            <p:nvPr/>
          </p:nvSpPr>
          <p:spPr>
            <a:xfrm>
              <a:off x="13723" y="6019"/>
              <a:ext cx="2333" cy="20"/>
            </a:xfrm>
            <a:prstGeom prst="rect">
              <a:avLst/>
            </a:prstGeom>
            <a:solidFill>
              <a:srgbClr val="E0F0FF"/>
            </a:solidFill>
            <a:ln>
              <a:noFill/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150" name="Rectangle 149"/>
            <p:cNvSpPr/>
            <p:nvPr/>
          </p:nvSpPr>
          <p:spPr>
            <a:xfrm>
              <a:off x="13723" y="7027"/>
              <a:ext cx="1901" cy="20"/>
            </a:xfrm>
            <a:prstGeom prst="rect">
              <a:avLst/>
            </a:prstGeom>
            <a:solidFill>
              <a:srgbClr val="E0F0FF"/>
            </a:solidFill>
            <a:ln>
              <a:noFill/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151" name="Rectangle 150"/>
            <p:cNvSpPr/>
            <p:nvPr/>
          </p:nvSpPr>
          <p:spPr>
            <a:xfrm>
              <a:off x="13723" y="8035"/>
              <a:ext cx="2333" cy="20"/>
            </a:xfrm>
            <a:prstGeom prst="rect">
              <a:avLst/>
            </a:prstGeom>
            <a:solidFill>
              <a:srgbClr val="E0F0FF"/>
            </a:solidFill>
            <a:ln>
              <a:noFill/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</p:grp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p14:dur="400">
        <p:fade/>
      </p:transition>
    </mc:Choice>
    <mc:Fallback>
      <p:transition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400"/>
                                        <p:tgtEl>
                                          <p:spTgt spid="9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99" grpId="0"/>
    </p:bld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2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4F9FF"/>
          </a:solidFill>
          <a:ln>
            <a:noFill/>
          </a:ln>
        </p:spPr>
      </p:sp>
      <p:sp>
        <p:nvSpPr>
          <p:cNvPr id="3" name="Rectangle 3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gradFill>
            <a:gsLst>
              <a:gs pos="0">
                <a:srgbClr val="26A7FF">
                  <a:alpha val="12000"/>
                </a:srgbClr>
              </a:gs>
              <a:gs pos="100000">
                <a:srgbClr val="26A7FF">
                  <a:alpha val="0"/>
                </a:srgbClr>
              </a:gs>
            </a:gsLst>
            <a:path path="circle">
              <a:fillToRect l="50000" t="50000" r="50000" b="50000"/>
            </a:path>
          </a:gradFill>
          <a:ln>
            <a:noFill/>
          </a:ln>
        </p:spPr>
      </p:sp>
      <p:sp>
        <p:nvSpPr>
          <p:cNvPr id="4" name="Ellipse 4"/>
          <p:cNvSpPr/>
          <p:nvPr/>
        </p:nvSpPr>
        <p:spPr>
          <a:xfrm>
            <a:off x="9391650" y="-304800"/>
            <a:ext cx="2362200" cy="2362200"/>
          </a:xfrm>
          <a:prstGeom prst="ellipse">
            <a:avLst/>
          </a:prstGeom>
          <a:solidFill>
            <a:srgbClr val="26A7FF">
              <a:alpha val="8000"/>
            </a:srgbClr>
          </a:solidFill>
          <a:ln>
            <a:noFill/>
          </a:ln>
        </p:spPr>
      </p:sp>
      <p:sp>
        <p:nvSpPr>
          <p:cNvPr id="5" name="Ellipse 5"/>
          <p:cNvSpPr/>
          <p:nvPr/>
        </p:nvSpPr>
        <p:spPr>
          <a:xfrm>
            <a:off x="10553700" y="647700"/>
            <a:ext cx="1638300" cy="1638300"/>
          </a:xfrm>
          <a:prstGeom prst="ellipse">
            <a:avLst/>
          </a:prstGeom>
          <a:solidFill>
            <a:srgbClr val="00D4FF">
              <a:alpha val="7000"/>
            </a:srgbClr>
          </a:solidFill>
          <a:ln>
            <a:noFill/>
          </a:ln>
        </p:spPr>
      </p:sp>
      <p:sp>
        <p:nvSpPr>
          <p:cNvPr id="6" name="Freeform 6"/>
          <p:cNvSpPr/>
          <p:nvPr/>
        </p:nvSpPr>
        <p:spPr>
          <a:xfrm>
            <a:off x="8382000" y="781050"/>
            <a:ext cx="3390900" cy="438150"/>
          </a:xfrm>
          <a:custGeom>
            <a:avLst/>
            <a:gdLst/>
            <a:ahLst/>
            <a:cxnLst/>
            <a:rect l="l" t="t" r="r" b="b"/>
            <a:pathLst>
              <a:path w="3390900" h="438150">
                <a:moveTo>
                  <a:pt x="0" y="0"/>
                </a:moveTo>
                <a:lnTo>
                  <a:pt x="1600200" y="0"/>
                </a:lnTo>
                <a:lnTo>
                  <a:pt x="2038350" y="438150"/>
                </a:lnTo>
                <a:lnTo>
                  <a:pt x="3390900" y="438150"/>
                </a:lnTo>
              </a:path>
            </a:pathLst>
          </a:custGeom>
          <a:noFill/>
          <a:ln w="13335">
            <a:solidFill>
              <a:srgbClr val="BFD9F4">
                <a:alpha val="75000"/>
              </a:srgbClr>
            </a:solidFill>
          </a:ln>
        </p:spPr>
      </p:sp>
      <p:sp>
        <p:nvSpPr>
          <p:cNvPr id="7" name="Freeform 7"/>
          <p:cNvSpPr/>
          <p:nvPr/>
        </p:nvSpPr>
        <p:spPr>
          <a:xfrm>
            <a:off x="8705850" y="5638800"/>
            <a:ext cx="2990850" cy="457200"/>
          </a:xfrm>
          <a:custGeom>
            <a:avLst/>
            <a:gdLst/>
            <a:ahLst/>
            <a:cxnLst/>
            <a:rect l="l" t="t" r="r" b="b"/>
            <a:pathLst>
              <a:path w="2990850" h="457200">
                <a:moveTo>
                  <a:pt x="0" y="457200"/>
                </a:moveTo>
                <a:lnTo>
                  <a:pt x="1295400" y="457200"/>
                </a:lnTo>
                <a:lnTo>
                  <a:pt x="1752600" y="0"/>
                </a:lnTo>
                <a:lnTo>
                  <a:pt x="2990850" y="0"/>
                </a:lnTo>
              </a:path>
            </a:pathLst>
          </a:custGeom>
          <a:noFill/>
          <a:ln w="11430">
            <a:solidFill>
              <a:srgbClr val="BFD9F4">
                <a:alpha val="65000"/>
              </a:srgbClr>
            </a:solidFill>
          </a:ln>
        </p:spPr>
      </p:sp>
      <p:sp>
        <p:nvSpPr>
          <p:cNvPr id="8" name="Freeform 8"/>
          <p:cNvSpPr/>
          <p:nvPr/>
        </p:nvSpPr>
        <p:spPr>
          <a:xfrm>
            <a:off x="419100" y="5734050"/>
            <a:ext cx="2057400" cy="381000"/>
          </a:xfrm>
          <a:custGeom>
            <a:avLst/>
            <a:gdLst/>
            <a:ahLst/>
            <a:cxnLst/>
            <a:rect l="l" t="t" r="r" b="b"/>
            <a:pathLst>
              <a:path w="2057400" h="381000">
                <a:moveTo>
                  <a:pt x="0" y="381000"/>
                </a:moveTo>
                <a:lnTo>
                  <a:pt x="1676400" y="381000"/>
                </a:lnTo>
                <a:lnTo>
                  <a:pt x="2057400" y="0"/>
                </a:lnTo>
              </a:path>
            </a:pathLst>
          </a:custGeom>
          <a:noFill/>
          <a:ln w="11430">
            <a:solidFill>
              <a:srgbClr val="D7EAFF">
                <a:alpha val="90000"/>
              </a:srgbClr>
            </a:solidFill>
          </a:ln>
        </p:spPr>
      </p:sp>
      <p:sp>
        <p:nvSpPr>
          <p:cNvPr id="9" name="Ellipse 9"/>
          <p:cNvSpPr/>
          <p:nvPr/>
        </p:nvSpPr>
        <p:spPr>
          <a:xfrm>
            <a:off x="9944100" y="742950"/>
            <a:ext cx="76200" cy="76200"/>
          </a:xfrm>
          <a:prstGeom prst="ellipse">
            <a:avLst/>
          </a:prstGeom>
          <a:solidFill>
            <a:srgbClr val="26A7FF"/>
          </a:solidFill>
          <a:ln>
            <a:noFill/>
          </a:ln>
        </p:spPr>
      </p:sp>
      <p:sp>
        <p:nvSpPr>
          <p:cNvPr id="10" name="Ellipse 10"/>
          <p:cNvSpPr/>
          <p:nvPr/>
        </p:nvSpPr>
        <p:spPr>
          <a:xfrm>
            <a:off x="10382250" y="1181100"/>
            <a:ext cx="76200" cy="76200"/>
          </a:xfrm>
          <a:prstGeom prst="ellipse">
            <a:avLst/>
          </a:prstGeom>
          <a:solidFill>
            <a:srgbClr val="00D4FF"/>
          </a:solidFill>
          <a:ln>
            <a:noFill/>
          </a:ln>
        </p:spPr>
      </p:sp>
      <p:sp>
        <p:nvSpPr>
          <p:cNvPr id="11" name="Ellipse 11"/>
          <p:cNvSpPr/>
          <p:nvPr/>
        </p:nvSpPr>
        <p:spPr>
          <a:xfrm>
            <a:off x="2438400" y="5695950"/>
            <a:ext cx="76200" cy="76200"/>
          </a:xfrm>
          <a:prstGeom prst="ellipse">
            <a:avLst/>
          </a:prstGeom>
          <a:solidFill>
            <a:srgbClr val="26A7FF"/>
          </a:solidFill>
          <a:ln>
            <a:noFill/>
          </a:ln>
        </p:spPr>
      </p:sp>
      <p:sp>
        <p:nvSpPr>
          <p:cNvPr id="12" name="Line 12"/>
          <p:cNvSpPr/>
          <p:nvPr/>
        </p:nvSpPr>
        <p:spPr>
          <a:xfrm>
            <a:off x="762000" y="0"/>
            <a:ext cx="9525" cy="6858000"/>
          </a:xfrm>
          <a:custGeom>
            <a:avLst/>
            <a:gdLst/>
            <a:ahLst/>
            <a:cxnLst/>
            <a:rect l="l" t="t" r="r" b="b"/>
            <a:pathLst>
              <a:path w="9525" h="6858000">
                <a:moveTo>
                  <a:pt x="0" y="0"/>
                </a:moveTo>
                <a:lnTo>
                  <a:pt x="0" y="6858000"/>
                </a:lnTo>
              </a:path>
            </a:pathLst>
          </a:custGeom>
          <a:noFill/>
          <a:ln w="4762">
            <a:solidFill>
              <a:srgbClr val="D7EAFF">
                <a:alpha val="22000"/>
              </a:srgbClr>
            </a:solidFill>
          </a:ln>
        </p:spPr>
      </p:sp>
      <p:sp>
        <p:nvSpPr>
          <p:cNvPr id="13" name="Line 13"/>
          <p:cNvSpPr/>
          <p:nvPr/>
        </p:nvSpPr>
        <p:spPr>
          <a:xfrm>
            <a:off x="1524000" y="0"/>
            <a:ext cx="9525" cy="6858000"/>
          </a:xfrm>
          <a:custGeom>
            <a:avLst/>
            <a:gdLst/>
            <a:ahLst/>
            <a:cxnLst/>
            <a:rect l="l" t="t" r="r" b="b"/>
            <a:pathLst>
              <a:path w="9525" h="6858000">
                <a:moveTo>
                  <a:pt x="0" y="0"/>
                </a:moveTo>
                <a:lnTo>
                  <a:pt x="0" y="6858000"/>
                </a:lnTo>
              </a:path>
            </a:pathLst>
          </a:custGeom>
          <a:noFill/>
          <a:ln w="4762">
            <a:solidFill>
              <a:srgbClr val="D7EAFF">
                <a:alpha val="22000"/>
              </a:srgbClr>
            </a:solidFill>
          </a:ln>
        </p:spPr>
      </p:sp>
      <p:sp>
        <p:nvSpPr>
          <p:cNvPr id="14" name="Line 14"/>
          <p:cNvSpPr/>
          <p:nvPr/>
        </p:nvSpPr>
        <p:spPr>
          <a:xfrm>
            <a:off x="2286000" y="0"/>
            <a:ext cx="9525" cy="6858000"/>
          </a:xfrm>
          <a:custGeom>
            <a:avLst/>
            <a:gdLst/>
            <a:ahLst/>
            <a:cxnLst/>
            <a:rect l="l" t="t" r="r" b="b"/>
            <a:pathLst>
              <a:path w="9525" h="6858000">
                <a:moveTo>
                  <a:pt x="0" y="0"/>
                </a:moveTo>
                <a:lnTo>
                  <a:pt x="0" y="6858000"/>
                </a:lnTo>
              </a:path>
            </a:pathLst>
          </a:custGeom>
          <a:noFill/>
          <a:ln w="4762">
            <a:solidFill>
              <a:srgbClr val="D7EAFF">
                <a:alpha val="22000"/>
              </a:srgbClr>
            </a:solidFill>
          </a:ln>
        </p:spPr>
      </p:sp>
      <p:sp>
        <p:nvSpPr>
          <p:cNvPr id="15" name="Line 15"/>
          <p:cNvSpPr/>
          <p:nvPr/>
        </p:nvSpPr>
        <p:spPr>
          <a:xfrm>
            <a:off x="3048000" y="0"/>
            <a:ext cx="9525" cy="6858000"/>
          </a:xfrm>
          <a:custGeom>
            <a:avLst/>
            <a:gdLst/>
            <a:ahLst/>
            <a:cxnLst/>
            <a:rect l="l" t="t" r="r" b="b"/>
            <a:pathLst>
              <a:path w="9525" h="6858000">
                <a:moveTo>
                  <a:pt x="0" y="0"/>
                </a:moveTo>
                <a:lnTo>
                  <a:pt x="0" y="6858000"/>
                </a:lnTo>
              </a:path>
            </a:pathLst>
          </a:custGeom>
          <a:noFill/>
          <a:ln w="4762">
            <a:solidFill>
              <a:srgbClr val="D7EAFF">
                <a:alpha val="22000"/>
              </a:srgbClr>
            </a:solidFill>
          </a:ln>
        </p:spPr>
      </p:sp>
      <p:sp>
        <p:nvSpPr>
          <p:cNvPr id="16" name="Line 16"/>
          <p:cNvSpPr/>
          <p:nvPr/>
        </p:nvSpPr>
        <p:spPr>
          <a:xfrm>
            <a:off x="3810000" y="0"/>
            <a:ext cx="9525" cy="6858000"/>
          </a:xfrm>
          <a:custGeom>
            <a:avLst/>
            <a:gdLst/>
            <a:ahLst/>
            <a:cxnLst/>
            <a:rect l="l" t="t" r="r" b="b"/>
            <a:pathLst>
              <a:path w="9525" h="6858000">
                <a:moveTo>
                  <a:pt x="0" y="0"/>
                </a:moveTo>
                <a:lnTo>
                  <a:pt x="0" y="6858000"/>
                </a:lnTo>
              </a:path>
            </a:pathLst>
          </a:custGeom>
          <a:noFill/>
          <a:ln w="4762">
            <a:solidFill>
              <a:srgbClr val="D7EAFF">
                <a:alpha val="22000"/>
              </a:srgbClr>
            </a:solidFill>
          </a:ln>
        </p:spPr>
      </p:sp>
      <p:sp>
        <p:nvSpPr>
          <p:cNvPr id="17" name="Line 17"/>
          <p:cNvSpPr/>
          <p:nvPr/>
        </p:nvSpPr>
        <p:spPr>
          <a:xfrm>
            <a:off x="4572000" y="0"/>
            <a:ext cx="9525" cy="6858000"/>
          </a:xfrm>
          <a:custGeom>
            <a:avLst/>
            <a:gdLst/>
            <a:ahLst/>
            <a:cxnLst/>
            <a:rect l="l" t="t" r="r" b="b"/>
            <a:pathLst>
              <a:path w="9525" h="6858000">
                <a:moveTo>
                  <a:pt x="0" y="0"/>
                </a:moveTo>
                <a:lnTo>
                  <a:pt x="0" y="6858000"/>
                </a:lnTo>
              </a:path>
            </a:pathLst>
          </a:custGeom>
          <a:noFill/>
          <a:ln w="4762">
            <a:solidFill>
              <a:srgbClr val="D7EAFF">
                <a:alpha val="22000"/>
              </a:srgbClr>
            </a:solidFill>
          </a:ln>
        </p:spPr>
      </p:sp>
      <p:sp>
        <p:nvSpPr>
          <p:cNvPr id="18" name="Line 18"/>
          <p:cNvSpPr/>
          <p:nvPr/>
        </p:nvSpPr>
        <p:spPr>
          <a:xfrm>
            <a:off x="5334000" y="0"/>
            <a:ext cx="9525" cy="6858000"/>
          </a:xfrm>
          <a:custGeom>
            <a:avLst/>
            <a:gdLst/>
            <a:ahLst/>
            <a:cxnLst/>
            <a:rect l="l" t="t" r="r" b="b"/>
            <a:pathLst>
              <a:path w="9525" h="6858000">
                <a:moveTo>
                  <a:pt x="0" y="0"/>
                </a:moveTo>
                <a:lnTo>
                  <a:pt x="0" y="6858000"/>
                </a:lnTo>
              </a:path>
            </a:pathLst>
          </a:custGeom>
          <a:noFill/>
          <a:ln w="4762">
            <a:solidFill>
              <a:srgbClr val="D7EAFF">
                <a:alpha val="22000"/>
              </a:srgbClr>
            </a:solidFill>
          </a:ln>
        </p:spPr>
      </p:sp>
      <p:sp>
        <p:nvSpPr>
          <p:cNvPr id="19" name="Line 19"/>
          <p:cNvSpPr/>
          <p:nvPr/>
        </p:nvSpPr>
        <p:spPr>
          <a:xfrm>
            <a:off x="6096000" y="0"/>
            <a:ext cx="9525" cy="6858000"/>
          </a:xfrm>
          <a:custGeom>
            <a:avLst/>
            <a:gdLst/>
            <a:ahLst/>
            <a:cxnLst/>
            <a:rect l="l" t="t" r="r" b="b"/>
            <a:pathLst>
              <a:path w="9525" h="6858000">
                <a:moveTo>
                  <a:pt x="0" y="0"/>
                </a:moveTo>
                <a:lnTo>
                  <a:pt x="0" y="6858000"/>
                </a:lnTo>
              </a:path>
            </a:pathLst>
          </a:custGeom>
          <a:noFill/>
          <a:ln w="4762">
            <a:solidFill>
              <a:srgbClr val="D7EAFF">
                <a:alpha val="22000"/>
              </a:srgbClr>
            </a:solidFill>
          </a:ln>
        </p:spPr>
      </p:sp>
      <p:sp>
        <p:nvSpPr>
          <p:cNvPr id="20" name="Line 20"/>
          <p:cNvSpPr/>
          <p:nvPr/>
        </p:nvSpPr>
        <p:spPr>
          <a:xfrm>
            <a:off x="6858000" y="0"/>
            <a:ext cx="9525" cy="6858000"/>
          </a:xfrm>
          <a:custGeom>
            <a:avLst/>
            <a:gdLst/>
            <a:ahLst/>
            <a:cxnLst/>
            <a:rect l="l" t="t" r="r" b="b"/>
            <a:pathLst>
              <a:path w="9525" h="6858000">
                <a:moveTo>
                  <a:pt x="0" y="0"/>
                </a:moveTo>
                <a:lnTo>
                  <a:pt x="0" y="6858000"/>
                </a:lnTo>
              </a:path>
            </a:pathLst>
          </a:custGeom>
          <a:noFill/>
          <a:ln w="4762">
            <a:solidFill>
              <a:srgbClr val="D7EAFF">
                <a:alpha val="22000"/>
              </a:srgbClr>
            </a:solidFill>
          </a:ln>
        </p:spPr>
      </p:sp>
      <p:sp>
        <p:nvSpPr>
          <p:cNvPr id="21" name="Line 21"/>
          <p:cNvSpPr/>
          <p:nvPr/>
        </p:nvSpPr>
        <p:spPr>
          <a:xfrm>
            <a:off x="7620000" y="0"/>
            <a:ext cx="9525" cy="6858000"/>
          </a:xfrm>
          <a:custGeom>
            <a:avLst/>
            <a:gdLst/>
            <a:ahLst/>
            <a:cxnLst/>
            <a:rect l="l" t="t" r="r" b="b"/>
            <a:pathLst>
              <a:path w="9525" h="6858000">
                <a:moveTo>
                  <a:pt x="0" y="0"/>
                </a:moveTo>
                <a:lnTo>
                  <a:pt x="0" y="6858000"/>
                </a:lnTo>
              </a:path>
            </a:pathLst>
          </a:custGeom>
          <a:noFill/>
          <a:ln w="4762">
            <a:solidFill>
              <a:srgbClr val="D7EAFF">
                <a:alpha val="22000"/>
              </a:srgbClr>
            </a:solidFill>
          </a:ln>
        </p:spPr>
      </p:sp>
      <p:sp>
        <p:nvSpPr>
          <p:cNvPr id="22" name="Line 22"/>
          <p:cNvSpPr/>
          <p:nvPr/>
        </p:nvSpPr>
        <p:spPr>
          <a:xfrm>
            <a:off x="8382000" y="0"/>
            <a:ext cx="9525" cy="6858000"/>
          </a:xfrm>
          <a:custGeom>
            <a:avLst/>
            <a:gdLst/>
            <a:ahLst/>
            <a:cxnLst/>
            <a:rect l="l" t="t" r="r" b="b"/>
            <a:pathLst>
              <a:path w="9525" h="6858000">
                <a:moveTo>
                  <a:pt x="0" y="0"/>
                </a:moveTo>
                <a:lnTo>
                  <a:pt x="0" y="6858000"/>
                </a:lnTo>
              </a:path>
            </a:pathLst>
          </a:custGeom>
          <a:noFill/>
          <a:ln w="4762">
            <a:solidFill>
              <a:srgbClr val="D7EAFF">
                <a:alpha val="22000"/>
              </a:srgbClr>
            </a:solidFill>
          </a:ln>
        </p:spPr>
      </p:sp>
      <p:sp>
        <p:nvSpPr>
          <p:cNvPr id="23" name="Line 23"/>
          <p:cNvSpPr/>
          <p:nvPr/>
        </p:nvSpPr>
        <p:spPr>
          <a:xfrm>
            <a:off x="9144000" y="0"/>
            <a:ext cx="9525" cy="6858000"/>
          </a:xfrm>
          <a:custGeom>
            <a:avLst/>
            <a:gdLst/>
            <a:ahLst/>
            <a:cxnLst/>
            <a:rect l="l" t="t" r="r" b="b"/>
            <a:pathLst>
              <a:path w="9525" h="6858000">
                <a:moveTo>
                  <a:pt x="0" y="0"/>
                </a:moveTo>
                <a:lnTo>
                  <a:pt x="0" y="6858000"/>
                </a:lnTo>
              </a:path>
            </a:pathLst>
          </a:custGeom>
          <a:noFill/>
          <a:ln w="4762">
            <a:solidFill>
              <a:srgbClr val="D7EAFF">
                <a:alpha val="22000"/>
              </a:srgbClr>
            </a:solidFill>
          </a:ln>
        </p:spPr>
      </p:sp>
      <p:sp>
        <p:nvSpPr>
          <p:cNvPr id="24" name="Line 24"/>
          <p:cNvSpPr/>
          <p:nvPr/>
        </p:nvSpPr>
        <p:spPr>
          <a:xfrm>
            <a:off x="9906000" y="0"/>
            <a:ext cx="9525" cy="6858000"/>
          </a:xfrm>
          <a:custGeom>
            <a:avLst/>
            <a:gdLst/>
            <a:ahLst/>
            <a:cxnLst/>
            <a:rect l="l" t="t" r="r" b="b"/>
            <a:pathLst>
              <a:path w="9525" h="6858000">
                <a:moveTo>
                  <a:pt x="0" y="0"/>
                </a:moveTo>
                <a:lnTo>
                  <a:pt x="0" y="6858000"/>
                </a:lnTo>
              </a:path>
            </a:pathLst>
          </a:custGeom>
          <a:noFill/>
          <a:ln w="4762">
            <a:solidFill>
              <a:srgbClr val="D7EAFF">
                <a:alpha val="22000"/>
              </a:srgbClr>
            </a:solidFill>
          </a:ln>
        </p:spPr>
      </p:sp>
      <p:sp>
        <p:nvSpPr>
          <p:cNvPr id="25" name="Line 25"/>
          <p:cNvSpPr/>
          <p:nvPr/>
        </p:nvSpPr>
        <p:spPr>
          <a:xfrm>
            <a:off x="10668000" y="0"/>
            <a:ext cx="9525" cy="6858000"/>
          </a:xfrm>
          <a:custGeom>
            <a:avLst/>
            <a:gdLst/>
            <a:ahLst/>
            <a:cxnLst/>
            <a:rect l="l" t="t" r="r" b="b"/>
            <a:pathLst>
              <a:path w="9525" h="6858000">
                <a:moveTo>
                  <a:pt x="0" y="0"/>
                </a:moveTo>
                <a:lnTo>
                  <a:pt x="0" y="6858000"/>
                </a:lnTo>
              </a:path>
            </a:pathLst>
          </a:custGeom>
          <a:noFill/>
          <a:ln w="4762">
            <a:solidFill>
              <a:srgbClr val="D7EAFF">
                <a:alpha val="22000"/>
              </a:srgbClr>
            </a:solidFill>
          </a:ln>
        </p:spPr>
      </p:sp>
      <p:sp>
        <p:nvSpPr>
          <p:cNvPr id="26" name="Line 26"/>
          <p:cNvSpPr/>
          <p:nvPr/>
        </p:nvSpPr>
        <p:spPr>
          <a:xfrm>
            <a:off x="11430000" y="0"/>
            <a:ext cx="9525" cy="6858000"/>
          </a:xfrm>
          <a:custGeom>
            <a:avLst/>
            <a:gdLst/>
            <a:ahLst/>
            <a:cxnLst/>
            <a:rect l="l" t="t" r="r" b="b"/>
            <a:pathLst>
              <a:path w="9525" h="6858000">
                <a:moveTo>
                  <a:pt x="0" y="0"/>
                </a:moveTo>
                <a:lnTo>
                  <a:pt x="0" y="6858000"/>
                </a:lnTo>
              </a:path>
            </a:pathLst>
          </a:custGeom>
          <a:noFill/>
          <a:ln w="4762">
            <a:solidFill>
              <a:srgbClr val="D7EAFF">
                <a:alpha val="22000"/>
              </a:srgbClr>
            </a:solidFill>
          </a:ln>
        </p:spPr>
      </p:sp>
      <p:sp>
        <p:nvSpPr>
          <p:cNvPr id="27" name="Line 27"/>
          <p:cNvSpPr/>
          <p:nvPr/>
        </p:nvSpPr>
        <p:spPr>
          <a:xfrm>
            <a:off x="0" y="762000"/>
            <a:ext cx="12192000" cy="9525"/>
          </a:xfrm>
          <a:custGeom>
            <a:avLst/>
            <a:gdLst/>
            <a:ahLst/>
            <a:cxnLst/>
            <a:rect l="l" t="t" r="r" b="b"/>
            <a:pathLst>
              <a:path w="12192000" h="9525">
                <a:moveTo>
                  <a:pt x="0" y="0"/>
                </a:moveTo>
                <a:lnTo>
                  <a:pt x="12192000" y="0"/>
                </a:lnTo>
              </a:path>
            </a:pathLst>
          </a:custGeom>
          <a:noFill/>
          <a:ln w="4762">
            <a:solidFill>
              <a:srgbClr val="D7EAFF">
                <a:alpha val="22000"/>
              </a:srgbClr>
            </a:solidFill>
          </a:ln>
        </p:spPr>
      </p:sp>
      <p:sp>
        <p:nvSpPr>
          <p:cNvPr id="28" name="Line 28"/>
          <p:cNvSpPr/>
          <p:nvPr/>
        </p:nvSpPr>
        <p:spPr>
          <a:xfrm>
            <a:off x="0" y="1524000"/>
            <a:ext cx="12192000" cy="9525"/>
          </a:xfrm>
          <a:custGeom>
            <a:avLst/>
            <a:gdLst/>
            <a:ahLst/>
            <a:cxnLst/>
            <a:rect l="l" t="t" r="r" b="b"/>
            <a:pathLst>
              <a:path w="12192000" h="9525">
                <a:moveTo>
                  <a:pt x="0" y="0"/>
                </a:moveTo>
                <a:lnTo>
                  <a:pt x="12192000" y="0"/>
                </a:lnTo>
              </a:path>
            </a:pathLst>
          </a:custGeom>
          <a:noFill/>
          <a:ln w="4762">
            <a:solidFill>
              <a:srgbClr val="D7EAFF">
                <a:alpha val="22000"/>
              </a:srgbClr>
            </a:solidFill>
          </a:ln>
        </p:spPr>
      </p:sp>
      <p:sp>
        <p:nvSpPr>
          <p:cNvPr id="29" name="Line 29"/>
          <p:cNvSpPr/>
          <p:nvPr/>
        </p:nvSpPr>
        <p:spPr>
          <a:xfrm>
            <a:off x="0" y="2286000"/>
            <a:ext cx="12192000" cy="9525"/>
          </a:xfrm>
          <a:custGeom>
            <a:avLst/>
            <a:gdLst/>
            <a:ahLst/>
            <a:cxnLst/>
            <a:rect l="l" t="t" r="r" b="b"/>
            <a:pathLst>
              <a:path w="12192000" h="9525">
                <a:moveTo>
                  <a:pt x="0" y="0"/>
                </a:moveTo>
                <a:lnTo>
                  <a:pt x="12192000" y="0"/>
                </a:lnTo>
              </a:path>
            </a:pathLst>
          </a:custGeom>
          <a:noFill/>
          <a:ln w="4762">
            <a:solidFill>
              <a:srgbClr val="D7EAFF">
                <a:alpha val="22000"/>
              </a:srgbClr>
            </a:solidFill>
          </a:ln>
        </p:spPr>
      </p:sp>
      <p:sp>
        <p:nvSpPr>
          <p:cNvPr id="30" name="Line 30"/>
          <p:cNvSpPr/>
          <p:nvPr/>
        </p:nvSpPr>
        <p:spPr>
          <a:xfrm>
            <a:off x="0" y="3048000"/>
            <a:ext cx="12192000" cy="9525"/>
          </a:xfrm>
          <a:custGeom>
            <a:avLst/>
            <a:gdLst/>
            <a:ahLst/>
            <a:cxnLst/>
            <a:rect l="l" t="t" r="r" b="b"/>
            <a:pathLst>
              <a:path w="12192000" h="9525">
                <a:moveTo>
                  <a:pt x="0" y="0"/>
                </a:moveTo>
                <a:lnTo>
                  <a:pt x="12192000" y="0"/>
                </a:lnTo>
              </a:path>
            </a:pathLst>
          </a:custGeom>
          <a:noFill/>
          <a:ln w="4762">
            <a:solidFill>
              <a:srgbClr val="D7EAFF">
                <a:alpha val="22000"/>
              </a:srgbClr>
            </a:solidFill>
          </a:ln>
        </p:spPr>
      </p:sp>
      <p:sp>
        <p:nvSpPr>
          <p:cNvPr id="31" name="Line 31"/>
          <p:cNvSpPr/>
          <p:nvPr/>
        </p:nvSpPr>
        <p:spPr>
          <a:xfrm>
            <a:off x="0" y="3810000"/>
            <a:ext cx="12192000" cy="9525"/>
          </a:xfrm>
          <a:custGeom>
            <a:avLst/>
            <a:gdLst/>
            <a:ahLst/>
            <a:cxnLst/>
            <a:rect l="l" t="t" r="r" b="b"/>
            <a:pathLst>
              <a:path w="12192000" h="9525">
                <a:moveTo>
                  <a:pt x="0" y="0"/>
                </a:moveTo>
                <a:lnTo>
                  <a:pt x="12192000" y="0"/>
                </a:lnTo>
              </a:path>
            </a:pathLst>
          </a:custGeom>
          <a:noFill/>
          <a:ln w="4762">
            <a:solidFill>
              <a:srgbClr val="D7EAFF">
                <a:alpha val="22000"/>
              </a:srgbClr>
            </a:solidFill>
          </a:ln>
        </p:spPr>
      </p:sp>
      <p:sp>
        <p:nvSpPr>
          <p:cNvPr id="32" name="Line 32"/>
          <p:cNvSpPr/>
          <p:nvPr/>
        </p:nvSpPr>
        <p:spPr>
          <a:xfrm>
            <a:off x="0" y="4572000"/>
            <a:ext cx="12192000" cy="9525"/>
          </a:xfrm>
          <a:custGeom>
            <a:avLst/>
            <a:gdLst/>
            <a:ahLst/>
            <a:cxnLst/>
            <a:rect l="l" t="t" r="r" b="b"/>
            <a:pathLst>
              <a:path w="12192000" h="9525">
                <a:moveTo>
                  <a:pt x="0" y="0"/>
                </a:moveTo>
                <a:lnTo>
                  <a:pt x="12192000" y="0"/>
                </a:lnTo>
              </a:path>
            </a:pathLst>
          </a:custGeom>
          <a:noFill/>
          <a:ln w="4762">
            <a:solidFill>
              <a:srgbClr val="D7EAFF">
                <a:alpha val="22000"/>
              </a:srgbClr>
            </a:solidFill>
          </a:ln>
        </p:spPr>
      </p:sp>
      <p:sp>
        <p:nvSpPr>
          <p:cNvPr id="33" name="Line 33"/>
          <p:cNvSpPr/>
          <p:nvPr/>
        </p:nvSpPr>
        <p:spPr>
          <a:xfrm>
            <a:off x="0" y="5334000"/>
            <a:ext cx="12192000" cy="9525"/>
          </a:xfrm>
          <a:custGeom>
            <a:avLst/>
            <a:gdLst/>
            <a:ahLst/>
            <a:cxnLst/>
            <a:rect l="l" t="t" r="r" b="b"/>
            <a:pathLst>
              <a:path w="12192000" h="9525">
                <a:moveTo>
                  <a:pt x="0" y="0"/>
                </a:moveTo>
                <a:lnTo>
                  <a:pt x="12192000" y="0"/>
                </a:lnTo>
              </a:path>
            </a:pathLst>
          </a:custGeom>
          <a:noFill/>
          <a:ln w="4762">
            <a:solidFill>
              <a:srgbClr val="D7EAFF">
                <a:alpha val="22000"/>
              </a:srgbClr>
            </a:solidFill>
          </a:ln>
        </p:spPr>
      </p:sp>
      <p:sp>
        <p:nvSpPr>
          <p:cNvPr id="34" name="Line 34"/>
          <p:cNvSpPr/>
          <p:nvPr/>
        </p:nvSpPr>
        <p:spPr>
          <a:xfrm>
            <a:off x="0" y="6096000"/>
            <a:ext cx="12192000" cy="9525"/>
          </a:xfrm>
          <a:custGeom>
            <a:avLst/>
            <a:gdLst/>
            <a:ahLst/>
            <a:cxnLst/>
            <a:rect l="l" t="t" r="r" b="b"/>
            <a:pathLst>
              <a:path w="12192000" h="9525">
                <a:moveTo>
                  <a:pt x="0" y="0"/>
                </a:moveTo>
                <a:lnTo>
                  <a:pt x="12192000" y="0"/>
                </a:lnTo>
              </a:path>
            </a:pathLst>
          </a:custGeom>
          <a:noFill/>
          <a:ln w="4762">
            <a:solidFill>
              <a:srgbClr val="D7EAFF">
                <a:alpha val="22000"/>
              </a:srgbClr>
            </a:solidFill>
          </a:ln>
        </p:spPr>
      </p:sp>
      <p:grpSp>
        <p:nvGrpSpPr>
          <p:cNvPr id="99" name="Group 99"/>
          <p:cNvGrpSpPr/>
          <p:nvPr/>
        </p:nvGrpSpPr>
        <p:grpSpPr>
          <a:xfrm>
            <a:off x="0" y="0"/>
            <a:ext cx="12192000" cy="6781800"/>
            <a:chOff x="0" y="0"/>
            <a:chExt cx="12192000" cy="6781800"/>
          </a:xfrm>
        </p:grpSpPr>
        <p:sp>
          <p:nvSpPr>
            <p:cNvPr id="35" name="Rectangle 35"/>
            <p:cNvSpPr/>
            <p:nvPr/>
          </p:nvSpPr>
          <p:spPr>
            <a:xfrm>
              <a:off x="0" y="0"/>
              <a:ext cx="12192000" cy="47625"/>
            </a:xfrm>
            <a:prstGeom prst="rect">
              <a:avLst/>
            </a:prstGeom>
            <a:gradFill>
              <a:gsLst>
                <a:gs pos="0">
                  <a:srgbClr val="0B57D0"/>
                </a:gs>
                <a:gs pos="52000">
                  <a:srgbClr val="26A7FF"/>
                </a:gs>
                <a:gs pos="100000">
                  <a:srgbClr val="00D4FF"/>
                </a:gs>
              </a:gsLst>
              <a:lin ang="0" scaled="1"/>
            </a:gradFill>
            <a:ln>
              <a:noFill/>
            </a:ln>
          </p:spPr>
        </p:sp>
        <p:sp>
          <p:nvSpPr>
            <p:cNvPr id="36" name="TextBox 36"/>
            <p:cNvSpPr txBox="1"/>
            <p:nvPr/>
          </p:nvSpPr>
          <p:spPr>
            <a:xfrm>
              <a:off x="504825" y="233362"/>
              <a:ext cx="3723005" cy="346075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2250" b="1" dirty="0">
                  <a:solidFill>
                    <a:srgbClr val="102033"/>
                  </a:solidFill>
                  <a:latin typeface="MiSans Heavy" panose="00000A00000000000000" charset="-122"/>
                  <a:ea typeface="MiSans Heavy" panose="00000A00000000000000" charset="-122"/>
                  <a:cs typeface="等线" panose="02010600030101010101" charset="-122"/>
                </a:rPr>
                <a:t>产品原型设计：核心界面展示</a:t>
              </a:r>
              <a:endParaRPr lang="zh-CN" sz="2250" b="1" dirty="0">
                <a:solidFill>
                  <a:srgbClr val="102033"/>
                </a:solidFill>
                <a:latin typeface="MiSans Heavy" panose="00000A00000000000000" charset="-122"/>
                <a:ea typeface="MiSans Heavy" panose="00000A00000000000000" charset="-122"/>
                <a:cs typeface="等线" panose="02010600030101010101" charset="-122"/>
              </a:endParaRPr>
            </a:p>
          </p:txBody>
        </p:sp>
        <p:sp>
          <p:nvSpPr>
            <p:cNvPr id="37" name="TextBox 37"/>
            <p:cNvSpPr txBox="1"/>
            <p:nvPr/>
          </p:nvSpPr>
          <p:spPr>
            <a:xfrm>
              <a:off x="521970" y="645795"/>
              <a:ext cx="809625" cy="13843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00" b="1" dirty="0">
                  <a:solidFill>
                    <a:srgbClr val="0B57D0"/>
                  </a:solidFill>
                  <a:latin typeface="金山云技术体" charset="-122"/>
                  <a:ea typeface="金山云技术体" charset="-122"/>
                  <a:cs typeface="等线" panose="02010600030101010101" charset="-122"/>
                </a:rPr>
                <a:t>PROTOTYPE UI</a:t>
              </a:r>
              <a:endParaRPr lang="zh-CN" sz="900" b="1" dirty="0">
                <a:solidFill>
                  <a:srgbClr val="0B57D0"/>
                </a:solidFill>
                <a:latin typeface="金山云技术体" charset="-122"/>
                <a:ea typeface="金山云技术体" charset="-122"/>
                <a:cs typeface="等线" panose="02010600030101010101" charset="-122"/>
              </a:endParaRPr>
            </a:p>
          </p:txBody>
        </p:sp>
        <p:sp>
          <p:nvSpPr>
            <p:cNvPr id="38" name="Line 38"/>
            <p:cNvSpPr/>
            <p:nvPr/>
          </p:nvSpPr>
          <p:spPr>
            <a:xfrm>
              <a:off x="533400" y="876300"/>
              <a:ext cx="11125200" cy="9525"/>
            </a:xfrm>
            <a:custGeom>
              <a:avLst/>
              <a:gdLst/>
              <a:ahLst/>
              <a:cxnLst/>
              <a:rect l="l" t="t" r="r" b="b"/>
              <a:pathLst>
                <a:path w="11125200" h="9525">
                  <a:moveTo>
                    <a:pt x="0" y="0"/>
                  </a:moveTo>
                  <a:lnTo>
                    <a:pt x="11125200" y="0"/>
                  </a:lnTo>
                </a:path>
              </a:pathLst>
            </a:custGeom>
            <a:noFill/>
            <a:ln w="11430">
              <a:solidFill>
                <a:srgbClr val="BFD9F4"/>
              </a:solidFill>
            </a:ln>
          </p:spPr>
        </p:sp>
        <p:sp>
          <p:nvSpPr>
            <p:cNvPr id="39" name="Rectangle 39"/>
            <p:cNvSpPr/>
            <p:nvPr/>
          </p:nvSpPr>
          <p:spPr>
            <a:xfrm>
              <a:off x="533400" y="1028700"/>
              <a:ext cx="95250" cy="95250"/>
            </a:xfrm>
            <a:prstGeom prst="roundRect">
              <a:avLst>
                <a:gd name="adj" fmla="val 50000"/>
              </a:avLst>
            </a:prstGeom>
            <a:solidFill>
              <a:srgbClr val="00D4FF"/>
            </a:solidFill>
            <a:ln>
              <a:noFill/>
            </a:ln>
          </p:spPr>
        </p:sp>
        <p:sp>
          <p:nvSpPr>
            <p:cNvPr id="40" name="TextBox 40"/>
            <p:cNvSpPr txBox="1"/>
            <p:nvPr/>
          </p:nvSpPr>
          <p:spPr>
            <a:xfrm>
              <a:off x="765810" y="1003935"/>
              <a:ext cx="3978910" cy="18415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00" b="1" dirty="0">
                  <a:solidFill>
                    <a:srgbClr val="51677F"/>
                  </a:solidFill>
                  <a:latin typeface="MiSans Normal" panose="00000500000000000000" charset="-122"/>
                  <a:ea typeface="MiSans Normal" panose="00000500000000000000" charset="-122"/>
                  <a:cs typeface="等线" panose="02010600030101010101" charset="-122"/>
                </a:rPr>
                <a:t>原型重点展示记忆、规划、陪伴和复盘如何形成完整闭环。</a:t>
              </a:r>
              <a:endParaRPr lang="zh-CN" sz="1200" b="1" dirty="0">
                <a:solidFill>
                  <a:srgbClr val="51677F"/>
                </a:solidFill>
                <a:latin typeface="MiSans Normal" panose="00000500000000000000" charset="-122"/>
                <a:ea typeface="MiSans Normal" panose="00000500000000000000" charset="-122"/>
                <a:cs typeface="等线" panose="02010600030101010101" charset="-122"/>
              </a:endParaRPr>
            </a:p>
          </p:txBody>
        </p:sp>
        <p:sp>
          <p:nvSpPr>
            <p:cNvPr id="41" name="Rectangle 41"/>
            <p:cNvSpPr/>
            <p:nvPr/>
          </p:nvSpPr>
          <p:spPr>
            <a:xfrm>
              <a:off x="495300" y="1581150"/>
              <a:ext cx="11353800" cy="935990"/>
            </a:xfrm>
            <a:prstGeom prst="roundRect">
              <a:avLst>
                <a:gd name="adj" fmla="val 17949"/>
              </a:avLst>
            </a:prstGeom>
            <a:solidFill>
              <a:srgbClr val="0B57D0">
                <a:alpha val="5000"/>
              </a:srgbClr>
            </a:solidFill>
            <a:ln>
              <a:noFill/>
            </a:ln>
          </p:spPr>
        </p:sp>
        <p:sp>
          <p:nvSpPr>
            <p:cNvPr id="42" name="Rectangle 42"/>
            <p:cNvSpPr/>
            <p:nvPr/>
          </p:nvSpPr>
          <p:spPr>
            <a:xfrm>
              <a:off x="419100" y="1485900"/>
              <a:ext cx="11353800" cy="848995"/>
            </a:xfrm>
            <a:prstGeom prst="roundRect">
              <a:avLst>
                <a:gd name="adj" fmla="val 17949"/>
              </a:avLst>
            </a:prstGeom>
            <a:solidFill>
              <a:srgbClr val="FFFFFF"/>
            </a:solidFill>
            <a:ln w="11430">
              <a:solidFill>
                <a:srgbClr val="BFD9F4"/>
              </a:solidFill>
            </a:ln>
          </p:spPr>
        </p:sp>
        <p:sp>
          <p:nvSpPr>
            <p:cNvPr id="43" name="Line 43"/>
            <p:cNvSpPr/>
            <p:nvPr/>
          </p:nvSpPr>
          <p:spPr>
            <a:xfrm>
              <a:off x="590550" y="1495425"/>
              <a:ext cx="1238250" cy="9525"/>
            </a:xfrm>
            <a:custGeom>
              <a:avLst/>
              <a:gdLst/>
              <a:ahLst/>
              <a:cxnLst/>
              <a:rect l="l" t="t" r="r" b="b"/>
              <a:pathLst>
                <a:path w="1238250" h="9525">
                  <a:moveTo>
                    <a:pt x="0" y="0"/>
                  </a:moveTo>
                  <a:lnTo>
                    <a:pt x="1238250" y="0"/>
                  </a:lnTo>
                </a:path>
              </a:pathLst>
            </a:custGeom>
            <a:noFill/>
            <a:ln w="19050">
              <a:solidFill>
                <a:srgbClr val="26A7FF">
                  <a:alpha val="90000"/>
                </a:srgbClr>
              </a:solidFill>
            </a:ln>
          </p:spPr>
        </p:sp>
        <p:sp>
          <p:nvSpPr>
            <p:cNvPr id="44" name="Rectangle 44"/>
            <p:cNvSpPr/>
            <p:nvPr/>
          </p:nvSpPr>
          <p:spPr>
            <a:xfrm>
              <a:off x="590550" y="1657350"/>
              <a:ext cx="285750" cy="285750"/>
            </a:xfrm>
            <a:prstGeom prst="roundRect">
              <a:avLst>
                <a:gd name="adj" fmla="val 33333"/>
              </a:avLst>
            </a:prstGeom>
            <a:solidFill>
              <a:srgbClr val="E7F2FF"/>
            </a:solidFill>
            <a:ln>
              <a:noFill/>
            </a:ln>
          </p:spPr>
        </p:sp>
        <p:grpSp>
          <p:nvGrpSpPr>
            <p:cNvPr id="48" name="Group 48"/>
            <p:cNvGrpSpPr/>
            <p:nvPr/>
          </p:nvGrpSpPr>
          <p:grpSpPr>
            <a:xfrm>
              <a:off x="661988" y="1728788"/>
              <a:ext cx="142874" cy="142875"/>
              <a:chOff x="661988" y="1728788"/>
              <a:chExt cx="142874" cy="142875"/>
            </a:xfrm>
          </p:grpSpPr>
          <p:sp>
            <p:nvSpPr>
              <p:cNvPr id="45" name="Freeform 45"/>
              <p:cNvSpPr/>
              <p:nvPr/>
            </p:nvSpPr>
            <p:spPr>
              <a:xfrm>
                <a:off x="661988" y="1728788"/>
                <a:ext cx="63500" cy="55563"/>
              </a:xfrm>
              <a:custGeom>
                <a:avLst/>
                <a:gdLst/>
                <a:ahLst/>
                <a:cxnLst/>
                <a:rect l="l" t="t" r="r" b="b"/>
                <a:pathLst>
                  <a:path w="63500" h="55563">
                    <a:moveTo>
                      <a:pt x="39688" y="0"/>
                    </a:moveTo>
                    <a:cubicBezTo>
                      <a:pt x="52839" y="0"/>
                      <a:pt x="63500" y="10661"/>
                      <a:pt x="63500" y="23812"/>
                    </a:cubicBezTo>
                    <a:lnTo>
                      <a:pt x="63500" y="31750"/>
                    </a:lnTo>
                    <a:cubicBezTo>
                      <a:pt x="63500" y="44901"/>
                      <a:pt x="52839" y="55563"/>
                      <a:pt x="39688" y="55563"/>
                    </a:cubicBezTo>
                    <a:lnTo>
                      <a:pt x="23812" y="55563"/>
                    </a:lnTo>
                    <a:cubicBezTo>
                      <a:pt x="10661" y="55563"/>
                      <a:pt x="0" y="44901"/>
                      <a:pt x="0" y="31750"/>
                    </a:cubicBezTo>
                    <a:lnTo>
                      <a:pt x="0" y="23812"/>
                    </a:lnTo>
                    <a:cubicBezTo>
                      <a:pt x="0" y="10661"/>
                      <a:pt x="10661" y="0"/>
                      <a:pt x="23812" y="0"/>
                    </a:cubicBezTo>
                    <a:close/>
                  </a:path>
                </a:pathLst>
              </a:custGeom>
              <a:solidFill>
                <a:srgbClr val="0B57D0"/>
              </a:solidFill>
              <a:ln>
                <a:noFill/>
              </a:ln>
            </p:spPr>
          </p:sp>
          <p:sp>
            <p:nvSpPr>
              <p:cNvPr id="46" name="Freeform 46"/>
              <p:cNvSpPr/>
              <p:nvPr/>
            </p:nvSpPr>
            <p:spPr>
              <a:xfrm>
                <a:off x="661988" y="1800225"/>
                <a:ext cx="63500" cy="71438"/>
              </a:xfrm>
              <a:custGeom>
                <a:avLst/>
                <a:gdLst/>
                <a:ahLst/>
                <a:cxnLst/>
                <a:rect l="l" t="t" r="r" b="b"/>
                <a:pathLst>
                  <a:path w="63500" h="71438">
                    <a:moveTo>
                      <a:pt x="39688" y="0"/>
                    </a:moveTo>
                    <a:cubicBezTo>
                      <a:pt x="52839" y="0"/>
                      <a:pt x="63500" y="10661"/>
                      <a:pt x="63500" y="23812"/>
                    </a:cubicBezTo>
                    <a:lnTo>
                      <a:pt x="63500" y="47625"/>
                    </a:lnTo>
                    <a:cubicBezTo>
                      <a:pt x="63500" y="60776"/>
                      <a:pt x="52839" y="71438"/>
                      <a:pt x="39688" y="71438"/>
                    </a:cubicBezTo>
                    <a:lnTo>
                      <a:pt x="23812" y="71438"/>
                    </a:lnTo>
                    <a:cubicBezTo>
                      <a:pt x="10661" y="71438"/>
                      <a:pt x="0" y="60776"/>
                      <a:pt x="0" y="47625"/>
                    </a:cubicBezTo>
                    <a:lnTo>
                      <a:pt x="0" y="23812"/>
                    </a:lnTo>
                    <a:cubicBezTo>
                      <a:pt x="0" y="10661"/>
                      <a:pt x="10661" y="0"/>
                      <a:pt x="23812" y="0"/>
                    </a:cubicBezTo>
                    <a:close/>
                  </a:path>
                </a:pathLst>
              </a:custGeom>
              <a:solidFill>
                <a:srgbClr val="0B57D0"/>
              </a:solidFill>
              <a:ln>
                <a:noFill/>
              </a:ln>
            </p:spPr>
          </p:sp>
          <p:sp>
            <p:nvSpPr>
              <p:cNvPr id="47" name="Freeform 47"/>
              <p:cNvSpPr/>
              <p:nvPr/>
            </p:nvSpPr>
            <p:spPr>
              <a:xfrm>
                <a:off x="741362" y="1728788"/>
                <a:ext cx="63500" cy="142875"/>
              </a:xfrm>
              <a:custGeom>
                <a:avLst/>
                <a:gdLst/>
                <a:ahLst/>
                <a:cxnLst/>
                <a:rect l="l" t="t" r="r" b="b"/>
                <a:pathLst>
                  <a:path w="63500" h="142875">
                    <a:moveTo>
                      <a:pt x="39688" y="0"/>
                    </a:moveTo>
                    <a:cubicBezTo>
                      <a:pt x="52839" y="0"/>
                      <a:pt x="63500" y="10661"/>
                      <a:pt x="63500" y="23812"/>
                    </a:cubicBezTo>
                    <a:lnTo>
                      <a:pt x="63500" y="119062"/>
                    </a:lnTo>
                    <a:cubicBezTo>
                      <a:pt x="63500" y="132214"/>
                      <a:pt x="52839" y="142875"/>
                      <a:pt x="39688" y="142875"/>
                    </a:cubicBezTo>
                    <a:lnTo>
                      <a:pt x="23812" y="142875"/>
                    </a:lnTo>
                    <a:cubicBezTo>
                      <a:pt x="10661" y="142875"/>
                      <a:pt x="0" y="132214"/>
                      <a:pt x="0" y="119062"/>
                    </a:cubicBezTo>
                    <a:lnTo>
                      <a:pt x="0" y="23812"/>
                    </a:lnTo>
                    <a:cubicBezTo>
                      <a:pt x="0" y="10661"/>
                      <a:pt x="10661" y="0"/>
                      <a:pt x="23812" y="0"/>
                    </a:cubicBezTo>
                    <a:close/>
                  </a:path>
                </a:pathLst>
              </a:custGeom>
              <a:solidFill>
                <a:srgbClr val="0B57D0"/>
              </a:solidFill>
              <a:ln>
                <a:noFill/>
              </a:ln>
            </p:spPr>
          </p:sp>
        </p:grpSp>
        <p:sp>
          <p:nvSpPr>
            <p:cNvPr id="49" name="TextBox 49"/>
            <p:cNvSpPr txBox="1"/>
            <p:nvPr/>
          </p:nvSpPr>
          <p:spPr>
            <a:xfrm>
              <a:off x="953452" y="1697196"/>
              <a:ext cx="1223010" cy="245745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600" b="1" dirty="0">
                  <a:solidFill>
                    <a:srgbClr val="102033"/>
                  </a:solidFill>
                  <a:latin typeface="MiSans Normal" panose="00000500000000000000" charset="-122"/>
                  <a:ea typeface="MiSans Normal" panose="00000500000000000000" charset="-122"/>
                  <a:cs typeface="等线" panose="02010600030101010101" charset="-122"/>
                </a:rPr>
                <a:t>界面风格说明</a:t>
              </a:r>
              <a:endParaRPr lang="zh-CN" sz="1600" b="1" dirty="0">
                <a:solidFill>
                  <a:srgbClr val="102033"/>
                </a:solidFill>
                <a:latin typeface="MiSans Normal" panose="00000500000000000000" charset="-122"/>
                <a:ea typeface="MiSans Normal" panose="00000500000000000000" charset="-122"/>
                <a:cs typeface="等线" panose="02010600030101010101" charset="-122"/>
              </a:endParaRPr>
            </a:p>
          </p:txBody>
        </p:sp>
        <p:sp>
          <p:nvSpPr>
            <p:cNvPr id="50" name="TextBox 50"/>
            <p:cNvSpPr txBox="1"/>
            <p:nvPr/>
          </p:nvSpPr>
          <p:spPr>
            <a:xfrm>
              <a:off x="633412" y="2050256"/>
              <a:ext cx="5596890" cy="173355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125" dirty="0">
                  <a:solidFill>
                    <a:srgbClr val="51677F"/>
                  </a:solidFill>
                  <a:latin typeface="MiSans Normal" panose="00000500000000000000" charset="-122"/>
                  <a:ea typeface="MiSans Normal" panose="00000500000000000000" charset="-122"/>
                  <a:cs typeface="等线" panose="02010600030101010101" charset="-122"/>
                </a:rPr>
                <a:t>整体采用蓝白清爽、圆角轻卡片和移动端优先的设计语言，蓝小心始终作为主交互对象。</a:t>
              </a:r>
              <a:endParaRPr lang="zh-CN" sz="1125" dirty="0">
                <a:solidFill>
                  <a:srgbClr val="51677F"/>
                </a:solidFill>
                <a:latin typeface="MiSans Normal" panose="00000500000000000000" charset="-122"/>
                <a:ea typeface="MiSans Normal" panose="00000500000000000000" charset="-122"/>
                <a:cs typeface="等线" panose="02010600030101010101" charset="-122"/>
              </a:endParaRPr>
            </a:p>
          </p:txBody>
        </p:sp>
        <p:sp>
          <p:nvSpPr>
            <p:cNvPr id="51" name="Rectangle 51"/>
            <p:cNvSpPr/>
            <p:nvPr/>
          </p:nvSpPr>
          <p:spPr>
            <a:xfrm>
              <a:off x="781050" y="2686050"/>
              <a:ext cx="1809750" cy="2895600"/>
            </a:xfrm>
            <a:prstGeom prst="roundRect">
              <a:avLst>
                <a:gd name="adj" fmla="val 13684"/>
              </a:avLst>
            </a:prstGeom>
            <a:solidFill>
              <a:srgbClr val="082044"/>
            </a:solidFill>
            <a:ln>
              <a:noFill/>
            </a:ln>
          </p:spPr>
        </p:sp>
        <p:sp>
          <p:nvSpPr>
            <p:cNvPr id="52" name="Rectangle 52"/>
            <p:cNvSpPr/>
            <p:nvPr/>
          </p:nvSpPr>
          <p:spPr>
            <a:xfrm>
              <a:off x="857250" y="2762250"/>
              <a:ext cx="1657350" cy="2743200"/>
            </a:xfrm>
            <a:prstGeom prst="roundRect">
              <a:avLst>
                <a:gd name="adj" fmla="val 12069"/>
              </a:avLst>
            </a:prstGeom>
            <a:solidFill>
              <a:srgbClr val="FFFFFF"/>
            </a:solidFill>
            <a:ln>
              <a:noFill/>
            </a:ln>
          </p:spPr>
        </p:sp>
        <p:sp>
          <p:nvSpPr>
            <p:cNvPr id="53" name="Rectangle 53"/>
            <p:cNvSpPr/>
            <p:nvPr/>
          </p:nvSpPr>
          <p:spPr>
            <a:xfrm>
              <a:off x="990600" y="2914650"/>
              <a:ext cx="1390650" cy="285750"/>
            </a:xfrm>
            <a:prstGeom prst="roundRect">
              <a:avLst>
                <a:gd name="adj" fmla="val 40000"/>
              </a:avLst>
            </a:prstGeom>
            <a:solidFill>
              <a:srgbClr val="0B57D0"/>
            </a:solidFill>
            <a:ln>
              <a:noFill/>
            </a:ln>
          </p:spPr>
        </p:sp>
        <p:sp>
          <p:nvSpPr>
            <p:cNvPr id="54" name="TextBox 54"/>
            <p:cNvSpPr txBox="1"/>
            <p:nvPr/>
          </p:nvSpPr>
          <p:spPr>
            <a:xfrm>
              <a:off x="1300163" y="2975769"/>
              <a:ext cx="765175" cy="18415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00" b="1" dirty="0">
                  <a:solidFill>
                    <a:srgbClr val="FFFFFF"/>
                  </a:solidFill>
                  <a:latin typeface="MiSans Normal" panose="00000500000000000000" charset="-122"/>
                  <a:ea typeface="MiSans Normal" panose="00000500000000000000" charset="-122"/>
                  <a:cs typeface="等线" panose="02010600030101010101" charset="-122"/>
                </a:rPr>
                <a:t>蓝小心空间</a:t>
              </a:r>
              <a:endParaRPr lang="zh-CN" sz="1200" b="1" dirty="0">
                <a:solidFill>
                  <a:srgbClr val="FFFFFF"/>
                </a:solidFill>
                <a:latin typeface="MiSans Normal" panose="00000500000000000000" charset="-122"/>
                <a:ea typeface="MiSans Normal" panose="00000500000000000000" charset="-122"/>
                <a:cs typeface="等线" panose="02010600030101010101" charset="-122"/>
              </a:endParaRPr>
            </a:p>
          </p:txBody>
        </p:sp>
        <p:sp>
          <p:nvSpPr>
            <p:cNvPr id="55" name="Rectangle 55"/>
            <p:cNvSpPr/>
            <p:nvPr/>
          </p:nvSpPr>
          <p:spPr>
            <a:xfrm>
              <a:off x="1009650" y="3429000"/>
              <a:ext cx="1352550" cy="1390650"/>
            </a:xfrm>
            <a:prstGeom prst="roundRect">
              <a:avLst>
                <a:gd name="adj" fmla="val 9859"/>
              </a:avLst>
            </a:prstGeom>
            <a:solidFill>
              <a:srgbClr val="F8FCFF"/>
            </a:solidFill>
            <a:ln w="9525">
              <a:solidFill>
                <a:srgbClr val="C9E4FF"/>
              </a:solidFill>
              <a:custDash>
                <a:ds d="500000" sp="500000"/>
              </a:custDash>
            </a:ln>
          </p:spPr>
        </p:sp>
        <p:sp>
          <p:nvSpPr>
            <p:cNvPr id="56" name="TextBox 56"/>
            <p:cNvSpPr txBox="1"/>
            <p:nvPr/>
          </p:nvSpPr>
          <p:spPr>
            <a:xfrm>
              <a:off x="1622427" y="3830002"/>
              <a:ext cx="127000" cy="1612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endParaRPr lang="zh-CN" sz="1050" b="1" dirty="0">
                <a:solidFill>
                  <a:srgbClr val="0B57D0"/>
                </a:solidFill>
                <a:latin typeface="等线" panose="02010600030101010101" charset="-122"/>
                <a:ea typeface="微软雅黑" panose="020B0503020204020204" charset="-122"/>
                <a:cs typeface="等线" panose="02010600030101010101" charset="-122"/>
              </a:endParaRPr>
            </a:p>
          </p:txBody>
        </p:sp>
        <p:sp>
          <p:nvSpPr>
            <p:cNvPr id="57" name="TextBox 57"/>
            <p:cNvSpPr txBox="1"/>
            <p:nvPr/>
          </p:nvSpPr>
          <p:spPr>
            <a:xfrm>
              <a:off x="1017270" y="4893945"/>
              <a:ext cx="127000" cy="13843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endParaRPr lang="zh-CN" sz="900" dirty="0">
                <a:solidFill>
                  <a:srgbClr val="51677F"/>
                </a:solidFill>
                <a:latin typeface="等线" panose="02010600030101010101" charset="-122"/>
                <a:ea typeface="微软雅黑" panose="020B0503020204020204" charset="-122"/>
                <a:cs typeface="等线" panose="02010600030101010101" charset="-122"/>
              </a:endParaRPr>
            </a:p>
          </p:txBody>
        </p:sp>
        <p:sp>
          <p:nvSpPr>
            <p:cNvPr id="58" name="TextBox 58"/>
            <p:cNvSpPr txBox="1"/>
            <p:nvPr/>
          </p:nvSpPr>
          <p:spPr>
            <a:xfrm>
              <a:off x="1017270" y="5065395"/>
              <a:ext cx="127000" cy="13843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endParaRPr lang="zh-CN" sz="900" dirty="0">
                <a:solidFill>
                  <a:srgbClr val="51677F"/>
                </a:solidFill>
                <a:latin typeface="等线" panose="02010600030101010101" charset="-122"/>
                <a:ea typeface="微软雅黑" panose="020B0503020204020204" charset="-122"/>
                <a:cs typeface="等线" panose="02010600030101010101" charset="-122"/>
              </a:endParaRPr>
            </a:p>
          </p:txBody>
        </p:sp>
        <p:sp>
          <p:nvSpPr>
            <p:cNvPr id="59" name="Rectangle 59"/>
            <p:cNvSpPr/>
            <p:nvPr/>
          </p:nvSpPr>
          <p:spPr>
            <a:xfrm>
              <a:off x="2952750" y="2686050"/>
              <a:ext cx="1809750" cy="2895600"/>
            </a:xfrm>
            <a:prstGeom prst="roundRect">
              <a:avLst>
                <a:gd name="adj" fmla="val 13684"/>
              </a:avLst>
            </a:prstGeom>
            <a:solidFill>
              <a:srgbClr val="082044"/>
            </a:solidFill>
            <a:ln>
              <a:noFill/>
            </a:ln>
          </p:spPr>
        </p:sp>
        <p:sp>
          <p:nvSpPr>
            <p:cNvPr id="60" name="Rectangle 60"/>
            <p:cNvSpPr/>
            <p:nvPr/>
          </p:nvSpPr>
          <p:spPr>
            <a:xfrm>
              <a:off x="3028950" y="2762250"/>
              <a:ext cx="1657350" cy="2743200"/>
            </a:xfrm>
            <a:prstGeom prst="roundRect">
              <a:avLst>
                <a:gd name="adj" fmla="val 12069"/>
              </a:avLst>
            </a:prstGeom>
            <a:solidFill>
              <a:srgbClr val="FFFFFF"/>
            </a:solidFill>
            <a:ln>
              <a:noFill/>
            </a:ln>
          </p:spPr>
        </p:sp>
        <p:sp>
          <p:nvSpPr>
            <p:cNvPr id="61" name="Rectangle 61"/>
            <p:cNvSpPr/>
            <p:nvPr/>
          </p:nvSpPr>
          <p:spPr>
            <a:xfrm>
              <a:off x="3162300" y="2914650"/>
              <a:ext cx="1390650" cy="285750"/>
            </a:xfrm>
            <a:prstGeom prst="roundRect">
              <a:avLst>
                <a:gd name="adj" fmla="val 40000"/>
              </a:avLst>
            </a:prstGeom>
            <a:solidFill>
              <a:srgbClr val="26A7FF"/>
            </a:solidFill>
            <a:ln>
              <a:noFill/>
            </a:ln>
          </p:spPr>
        </p:sp>
        <p:sp>
          <p:nvSpPr>
            <p:cNvPr id="62" name="TextBox 62"/>
            <p:cNvSpPr txBox="1"/>
            <p:nvPr/>
          </p:nvSpPr>
          <p:spPr>
            <a:xfrm>
              <a:off x="3551238" y="2975769"/>
              <a:ext cx="612140" cy="18415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00" b="1" dirty="0">
                  <a:solidFill>
                    <a:srgbClr val="FFFFFF"/>
                  </a:solidFill>
                  <a:latin typeface="MiSans Normal" panose="00000500000000000000" charset="-122"/>
                  <a:ea typeface="MiSans Normal" panose="00000500000000000000" charset="-122"/>
                  <a:cs typeface="等线" panose="02010600030101010101" charset="-122"/>
                </a:rPr>
                <a:t>记忆列表</a:t>
              </a:r>
              <a:endParaRPr lang="zh-CN" sz="1200" b="1" dirty="0">
                <a:solidFill>
                  <a:srgbClr val="FFFFFF"/>
                </a:solidFill>
                <a:latin typeface="MiSans Normal" panose="00000500000000000000" charset="-122"/>
                <a:ea typeface="MiSans Normal" panose="00000500000000000000" charset="-122"/>
                <a:cs typeface="等线" panose="02010600030101010101" charset="-122"/>
              </a:endParaRPr>
            </a:p>
          </p:txBody>
        </p:sp>
        <p:sp>
          <p:nvSpPr>
            <p:cNvPr id="63" name="Rectangle 63"/>
            <p:cNvSpPr/>
            <p:nvPr/>
          </p:nvSpPr>
          <p:spPr>
            <a:xfrm>
              <a:off x="3181350" y="3429000"/>
              <a:ext cx="1352550" cy="1390650"/>
            </a:xfrm>
            <a:prstGeom prst="roundRect">
              <a:avLst>
                <a:gd name="adj" fmla="val 9859"/>
              </a:avLst>
            </a:prstGeom>
            <a:solidFill>
              <a:srgbClr val="F8FCFF"/>
            </a:solidFill>
            <a:ln w="9525">
              <a:solidFill>
                <a:srgbClr val="C9E4FF"/>
              </a:solidFill>
              <a:custDash>
                <a:ds d="500000" sp="500000"/>
              </a:custDash>
            </a:ln>
          </p:spPr>
        </p:sp>
        <p:sp>
          <p:nvSpPr>
            <p:cNvPr id="64" name="TextBox 64"/>
            <p:cNvSpPr txBox="1"/>
            <p:nvPr/>
          </p:nvSpPr>
          <p:spPr>
            <a:xfrm>
              <a:off x="3794126" y="3830002"/>
              <a:ext cx="127000" cy="1612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endParaRPr lang="zh-CN" sz="1050" b="1" dirty="0">
                <a:solidFill>
                  <a:srgbClr val="0B57D0"/>
                </a:solidFill>
                <a:latin typeface="等线" panose="02010600030101010101" charset="-122"/>
                <a:ea typeface="微软雅黑" panose="020B0503020204020204" charset="-122"/>
                <a:cs typeface="等线" panose="02010600030101010101" charset="-122"/>
              </a:endParaRPr>
            </a:p>
          </p:txBody>
        </p:sp>
        <p:sp>
          <p:nvSpPr>
            <p:cNvPr id="67" name="Rectangle 67"/>
            <p:cNvSpPr/>
            <p:nvPr/>
          </p:nvSpPr>
          <p:spPr>
            <a:xfrm>
              <a:off x="5124450" y="2686050"/>
              <a:ext cx="1809750" cy="2895600"/>
            </a:xfrm>
            <a:prstGeom prst="roundRect">
              <a:avLst>
                <a:gd name="adj" fmla="val 13684"/>
              </a:avLst>
            </a:prstGeom>
            <a:solidFill>
              <a:srgbClr val="082044"/>
            </a:solidFill>
            <a:ln>
              <a:noFill/>
            </a:ln>
          </p:spPr>
        </p:sp>
        <p:sp>
          <p:nvSpPr>
            <p:cNvPr id="68" name="Rectangle 68"/>
            <p:cNvSpPr/>
            <p:nvPr/>
          </p:nvSpPr>
          <p:spPr>
            <a:xfrm>
              <a:off x="5200650" y="2762250"/>
              <a:ext cx="1657350" cy="2743200"/>
            </a:xfrm>
            <a:prstGeom prst="roundRect">
              <a:avLst>
                <a:gd name="adj" fmla="val 12069"/>
              </a:avLst>
            </a:prstGeom>
            <a:solidFill>
              <a:srgbClr val="FFFFFF"/>
            </a:solidFill>
            <a:ln>
              <a:noFill/>
            </a:ln>
          </p:spPr>
        </p:sp>
        <p:sp>
          <p:nvSpPr>
            <p:cNvPr id="69" name="Rectangle 69"/>
            <p:cNvSpPr/>
            <p:nvPr/>
          </p:nvSpPr>
          <p:spPr>
            <a:xfrm>
              <a:off x="5334000" y="2914650"/>
              <a:ext cx="1390650" cy="285750"/>
            </a:xfrm>
            <a:prstGeom prst="roundRect">
              <a:avLst>
                <a:gd name="adj" fmla="val 40000"/>
              </a:avLst>
            </a:prstGeom>
            <a:solidFill>
              <a:srgbClr val="00D4FF"/>
            </a:solidFill>
            <a:ln>
              <a:noFill/>
            </a:ln>
          </p:spPr>
        </p:sp>
        <p:sp>
          <p:nvSpPr>
            <p:cNvPr id="70" name="TextBox 70"/>
            <p:cNvSpPr txBox="1"/>
            <p:nvPr/>
          </p:nvSpPr>
          <p:spPr>
            <a:xfrm>
              <a:off x="5646103" y="2975769"/>
              <a:ext cx="765175" cy="18415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00" b="1" dirty="0">
                  <a:solidFill>
                    <a:srgbClr val="FFFFFF"/>
                  </a:solidFill>
                  <a:latin typeface="MiSans Normal" panose="00000500000000000000" charset="-122"/>
                  <a:ea typeface="MiSans Normal" panose="00000500000000000000" charset="-122"/>
                  <a:cs typeface="等线" panose="02010600030101010101" charset="-122"/>
                </a:rPr>
                <a:t>重庆两日游</a:t>
              </a:r>
              <a:endParaRPr lang="zh-CN" sz="1200" b="1" dirty="0">
                <a:solidFill>
                  <a:srgbClr val="FFFFFF"/>
                </a:solidFill>
                <a:latin typeface="MiSans Normal" panose="00000500000000000000" charset="-122"/>
                <a:ea typeface="MiSans Normal" panose="00000500000000000000" charset="-122"/>
                <a:cs typeface="等线" panose="02010600030101010101" charset="-122"/>
              </a:endParaRPr>
            </a:p>
          </p:txBody>
        </p:sp>
        <p:sp>
          <p:nvSpPr>
            <p:cNvPr id="71" name="Rectangle 71"/>
            <p:cNvSpPr/>
            <p:nvPr/>
          </p:nvSpPr>
          <p:spPr>
            <a:xfrm>
              <a:off x="5353050" y="3429000"/>
              <a:ext cx="1352550" cy="1390650"/>
            </a:xfrm>
            <a:prstGeom prst="roundRect">
              <a:avLst>
                <a:gd name="adj" fmla="val 9859"/>
              </a:avLst>
            </a:prstGeom>
            <a:solidFill>
              <a:srgbClr val="F8FCFF"/>
            </a:solidFill>
            <a:ln w="9525">
              <a:solidFill>
                <a:srgbClr val="C9E4FF"/>
              </a:solidFill>
              <a:custDash>
                <a:ds d="500000" sp="500000"/>
              </a:custDash>
            </a:ln>
          </p:spPr>
        </p:sp>
        <p:sp>
          <p:nvSpPr>
            <p:cNvPr id="72" name="TextBox 72"/>
            <p:cNvSpPr txBox="1"/>
            <p:nvPr/>
          </p:nvSpPr>
          <p:spPr>
            <a:xfrm>
              <a:off x="5965827" y="3830002"/>
              <a:ext cx="127000" cy="1612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endParaRPr lang="zh-CN" sz="1050" b="1" dirty="0">
                <a:solidFill>
                  <a:srgbClr val="0B57D0"/>
                </a:solidFill>
                <a:latin typeface="等线" panose="02010600030101010101" charset="-122"/>
                <a:ea typeface="微软雅黑" panose="020B0503020204020204" charset="-122"/>
                <a:cs typeface="等线" panose="02010600030101010101" charset="-122"/>
              </a:endParaRPr>
            </a:p>
          </p:txBody>
        </p:sp>
        <p:sp>
          <p:nvSpPr>
            <p:cNvPr id="75" name="Rectangle 75"/>
            <p:cNvSpPr/>
            <p:nvPr/>
          </p:nvSpPr>
          <p:spPr>
            <a:xfrm>
              <a:off x="7296150" y="2686050"/>
              <a:ext cx="1809750" cy="2895600"/>
            </a:xfrm>
            <a:prstGeom prst="roundRect">
              <a:avLst>
                <a:gd name="adj" fmla="val 13684"/>
              </a:avLst>
            </a:prstGeom>
            <a:solidFill>
              <a:srgbClr val="082044"/>
            </a:solidFill>
            <a:ln>
              <a:noFill/>
            </a:ln>
          </p:spPr>
        </p:sp>
        <p:sp>
          <p:nvSpPr>
            <p:cNvPr id="76" name="Rectangle 76"/>
            <p:cNvSpPr/>
            <p:nvPr/>
          </p:nvSpPr>
          <p:spPr>
            <a:xfrm>
              <a:off x="7372350" y="2762250"/>
              <a:ext cx="1657350" cy="2743200"/>
            </a:xfrm>
            <a:prstGeom prst="roundRect">
              <a:avLst>
                <a:gd name="adj" fmla="val 12069"/>
              </a:avLst>
            </a:prstGeom>
            <a:solidFill>
              <a:srgbClr val="FFFFFF"/>
            </a:solidFill>
            <a:ln>
              <a:noFill/>
            </a:ln>
          </p:spPr>
        </p:sp>
        <p:sp>
          <p:nvSpPr>
            <p:cNvPr id="77" name="Rectangle 77"/>
            <p:cNvSpPr/>
            <p:nvPr/>
          </p:nvSpPr>
          <p:spPr>
            <a:xfrm>
              <a:off x="7505700" y="2914650"/>
              <a:ext cx="1390650" cy="285750"/>
            </a:xfrm>
            <a:prstGeom prst="roundRect">
              <a:avLst>
                <a:gd name="adj" fmla="val 40000"/>
              </a:avLst>
            </a:prstGeom>
            <a:solidFill>
              <a:srgbClr val="0B57D0"/>
            </a:solidFill>
            <a:ln>
              <a:noFill/>
            </a:ln>
          </p:spPr>
        </p:sp>
        <p:sp>
          <p:nvSpPr>
            <p:cNvPr id="78" name="TextBox 78"/>
            <p:cNvSpPr txBox="1"/>
            <p:nvPr/>
          </p:nvSpPr>
          <p:spPr>
            <a:xfrm>
              <a:off x="7894638" y="2975769"/>
              <a:ext cx="612140" cy="18415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00" b="1" dirty="0">
                  <a:solidFill>
                    <a:srgbClr val="FFFFFF"/>
                  </a:solidFill>
                  <a:latin typeface="MiSans Normal" panose="00000500000000000000" charset="-122"/>
                  <a:ea typeface="MiSans Normal" panose="00000500000000000000" charset="-122"/>
                  <a:cs typeface="等线" panose="02010600030101010101" charset="-122"/>
                </a:rPr>
                <a:t>主动提醒</a:t>
              </a:r>
              <a:endParaRPr lang="zh-CN" sz="1200" b="1" dirty="0">
                <a:solidFill>
                  <a:srgbClr val="FFFFFF"/>
                </a:solidFill>
                <a:latin typeface="MiSans Normal" panose="00000500000000000000" charset="-122"/>
                <a:ea typeface="MiSans Normal" panose="00000500000000000000" charset="-122"/>
                <a:cs typeface="等线" panose="02010600030101010101" charset="-122"/>
              </a:endParaRPr>
            </a:p>
          </p:txBody>
        </p:sp>
        <p:sp>
          <p:nvSpPr>
            <p:cNvPr id="79" name="Rectangle 79"/>
            <p:cNvSpPr/>
            <p:nvPr/>
          </p:nvSpPr>
          <p:spPr>
            <a:xfrm>
              <a:off x="7524750" y="3429000"/>
              <a:ext cx="1352550" cy="1390650"/>
            </a:xfrm>
            <a:prstGeom prst="roundRect">
              <a:avLst>
                <a:gd name="adj" fmla="val 9859"/>
              </a:avLst>
            </a:prstGeom>
            <a:solidFill>
              <a:srgbClr val="F8FCFF"/>
            </a:solidFill>
            <a:ln w="9525">
              <a:solidFill>
                <a:srgbClr val="C9E4FF"/>
              </a:solidFill>
              <a:custDash>
                <a:ds d="500000" sp="500000"/>
              </a:custDash>
            </a:ln>
          </p:spPr>
        </p:sp>
        <p:sp>
          <p:nvSpPr>
            <p:cNvPr id="80" name="TextBox 80"/>
            <p:cNvSpPr txBox="1"/>
            <p:nvPr/>
          </p:nvSpPr>
          <p:spPr>
            <a:xfrm>
              <a:off x="8137527" y="3830002"/>
              <a:ext cx="127000" cy="1612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endParaRPr lang="zh-CN" sz="1050" b="1" dirty="0">
                <a:solidFill>
                  <a:srgbClr val="0B57D0"/>
                </a:solidFill>
                <a:latin typeface="等线" panose="02010600030101010101" charset="-122"/>
                <a:ea typeface="微软雅黑" panose="020B0503020204020204" charset="-122"/>
                <a:cs typeface="等线" panose="02010600030101010101" charset="-122"/>
              </a:endParaRPr>
            </a:p>
          </p:txBody>
        </p:sp>
        <p:sp>
          <p:nvSpPr>
            <p:cNvPr id="81" name="TextBox 81"/>
            <p:cNvSpPr txBox="1"/>
            <p:nvPr/>
          </p:nvSpPr>
          <p:spPr>
            <a:xfrm>
              <a:off x="7532370" y="4893945"/>
              <a:ext cx="127000" cy="13843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endParaRPr lang="zh-CN" sz="900" dirty="0">
                <a:solidFill>
                  <a:srgbClr val="51677F"/>
                </a:solidFill>
                <a:latin typeface="等线" panose="02010600030101010101" charset="-122"/>
                <a:ea typeface="微软雅黑" panose="020B0503020204020204" charset="-122"/>
                <a:cs typeface="等线" panose="02010600030101010101" charset="-122"/>
              </a:endParaRPr>
            </a:p>
          </p:txBody>
        </p:sp>
        <p:sp>
          <p:nvSpPr>
            <p:cNvPr id="83" name="Rectangle 83"/>
            <p:cNvSpPr/>
            <p:nvPr/>
          </p:nvSpPr>
          <p:spPr>
            <a:xfrm>
              <a:off x="9467850" y="2686050"/>
              <a:ext cx="1809750" cy="2895600"/>
            </a:xfrm>
            <a:prstGeom prst="roundRect">
              <a:avLst>
                <a:gd name="adj" fmla="val 13684"/>
              </a:avLst>
            </a:prstGeom>
            <a:solidFill>
              <a:srgbClr val="082044"/>
            </a:solidFill>
            <a:ln>
              <a:noFill/>
            </a:ln>
          </p:spPr>
        </p:sp>
        <p:sp>
          <p:nvSpPr>
            <p:cNvPr id="84" name="Rectangle 84"/>
            <p:cNvSpPr/>
            <p:nvPr/>
          </p:nvSpPr>
          <p:spPr>
            <a:xfrm>
              <a:off x="9544050" y="2762250"/>
              <a:ext cx="1657350" cy="2743200"/>
            </a:xfrm>
            <a:prstGeom prst="roundRect">
              <a:avLst>
                <a:gd name="adj" fmla="val 12069"/>
              </a:avLst>
            </a:prstGeom>
            <a:solidFill>
              <a:srgbClr val="FFFFFF"/>
            </a:solidFill>
            <a:ln>
              <a:noFill/>
            </a:ln>
          </p:spPr>
        </p:sp>
        <p:sp>
          <p:nvSpPr>
            <p:cNvPr id="85" name="Rectangle 85"/>
            <p:cNvSpPr/>
            <p:nvPr/>
          </p:nvSpPr>
          <p:spPr>
            <a:xfrm>
              <a:off x="9677400" y="2914650"/>
              <a:ext cx="1390650" cy="285750"/>
            </a:xfrm>
            <a:prstGeom prst="roundRect">
              <a:avLst>
                <a:gd name="adj" fmla="val 40000"/>
              </a:avLst>
            </a:prstGeom>
            <a:solidFill>
              <a:srgbClr val="26A7FF"/>
            </a:solidFill>
            <a:ln>
              <a:noFill/>
            </a:ln>
          </p:spPr>
        </p:sp>
        <p:sp>
          <p:nvSpPr>
            <p:cNvPr id="86" name="TextBox 86"/>
            <p:cNvSpPr txBox="1"/>
            <p:nvPr/>
          </p:nvSpPr>
          <p:spPr>
            <a:xfrm>
              <a:off x="10093643" y="2975769"/>
              <a:ext cx="612140" cy="18415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00" b="1" dirty="0">
                  <a:solidFill>
                    <a:srgbClr val="FFFFFF"/>
                  </a:solidFill>
                  <a:latin typeface="MiSans Normal" panose="00000500000000000000" charset="-122"/>
                  <a:ea typeface="MiSans Normal" panose="00000500000000000000" charset="-122"/>
                  <a:cs typeface="等线" panose="02010600030101010101" charset="-122"/>
                </a:rPr>
                <a:t>旅行复盘</a:t>
              </a:r>
              <a:endParaRPr lang="zh-CN" sz="1200" b="1" dirty="0">
                <a:solidFill>
                  <a:srgbClr val="FFFFFF"/>
                </a:solidFill>
                <a:latin typeface="MiSans Normal" panose="00000500000000000000" charset="-122"/>
                <a:ea typeface="MiSans Normal" panose="00000500000000000000" charset="-122"/>
                <a:cs typeface="等线" panose="02010600030101010101" charset="-122"/>
              </a:endParaRPr>
            </a:p>
          </p:txBody>
        </p:sp>
        <p:sp>
          <p:nvSpPr>
            <p:cNvPr id="87" name="Rectangle 87"/>
            <p:cNvSpPr/>
            <p:nvPr/>
          </p:nvSpPr>
          <p:spPr>
            <a:xfrm>
              <a:off x="9696450" y="3429000"/>
              <a:ext cx="1352550" cy="1390650"/>
            </a:xfrm>
            <a:prstGeom prst="roundRect">
              <a:avLst>
                <a:gd name="adj" fmla="val 9859"/>
              </a:avLst>
            </a:prstGeom>
            <a:solidFill>
              <a:srgbClr val="F8FCFF"/>
            </a:solidFill>
            <a:ln w="9525">
              <a:solidFill>
                <a:srgbClr val="C9E4FF"/>
              </a:solidFill>
              <a:custDash>
                <a:ds d="500000" sp="500000"/>
              </a:custDash>
            </a:ln>
          </p:spPr>
        </p:sp>
        <p:sp>
          <p:nvSpPr>
            <p:cNvPr id="88" name="TextBox 88"/>
            <p:cNvSpPr txBox="1"/>
            <p:nvPr/>
          </p:nvSpPr>
          <p:spPr>
            <a:xfrm>
              <a:off x="10309227" y="3830002"/>
              <a:ext cx="127000" cy="1612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endParaRPr lang="zh-CN" sz="1050" b="1" dirty="0">
                <a:solidFill>
                  <a:srgbClr val="0B57D0"/>
                </a:solidFill>
                <a:latin typeface="等线" panose="02010600030101010101" charset="-122"/>
                <a:ea typeface="微软雅黑" panose="020B0503020204020204" charset="-122"/>
                <a:cs typeface="等线" panose="02010600030101010101" charset="-122"/>
              </a:endParaRPr>
            </a:p>
          </p:txBody>
        </p:sp>
        <p:sp>
          <p:nvSpPr>
            <p:cNvPr id="91" name="Rectangle 91"/>
            <p:cNvSpPr/>
            <p:nvPr/>
          </p:nvSpPr>
          <p:spPr>
            <a:xfrm>
              <a:off x="762000" y="5905500"/>
              <a:ext cx="10020300" cy="514350"/>
            </a:xfrm>
            <a:prstGeom prst="roundRect">
              <a:avLst>
                <a:gd name="adj" fmla="val 29630"/>
              </a:avLst>
            </a:prstGeom>
            <a:solidFill>
              <a:srgbClr val="0B57D0">
                <a:alpha val="5000"/>
              </a:srgbClr>
            </a:solidFill>
            <a:ln>
              <a:noFill/>
            </a:ln>
          </p:spPr>
        </p:sp>
        <p:sp>
          <p:nvSpPr>
            <p:cNvPr id="92" name="Rectangle 92"/>
            <p:cNvSpPr/>
            <p:nvPr/>
          </p:nvSpPr>
          <p:spPr>
            <a:xfrm>
              <a:off x="685800" y="5810250"/>
              <a:ext cx="10020300" cy="514350"/>
            </a:xfrm>
            <a:prstGeom prst="roundRect">
              <a:avLst>
                <a:gd name="adj" fmla="val 29630"/>
              </a:avLst>
            </a:prstGeom>
            <a:solidFill>
              <a:srgbClr val="FFFFFF"/>
            </a:solidFill>
            <a:ln w="11430">
              <a:solidFill>
                <a:srgbClr val="BFD9F4"/>
              </a:solidFill>
            </a:ln>
          </p:spPr>
        </p:sp>
        <p:sp>
          <p:nvSpPr>
            <p:cNvPr id="93" name="Line 93"/>
            <p:cNvSpPr/>
            <p:nvPr/>
          </p:nvSpPr>
          <p:spPr>
            <a:xfrm>
              <a:off x="857250" y="5819775"/>
              <a:ext cx="1238250" cy="9525"/>
            </a:xfrm>
            <a:custGeom>
              <a:avLst/>
              <a:gdLst/>
              <a:ahLst/>
              <a:cxnLst/>
              <a:rect l="l" t="t" r="r" b="b"/>
              <a:pathLst>
                <a:path w="1238250" h="9525">
                  <a:moveTo>
                    <a:pt x="0" y="0"/>
                  </a:moveTo>
                  <a:lnTo>
                    <a:pt x="1238250" y="0"/>
                  </a:lnTo>
                </a:path>
              </a:pathLst>
            </a:custGeom>
            <a:noFill/>
            <a:ln w="19050">
              <a:solidFill>
                <a:srgbClr val="26A7FF">
                  <a:alpha val="90000"/>
                </a:srgbClr>
              </a:solidFill>
            </a:ln>
          </p:spPr>
        </p:sp>
        <p:sp>
          <p:nvSpPr>
            <p:cNvPr id="94" name="Freeform 94"/>
            <p:cNvSpPr/>
            <p:nvPr/>
          </p:nvSpPr>
          <p:spPr>
            <a:xfrm>
              <a:off x="930274" y="5995985"/>
              <a:ext cx="158751" cy="142878"/>
            </a:xfrm>
            <a:custGeom>
              <a:avLst/>
              <a:gdLst/>
              <a:ahLst/>
              <a:cxnLst/>
              <a:rect l="l" t="t" r="r" b="b"/>
              <a:pathLst>
                <a:path w="158751" h="142878">
                  <a:moveTo>
                    <a:pt x="103188" y="3"/>
                  </a:moveTo>
                  <a:cubicBezTo>
                    <a:pt x="111496" y="0"/>
                    <a:pt x="118400" y="6403"/>
                    <a:pt x="119024" y="14687"/>
                  </a:cubicBezTo>
                  <a:lnTo>
                    <a:pt x="119063" y="15878"/>
                  </a:lnTo>
                  <a:cubicBezTo>
                    <a:pt x="119064" y="19902"/>
                    <a:pt x="122076" y="23289"/>
                    <a:pt x="126072" y="23760"/>
                  </a:cubicBezTo>
                  <a:lnTo>
                    <a:pt x="127001" y="23815"/>
                  </a:lnTo>
                  <a:lnTo>
                    <a:pt x="134938" y="23815"/>
                  </a:lnTo>
                  <a:cubicBezTo>
                    <a:pt x="147547" y="23814"/>
                    <a:pt x="157971" y="33643"/>
                    <a:pt x="158711" y="46231"/>
                  </a:cubicBezTo>
                  <a:lnTo>
                    <a:pt x="158751" y="47628"/>
                  </a:lnTo>
                  <a:lnTo>
                    <a:pt x="158751" y="119065"/>
                  </a:lnTo>
                  <a:cubicBezTo>
                    <a:pt x="158751" y="131674"/>
                    <a:pt x="148923" y="142098"/>
                    <a:pt x="136335" y="142838"/>
                  </a:cubicBezTo>
                  <a:lnTo>
                    <a:pt x="134938" y="142878"/>
                  </a:lnTo>
                  <a:lnTo>
                    <a:pt x="23813" y="142878"/>
                  </a:lnTo>
                  <a:cubicBezTo>
                    <a:pt x="11204" y="142878"/>
                    <a:pt x="780" y="133050"/>
                    <a:pt x="40" y="120462"/>
                  </a:cubicBezTo>
                  <a:lnTo>
                    <a:pt x="1" y="119065"/>
                  </a:lnTo>
                  <a:lnTo>
                    <a:pt x="1" y="47628"/>
                  </a:lnTo>
                  <a:cubicBezTo>
                    <a:pt x="0" y="35018"/>
                    <a:pt x="9829" y="24595"/>
                    <a:pt x="22416" y="23855"/>
                  </a:cubicBezTo>
                  <a:lnTo>
                    <a:pt x="23813" y="23815"/>
                  </a:lnTo>
                  <a:lnTo>
                    <a:pt x="31751" y="23815"/>
                  </a:lnTo>
                  <a:cubicBezTo>
                    <a:pt x="36134" y="23815"/>
                    <a:pt x="39688" y="20261"/>
                    <a:pt x="39688" y="15878"/>
                  </a:cubicBezTo>
                  <a:cubicBezTo>
                    <a:pt x="39686" y="7570"/>
                    <a:pt x="46088" y="665"/>
                    <a:pt x="54373" y="42"/>
                  </a:cubicBezTo>
                  <a:lnTo>
                    <a:pt x="55563" y="3"/>
                  </a:lnTo>
                  <a:lnTo>
                    <a:pt x="103188" y="3"/>
                  </a:lnTo>
                  <a:close/>
                  <a:moveTo>
                    <a:pt x="79376" y="55565"/>
                  </a:moveTo>
                  <a:cubicBezTo>
                    <a:pt x="67152" y="55564"/>
                    <a:pt x="56913" y="64819"/>
                    <a:pt x="55682" y="76981"/>
                  </a:cubicBezTo>
                  <a:lnTo>
                    <a:pt x="55595" y="78187"/>
                  </a:lnTo>
                  <a:lnTo>
                    <a:pt x="55563" y="79378"/>
                  </a:lnTo>
                  <a:lnTo>
                    <a:pt x="55595" y="80568"/>
                  </a:lnTo>
                  <a:cubicBezTo>
                    <a:pt x="56245" y="93549"/>
                    <a:pt x="67183" y="103611"/>
                    <a:pt x="80172" y="103177"/>
                  </a:cubicBezTo>
                  <a:cubicBezTo>
                    <a:pt x="93162" y="102743"/>
                    <a:pt x="103404" y="91974"/>
                    <a:pt x="103187" y="78979"/>
                  </a:cubicBezTo>
                  <a:cubicBezTo>
                    <a:pt x="102969" y="65984"/>
                    <a:pt x="92372" y="55564"/>
                    <a:pt x="79376" y="55565"/>
                  </a:cubicBezTo>
                  <a:close/>
                </a:path>
              </a:pathLst>
            </a:custGeom>
            <a:solidFill>
              <a:srgbClr val="0B57D0"/>
            </a:solidFill>
            <a:ln>
              <a:noFill/>
            </a:ln>
          </p:spPr>
        </p:sp>
        <p:sp>
          <p:nvSpPr>
            <p:cNvPr id="95" name="TextBox 95"/>
            <p:cNvSpPr txBox="1"/>
            <p:nvPr/>
          </p:nvSpPr>
          <p:spPr>
            <a:xfrm>
              <a:off x="1202055" y="5997892"/>
              <a:ext cx="688340" cy="207645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b="1" dirty="0">
                  <a:solidFill>
                    <a:srgbClr val="102033"/>
                  </a:solidFill>
                  <a:latin typeface="MiSans Normal" panose="00000500000000000000" charset="-122"/>
                  <a:ea typeface="MiSans Normal" panose="00000500000000000000" charset="-122"/>
                  <a:cs typeface="等线" panose="02010600030101010101" charset="-122"/>
                </a:rPr>
                <a:t>展示重点</a:t>
              </a:r>
              <a:endParaRPr lang="zh-CN" sz="1350" b="1" dirty="0">
                <a:solidFill>
                  <a:srgbClr val="102033"/>
                </a:solidFill>
                <a:latin typeface="MiSans Normal" panose="00000500000000000000" charset="-122"/>
                <a:ea typeface="MiSans Normal" panose="00000500000000000000" charset="-122"/>
                <a:cs typeface="等线" panose="02010600030101010101" charset="-122"/>
              </a:endParaRPr>
            </a:p>
          </p:txBody>
        </p:sp>
        <p:sp>
          <p:nvSpPr>
            <p:cNvPr id="96" name="TextBox 96"/>
            <p:cNvSpPr txBox="1"/>
            <p:nvPr/>
          </p:nvSpPr>
          <p:spPr>
            <a:xfrm>
              <a:off x="2308542" y="5961221"/>
              <a:ext cx="8128000" cy="245745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600" dirty="0">
                  <a:solidFill>
                    <a:srgbClr val="51677F"/>
                  </a:solidFill>
                  <a:latin typeface="MiSans Normal" panose="00000500000000000000" charset="-122"/>
                  <a:ea typeface="MiSans Normal" panose="00000500000000000000" charset="-122"/>
                  <a:cs typeface="等线" panose="02010600030101010101" charset="-122"/>
                </a:rPr>
                <a:t>首页展示蓝小心；记忆页展示偏好资产；规划解释原因；提醒有触发条件；复盘沉淀记忆。</a:t>
              </a:r>
              <a:endParaRPr lang="zh-CN" sz="1600" dirty="0">
                <a:solidFill>
                  <a:srgbClr val="51677F"/>
                </a:solidFill>
                <a:latin typeface="MiSans Normal" panose="00000500000000000000" charset="-122"/>
                <a:ea typeface="MiSans Normal" panose="00000500000000000000" charset="-122"/>
                <a:cs typeface="等线" panose="02010600030101010101" charset="-122"/>
              </a:endParaRPr>
            </a:p>
          </p:txBody>
        </p:sp>
        <p:sp>
          <p:nvSpPr>
            <p:cNvPr id="97" name="TextBox 97"/>
            <p:cNvSpPr txBox="1"/>
            <p:nvPr/>
          </p:nvSpPr>
          <p:spPr>
            <a:xfrm>
              <a:off x="521970" y="6598920"/>
              <a:ext cx="2106263" cy="18288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00" dirty="0">
                  <a:solidFill>
                    <a:srgbClr val="8AA1B7"/>
                  </a:solidFill>
                  <a:latin typeface="等线" panose="02010600030101010101" charset="-122"/>
                  <a:ea typeface="微软雅黑" panose="020B0503020204020204" charset="-122"/>
                  <a:cs typeface="等线" panose="02010600030101010101" charset="-122"/>
                </a:rPr>
                <a:t>蓝心同行 | AIGC创新赛应用赛道初赛</a:t>
              </a:r>
              <a:endParaRPr lang="zh-CN" sz="900" dirty="0">
                <a:solidFill>
                  <a:srgbClr val="8AA1B7"/>
                </a:solidFill>
                <a:latin typeface="等线" panose="02010600030101010101" charset="-122"/>
                <a:ea typeface="微软雅黑" panose="020B0503020204020204" charset="-122"/>
                <a:cs typeface="等线" panose="02010600030101010101" charset="-122"/>
              </a:endParaRPr>
            </a:p>
          </p:txBody>
        </p:sp>
        <p:sp>
          <p:nvSpPr>
            <p:cNvPr id="98" name="TextBox 98"/>
            <p:cNvSpPr txBox="1"/>
            <p:nvPr/>
          </p:nvSpPr>
          <p:spPr>
            <a:xfrm>
              <a:off x="11464480" y="6598920"/>
              <a:ext cx="167449" cy="18288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r"/>
              <a:r>
                <a:rPr lang="zh-CN" sz="900" dirty="0">
                  <a:solidFill>
                    <a:srgbClr val="8AA1B7"/>
                  </a:solidFill>
                  <a:latin typeface="等线" panose="02010600030101010101" charset="-122"/>
                  <a:ea typeface="微软雅黑" panose="020B0503020204020204" charset="-122"/>
                  <a:cs typeface="等线" panose="02010600030101010101" charset="-122"/>
                </a:rPr>
                <a:t>05</a:t>
              </a:r>
              <a:endParaRPr lang="zh-CN" sz="900" dirty="0">
                <a:solidFill>
                  <a:srgbClr val="8AA1B7"/>
                </a:solidFill>
                <a:latin typeface="等线" panose="02010600030101010101" charset="-122"/>
                <a:ea typeface="微软雅黑" panose="020B0503020204020204" charset="-122"/>
                <a:cs typeface="等线" panose="02010600030101010101" charset="-122"/>
              </a:endParaRPr>
            </a:p>
          </p:txBody>
        </p:sp>
      </p:grpSp>
      <p:sp>
        <p:nvSpPr>
          <p:cNvPr id="105" name="Rectangle 104"/>
          <p:cNvSpPr/>
          <p:nvPr/>
        </p:nvSpPr>
        <p:spPr>
          <a:xfrm>
            <a:off x="420000" y="1450000"/>
            <a:ext cx="11370000" cy="5000000"/>
          </a:xfrm>
          <a:prstGeom prst="rect">
            <a:avLst/>
          </a:prstGeom>
          <a:solidFill>
            <a:srgbClr val="F8FB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6" name="Rounded Rectangle 105"/>
          <p:cNvSpPr/>
          <p:nvPr/>
        </p:nvSpPr>
        <p:spPr>
          <a:xfrm>
            <a:off x="495300" y="1545000"/>
            <a:ext cx="11353800" cy="79000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1E2F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7" name="Rectangle 106"/>
          <p:cNvSpPr/>
          <p:nvPr/>
        </p:nvSpPr>
        <p:spPr>
          <a:xfrm>
            <a:off x="590550" y="1625000"/>
            <a:ext cx="1250000" cy="9525"/>
          </a:xfrm>
          <a:prstGeom prst="rect">
            <a:avLst/>
          </a:prstGeom>
          <a:solidFill>
            <a:srgbClr val="0B57D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8" name="TextBox 107"/>
          <p:cNvSpPr txBox="1"/>
          <p:nvPr/>
        </p:nvSpPr>
        <p:spPr>
          <a:xfrm>
            <a:off x="762070" y="1784135"/>
            <a:ext cx="971550" cy="294640"/>
          </a:xfrm>
          <a:prstGeom prst="rect">
            <a:avLst/>
          </a:prstGeom>
          <a:noFill/>
        </p:spPr>
        <p:txBody>
          <a:bodyPr wrap="none" lIns="27432" tIns="9144" rIns="27432" bIns="9144">
            <a:spAutoFit/>
          </a:bodyPr>
          <a:lstStyle/>
          <a:p>
            <a:pPr algn="ctr"/>
            <a:r>
              <a:rPr b="1">
                <a:solidFill>
                  <a:srgbClr val="0B57D0"/>
                </a:solidFill>
                <a:latin typeface="金山云技术体" charset="-122"/>
                <a:ea typeface="金山云技术体" charset="-122"/>
              </a:rPr>
              <a:t>当前功能</a:t>
            </a:r>
            <a:endParaRPr b="1">
              <a:solidFill>
                <a:srgbClr val="0B57D0"/>
              </a:solidFill>
              <a:latin typeface="金山云技术体" charset="-122"/>
              <a:ea typeface="金山云技术体" charset="-122"/>
            </a:endParaRPr>
          </a:p>
        </p:txBody>
      </p:sp>
      <p:sp>
        <p:nvSpPr>
          <p:cNvPr id="109" name="TextBox 108"/>
          <p:cNvSpPr txBox="1"/>
          <p:nvPr/>
        </p:nvSpPr>
        <p:spPr>
          <a:xfrm>
            <a:off x="1890475" y="1815505"/>
            <a:ext cx="869950" cy="263525"/>
          </a:xfrm>
          <a:prstGeom prst="rect">
            <a:avLst/>
          </a:prstGeom>
          <a:noFill/>
        </p:spPr>
        <p:txBody>
          <a:bodyPr wrap="none" lIns="27432" tIns="9144" rIns="27432" bIns="9144">
            <a:spAutoFit/>
          </a:bodyPr>
          <a:lstStyle/>
          <a:p>
            <a:pPr algn="l"/>
            <a:r>
              <a:rPr lang="zh-CN" sz="1600" b="1">
                <a:solidFill>
                  <a:srgbClr val="102033"/>
                </a:solidFill>
                <a:latin typeface="MiSans Normal" panose="00000500000000000000" charset="-122"/>
                <a:ea typeface="MiSans Normal" panose="00000500000000000000" charset="-122"/>
              </a:rPr>
              <a:t>记忆列表</a:t>
            </a:r>
            <a:endParaRPr lang="zh-CN" sz="1600" b="1">
              <a:solidFill>
                <a:srgbClr val="102033"/>
              </a:solidFill>
              <a:latin typeface="MiSans Normal" panose="00000500000000000000" charset="-122"/>
              <a:ea typeface="MiSans Normal" panose="00000500000000000000" charset="-122"/>
            </a:endParaRPr>
          </a:p>
        </p:txBody>
      </p:sp>
      <p:sp>
        <p:nvSpPr>
          <p:cNvPr id="123" name="Rectangle 122"/>
          <p:cNvSpPr/>
          <p:nvPr/>
        </p:nvSpPr>
        <p:spPr>
          <a:xfrm>
            <a:off x="11370000" y="6540000"/>
            <a:ext cx="420000" cy="260000"/>
          </a:xfrm>
          <a:prstGeom prst="rect">
            <a:avLst/>
          </a:prstGeom>
          <a:solidFill>
            <a:srgbClr val="F8FB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4" name="TextBox 123"/>
          <p:cNvSpPr txBox="1"/>
          <p:nvPr/>
        </p:nvSpPr>
        <p:spPr>
          <a:xfrm>
            <a:off x="11464480" y="6598920"/>
            <a:ext cx="167449" cy="182880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algn="l"/>
            <a:r>
              <a:rPr sz="900" b="0">
                <a:solidFill>
                  <a:srgbClr val="8AA1B7"/>
                </a:solidFill>
                <a:latin typeface="等线" panose="02010600030101010101" charset="-122"/>
              </a:rPr>
              <a:t>05</a:t>
            </a:r>
            <a:endParaRPr sz="900" b="0">
              <a:solidFill>
                <a:srgbClr val="8AA1B7"/>
              </a:solidFill>
              <a:latin typeface="等线" panose="02010600030101010101" charset="-122"/>
            </a:endParaRPr>
          </a:p>
        </p:txBody>
      </p:sp>
      <p:sp>
        <p:nvSpPr>
          <p:cNvPr id="125" name="TextBox 124"/>
          <p:cNvSpPr txBox="1"/>
          <p:nvPr/>
        </p:nvSpPr>
        <p:spPr>
          <a:xfrm>
            <a:off x="780923" y="2487168"/>
            <a:ext cx="768350" cy="233045"/>
          </a:xfrm>
          <a:prstGeom prst="rect">
            <a:avLst/>
          </a:prstGeom>
          <a:noFill/>
        </p:spPr>
        <p:txBody>
          <a:bodyPr wrap="none" lIns="27432" tIns="9144" rIns="27432" bIns="9144">
            <a:spAutoFit/>
          </a:bodyPr>
          <a:lstStyle/>
          <a:p>
            <a:pPr algn="l"/>
            <a:r>
              <a:rPr sz="1400" b="1">
                <a:solidFill>
                  <a:srgbClr val="0B57D0"/>
                </a:solidFill>
                <a:latin typeface="金山云技术体" charset="-122"/>
                <a:ea typeface="金山云技术体" charset="-122"/>
              </a:rPr>
              <a:t>本页看点</a:t>
            </a:r>
            <a:endParaRPr sz="1400" b="1">
              <a:solidFill>
                <a:srgbClr val="0B57D0"/>
              </a:solidFill>
              <a:latin typeface="金山云技术体" charset="-122"/>
              <a:ea typeface="金山云技术体" charset="-122"/>
            </a:endParaRPr>
          </a:p>
        </p:txBody>
      </p:sp>
      <p:sp>
        <p:nvSpPr>
          <p:cNvPr id="126" name="Rectangle 125"/>
          <p:cNvSpPr/>
          <p:nvPr/>
        </p:nvSpPr>
        <p:spPr>
          <a:xfrm>
            <a:off x="740918" y="2761488"/>
            <a:ext cx="987552" cy="16459"/>
          </a:xfrm>
          <a:prstGeom prst="rect">
            <a:avLst/>
          </a:prstGeom>
          <a:solidFill>
            <a:srgbClr val="0B57D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7" name="TextBox 126"/>
          <p:cNvSpPr txBox="1"/>
          <p:nvPr/>
        </p:nvSpPr>
        <p:spPr>
          <a:xfrm>
            <a:off x="804418" y="3035808"/>
            <a:ext cx="1201420" cy="248285"/>
          </a:xfrm>
          <a:prstGeom prst="rect">
            <a:avLst/>
          </a:prstGeom>
          <a:noFill/>
        </p:spPr>
        <p:txBody>
          <a:bodyPr wrap="none" lIns="27432" tIns="9144" rIns="27432" bIns="9144">
            <a:spAutoFit/>
          </a:bodyPr>
          <a:lstStyle/>
          <a:p>
            <a:pPr algn="l"/>
            <a:r>
              <a:rPr lang="zh-CN" sz="1500" b="1">
                <a:solidFill>
                  <a:srgbClr val="102033"/>
                </a:solidFill>
                <a:latin typeface="MiSans Normal" panose="00000500000000000000" charset="-122"/>
                <a:ea typeface="MiSans Normal" panose="00000500000000000000" charset="-122"/>
              </a:rPr>
              <a:t>记忆</a:t>
            </a:r>
            <a:r>
              <a:rPr lang="zh-CN" sz="1500" b="1">
                <a:solidFill>
                  <a:srgbClr val="102033"/>
                </a:solidFill>
                <a:latin typeface="MiSans Normal" panose="00000500000000000000" charset="-122"/>
                <a:ea typeface="MiSans Normal" panose="00000500000000000000" charset="-122"/>
              </a:rPr>
              <a:t>资产列表</a:t>
            </a:r>
            <a:endParaRPr lang="zh-CN" sz="1500" b="1">
              <a:solidFill>
                <a:srgbClr val="102033"/>
              </a:solidFill>
              <a:latin typeface="MiSans Normal" panose="00000500000000000000" charset="-122"/>
              <a:ea typeface="MiSans Normal" panose="00000500000000000000" charset="-122"/>
            </a:endParaRPr>
          </a:p>
        </p:txBody>
      </p:sp>
      <p:sp>
        <p:nvSpPr>
          <p:cNvPr id="128" name="TextBox 127"/>
          <p:cNvSpPr txBox="1"/>
          <p:nvPr/>
        </p:nvSpPr>
        <p:spPr>
          <a:xfrm>
            <a:off x="804418" y="3429254"/>
            <a:ext cx="1010285" cy="248285"/>
          </a:xfrm>
          <a:prstGeom prst="rect">
            <a:avLst/>
          </a:prstGeom>
          <a:noFill/>
        </p:spPr>
        <p:txBody>
          <a:bodyPr wrap="none" lIns="27432" tIns="9144" rIns="27432" bIns="9144">
            <a:spAutoFit/>
          </a:bodyPr>
          <a:lstStyle/>
          <a:p>
            <a:pPr algn="l"/>
            <a:r>
              <a:rPr lang="zh-CN" sz="1500" b="1">
                <a:solidFill>
                  <a:srgbClr val="102033"/>
                </a:solidFill>
                <a:latin typeface="MiSans Normal" panose="00000500000000000000" charset="-122"/>
                <a:ea typeface="MiSans Normal" panose="00000500000000000000" charset="-122"/>
              </a:rPr>
              <a:t>确认并编辑</a:t>
            </a:r>
            <a:endParaRPr lang="zh-CN" sz="1500" b="1">
              <a:solidFill>
                <a:srgbClr val="102033"/>
              </a:solidFill>
              <a:latin typeface="MiSans Normal" panose="00000500000000000000" charset="-122"/>
              <a:ea typeface="MiSans Normal" panose="00000500000000000000" charset="-122"/>
            </a:endParaRPr>
          </a:p>
        </p:txBody>
      </p:sp>
      <p:sp>
        <p:nvSpPr>
          <p:cNvPr id="129" name="Oval 128"/>
          <p:cNvSpPr/>
          <p:nvPr/>
        </p:nvSpPr>
        <p:spPr>
          <a:xfrm>
            <a:off x="877824" y="4101084"/>
            <a:ext cx="68580" cy="68580"/>
          </a:xfrm>
          <a:prstGeom prst="ellipse">
            <a:avLst/>
          </a:prstGeom>
          <a:solidFill>
            <a:srgbClr val="0B57D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0" name="TextBox 129"/>
          <p:cNvSpPr txBox="1"/>
          <p:nvPr/>
        </p:nvSpPr>
        <p:spPr>
          <a:xfrm>
            <a:off x="1042415" y="4041648"/>
            <a:ext cx="3077210" cy="233045"/>
          </a:xfrm>
          <a:prstGeom prst="rect">
            <a:avLst/>
          </a:prstGeom>
          <a:noFill/>
        </p:spPr>
        <p:txBody>
          <a:bodyPr wrap="none" lIns="27432" tIns="9144" rIns="27432" bIns="9144">
            <a:spAutoFit/>
          </a:bodyPr>
          <a:lstStyle/>
          <a:p>
            <a:pPr algn="l"/>
            <a:r>
              <a:rPr lang="zh-CN" sz="1400" b="0">
                <a:solidFill>
                  <a:srgbClr val="51677F"/>
                </a:solidFill>
                <a:latin typeface="MiSans Normal" panose="00000500000000000000" charset="-122"/>
                <a:ea typeface="MiSans Normal" panose="00000500000000000000" charset="-122"/>
              </a:rPr>
              <a:t>展示偏好、</a:t>
            </a:r>
            <a:r>
              <a:rPr lang="zh-CN" sz="1400" b="0">
                <a:solidFill>
                  <a:srgbClr val="51677F"/>
                </a:solidFill>
                <a:latin typeface="MiSans Normal" panose="00000500000000000000" charset="-122"/>
                <a:ea typeface="MiSans Normal" panose="00000500000000000000" charset="-122"/>
              </a:rPr>
              <a:t>忌口、节奏等记忆如何</a:t>
            </a:r>
            <a:r>
              <a:rPr lang="zh-CN" sz="1400" b="0">
                <a:solidFill>
                  <a:srgbClr val="51677F"/>
                </a:solidFill>
                <a:latin typeface="MiSans Normal" panose="00000500000000000000" charset="-122"/>
                <a:ea typeface="MiSans Normal" panose="00000500000000000000" charset="-122"/>
              </a:rPr>
              <a:t>沉淀</a:t>
            </a:r>
            <a:endParaRPr lang="zh-CN" sz="1400" b="0">
              <a:solidFill>
                <a:srgbClr val="51677F"/>
              </a:solidFill>
              <a:latin typeface="MiSans Normal" panose="00000500000000000000" charset="-122"/>
              <a:ea typeface="MiSans Normal" panose="00000500000000000000" charset="-122"/>
            </a:endParaRPr>
          </a:p>
        </p:txBody>
      </p:sp>
      <p:sp>
        <p:nvSpPr>
          <p:cNvPr id="131" name="Oval 130"/>
          <p:cNvSpPr/>
          <p:nvPr/>
        </p:nvSpPr>
        <p:spPr>
          <a:xfrm>
            <a:off x="877824" y="4649724"/>
            <a:ext cx="68580" cy="68580"/>
          </a:xfrm>
          <a:prstGeom prst="ellipse">
            <a:avLst/>
          </a:prstGeom>
          <a:solidFill>
            <a:srgbClr val="0B57D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2" name="TextBox 131"/>
          <p:cNvSpPr txBox="1"/>
          <p:nvPr/>
        </p:nvSpPr>
        <p:spPr>
          <a:xfrm>
            <a:off x="1042415" y="4590288"/>
            <a:ext cx="2721610" cy="233045"/>
          </a:xfrm>
          <a:prstGeom prst="rect">
            <a:avLst/>
          </a:prstGeom>
          <a:noFill/>
        </p:spPr>
        <p:txBody>
          <a:bodyPr wrap="none" lIns="27432" tIns="9144" rIns="27432" bIns="9144">
            <a:spAutoFit/>
          </a:bodyPr>
          <a:lstStyle/>
          <a:p>
            <a:pPr algn="l"/>
            <a:r>
              <a:rPr lang="zh-CN" sz="1400" b="0">
                <a:solidFill>
                  <a:srgbClr val="51677F"/>
                </a:solidFill>
                <a:latin typeface="MiSans Normal" panose="00000500000000000000" charset="-122"/>
                <a:ea typeface="MiSans Normal" panose="00000500000000000000" charset="-122"/>
              </a:rPr>
              <a:t>强调用户可查看、可确认、</a:t>
            </a:r>
            <a:r>
              <a:rPr lang="zh-CN" sz="1400" b="0">
                <a:solidFill>
                  <a:srgbClr val="51677F"/>
                </a:solidFill>
                <a:latin typeface="MiSans Normal" panose="00000500000000000000" charset="-122"/>
                <a:ea typeface="MiSans Normal" panose="00000500000000000000" charset="-122"/>
              </a:rPr>
              <a:t>可调整</a:t>
            </a:r>
            <a:endParaRPr lang="zh-CN" sz="1400" b="0">
              <a:solidFill>
                <a:srgbClr val="51677F"/>
              </a:solidFill>
              <a:latin typeface="MiSans Normal" panose="00000500000000000000" charset="-122"/>
              <a:ea typeface="MiSans Normal" panose="00000500000000000000" charset="-122"/>
            </a:endParaRPr>
          </a:p>
        </p:txBody>
      </p:sp>
      <p:sp>
        <p:nvSpPr>
          <p:cNvPr id="133" name="Oval 132"/>
          <p:cNvSpPr/>
          <p:nvPr/>
        </p:nvSpPr>
        <p:spPr>
          <a:xfrm>
            <a:off x="877824" y="5198364"/>
            <a:ext cx="68580" cy="68580"/>
          </a:xfrm>
          <a:prstGeom prst="ellipse">
            <a:avLst/>
          </a:prstGeom>
          <a:solidFill>
            <a:srgbClr val="0B57D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4" name="TextBox 133"/>
          <p:cNvSpPr txBox="1"/>
          <p:nvPr/>
        </p:nvSpPr>
        <p:spPr>
          <a:xfrm>
            <a:off x="1042415" y="5138928"/>
            <a:ext cx="1832610" cy="233045"/>
          </a:xfrm>
          <a:prstGeom prst="rect">
            <a:avLst/>
          </a:prstGeom>
          <a:noFill/>
        </p:spPr>
        <p:txBody>
          <a:bodyPr wrap="none" lIns="27432" tIns="9144" rIns="27432" bIns="9144">
            <a:spAutoFit/>
          </a:bodyPr>
          <a:lstStyle/>
          <a:p>
            <a:pPr algn="l"/>
            <a:r>
              <a:rPr lang="zh-CN" sz="1400" b="0">
                <a:solidFill>
                  <a:srgbClr val="51677F"/>
                </a:solidFill>
                <a:latin typeface="MiSans Normal" panose="00000500000000000000" charset="-122"/>
                <a:ea typeface="MiSans Normal" panose="00000500000000000000" charset="-122"/>
                <a:cs typeface="MiSans Normal" panose="00000500000000000000" charset="-122"/>
              </a:rPr>
              <a:t>为后续个性化</a:t>
            </a:r>
            <a:r>
              <a:rPr lang="zh-CN" sz="1400" b="0">
                <a:solidFill>
                  <a:srgbClr val="51677F"/>
                </a:solidFill>
                <a:latin typeface="MiSans Normal" panose="00000500000000000000" charset="-122"/>
                <a:ea typeface="MiSans Normal" panose="00000500000000000000" charset="-122"/>
                <a:cs typeface="MiSans Normal" panose="00000500000000000000" charset="-122"/>
              </a:rPr>
              <a:t>提供依据</a:t>
            </a:r>
            <a:endParaRPr lang="zh-CN" sz="1400" b="0">
              <a:solidFill>
                <a:srgbClr val="51677F"/>
              </a:solidFill>
              <a:latin typeface="MiSans Normal" panose="00000500000000000000" charset="-122"/>
              <a:ea typeface="MiSans Normal" panose="00000500000000000000" charset="-122"/>
              <a:cs typeface="MiSans Normal" panose="00000500000000000000" charset="-122"/>
            </a:endParaRPr>
          </a:p>
        </p:txBody>
      </p:sp>
      <p:grpSp>
        <p:nvGrpSpPr>
          <p:cNvPr id="66" name="组合 65"/>
          <p:cNvGrpSpPr/>
          <p:nvPr/>
        </p:nvGrpSpPr>
        <p:grpSpPr>
          <a:xfrm>
            <a:off x="6615430" y="1755775"/>
            <a:ext cx="2148840" cy="4663440"/>
            <a:chOff x="8626" y="2765"/>
            <a:chExt cx="3384" cy="7344"/>
          </a:xfrm>
        </p:grpSpPr>
        <p:sp>
          <p:nvSpPr>
            <p:cNvPr id="135" name="Rounded Rectangle 134"/>
            <p:cNvSpPr/>
            <p:nvPr/>
          </p:nvSpPr>
          <p:spPr>
            <a:xfrm>
              <a:off x="8626" y="2765"/>
              <a:ext cx="3384" cy="7344"/>
            </a:xfrm>
            <a:prstGeom prst="roundRect">
              <a:avLst/>
            </a:prstGeom>
            <a:solidFill>
              <a:srgbClr val="FFFFFF"/>
            </a:solidFill>
            <a:ln w="14604">
              <a:solidFill>
                <a:srgbClr val="9CCAF5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136" name="Rounded Rectangle 135"/>
            <p:cNvSpPr/>
            <p:nvPr/>
          </p:nvSpPr>
          <p:spPr>
            <a:xfrm>
              <a:off x="9749" y="2952"/>
              <a:ext cx="1123" cy="108"/>
            </a:xfrm>
            <a:prstGeom prst="roundRect">
              <a:avLst/>
            </a:prstGeom>
            <a:solidFill>
              <a:srgbClr val="D7EAFF"/>
            </a:solidFill>
            <a:ln>
              <a:noFill/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137" name="Rounded Rectangle 136"/>
            <p:cNvSpPr/>
            <p:nvPr/>
          </p:nvSpPr>
          <p:spPr>
            <a:xfrm>
              <a:off x="8798" y="3211"/>
              <a:ext cx="3038" cy="6566"/>
            </a:xfrm>
            <a:prstGeom prst="roundRect">
              <a:avLst/>
            </a:prstGeom>
            <a:solidFill>
              <a:srgbClr val="F8FCFF"/>
            </a:solidFill>
            <a:ln w="11430">
              <a:solidFill>
                <a:srgbClr val="C9E4FF"/>
              </a:solidFill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138" name="Rectangle 137"/>
            <p:cNvSpPr/>
            <p:nvPr/>
          </p:nvSpPr>
          <p:spPr>
            <a:xfrm>
              <a:off x="9144" y="4003"/>
              <a:ext cx="2333" cy="20"/>
            </a:xfrm>
            <a:prstGeom prst="rect">
              <a:avLst/>
            </a:prstGeom>
            <a:solidFill>
              <a:srgbClr val="E0F0FF"/>
            </a:solidFill>
            <a:ln>
              <a:noFill/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139" name="Rectangle 138"/>
            <p:cNvSpPr/>
            <p:nvPr/>
          </p:nvSpPr>
          <p:spPr>
            <a:xfrm>
              <a:off x="9144" y="5011"/>
              <a:ext cx="1901" cy="20"/>
            </a:xfrm>
            <a:prstGeom prst="rect">
              <a:avLst/>
            </a:prstGeom>
            <a:solidFill>
              <a:srgbClr val="E0F0FF"/>
            </a:solidFill>
            <a:ln>
              <a:noFill/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140" name="Rectangle 139"/>
            <p:cNvSpPr/>
            <p:nvPr/>
          </p:nvSpPr>
          <p:spPr>
            <a:xfrm>
              <a:off x="9144" y="6019"/>
              <a:ext cx="2333" cy="20"/>
            </a:xfrm>
            <a:prstGeom prst="rect">
              <a:avLst/>
            </a:prstGeom>
            <a:solidFill>
              <a:srgbClr val="E0F0FF"/>
            </a:solidFill>
            <a:ln>
              <a:noFill/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141" name="Rectangle 140"/>
            <p:cNvSpPr/>
            <p:nvPr/>
          </p:nvSpPr>
          <p:spPr>
            <a:xfrm>
              <a:off x="9144" y="7027"/>
              <a:ext cx="1901" cy="20"/>
            </a:xfrm>
            <a:prstGeom prst="rect">
              <a:avLst/>
            </a:prstGeom>
            <a:solidFill>
              <a:srgbClr val="E0F0FF"/>
            </a:solidFill>
            <a:ln>
              <a:noFill/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142" name="Rectangle 141"/>
            <p:cNvSpPr/>
            <p:nvPr/>
          </p:nvSpPr>
          <p:spPr>
            <a:xfrm>
              <a:off x="9144" y="8035"/>
              <a:ext cx="2333" cy="20"/>
            </a:xfrm>
            <a:prstGeom prst="rect">
              <a:avLst/>
            </a:prstGeom>
            <a:solidFill>
              <a:srgbClr val="E0F0FF"/>
            </a:solidFill>
            <a:ln>
              <a:noFill/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</p:grpSp>
      <p:grpSp>
        <p:nvGrpSpPr>
          <p:cNvPr id="65" name="组合 64"/>
          <p:cNvGrpSpPr/>
          <p:nvPr/>
        </p:nvGrpSpPr>
        <p:grpSpPr>
          <a:xfrm>
            <a:off x="9594215" y="1755775"/>
            <a:ext cx="2148840" cy="4663440"/>
            <a:chOff x="13205" y="2765"/>
            <a:chExt cx="3384" cy="7344"/>
          </a:xfrm>
        </p:grpSpPr>
        <p:sp>
          <p:nvSpPr>
            <p:cNvPr id="144" name="Rounded Rectangle 143"/>
            <p:cNvSpPr/>
            <p:nvPr/>
          </p:nvSpPr>
          <p:spPr>
            <a:xfrm>
              <a:off x="13205" y="2765"/>
              <a:ext cx="3384" cy="7344"/>
            </a:xfrm>
            <a:prstGeom prst="roundRect">
              <a:avLst/>
            </a:prstGeom>
            <a:solidFill>
              <a:srgbClr val="FFFFFF"/>
            </a:solidFill>
            <a:ln w="14604">
              <a:solidFill>
                <a:srgbClr val="9CCAF5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145" name="Rounded Rectangle 144"/>
            <p:cNvSpPr/>
            <p:nvPr/>
          </p:nvSpPr>
          <p:spPr>
            <a:xfrm>
              <a:off x="14328" y="2952"/>
              <a:ext cx="1123" cy="108"/>
            </a:xfrm>
            <a:prstGeom prst="roundRect">
              <a:avLst/>
            </a:prstGeom>
            <a:solidFill>
              <a:srgbClr val="D7EAFF"/>
            </a:solidFill>
            <a:ln>
              <a:noFill/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146" name="Rounded Rectangle 145"/>
            <p:cNvSpPr/>
            <p:nvPr/>
          </p:nvSpPr>
          <p:spPr>
            <a:xfrm>
              <a:off x="13378" y="3211"/>
              <a:ext cx="3038" cy="6566"/>
            </a:xfrm>
            <a:prstGeom prst="roundRect">
              <a:avLst/>
            </a:prstGeom>
            <a:solidFill>
              <a:srgbClr val="F8FCFF"/>
            </a:solidFill>
            <a:ln w="11430">
              <a:solidFill>
                <a:srgbClr val="C9E4FF"/>
              </a:solidFill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147" name="Rectangle 146"/>
            <p:cNvSpPr/>
            <p:nvPr/>
          </p:nvSpPr>
          <p:spPr>
            <a:xfrm>
              <a:off x="13723" y="4003"/>
              <a:ext cx="2333" cy="20"/>
            </a:xfrm>
            <a:prstGeom prst="rect">
              <a:avLst/>
            </a:prstGeom>
            <a:solidFill>
              <a:srgbClr val="E0F0FF"/>
            </a:solidFill>
            <a:ln>
              <a:noFill/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148" name="Rectangle 147"/>
            <p:cNvSpPr/>
            <p:nvPr/>
          </p:nvSpPr>
          <p:spPr>
            <a:xfrm>
              <a:off x="13723" y="5011"/>
              <a:ext cx="1901" cy="20"/>
            </a:xfrm>
            <a:prstGeom prst="rect">
              <a:avLst/>
            </a:prstGeom>
            <a:solidFill>
              <a:srgbClr val="E0F0FF"/>
            </a:solidFill>
            <a:ln>
              <a:noFill/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149" name="Rectangle 148"/>
            <p:cNvSpPr/>
            <p:nvPr/>
          </p:nvSpPr>
          <p:spPr>
            <a:xfrm>
              <a:off x="13723" y="6019"/>
              <a:ext cx="2333" cy="20"/>
            </a:xfrm>
            <a:prstGeom prst="rect">
              <a:avLst/>
            </a:prstGeom>
            <a:solidFill>
              <a:srgbClr val="E0F0FF"/>
            </a:solidFill>
            <a:ln>
              <a:noFill/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150" name="Rectangle 149"/>
            <p:cNvSpPr/>
            <p:nvPr/>
          </p:nvSpPr>
          <p:spPr>
            <a:xfrm>
              <a:off x="13723" y="7027"/>
              <a:ext cx="1901" cy="20"/>
            </a:xfrm>
            <a:prstGeom prst="rect">
              <a:avLst/>
            </a:prstGeom>
            <a:solidFill>
              <a:srgbClr val="E0F0FF"/>
            </a:solidFill>
            <a:ln>
              <a:noFill/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151" name="Rectangle 150"/>
            <p:cNvSpPr/>
            <p:nvPr/>
          </p:nvSpPr>
          <p:spPr>
            <a:xfrm>
              <a:off x="13723" y="8035"/>
              <a:ext cx="2333" cy="20"/>
            </a:xfrm>
            <a:prstGeom prst="rect">
              <a:avLst/>
            </a:prstGeom>
            <a:solidFill>
              <a:srgbClr val="E0F0FF"/>
            </a:solidFill>
            <a:ln>
              <a:noFill/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</p:grp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p14:dur="400">
        <p:fade/>
      </p:transition>
    </mc:Choice>
    <mc:Fallback>
      <p:transition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400"/>
                                        <p:tgtEl>
                                          <p:spTgt spid="9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99" grpId="0"/>
    </p:bld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2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4F9FF"/>
          </a:solidFill>
          <a:ln>
            <a:noFill/>
          </a:ln>
        </p:spPr>
      </p:sp>
      <p:sp>
        <p:nvSpPr>
          <p:cNvPr id="3" name="Rectangle 3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gradFill>
            <a:gsLst>
              <a:gs pos="0">
                <a:srgbClr val="26A7FF">
                  <a:alpha val="12000"/>
                </a:srgbClr>
              </a:gs>
              <a:gs pos="100000">
                <a:srgbClr val="26A7FF">
                  <a:alpha val="0"/>
                </a:srgbClr>
              </a:gs>
            </a:gsLst>
            <a:path path="circle">
              <a:fillToRect l="50000" t="50000" r="50000" b="50000"/>
            </a:path>
          </a:gradFill>
          <a:ln>
            <a:noFill/>
          </a:ln>
        </p:spPr>
      </p:sp>
      <p:sp>
        <p:nvSpPr>
          <p:cNvPr id="4" name="Ellipse 4"/>
          <p:cNvSpPr/>
          <p:nvPr/>
        </p:nvSpPr>
        <p:spPr>
          <a:xfrm>
            <a:off x="9391650" y="-304800"/>
            <a:ext cx="2362200" cy="2362200"/>
          </a:xfrm>
          <a:prstGeom prst="ellipse">
            <a:avLst/>
          </a:prstGeom>
          <a:solidFill>
            <a:srgbClr val="26A7FF">
              <a:alpha val="8000"/>
            </a:srgbClr>
          </a:solidFill>
          <a:ln>
            <a:noFill/>
          </a:ln>
        </p:spPr>
      </p:sp>
      <p:sp>
        <p:nvSpPr>
          <p:cNvPr id="5" name="Ellipse 5"/>
          <p:cNvSpPr/>
          <p:nvPr/>
        </p:nvSpPr>
        <p:spPr>
          <a:xfrm>
            <a:off x="10553700" y="647700"/>
            <a:ext cx="1638300" cy="1638300"/>
          </a:xfrm>
          <a:prstGeom prst="ellipse">
            <a:avLst/>
          </a:prstGeom>
          <a:solidFill>
            <a:srgbClr val="00D4FF">
              <a:alpha val="7000"/>
            </a:srgbClr>
          </a:solidFill>
          <a:ln>
            <a:noFill/>
          </a:ln>
        </p:spPr>
      </p:sp>
      <p:sp>
        <p:nvSpPr>
          <p:cNvPr id="6" name="Freeform 6"/>
          <p:cNvSpPr/>
          <p:nvPr/>
        </p:nvSpPr>
        <p:spPr>
          <a:xfrm>
            <a:off x="8382000" y="781050"/>
            <a:ext cx="3390900" cy="438150"/>
          </a:xfrm>
          <a:custGeom>
            <a:avLst/>
            <a:gdLst/>
            <a:ahLst/>
            <a:cxnLst/>
            <a:rect l="l" t="t" r="r" b="b"/>
            <a:pathLst>
              <a:path w="3390900" h="438150">
                <a:moveTo>
                  <a:pt x="0" y="0"/>
                </a:moveTo>
                <a:lnTo>
                  <a:pt x="1600200" y="0"/>
                </a:lnTo>
                <a:lnTo>
                  <a:pt x="2038350" y="438150"/>
                </a:lnTo>
                <a:lnTo>
                  <a:pt x="3390900" y="438150"/>
                </a:lnTo>
              </a:path>
            </a:pathLst>
          </a:custGeom>
          <a:noFill/>
          <a:ln w="13335">
            <a:solidFill>
              <a:srgbClr val="BFD9F4">
                <a:alpha val="75000"/>
              </a:srgbClr>
            </a:solidFill>
          </a:ln>
        </p:spPr>
      </p:sp>
      <p:sp>
        <p:nvSpPr>
          <p:cNvPr id="7" name="Freeform 7"/>
          <p:cNvSpPr/>
          <p:nvPr/>
        </p:nvSpPr>
        <p:spPr>
          <a:xfrm>
            <a:off x="8705850" y="5638800"/>
            <a:ext cx="2990850" cy="457200"/>
          </a:xfrm>
          <a:custGeom>
            <a:avLst/>
            <a:gdLst/>
            <a:ahLst/>
            <a:cxnLst/>
            <a:rect l="l" t="t" r="r" b="b"/>
            <a:pathLst>
              <a:path w="2990850" h="457200">
                <a:moveTo>
                  <a:pt x="0" y="457200"/>
                </a:moveTo>
                <a:lnTo>
                  <a:pt x="1295400" y="457200"/>
                </a:lnTo>
                <a:lnTo>
                  <a:pt x="1752600" y="0"/>
                </a:lnTo>
                <a:lnTo>
                  <a:pt x="2990850" y="0"/>
                </a:lnTo>
              </a:path>
            </a:pathLst>
          </a:custGeom>
          <a:noFill/>
          <a:ln w="11430">
            <a:solidFill>
              <a:srgbClr val="BFD9F4">
                <a:alpha val="65000"/>
              </a:srgbClr>
            </a:solidFill>
          </a:ln>
        </p:spPr>
      </p:sp>
      <p:sp>
        <p:nvSpPr>
          <p:cNvPr id="8" name="Freeform 8"/>
          <p:cNvSpPr/>
          <p:nvPr/>
        </p:nvSpPr>
        <p:spPr>
          <a:xfrm>
            <a:off x="419100" y="5734050"/>
            <a:ext cx="2057400" cy="381000"/>
          </a:xfrm>
          <a:custGeom>
            <a:avLst/>
            <a:gdLst/>
            <a:ahLst/>
            <a:cxnLst/>
            <a:rect l="l" t="t" r="r" b="b"/>
            <a:pathLst>
              <a:path w="2057400" h="381000">
                <a:moveTo>
                  <a:pt x="0" y="381000"/>
                </a:moveTo>
                <a:lnTo>
                  <a:pt x="1676400" y="381000"/>
                </a:lnTo>
                <a:lnTo>
                  <a:pt x="2057400" y="0"/>
                </a:lnTo>
              </a:path>
            </a:pathLst>
          </a:custGeom>
          <a:noFill/>
          <a:ln w="11430">
            <a:solidFill>
              <a:srgbClr val="D7EAFF">
                <a:alpha val="90000"/>
              </a:srgbClr>
            </a:solidFill>
          </a:ln>
        </p:spPr>
      </p:sp>
      <p:sp>
        <p:nvSpPr>
          <p:cNvPr id="9" name="Ellipse 9"/>
          <p:cNvSpPr/>
          <p:nvPr/>
        </p:nvSpPr>
        <p:spPr>
          <a:xfrm>
            <a:off x="9944100" y="742950"/>
            <a:ext cx="76200" cy="76200"/>
          </a:xfrm>
          <a:prstGeom prst="ellipse">
            <a:avLst/>
          </a:prstGeom>
          <a:solidFill>
            <a:srgbClr val="26A7FF"/>
          </a:solidFill>
          <a:ln>
            <a:noFill/>
          </a:ln>
        </p:spPr>
      </p:sp>
      <p:sp>
        <p:nvSpPr>
          <p:cNvPr id="10" name="Ellipse 10"/>
          <p:cNvSpPr/>
          <p:nvPr/>
        </p:nvSpPr>
        <p:spPr>
          <a:xfrm>
            <a:off x="10382250" y="1181100"/>
            <a:ext cx="76200" cy="76200"/>
          </a:xfrm>
          <a:prstGeom prst="ellipse">
            <a:avLst/>
          </a:prstGeom>
          <a:solidFill>
            <a:srgbClr val="00D4FF"/>
          </a:solidFill>
          <a:ln>
            <a:noFill/>
          </a:ln>
        </p:spPr>
      </p:sp>
      <p:sp>
        <p:nvSpPr>
          <p:cNvPr id="11" name="Ellipse 11"/>
          <p:cNvSpPr/>
          <p:nvPr/>
        </p:nvSpPr>
        <p:spPr>
          <a:xfrm>
            <a:off x="2438400" y="5695950"/>
            <a:ext cx="76200" cy="76200"/>
          </a:xfrm>
          <a:prstGeom prst="ellipse">
            <a:avLst/>
          </a:prstGeom>
          <a:solidFill>
            <a:srgbClr val="26A7FF"/>
          </a:solidFill>
          <a:ln>
            <a:noFill/>
          </a:ln>
        </p:spPr>
      </p:sp>
      <p:sp>
        <p:nvSpPr>
          <p:cNvPr id="12" name="Line 12"/>
          <p:cNvSpPr/>
          <p:nvPr/>
        </p:nvSpPr>
        <p:spPr>
          <a:xfrm>
            <a:off x="762000" y="0"/>
            <a:ext cx="9525" cy="6858000"/>
          </a:xfrm>
          <a:custGeom>
            <a:avLst/>
            <a:gdLst/>
            <a:ahLst/>
            <a:cxnLst/>
            <a:rect l="l" t="t" r="r" b="b"/>
            <a:pathLst>
              <a:path w="9525" h="6858000">
                <a:moveTo>
                  <a:pt x="0" y="0"/>
                </a:moveTo>
                <a:lnTo>
                  <a:pt x="0" y="6858000"/>
                </a:lnTo>
              </a:path>
            </a:pathLst>
          </a:custGeom>
          <a:noFill/>
          <a:ln w="4762">
            <a:solidFill>
              <a:srgbClr val="D7EAFF">
                <a:alpha val="22000"/>
              </a:srgbClr>
            </a:solidFill>
          </a:ln>
        </p:spPr>
      </p:sp>
      <p:sp>
        <p:nvSpPr>
          <p:cNvPr id="13" name="Line 13"/>
          <p:cNvSpPr/>
          <p:nvPr/>
        </p:nvSpPr>
        <p:spPr>
          <a:xfrm>
            <a:off x="1524000" y="0"/>
            <a:ext cx="9525" cy="6858000"/>
          </a:xfrm>
          <a:custGeom>
            <a:avLst/>
            <a:gdLst/>
            <a:ahLst/>
            <a:cxnLst/>
            <a:rect l="l" t="t" r="r" b="b"/>
            <a:pathLst>
              <a:path w="9525" h="6858000">
                <a:moveTo>
                  <a:pt x="0" y="0"/>
                </a:moveTo>
                <a:lnTo>
                  <a:pt x="0" y="6858000"/>
                </a:lnTo>
              </a:path>
            </a:pathLst>
          </a:custGeom>
          <a:noFill/>
          <a:ln w="4762">
            <a:solidFill>
              <a:srgbClr val="D7EAFF">
                <a:alpha val="22000"/>
              </a:srgbClr>
            </a:solidFill>
          </a:ln>
        </p:spPr>
      </p:sp>
      <p:sp>
        <p:nvSpPr>
          <p:cNvPr id="14" name="Line 14"/>
          <p:cNvSpPr/>
          <p:nvPr/>
        </p:nvSpPr>
        <p:spPr>
          <a:xfrm>
            <a:off x="2286000" y="0"/>
            <a:ext cx="9525" cy="6858000"/>
          </a:xfrm>
          <a:custGeom>
            <a:avLst/>
            <a:gdLst/>
            <a:ahLst/>
            <a:cxnLst/>
            <a:rect l="l" t="t" r="r" b="b"/>
            <a:pathLst>
              <a:path w="9525" h="6858000">
                <a:moveTo>
                  <a:pt x="0" y="0"/>
                </a:moveTo>
                <a:lnTo>
                  <a:pt x="0" y="6858000"/>
                </a:lnTo>
              </a:path>
            </a:pathLst>
          </a:custGeom>
          <a:noFill/>
          <a:ln w="4762">
            <a:solidFill>
              <a:srgbClr val="D7EAFF">
                <a:alpha val="22000"/>
              </a:srgbClr>
            </a:solidFill>
          </a:ln>
        </p:spPr>
      </p:sp>
      <p:sp>
        <p:nvSpPr>
          <p:cNvPr id="15" name="Line 15"/>
          <p:cNvSpPr/>
          <p:nvPr/>
        </p:nvSpPr>
        <p:spPr>
          <a:xfrm>
            <a:off x="3048000" y="0"/>
            <a:ext cx="9525" cy="6858000"/>
          </a:xfrm>
          <a:custGeom>
            <a:avLst/>
            <a:gdLst/>
            <a:ahLst/>
            <a:cxnLst/>
            <a:rect l="l" t="t" r="r" b="b"/>
            <a:pathLst>
              <a:path w="9525" h="6858000">
                <a:moveTo>
                  <a:pt x="0" y="0"/>
                </a:moveTo>
                <a:lnTo>
                  <a:pt x="0" y="6858000"/>
                </a:lnTo>
              </a:path>
            </a:pathLst>
          </a:custGeom>
          <a:noFill/>
          <a:ln w="4762">
            <a:solidFill>
              <a:srgbClr val="D7EAFF">
                <a:alpha val="22000"/>
              </a:srgbClr>
            </a:solidFill>
          </a:ln>
        </p:spPr>
      </p:sp>
      <p:sp>
        <p:nvSpPr>
          <p:cNvPr id="16" name="Line 16"/>
          <p:cNvSpPr/>
          <p:nvPr/>
        </p:nvSpPr>
        <p:spPr>
          <a:xfrm>
            <a:off x="3810000" y="0"/>
            <a:ext cx="9525" cy="6858000"/>
          </a:xfrm>
          <a:custGeom>
            <a:avLst/>
            <a:gdLst/>
            <a:ahLst/>
            <a:cxnLst/>
            <a:rect l="l" t="t" r="r" b="b"/>
            <a:pathLst>
              <a:path w="9525" h="6858000">
                <a:moveTo>
                  <a:pt x="0" y="0"/>
                </a:moveTo>
                <a:lnTo>
                  <a:pt x="0" y="6858000"/>
                </a:lnTo>
              </a:path>
            </a:pathLst>
          </a:custGeom>
          <a:noFill/>
          <a:ln w="4762">
            <a:solidFill>
              <a:srgbClr val="D7EAFF">
                <a:alpha val="22000"/>
              </a:srgbClr>
            </a:solidFill>
          </a:ln>
        </p:spPr>
      </p:sp>
      <p:sp>
        <p:nvSpPr>
          <p:cNvPr id="17" name="Line 17"/>
          <p:cNvSpPr/>
          <p:nvPr/>
        </p:nvSpPr>
        <p:spPr>
          <a:xfrm>
            <a:off x="4572000" y="0"/>
            <a:ext cx="9525" cy="6858000"/>
          </a:xfrm>
          <a:custGeom>
            <a:avLst/>
            <a:gdLst/>
            <a:ahLst/>
            <a:cxnLst/>
            <a:rect l="l" t="t" r="r" b="b"/>
            <a:pathLst>
              <a:path w="9525" h="6858000">
                <a:moveTo>
                  <a:pt x="0" y="0"/>
                </a:moveTo>
                <a:lnTo>
                  <a:pt x="0" y="6858000"/>
                </a:lnTo>
              </a:path>
            </a:pathLst>
          </a:custGeom>
          <a:noFill/>
          <a:ln w="4762">
            <a:solidFill>
              <a:srgbClr val="D7EAFF">
                <a:alpha val="22000"/>
              </a:srgbClr>
            </a:solidFill>
          </a:ln>
        </p:spPr>
      </p:sp>
      <p:sp>
        <p:nvSpPr>
          <p:cNvPr id="18" name="Line 18"/>
          <p:cNvSpPr/>
          <p:nvPr/>
        </p:nvSpPr>
        <p:spPr>
          <a:xfrm>
            <a:off x="5334000" y="0"/>
            <a:ext cx="9525" cy="6858000"/>
          </a:xfrm>
          <a:custGeom>
            <a:avLst/>
            <a:gdLst/>
            <a:ahLst/>
            <a:cxnLst/>
            <a:rect l="l" t="t" r="r" b="b"/>
            <a:pathLst>
              <a:path w="9525" h="6858000">
                <a:moveTo>
                  <a:pt x="0" y="0"/>
                </a:moveTo>
                <a:lnTo>
                  <a:pt x="0" y="6858000"/>
                </a:lnTo>
              </a:path>
            </a:pathLst>
          </a:custGeom>
          <a:noFill/>
          <a:ln w="4762">
            <a:solidFill>
              <a:srgbClr val="D7EAFF">
                <a:alpha val="22000"/>
              </a:srgbClr>
            </a:solidFill>
          </a:ln>
        </p:spPr>
      </p:sp>
      <p:sp>
        <p:nvSpPr>
          <p:cNvPr id="19" name="Line 19"/>
          <p:cNvSpPr/>
          <p:nvPr/>
        </p:nvSpPr>
        <p:spPr>
          <a:xfrm>
            <a:off x="6096000" y="0"/>
            <a:ext cx="9525" cy="6858000"/>
          </a:xfrm>
          <a:custGeom>
            <a:avLst/>
            <a:gdLst/>
            <a:ahLst/>
            <a:cxnLst/>
            <a:rect l="l" t="t" r="r" b="b"/>
            <a:pathLst>
              <a:path w="9525" h="6858000">
                <a:moveTo>
                  <a:pt x="0" y="0"/>
                </a:moveTo>
                <a:lnTo>
                  <a:pt x="0" y="6858000"/>
                </a:lnTo>
              </a:path>
            </a:pathLst>
          </a:custGeom>
          <a:noFill/>
          <a:ln w="4762">
            <a:solidFill>
              <a:srgbClr val="D7EAFF">
                <a:alpha val="22000"/>
              </a:srgbClr>
            </a:solidFill>
          </a:ln>
        </p:spPr>
      </p:sp>
      <p:sp>
        <p:nvSpPr>
          <p:cNvPr id="20" name="Line 20"/>
          <p:cNvSpPr/>
          <p:nvPr/>
        </p:nvSpPr>
        <p:spPr>
          <a:xfrm>
            <a:off x="6858000" y="0"/>
            <a:ext cx="9525" cy="6858000"/>
          </a:xfrm>
          <a:custGeom>
            <a:avLst/>
            <a:gdLst/>
            <a:ahLst/>
            <a:cxnLst/>
            <a:rect l="l" t="t" r="r" b="b"/>
            <a:pathLst>
              <a:path w="9525" h="6858000">
                <a:moveTo>
                  <a:pt x="0" y="0"/>
                </a:moveTo>
                <a:lnTo>
                  <a:pt x="0" y="6858000"/>
                </a:lnTo>
              </a:path>
            </a:pathLst>
          </a:custGeom>
          <a:noFill/>
          <a:ln w="4762">
            <a:solidFill>
              <a:srgbClr val="D7EAFF">
                <a:alpha val="22000"/>
              </a:srgbClr>
            </a:solidFill>
          </a:ln>
        </p:spPr>
      </p:sp>
      <p:sp>
        <p:nvSpPr>
          <p:cNvPr id="21" name="Line 21"/>
          <p:cNvSpPr/>
          <p:nvPr/>
        </p:nvSpPr>
        <p:spPr>
          <a:xfrm>
            <a:off x="7620000" y="0"/>
            <a:ext cx="9525" cy="6858000"/>
          </a:xfrm>
          <a:custGeom>
            <a:avLst/>
            <a:gdLst/>
            <a:ahLst/>
            <a:cxnLst/>
            <a:rect l="l" t="t" r="r" b="b"/>
            <a:pathLst>
              <a:path w="9525" h="6858000">
                <a:moveTo>
                  <a:pt x="0" y="0"/>
                </a:moveTo>
                <a:lnTo>
                  <a:pt x="0" y="6858000"/>
                </a:lnTo>
              </a:path>
            </a:pathLst>
          </a:custGeom>
          <a:noFill/>
          <a:ln w="4762">
            <a:solidFill>
              <a:srgbClr val="D7EAFF">
                <a:alpha val="22000"/>
              </a:srgbClr>
            </a:solidFill>
          </a:ln>
        </p:spPr>
      </p:sp>
      <p:sp>
        <p:nvSpPr>
          <p:cNvPr id="22" name="Line 22"/>
          <p:cNvSpPr/>
          <p:nvPr/>
        </p:nvSpPr>
        <p:spPr>
          <a:xfrm>
            <a:off x="8382000" y="0"/>
            <a:ext cx="9525" cy="6858000"/>
          </a:xfrm>
          <a:custGeom>
            <a:avLst/>
            <a:gdLst/>
            <a:ahLst/>
            <a:cxnLst/>
            <a:rect l="l" t="t" r="r" b="b"/>
            <a:pathLst>
              <a:path w="9525" h="6858000">
                <a:moveTo>
                  <a:pt x="0" y="0"/>
                </a:moveTo>
                <a:lnTo>
                  <a:pt x="0" y="6858000"/>
                </a:lnTo>
              </a:path>
            </a:pathLst>
          </a:custGeom>
          <a:noFill/>
          <a:ln w="4762">
            <a:solidFill>
              <a:srgbClr val="D7EAFF">
                <a:alpha val="22000"/>
              </a:srgbClr>
            </a:solidFill>
          </a:ln>
        </p:spPr>
      </p:sp>
      <p:sp>
        <p:nvSpPr>
          <p:cNvPr id="23" name="Line 23"/>
          <p:cNvSpPr/>
          <p:nvPr/>
        </p:nvSpPr>
        <p:spPr>
          <a:xfrm>
            <a:off x="9144000" y="0"/>
            <a:ext cx="9525" cy="6858000"/>
          </a:xfrm>
          <a:custGeom>
            <a:avLst/>
            <a:gdLst/>
            <a:ahLst/>
            <a:cxnLst/>
            <a:rect l="l" t="t" r="r" b="b"/>
            <a:pathLst>
              <a:path w="9525" h="6858000">
                <a:moveTo>
                  <a:pt x="0" y="0"/>
                </a:moveTo>
                <a:lnTo>
                  <a:pt x="0" y="6858000"/>
                </a:lnTo>
              </a:path>
            </a:pathLst>
          </a:custGeom>
          <a:noFill/>
          <a:ln w="4762">
            <a:solidFill>
              <a:srgbClr val="D7EAFF">
                <a:alpha val="22000"/>
              </a:srgbClr>
            </a:solidFill>
          </a:ln>
        </p:spPr>
      </p:sp>
      <p:sp>
        <p:nvSpPr>
          <p:cNvPr id="24" name="Line 24"/>
          <p:cNvSpPr/>
          <p:nvPr/>
        </p:nvSpPr>
        <p:spPr>
          <a:xfrm>
            <a:off x="9906000" y="0"/>
            <a:ext cx="9525" cy="6858000"/>
          </a:xfrm>
          <a:custGeom>
            <a:avLst/>
            <a:gdLst/>
            <a:ahLst/>
            <a:cxnLst/>
            <a:rect l="l" t="t" r="r" b="b"/>
            <a:pathLst>
              <a:path w="9525" h="6858000">
                <a:moveTo>
                  <a:pt x="0" y="0"/>
                </a:moveTo>
                <a:lnTo>
                  <a:pt x="0" y="6858000"/>
                </a:lnTo>
              </a:path>
            </a:pathLst>
          </a:custGeom>
          <a:noFill/>
          <a:ln w="4762">
            <a:solidFill>
              <a:srgbClr val="D7EAFF">
                <a:alpha val="22000"/>
              </a:srgbClr>
            </a:solidFill>
          </a:ln>
        </p:spPr>
      </p:sp>
      <p:sp>
        <p:nvSpPr>
          <p:cNvPr id="25" name="Line 25"/>
          <p:cNvSpPr/>
          <p:nvPr/>
        </p:nvSpPr>
        <p:spPr>
          <a:xfrm>
            <a:off x="10668000" y="0"/>
            <a:ext cx="9525" cy="6858000"/>
          </a:xfrm>
          <a:custGeom>
            <a:avLst/>
            <a:gdLst/>
            <a:ahLst/>
            <a:cxnLst/>
            <a:rect l="l" t="t" r="r" b="b"/>
            <a:pathLst>
              <a:path w="9525" h="6858000">
                <a:moveTo>
                  <a:pt x="0" y="0"/>
                </a:moveTo>
                <a:lnTo>
                  <a:pt x="0" y="6858000"/>
                </a:lnTo>
              </a:path>
            </a:pathLst>
          </a:custGeom>
          <a:noFill/>
          <a:ln w="4762">
            <a:solidFill>
              <a:srgbClr val="D7EAFF">
                <a:alpha val="22000"/>
              </a:srgbClr>
            </a:solidFill>
          </a:ln>
        </p:spPr>
      </p:sp>
      <p:sp>
        <p:nvSpPr>
          <p:cNvPr id="26" name="Line 26"/>
          <p:cNvSpPr/>
          <p:nvPr/>
        </p:nvSpPr>
        <p:spPr>
          <a:xfrm>
            <a:off x="11430000" y="0"/>
            <a:ext cx="9525" cy="6858000"/>
          </a:xfrm>
          <a:custGeom>
            <a:avLst/>
            <a:gdLst/>
            <a:ahLst/>
            <a:cxnLst/>
            <a:rect l="l" t="t" r="r" b="b"/>
            <a:pathLst>
              <a:path w="9525" h="6858000">
                <a:moveTo>
                  <a:pt x="0" y="0"/>
                </a:moveTo>
                <a:lnTo>
                  <a:pt x="0" y="6858000"/>
                </a:lnTo>
              </a:path>
            </a:pathLst>
          </a:custGeom>
          <a:noFill/>
          <a:ln w="4762">
            <a:solidFill>
              <a:srgbClr val="D7EAFF">
                <a:alpha val="22000"/>
              </a:srgbClr>
            </a:solidFill>
          </a:ln>
        </p:spPr>
      </p:sp>
      <p:sp>
        <p:nvSpPr>
          <p:cNvPr id="27" name="Line 27"/>
          <p:cNvSpPr/>
          <p:nvPr/>
        </p:nvSpPr>
        <p:spPr>
          <a:xfrm>
            <a:off x="0" y="762000"/>
            <a:ext cx="12192000" cy="9525"/>
          </a:xfrm>
          <a:custGeom>
            <a:avLst/>
            <a:gdLst/>
            <a:ahLst/>
            <a:cxnLst/>
            <a:rect l="l" t="t" r="r" b="b"/>
            <a:pathLst>
              <a:path w="12192000" h="9525">
                <a:moveTo>
                  <a:pt x="0" y="0"/>
                </a:moveTo>
                <a:lnTo>
                  <a:pt x="12192000" y="0"/>
                </a:lnTo>
              </a:path>
            </a:pathLst>
          </a:custGeom>
          <a:noFill/>
          <a:ln w="4762">
            <a:solidFill>
              <a:srgbClr val="D7EAFF">
                <a:alpha val="22000"/>
              </a:srgbClr>
            </a:solidFill>
          </a:ln>
        </p:spPr>
      </p:sp>
      <p:sp>
        <p:nvSpPr>
          <p:cNvPr id="28" name="Line 28"/>
          <p:cNvSpPr/>
          <p:nvPr/>
        </p:nvSpPr>
        <p:spPr>
          <a:xfrm>
            <a:off x="0" y="1524000"/>
            <a:ext cx="12192000" cy="9525"/>
          </a:xfrm>
          <a:custGeom>
            <a:avLst/>
            <a:gdLst/>
            <a:ahLst/>
            <a:cxnLst/>
            <a:rect l="l" t="t" r="r" b="b"/>
            <a:pathLst>
              <a:path w="12192000" h="9525">
                <a:moveTo>
                  <a:pt x="0" y="0"/>
                </a:moveTo>
                <a:lnTo>
                  <a:pt x="12192000" y="0"/>
                </a:lnTo>
              </a:path>
            </a:pathLst>
          </a:custGeom>
          <a:noFill/>
          <a:ln w="4762">
            <a:solidFill>
              <a:srgbClr val="D7EAFF">
                <a:alpha val="22000"/>
              </a:srgbClr>
            </a:solidFill>
          </a:ln>
        </p:spPr>
      </p:sp>
      <p:sp>
        <p:nvSpPr>
          <p:cNvPr id="29" name="Line 29"/>
          <p:cNvSpPr/>
          <p:nvPr/>
        </p:nvSpPr>
        <p:spPr>
          <a:xfrm>
            <a:off x="0" y="2286000"/>
            <a:ext cx="12192000" cy="9525"/>
          </a:xfrm>
          <a:custGeom>
            <a:avLst/>
            <a:gdLst/>
            <a:ahLst/>
            <a:cxnLst/>
            <a:rect l="l" t="t" r="r" b="b"/>
            <a:pathLst>
              <a:path w="12192000" h="9525">
                <a:moveTo>
                  <a:pt x="0" y="0"/>
                </a:moveTo>
                <a:lnTo>
                  <a:pt x="12192000" y="0"/>
                </a:lnTo>
              </a:path>
            </a:pathLst>
          </a:custGeom>
          <a:noFill/>
          <a:ln w="4762">
            <a:solidFill>
              <a:srgbClr val="D7EAFF">
                <a:alpha val="22000"/>
              </a:srgbClr>
            </a:solidFill>
          </a:ln>
        </p:spPr>
      </p:sp>
      <p:sp>
        <p:nvSpPr>
          <p:cNvPr id="30" name="Line 30"/>
          <p:cNvSpPr/>
          <p:nvPr/>
        </p:nvSpPr>
        <p:spPr>
          <a:xfrm>
            <a:off x="0" y="3048000"/>
            <a:ext cx="12192000" cy="9525"/>
          </a:xfrm>
          <a:custGeom>
            <a:avLst/>
            <a:gdLst/>
            <a:ahLst/>
            <a:cxnLst/>
            <a:rect l="l" t="t" r="r" b="b"/>
            <a:pathLst>
              <a:path w="12192000" h="9525">
                <a:moveTo>
                  <a:pt x="0" y="0"/>
                </a:moveTo>
                <a:lnTo>
                  <a:pt x="12192000" y="0"/>
                </a:lnTo>
              </a:path>
            </a:pathLst>
          </a:custGeom>
          <a:noFill/>
          <a:ln w="4762">
            <a:solidFill>
              <a:srgbClr val="D7EAFF">
                <a:alpha val="22000"/>
              </a:srgbClr>
            </a:solidFill>
          </a:ln>
        </p:spPr>
      </p:sp>
      <p:sp>
        <p:nvSpPr>
          <p:cNvPr id="31" name="Line 31"/>
          <p:cNvSpPr/>
          <p:nvPr/>
        </p:nvSpPr>
        <p:spPr>
          <a:xfrm>
            <a:off x="0" y="3810000"/>
            <a:ext cx="12192000" cy="9525"/>
          </a:xfrm>
          <a:custGeom>
            <a:avLst/>
            <a:gdLst/>
            <a:ahLst/>
            <a:cxnLst/>
            <a:rect l="l" t="t" r="r" b="b"/>
            <a:pathLst>
              <a:path w="12192000" h="9525">
                <a:moveTo>
                  <a:pt x="0" y="0"/>
                </a:moveTo>
                <a:lnTo>
                  <a:pt x="12192000" y="0"/>
                </a:lnTo>
              </a:path>
            </a:pathLst>
          </a:custGeom>
          <a:noFill/>
          <a:ln w="4762">
            <a:solidFill>
              <a:srgbClr val="D7EAFF">
                <a:alpha val="22000"/>
              </a:srgbClr>
            </a:solidFill>
          </a:ln>
        </p:spPr>
      </p:sp>
      <p:sp>
        <p:nvSpPr>
          <p:cNvPr id="32" name="Line 32"/>
          <p:cNvSpPr/>
          <p:nvPr/>
        </p:nvSpPr>
        <p:spPr>
          <a:xfrm>
            <a:off x="0" y="4572000"/>
            <a:ext cx="12192000" cy="9525"/>
          </a:xfrm>
          <a:custGeom>
            <a:avLst/>
            <a:gdLst/>
            <a:ahLst/>
            <a:cxnLst/>
            <a:rect l="l" t="t" r="r" b="b"/>
            <a:pathLst>
              <a:path w="12192000" h="9525">
                <a:moveTo>
                  <a:pt x="0" y="0"/>
                </a:moveTo>
                <a:lnTo>
                  <a:pt x="12192000" y="0"/>
                </a:lnTo>
              </a:path>
            </a:pathLst>
          </a:custGeom>
          <a:noFill/>
          <a:ln w="4762">
            <a:solidFill>
              <a:srgbClr val="D7EAFF">
                <a:alpha val="22000"/>
              </a:srgbClr>
            </a:solidFill>
          </a:ln>
        </p:spPr>
      </p:sp>
      <p:sp>
        <p:nvSpPr>
          <p:cNvPr id="33" name="Line 33"/>
          <p:cNvSpPr/>
          <p:nvPr/>
        </p:nvSpPr>
        <p:spPr>
          <a:xfrm>
            <a:off x="0" y="5334000"/>
            <a:ext cx="12192000" cy="9525"/>
          </a:xfrm>
          <a:custGeom>
            <a:avLst/>
            <a:gdLst/>
            <a:ahLst/>
            <a:cxnLst/>
            <a:rect l="l" t="t" r="r" b="b"/>
            <a:pathLst>
              <a:path w="12192000" h="9525">
                <a:moveTo>
                  <a:pt x="0" y="0"/>
                </a:moveTo>
                <a:lnTo>
                  <a:pt x="12192000" y="0"/>
                </a:lnTo>
              </a:path>
            </a:pathLst>
          </a:custGeom>
          <a:noFill/>
          <a:ln w="4762">
            <a:solidFill>
              <a:srgbClr val="D7EAFF">
                <a:alpha val="22000"/>
              </a:srgbClr>
            </a:solidFill>
          </a:ln>
        </p:spPr>
      </p:sp>
      <p:sp>
        <p:nvSpPr>
          <p:cNvPr id="34" name="Line 34"/>
          <p:cNvSpPr/>
          <p:nvPr/>
        </p:nvSpPr>
        <p:spPr>
          <a:xfrm>
            <a:off x="0" y="6096000"/>
            <a:ext cx="12192000" cy="9525"/>
          </a:xfrm>
          <a:custGeom>
            <a:avLst/>
            <a:gdLst/>
            <a:ahLst/>
            <a:cxnLst/>
            <a:rect l="l" t="t" r="r" b="b"/>
            <a:pathLst>
              <a:path w="12192000" h="9525">
                <a:moveTo>
                  <a:pt x="0" y="0"/>
                </a:moveTo>
                <a:lnTo>
                  <a:pt x="12192000" y="0"/>
                </a:lnTo>
              </a:path>
            </a:pathLst>
          </a:custGeom>
          <a:noFill/>
          <a:ln w="4762">
            <a:solidFill>
              <a:srgbClr val="D7EAFF">
                <a:alpha val="22000"/>
              </a:srgbClr>
            </a:solidFill>
          </a:ln>
        </p:spPr>
      </p:sp>
      <p:grpSp>
        <p:nvGrpSpPr>
          <p:cNvPr id="99" name="Group 99"/>
          <p:cNvGrpSpPr/>
          <p:nvPr/>
        </p:nvGrpSpPr>
        <p:grpSpPr>
          <a:xfrm>
            <a:off x="0" y="0"/>
            <a:ext cx="12192000" cy="6781800"/>
            <a:chOff x="0" y="0"/>
            <a:chExt cx="12192000" cy="6781800"/>
          </a:xfrm>
        </p:grpSpPr>
        <p:sp>
          <p:nvSpPr>
            <p:cNvPr id="35" name="Rectangle 35"/>
            <p:cNvSpPr/>
            <p:nvPr/>
          </p:nvSpPr>
          <p:spPr>
            <a:xfrm>
              <a:off x="0" y="0"/>
              <a:ext cx="12192000" cy="47625"/>
            </a:xfrm>
            <a:prstGeom prst="rect">
              <a:avLst/>
            </a:prstGeom>
            <a:gradFill>
              <a:gsLst>
                <a:gs pos="0">
                  <a:srgbClr val="0B57D0"/>
                </a:gs>
                <a:gs pos="52000">
                  <a:srgbClr val="26A7FF"/>
                </a:gs>
                <a:gs pos="100000">
                  <a:srgbClr val="00D4FF"/>
                </a:gs>
              </a:gsLst>
              <a:lin ang="0" scaled="1"/>
            </a:gradFill>
            <a:ln>
              <a:noFill/>
            </a:ln>
          </p:spPr>
        </p:sp>
        <p:sp>
          <p:nvSpPr>
            <p:cNvPr id="36" name="TextBox 36"/>
            <p:cNvSpPr txBox="1"/>
            <p:nvPr/>
          </p:nvSpPr>
          <p:spPr>
            <a:xfrm>
              <a:off x="504825" y="233362"/>
              <a:ext cx="3723005" cy="346075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2250" b="1" dirty="0">
                  <a:solidFill>
                    <a:srgbClr val="102033"/>
                  </a:solidFill>
                  <a:latin typeface="MiSans Heavy" panose="00000A00000000000000" charset="-122"/>
                  <a:ea typeface="MiSans Heavy" panose="00000A00000000000000" charset="-122"/>
                  <a:cs typeface="等线" panose="02010600030101010101" charset="-122"/>
                </a:rPr>
                <a:t>产品原型设计：核心界面展示</a:t>
              </a:r>
              <a:endParaRPr lang="zh-CN" sz="2250" b="1" dirty="0">
                <a:solidFill>
                  <a:srgbClr val="102033"/>
                </a:solidFill>
                <a:latin typeface="MiSans Heavy" panose="00000A00000000000000" charset="-122"/>
                <a:ea typeface="MiSans Heavy" panose="00000A00000000000000" charset="-122"/>
                <a:cs typeface="等线" panose="02010600030101010101" charset="-122"/>
              </a:endParaRPr>
            </a:p>
          </p:txBody>
        </p:sp>
        <p:sp>
          <p:nvSpPr>
            <p:cNvPr id="37" name="TextBox 37"/>
            <p:cNvSpPr txBox="1"/>
            <p:nvPr/>
          </p:nvSpPr>
          <p:spPr>
            <a:xfrm>
              <a:off x="521970" y="645795"/>
              <a:ext cx="809625" cy="13843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00" b="1" dirty="0">
                  <a:solidFill>
                    <a:srgbClr val="0B57D0"/>
                  </a:solidFill>
                  <a:latin typeface="金山云技术体" charset="-122"/>
                  <a:ea typeface="金山云技术体" charset="-122"/>
                  <a:cs typeface="等线" panose="02010600030101010101" charset="-122"/>
                </a:rPr>
                <a:t>PROTOTYPE UI</a:t>
              </a:r>
              <a:endParaRPr lang="zh-CN" sz="900" b="1" dirty="0">
                <a:solidFill>
                  <a:srgbClr val="0B57D0"/>
                </a:solidFill>
                <a:latin typeface="金山云技术体" charset="-122"/>
                <a:ea typeface="金山云技术体" charset="-122"/>
                <a:cs typeface="等线" panose="02010600030101010101" charset="-122"/>
              </a:endParaRPr>
            </a:p>
          </p:txBody>
        </p:sp>
        <p:sp>
          <p:nvSpPr>
            <p:cNvPr id="38" name="Line 38"/>
            <p:cNvSpPr/>
            <p:nvPr/>
          </p:nvSpPr>
          <p:spPr>
            <a:xfrm>
              <a:off x="533400" y="876300"/>
              <a:ext cx="11125200" cy="9525"/>
            </a:xfrm>
            <a:custGeom>
              <a:avLst/>
              <a:gdLst/>
              <a:ahLst/>
              <a:cxnLst/>
              <a:rect l="l" t="t" r="r" b="b"/>
              <a:pathLst>
                <a:path w="11125200" h="9525">
                  <a:moveTo>
                    <a:pt x="0" y="0"/>
                  </a:moveTo>
                  <a:lnTo>
                    <a:pt x="11125200" y="0"/>
                  </a:lnTo>
                </a:path>
              </a:pathLst>
            </a:custGeom>
            <a:noFill/>
            <a:ln w="11430">
              <a:solidFill>
                <a:srgbClr val="BFD9F4"/>
              </a:solidFill>
            </a:ln>
          </p:spPr>
        </p:sp>
        <p:sp>
          <p:nvSpPr>
            <p:cNvPr id="39" name="Rectangle 39"/>
            <p:cNvSpPr/>
            <p:nvPr/>
          </p:nvSpPr>
          <p:spPr>
            <a:xfrm>
              <a:off x="533400" y="1028700"/>
              <a:ext cx="95250" cy="95250"/>
            </a:xfrm>
            <a:prstGeom prst="roundRect">
              <a:avLst>
                <a:gd name="adj" fmla="val 50000"/>
              </a:avLst>
            </a:prstGeom>
            <a:solidFill>
              <a:srgbClr val="00D4FF"/>
            </a:solidFill>
            <a:ln>
              <a:noFill/>
            </a:ln>
          </p:spPr>
        </p:sp>
        <p:sp>
          <p:nvSpPr>
            <p:cNvPr id="40" name="TextBox 40"/>
            <p:cNvSpPr txBox="1"/>
            <p:nvPr/>
          </p:nvSpPr>
          <p:spPr>
            <a:xfrm>
              <a:off x="765810" y="1003935"/>
              <a:ext cx="3978910" cy="18415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00" b="1" dirty="0">
                  <a:solidFill>
                    <a:srgbClr val="51677F"/>
                  </a:solidFill>
                  <a:latin typeface="MiSans Normal" panose="00000500000000000000" charset="-122"/>
                  <a:ea typeface="MiSans Normal" panose="00000500000000000000" charset="-122"/>
                  <a:cs typeface="等线" panose="02010600030101010101" charset="-122"/>
                </a:rPr>
                <a:t>原型重点展示记忆、规划、陪伴和复盘如何形成完整闭环。</a:t>
              </a:r>
              <a:endParaRPr lang="zh-CN" sz="1200" b="1" dirty="0">
                <a:solidFill>
                  <a:srgbClr val="51677F"/>
                </a:solidFill>
                <a:latin typeface="MiSans Normal" panose="00000500000000000000" charset="-122"/>
                <a:ea typeface="MiSans Normal" panose="00000500000000000000" charset="-122"/>
                <a:cs typeface="等线" panose="02010600030101010101" charset="-122"/>
              </a:endParaRPr>
            </a:p>
          </p:txBody>
        </p:sp>
        <p:sp>
          <p:nvSpPr>
            <p:cNvPr id="41" name="Rectangle 41"/>
            <p:cNvSpPr/>
            <p:nvPr/>
          </p:nvSpPr>
          <p:spPr>
            <a:xfrm>
              <a:off x="495300" y="1581150"/>
              <a:ext cx="11353800" cy="935990"/>
            </a:xfrm>
            <a:prstGeom prst="roundRect">
              <a:avLst>
                <a:gd name="adj" fmla="val 17949"/>
              </a:avLst>
            </a:prstGeom>
            <a:solidFill>
              <a:srgbClr val="0B57D0">
                <a:alpha val="5000"/>
              </a:srgbClr>
            </a:solidFill>
            <a:ln>
              <a:noFill/>
            </a:ln>
          </p:spPr>
        </p:sp>
        <p:sp>
          <p:nvSpPr>
            <p:cNvPr id="42" name="Rectangle 42"/>
            <p:cNvSpPr/>
            <p:nvPr/>
          </p:nvSpPr>
          <p:spPr>
            <a:xfrm>
              <a:off x="419100" y="1485900"/>
              <a:ext cx="11353800" cy="848995"/>
            </a:xfrm>
            <a:prstGeom prst="roundRect">
              <a:avLst>
                <a:gd name="adj" fmla="val 17949"/>
              </a:avLst>
            </a:prstGeom>
            <a:solidFill>
              <a:srgbClr val="FFFFFF"/>
            </a:solidFill>
            <a:ln w="11430">
              <a:solidFill>
                <a:srgbClr val="BFD9F4"/>
              </a:solidFill>
            </a:ln>
          </p:spPr>
        </p:sp>
        <p:sp>
          <p:nvSpPr>
            <p:cNvPr id="43" name="Line 43"/>
            <p:cNvSpPr/>
            <p:nvPr/>
          </p:nvSpPr>
          <p:spPr>
            <a:xfrm>
              <a:off x="590550" y="1495425"/>
              <a:ext cx="1238250" cy="9525"/>
            </a:xfrm>
            <a:custGeom>
              <a:avLst/>
              <a:gdLst/>
              <a:ahLst/>
              <a:cxnLst/>
              <a:rect l="l" t="t" r="r" b="b"/>
              <a:pathLst>
                <a:path w="1238250" h="9525">
                  <a:moveTo>
                    <a:pt x="0" y="0"/>
                  </a:moveTo>
                  <a:lnTo>
                    <a:pt x="1238250" y="0"/>
                  </a:lnTo>
                </a:path>
              </a:pathLst>
            </a:custGeom>
            <a:noFill/>
            <a:ln w="19050">
              <a:solidFill>
                <a:srgbClr val="26A7FF">
                  <a:alpha val="90000"/>
                </a:srgbClr>
              </a:solidFill>
            </a:ln>
          </p:spPr>
        </p:sp>
        <p:sp>
          <p:nvSpPr>
            <p:cNvPr id="44" name="Rectangle 44"/>
            <p:cNvSpPr/>
            <p:nvPr/>
          </p:nvSpPr>
          <p:spPr>
            <a:xfrm>
              <a:off x="590550" y="1657350"/>
              <a:ext cx="285750" cy="285750"/>
            </a:xfrm>
            <a:prstGeom prst="roundRect">
              <a:avLst>
                <a:gd name="adj" fmla="val 33333"/>
              </a:avLst>
            </a:prstGeom>
            <a:solidFill>
              <a:srgbClr val="E7F2FF"/>
            </a:solidFill>
            <a:ln>
              <a:noFill/>
            </a:ln>
          </p:spPr>
        </p:sp>
        <p:grpSp>
          <p:nvGrpSpPr>
            <p:cNvPr id="48" name="Group 48"/>
            <p:cNvGrpSpPr/>
            <p:nvPr/>
          </p:nvGrpSpPr>
          <p:grpSpPr>
            <a:xfrm>
              <a:off x="661988" y="1728788"/>
              <a:ext cx="142874" cy="142875"/>
              <a:chOff x="661988" y="1728788"/>
              <a:chExt cx="142874" cy="142875"/>
            </a:xfrm>
          </p:grpSpPr>
          <p:sp>
            <p:nvSpPr>
              <p:cNvPr id="45" name="Freeform 45"/>
              <p:cNvSpPr/>
              <p:nvPr/>
            </p:nvSpPr>
            <p:spPr>
              <a:xfrm>
                <a:off x="661988" y="1728788"/>
                <a:ext cx="63500" cy="55563"/>
              </a:xfrm>
              <a:custGeom>
                <a:avLst/>
                <a:gdLst/>
                <a:ahLst/>
                <a:cxnLst/>
                <a:rect l="l" t="t" r="r" b="b"/>
                <a:pathLst>
                  <a:path w="63500" h="55563">
                    <a:moveTo>
                      <a:pt x="39688" y="0"/>
                    </a:moveTo>
                    <a:cubicBezTo>
                      <a:pt x="52839" y="0"/>
                      <a:pt x="63500" y="10661"/>
                      <a:pt x="63500" y="23812"/>
                    </a:cubicBezTo>
                    <a:lnTo>
                      <a:pt x="63500" y="31750"/>
                    </a:lnTo>
                    <a:cubicBezTo>
                      <a:pt x="63500" y="44901"/>
                      <a:pt x="52839" y="55563"/>
                      <a:pt x="39688" y="55563"/>
                    </a:cubicBezTo>
                    <a:lnTo>
                      <a:pt x="23812" y="55563"/>
                    </a:lnTo>
                    <a:cubicBezTo>
                      <a:pt x="10661" y="55563"/>
                      <a:pt x="0" y="44901"/>
                      <a:pt x="0" y="31750"/>
                    </a:cubicBezTo>
                    <a:lnTo>
                      <a:pt x="0" y="23812"/>
                    </a:lnTo>
                    <a:cubicBezTo>
                      <a:pt x="0" y="10661"/>
                      <a:pt x="10661" y="0"/>
                      <a:pt x="23812" y="0"/>
                    </a:cubicBezTo>
                    <a:close/>
                  </a:path>
                </a:pathLst>
              </a:custGeom>
              <a:solidFill>
                <a:srgbClr val="0B57D0"/>
              </a:solidFill>
              <a:ln>
                <a:noFill/>
              </a:ln>
            </p:spPr>
          </p:sp>
          <p:sp>
            <p:nvSpPr>
              <p:cNvPr id="46" name="Freeform 46"/>
              <p:cNvSpPr/>
              <p:nvPr/>
            </p:nvSpPr>
            <p:spPr>
              <a:xfrm>
                <a:off x="661988" y="1800225"/>
                <a:ext cx="63500" cy="71438"/>
              </a:xfrm>
              <a:custGeom>
                <a:avLst/>
                <a:gdLst/>
                <a:ahLst/>
                <a:cxnLst/>
                <a:rect l="l" t="t" r="r" b="b"/>
                <a:pathLst>
                  <a:path w="63500" h="71438">
                    <a:moveTo>
                      <a:pt x="39688" y="0"/>
                    </a:moveTo>
                    <a:cubicBezTo>
                      <a:pt x="52839" y="0"/>
                      <a:pt x="63500" y="10661"/>
                      <a:pt x="63500" y="23812"/>
                    </a:cubicBezTo>
                    <a:lnTo>
                      <a:pt x="63500" y="47625"/>
                    </a:lnTo>
                    <a:cubicBezTo>
                      <a:pt x="63500" y="60776"/>
                      <a:pt x="52839" y="71438"/>
                      <a:pt x="39688" y="71438"/>
                    </a:cubicBezTo>
                    <a:lnTo>
                      <a:pt x="23812" y="71438"/>
                    </a:lnTo>
                    <a:cubicBezTo>
                      <a:pt x="10661" y="71438"/>
                      <a:pt x="0" y="60776"/>
                      <a:pt x="0" y="47625"/>
                    </a:cubicBezTo>
                    <a:lnTo>
                      <a:pt x="0" y="23812"/>
                    </a:lnTo>
                    <a:cubicBezTo>
                      <a:pt x="0" y="10661"/>
                      <a:pt x="10661" y="0"/>
                      <a:pt x="23812" y="0"/>
                    </a:cubicBezTo>
                    <a:close/>
                  </a:path>
                </a:pathLst>
              </a:custGeom>
              <a:solidFill>
                <a:srgbClr val="0B57D0"/>
              </a:solidFill>
              <a:ln>
                <a:noFill/>
              </a:ln>
            </p:spPr>
          </p:sp>
          <p:sp>
            <p:nvSpPr>
              <p:cNvPr id="47" name="Freeform 47"/>
              <p:cNvSpPr/>
              <p:nvPr/>
            </p:nvSpPr>
            <p:spPr>
              <a:xfrm>
                <a:off x="741362" y="1728788"/>
                <a:ext cx="63500" cy="142875"/>
              </a:xfrm>
              <a:custGeom>
                <a:avLst/>
                <a:gdLst/>
                <a:ahLst/>
                <a:cxnLst/>
                <a:rect l="l" t="t" r="r" b="b"/>
                <a:pathLst>
                  <a:path w="63500" h="142875">
                    <a:moveTo>
                      <a:pt x="39688" y="0"/>
                    </a:moveTo>
                    <a:cubicBezTo>
                      <a:pt x="52839" y="0"/>
                      <a:pt x="63500" y="10661"/>
                      <a:pt x="63500" y="23812"/>
                    </a:cubicBezTo>
                    <a:lnTo>
                      <a:pt x="63500" y="119062"/>
                    </a:lnTo>
                    <a:cubicBezTo>
                      <a:pt x="63500" y="132214"/>
                      <a:pt x="52839" y="142875"/>
                      <a:pt x="39688" y="142875"/>
                    </a:cubicBezTo>
                    <a:lnTo>
                      <a:pt x="23812" y="142875"/>
                    </a:lnTo>
                    <a:cubicBezTo>
                      <a:pt x="10661" y="142875"/>
                      <a:pt x="0" y="132214"/>
                      <a:pt x="0" y="119062"/>
                    </a:cubicBezTo>
                    <a:lnTo>
                      <a:pt x="0" y="23812"/>
                    </a:lnTo>
                    <a:cubicBezTo>
                      <a:pt x="0" y="10661"/>
                      <a:pt x="10661" y="0"/>
                      <a:pt x="23812" y="0"/>
                    </a:cubicBezTo>
                    <a:close/>
                  </a:path>
                </a:pathLst>
              </a:custGeom>
              <a:solidFill>
                <a:srgbClr val="0B57D0"/>
              </a:solidFill>
              <a:ln>
                <a:noFill/>
              </a:ln>
            </p:spPr>
          </p:sp>
        </p:grpSp>
        <p:sp>
          <p:nvSpPr>
            <p:cNvPr id="49" name="TextBox 49"/>
            <p:cNvSpPr txBox="1"/>
            <p:nvPr/>
          </p:nvSpPr>
          <p:spPr>
            <a:xfrm>
              <a:off x="953452" y="1697196"/>
              <a:ext cx="1223010" cy="245745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600" b="1" dirty="0">
                  <a:solidFill>
                    <a:srgbClr val="102033"/>
                  </a:solidFill>
                  <a:latin typeface="MiSans Normal" panose="00000500000000000000" charset="-122"/>
                  <a:ea typeface="MiSans Normal" panose="00000500000000000000" charset="-122"/>
                  <a:cs typeface="等线" panose="02010600030101010101" charset="-122"/>
                </a:rPr>
                <a:t>界面风格说明</a:t>
              </a:r>
              <a:endParaRPr lang="zh-CN" sz="1600" b="1" dirty="0">
                <a:solidFill>
                  <a:srgbClr val="102033"/>
                </a:solidFill>
                <a:latin typeface="MiSans Normal" panose="00000500000000000000" charset="-122"/>
                <a:ea typeface="MiSans Normal" panose="00000500000000000000" charset="-122"/>
                <a:cs typeface="等线" panose="02010600030101010101" charset="-122"/>
              </a:endParaRPr>
            </a:p>
          </p:txBody>
        </p:sp>
        <p:sp>
          <p:nvSpPr>
            <p:cNvPr id="50" name="TextBox 50"/>
            <p:cNvSpPr txBox="1"/>
            <p:nvPr/>
          </p:nvSpPr>
          <p:spPr>
            <a:xfrm>
              <a:off x="633412" y="2050256"/>
              <a:ext cx="5596890" cy="173355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125" dirty="0">
                  <a:solidFill>
                    <a:srgbClr val="51677F"/>
                  </a:solidFill>
                  <a:latin typeface="MiSans Normal" panose="00000500000000000000" charset="-122"/>
                  <a:ea typeface="MiSans Normal" panose="00000500000000000000" charset="-122"/>
                  <a:cs typeface="等线" panose="02010600030101010101" charset="-122"/>
                </a:rPr>
                <a:t>整体采用蓝白清爽、圆角轻卡片和移动端优先的设计语言，蓝小心始终作为主交互对象。</a:t>
              </a:r>
              <a:endParaRPr lang="zh-CN" sz="1125" dirty="0">
                <a:solidFill>
                  <a:srgbClr val="51677F"/>
                </a:solidFill>
                <a:latin typeface="MiSans Normal" panose="00000500000000000000" charset="-122"/>
                <a:ea typeface="MiSans Normal" panose="00000500000000000000" charset="-122"/>
                <a:cs typeface="等线" panose="02010600030101010101" charset="-122"/>
              </a:endParaRPr>
            </a:p>
          </p:txBody>
        </p:sp>
        <p:sp>
          <p:nvSpPr>
            <p:cNvPr id="51" name="Rectangle 51"/>
            <p:cNvSpPr/>
            <p:nvPr/>
          </p:nvSpPr>
          <p:spPr>
            <a:xfrm>
              <a:off x="781050" y="2686050"/>
              <a:ext cx="1809750" cy="2895600"/>
            </a:xfrm>
            <a:prstGeom prst="roundRect">
              <a:avLst>
                <a:gd name="adj" fmla="val 13684"/>
              </a:avLst>
            </a:prstGeom>
            <a:solidFill>
              <a:srgbClr val="082044"/>
            </a:solidFill>
            <a:ln>
              <a:noFill/>
            </a:ln>
          </p:spPr>
        </p:sp>
        <p:sp>
          <p:nvSpPr>
            <p:cNvPr id="52" name="Rectangle 52"/>
            <p:cNvSpPr/>
            <p:nvPr/>
          </p:nvSpPr>
          <p:spPr>
            <a:xfrm>
              <a:off x="857250" y="2762250"/>
              <a:ext cx="1657350" cy="2743200"/>
            </a:xfrm>
            <a:prstGeom prst="roundRect">
              <a:avLst>
                <a:gd name="adj" fmla="val 12069"/>
              </a:avLst>
            </a:prstGeom>
            <a:solidFill>
              <a:srgbClr val="FFFFFF"/>
            </a:solidFill>
            <a:ln>
              <a:noFill/>
            </a:ln>
          </p:spPr>
        </p:sp>
        <p:sp>
          <p:nvSpPr>
            <p:cNvPr id="53" name="Rectangle 53"/>
            <p:cNvSpPr/>
            <p:nvPr/>
          </p:nvSpPr>
          <p:spPr>
            <a:xfrm>
              <a:off x="990600" y="2914650"/>
              <a:ext cx="1390650" cy="285750"/>
            </a:xfrm>
            <a:prstGeom prst="roundRect">
              <a:avLst>
                <a:gd name="adj" fmla="val 40000"/>
              </a:avLst>
            </a:prstGeom>
            <a:solidFill>
              <a:srgbClr val="0B57D0"/>
            </a:solidFill>
            <a:ln>
              <a:noFill/>
            </a:ln>
          </p:spPr>
        </p:sp>
        <p:sp>
          <p:nvSpPr>
            <p:cNvPr id="54" name="TextBox 54"/>
            <p:cNvSpPr txBox="1"/>
            <p:nvPr/>
          </p:nvSpPr>
          <p:spPr>
            <a:xfrm>
              <a:off x="1300163" y="2975769"/>
              <a:ext cx="765175" cy="18415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00" b="1" dirty="0">
                  <a:solidFill>
                    <a:srgbClr val="FFFFFF"/>
                  </a:solidFill>
                  <a:latin typeface="MiSans Normal" panose="00000500000000000000" charset="-122"/>
                  <a:ea typeface="MiSans Normal" panose="00000500000000000000" charset="-122"/>
                  <a:cs typeface="等线" panose="02010600030101010101" charset="-122"/>
                </a:rPr>
                <a:t>蓝小心空间</a:t>
              </a:r>
              <a:endParaRPr lang="zh-CN" sz="1200" b="1" dirty="0">
                <a:solidFill>
                  <a:srgbClr val="FFFFFF"/>
                </a:solidFill>
                <a:latin typeface="MiSans Normal" panose="00000500000000000000" charset="-122"/>
                <a:ea typeface="MiSans Normal" panose="00000500000000000000" charset="-122"/>
                <a:cs typeface="等线" panose="02010600030101010101" charset="-122"/>
              </a:endParaRPr>
            </a:p>
          </p:txBody>
        </p:sp>
        <p:sp>
          <p:nvSpPr>
            <p:cNvPr id="55" name="Rectangle 55"/>
            <p:cNvSpPr/>
            <p:nvPr/>
          </p:nvSpPr>
          <p:spPr>
            <a:xfrm>
              <a:off x="1009650" y="3429000"/>
              <a:ext cx="1352550" cy="1390650"/>
            </a:xfrm>
            <a:prstGeom prst="roundRect">
              <a:avLst>
                <a:gd name="adj" fmla="val 9859"/>
              </a:avLst>
            </a:prstGeom>
            <a:solidFill>
              <a:srgbClr val="F8FCFF"/>
            </a:solidFill>
            <a:ln w="9525">
              <a:solidFill>
                <a:srgbClr val="C9E4FF"/>
              </a:solidFill>
              <a:custDash>
                <a:ds d="500000" sp="500000"/>
              </a:custDash>
            </a:ln>
          </p:spPr>
        </p:sp>
        <p:sp>
          <p:nvSpPr>
            <p:cNvPr id="56" name="TextBox 56"/>
            <p:cNvSpPr txBox="1"/>
            <p:nvPr/>
          </p:nvSpPr>
          <p:spPr>
            <a:xfrm>
              <a:off x="1622427" y="3830002"/>
              <a:ext cx="127000" cy="1612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endParaRPr lang="zh-CN" sz="1050" b="1" dirty="0">
                <a:solidFill>
                  <a:srgbClr val="0B57D0"/>
                </a:solidFill>
                <a:latin typeface="等线" panose="02010600030101010101" charset="-122"/>
                <a:ea typeface="微软雅黑" panose="020B0503020204020204" charset="-122"/>
                <a:cs typeface="等线" panose="02010600030101010101" charset="-122"/>
              </a:endParaRPr>
            </a:p>
          </p:txBody>
        </p:sp>
        <p:sp>
          <p:nvSpPr>
            <p:cNvPr id="57" name="TextBox 57"/>
            <p:cNvSpPr txBox="1"/>
            <p:nvPr/>
          </p:nvSpPr>
          <p:spPr>
            <a:xfrm>
              <a:off x="1017270" y="4893945"/>
              <a:ext cx="127000" cy="13843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endParaRPr lang="zh-CN" sz="900" dirty="0">
                <a:solidFill>
                  <a:srgbClr val="51677F"/>
                </a:solidFill>
                <a:latin typeface="等线" panose="02010600030101010101" charset="-122"/>
                <a:ea typeface="微软雅黑" panose="020B0503020204020204" charset="-122"/>
                <a:cs typeface="等线" panose="02010600030101010101" charset="-122"/>
              </a:endParaRPr>
            </a:p>
          </p:txBody>
        </p:sp>
        <p:sp>
          <p:nvSpPr>
            <p:cNvPr id="58" name="TextBox 58"/>
            <p:cNvSpPr txBox="1"/>
            <p:nvPr/>
          </p:nvSpPr>
          <p:spPr>
            <a:xfrm>
              <a:off x="1017270" y="5065395"/>
              <a:ext cx="127000" cy="13843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endParaRPr lang="zh-CN" sz="900" dirty="0">
                <a:solidFill>
                  <a:srgbClr val="51677F"/>
                </a:solidFill>
                <a:latin typeface="等线" panose="02010600030101010101" charset="-122"/>
                <a:ea typeface="微软雅黑" panose="020B0503020204020204" charset="-122"/>
                <a:cs typeface="等线" panose="02010600030101010101" charset="-122"/>
              </a:endParaRPr>
            </a:p>
          </p:txBody>
        </p:sp>
        <p:sp>
          <p:nvSpPr>
            <p:cNvPr id="59" name="Rectangle 59"/>
            <p:cNvSpPr/>
            <p:nvPr/>
          </p:nvSpPr>
          <p:spPr>
            <a:xfrm>
              <a:off x="2952750" y="2686050"/>
              <a:ext cx="1809750" cy="2895600"/>
            </a:xfrm>
            <a:prstGeom prst="roundRect">
              <a:avLst>
                <a:gd name="adj" fmla="val 13684"/>
              </a:avLst>
            </a:prstGeom>
            <a:solidFill>
              <a:srgbClr val="082044"/>
            </a:solidFill>
            <a:ln>
              <a:noFill/>
            </a:ln>
          </p:spPr>
        </p:sp>
        <p:sp>
          <p:nvSpPr>
            <p:cNvPr id="60" name="Rectangle 60"/>
            <p:cNvSpPr/>
            <p:nvPr/>
          </p:nvSpPr>
          <p:spPr>
            <a:xfrm>
              <a:off x="3028950" y="2762250"/>
              <a:ext cx="1657350" cy="2743200"/>
            </a:xfrm>
            <a:prstGeom prst="roundRect">
              <a:avLst>
                <a:gd name="adj" fmla="val 12069"/>
              </a:avLst>
            </a:prstGeom>
            <a:solidFill>
              <a:srgbClr val="FFFFFF"/>
            </a:solidFill>
            <a:ln>
              <a:noFill/>
            </a:ln>
          </p:spPr>
        </p:sp>
        <p:sp>
          <p:nvSpPr>
            <p:cNvPr id="61" name="Rectangle 61"/>
            <p:cNvSpPr/>
            <p:nvPr/>
          </p:nvSpPr>
          <p:spPr>
            <a:xfrm>
              <a:off x="3162300" y="2914650"/>
              <a:ext cx="1390650" cy="285750"/>
            </a:xfrm>
            <a:prstGeom prst="roundRect">
              <a:avLst>
                <a:gd name="adj" fmla="val 40000"/>
              </a:avLst>
            </a:prstGeom>
            <a:solidFill>
              <a:srgbClr val="26A7FF"/>
            </a:solidFill>
            <a:ln>
              <a:noFill/>
            </a:ln>
          </p:spPr>
        </p:sp>
        <p:sp>
          <p:nvSpPr>
            <p:cNvPr id="62" name="TextBox 62"/>
            <p:cNvSpPr txBox="1"/>
            <p:nvPr/>
          </p:nvSpPr>
          <p:spPr>
            <a:xfrm>
              <a:off x="3551238" y="2975769"/>
              <a:ext cx="612140" cy="18415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00" b="1" dirty="0">
                  <a:solidFill>
                    <a:srgbClr val="FFFFFF"/>
                  </a:solidFill>
                  <a:latin typeface="MiSans Normal" panose="00000500000000000000" charset="-122"/>
                  <a:ea typeface="MiSans Normal" panose="00000500000000000000" charset="-122"/>
                  <a:cs typeface="等线" panose="02010600030101010101" charset="-122"/>
                </a:rPr>
                <a:t>记忆列表</a:t>
              </a:r>
              <a:endParaRPr lang="zh-CN" sz="1200" b="1" dirty="0">
                <a:solidFill>
                  <a:srgbClr val="FFFFFF"/>
                </a:solidFill>
                <a:latin typeface="MiSans Normal" panose="00000500000000000000" charset="-122"/>
                <a:ea typeface="MiSans Normal" panose="00000500000000000000" charset="-122"/>
                <a:cs typeface="等线" panose="02010600030101010101" charset="-122"/>
              </a:endParaRPr>
            </a:p>
          </p:txBody>
        </p:sp>
        <p:sp>
          <p:nvSpPr>
            <p:cNvPr id="63" name="Rectangle 63"/>
            <p:cNvSpPr/>
            <p:nvPr/>
          </p:nvSpPr>
          <p:spPr>
            <a:xfrm>
              <a:off x="3181350" y="3429000"/>
              <a:ext cx="1352550" cy="1390650"/>
            </a:xfrm>
            <a:prstGeom prst="roundRect">
              <a:avLst>
                <a:gd name="adj" fmla="val 9859"/>
              </a:avLst>
            </a:prstGeom>
            <a:solidFill>
              <a:srgbClr val="F8FCFF"/>
            </a:solidFill>
            <a:ln w="9525">
              <a:solidFill>
                <a:srgbClr val="C9E4FF"/>
              </a:solidFill>
              <a:custDash>
                <a:ds d="500000" sp="500000"/>
              </a:custDash>
            </a:ln>
          </p:spPr>
        </p:sp>
        <p:sp>
          <p:nvSpPr>
            <p:cNvPr id="64" name="TextBox 64"/>
            <p:cNvSpPr txBox="1"/>
            <p:nvPr/>
          </p:nvSpPr>
          <p:spPr>
            <a:xfrm>
              <a:off x="3794126" y="3830002"/>
              <a:ext cx="127000" cy="1612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endParaRPr lang="zh-CN" sz="1050" b="1" dirty="0">
                <a:solidFill>
                  <a:srgbClr val="0B57D0"/>
                </a:solidFill>
                <a:latin typeface="等线" panose="02010600030101010101" charset="-122"/>
                <a:ea typeface="微软雅黑" panose="020B0503020204020204" charset="-122"/>
                <a:cs typeface="等线" panose="02010600030101010101" charset="-122"/>
              </a:endParaRPr>
            </a:p>
          </p:txBody>
        </p:sp>
        <p:sp>
          <p:nvSpPr>
            <p:cNvPr id="67" name="Rectangle 67"/>
            <p:cNvSpPr/>
            <p:nvPr/>
          </p:nvSpPr>
          <p:spPr>
            <a:xfrm>
              <a:off x="5124450" y="2686050"/>
              <a:ext cx="1809750" cy="2895600"/>
            </a:xfrm>
            <a:prstGeom prst="roundRect">
              <a:avLst>
                <a:gd name="adj" fmla="val 13684"/>
              </a:avLst>
            </a:prstGeom>
            <a:solidFill>
              <a:srgbClr val="082044"/>
            </a:solidFill>
            <a:ln>
              <a:noFill/>
            </a:ln>
          </p:spPr>
        </p:sp>
        <p:sp>
          <p:nvSpPr>
            <p:cNvPr id="68" name="Rectangle 68"/>
            <p:cNvSpPr/>
            <p:nvPr/>
          </p:nvSpPr>
          <p:spPr>
            <a:xfrm>
              <a:off x="5200650" y="2762250"/>
              <a:ext cx="1657350" cy="2743200"/>
            </a:xfrm>
            <a:prstGeom prst="roundRect">
              <a:avLst>
                <a:gd name="adj" fmla="val 12069"/>
              </a:avLst>
            </a:prstGeom>
            <a:solidFill>
              <a:srgbClr val="FFFFFF"/>
            </a:solidFill>
            <a:ln>
              <a:noFill/>
            </a:ln>
          </p:spPr>
        </p:sp>
        <p:sp>
          <p:nvSpPr>
            <p:cNvPr id="69" name="Rectangle 69"/>
            <p:cNvSpPr/>
            <p:nvPr/>
          </p:nvSpPr>
          <p:spPr>
            <a:xfrm>
              <a:off x="5334000" y="2914650"/>
              <a:ext cx="1390650" cy="285750"/>
            </a:xfrm>
            <a:prstGeom prst="roundRect">
              <a:avLst>
                <a:gd name="adj" fmla="val 40000"/>
              </a:avLst>
            </a:prstGeom>
            <a:solidFill>
              <a:srgbClr val="00D4FF"/>
            </a:solidFill>
            <a:ln>
              <a:noFill/>
            </a:ln>
          </p:spPr>
        </p:sp>
        <p:sp>
          <p:nvSpPr>
            <p:cNvPr id="70" name="TextBox 70"/>
            <p:cNvSpPr txBox="1"/>
            <p:nvPr/>
          </p:nvSpPr>
          <p:spPr>
            <a:xfrm>
              <a:off x="5646103" y="2975769"/>
              <a:ext cx="765175" cy="18415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00" b="1" dirty="0">
                  <a:solidFill>
                    <a:srgbClr val="FFFFFF"/>
                  </a:solidFill>
                  <a:latin typeface="MiSans Normal" panose="00000500000000000000" charset="-122"/>
                  <a:ea typeface="MiSans Normal" panose="00000500000000000000" charset="-122"/>
                  <a:cs typeface="等线" panose="02010600030101010101" charset="-122"/>
                </a:rPr>
                <a:t>重庆两日游</a:t>
              </a:r>
              <a:endParaRPr lang="zh-CN" sz="1200" b="1" dirty="0">
                <a:solidFill>
                  <a:srgbClr val="FFFFFF"/>
                </a:solidFill>
                <a:latin typeface="MiSans Normal" panose="00000500000000000000" charset="-122"/>
                <a:ea typeface="MiSans Normal" panose="00000500000000000000" charset="-122"/>
                <a:cs typeface="等线" panose="02010600030101010101" charset="-122"/>
              </a:endParaRPr>
            </a:p>
          </p:txBody>
        </p:sp>
        <p:sp>
          <p:nvSpPr>
            <p:cNvPr id="71" name="Rectangle 71"/>
            <p:cNvSpPr/>
            <p:nvPr/>
          </p:nvSpPr>
          <p:spPr>
            <a:xfrm>
              <a:off x="5353050" y="3429000"/>
              <a:ext cx="1352550" cy="1390650"/>
            </a:xfrm>
            <a:prstGeom prst="roundRect">
              <a:avLst>
                <a:gd name="adj" fmla="val 9859"/>
              </a:avLst>
            </a:prstGeom>
            <a:solidFill>
              <a:srgbClr val="F8FCFF"/>
            </a:solidFill>
            <a:ln w="9525">
              <a:solidFill>
                <a:srgbClr val="C9E4FF"/>
              </a:solidFill>
              <a:custDash>
                <a:ds d="500000" sp="500000"/>
              </a:custDash>
            </a:ln>
          </p:spPr>
        </p:sp>
        <p:sp>
          <p:nvSpPr>
            <p:cNvPr id="72" name="TextBox 72"/>
            <p:cNvSpPr txBox="1"/>
            <p:nvPr/>
          </p:nvSpPr>
          <p:spPr>
            <a:xfrm>
              <a:off x="5965827" y="3830002"/>
              <a:ext cx="127000" cy="1612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endParaRPr lang="zh-CN" sz="1050" b="1" dirty="0">
                <a:solidFill>
                  <a:srgbClr val="0B57D0"/>
                </a:solidFill>
                <a:latin typeface="等线" panose="02010600030101010101" charset="-122"/>
                <a:ea typeface="微软雅黑" panose="020B0503020204020204" charset="-122"/>
                <a:cs typeface="等线" panose="02010600030101010101" charset="-122"/>
              </a:endParaRPr>
            </a:p>
          </p:txBody>
        </p:sp>
        <p:sp>
          <p:nvSpPr>
            <p:cNvPr id="75" name="Rectangle 75"/>
            <p:cNvSpPr/>
            <p:nvPr/>
          </p:nvSpPr>
          <p:spPr>
            <a:xfrm>
              <a:off x="7296150" y="2686050"/>
              <a:ext cx="1809750" cy="2895600"/>
            </a:xfrm>
            <a:prstGeom prst="roundRect">
              <a:avLst>
                <a:gd name="adj" fmla="val 13684"/>
              </a:avLst>
            </a:prstGeom>
            <a:solidFill>
              <a:srgbClr val="082044"/>
            </a:solidFill>
            <a:ln>
              <a:noFill/>
            </a:ln>
          </p:spPr>
        </p:sp>
        <p:sp>
          <p:nvSpPr>
            <p:cNvPr id="76" name="Rectangle 76"/>
            <p:cNvSpPr/>
            <p:nvPr/>
          </p:nvSpPr>
          <p:spPr>
            <a:xfrm>
              <a:off x="7372350" y="2762250"/>
              <a:ext cx="1657350" cy="2743200"/>
            </a:xfrm>
            <a:prstGeom prst="roundRect">
              <a:avLst>
                <a:gd name="adj" fmla="val 12069"/>
              </a:avLst>
            </a:prstGeom>
            <a:solidFill>
              <a:srgbClr val="FFFFFF"/>
            </a:solidFill>
            <a:ln>
              <a:noFill/>
            </a:ln>
          </p:spPr>
        </p:sp>
        <p:sp>
          <p:nvSpPr>
            <p:cNvPr id="77" name="Rectangle 77"/>
            <p:cNvSpPr/>
            <p:nvPr/>
          </p:nvSpPr>
          <p:spPr>
            <a:xfrm>
              <a:off x="7505700" y="2914650"/>
              <a:ext cx="1390650" cy="285750"/>
            </a:xfrm>
            <a:prstGeom prst="roundRect">
              <a:avLst>
                <a:gd name="adj" fmla="val 40000"/>
              </a:avLst>
            </a:prstGeom>
            <a:solidFill>
              <a:srgbClr val="0B57D0"/>
            </a:solidFill>
            <a:ln>
              <a:noFill/>
            </a:ln>
          </p:spPr>
        </p:sp>
        <p:sp>
          <p:nvSpPr>
            <p:cNvPr id="78" name="TextBox 78"/>
            <p:cNvSpPr txBox="1"/>
            <p:nvPr/>
          </p:nvSpPr>
          <p:spPr>
            <a:xfrm>
              <a:off x="7894638" y="2975769"/>
              <a:ext cx="612140" cy="18415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00" b="1" dirty="0">
                  <a:solidFill>
                    <a:srgbClr val="FFFFFF"/>
                  </a:solidFill>
                  <a:latin typeface="MiSans Normal" panose="00000500000000000000" charset="-122"/>
                  <a:ea typeface="MiSans Normal" panose="00000500000000000000" charset="-122"/>
                  <a:cs typeface="等线" panose="02010600030101010101" charset="-122"/>
                </a:rPr>
                <a:t>主动提醒</a:t>
              </a:r>
              <a:endParaRPr lang="zh-CN" sz="1200" b="1" dirty="0">
                <a:solidFill>
                  <a:srgbClr val="FFFFFF"/>
                </a:solidFill>
                <a:latin typeface="MiSans Normal" panose="00000500000000000000" charset="-122"/>
                <a:ea typeface="MiSans Normal" panose="00000500000000000000" charset="-122"/>
                <a:cs typeface="等线" panose="02010600030101010101" charset="-122"/>
              </a:endParaRPr>
            </a:p>
          </p:txBody>
        </p:sp>
        <p:sp>
          <p:nvSpPr>
            <p:cNvPr id="79" name="Rectangle 79"/>
            <p:cNvSpPr/>
            <p:nvPr/>
          </p:nvSpPr>
          <p:spPr>
            <a:xfrm>
              <a:off x="7524750" y="3429000"/>
              <a:ext cx="1352550" cy="1390650"/>
            </a:xfrm>
            <a:prstGeom prst="roundRect">
              <a:avLst>
                <a:gd name="adj" fmla="val 9859"/>
              </a:avLst>
            </a:prstGeom>
            <a:solidFill>
              <a:srgbClr val="F8FCFF"/>
            </a:solidFill>
            <a:ln w="9525">
              <a:solidFill>
                <a:srgbClr val="C9E4FF"/>
              </a:solidFill>
              <a:custDash>
                <a:ds d="500000" sp="500000"/>
              </a:custDash>
            </a:ln>
          </p:spPr>
        </p:sp>
        <p:sp>
          <p:nvSpPr>
            <p:cNvPr id="80" name="TextBox 80"/>
            <p:cNvSpPr txBox="1"/>
            <p:nvPr/>
          </p:nvSpPr>
          <p:spPr>
            <a:xfrm>
              <a:off x="8137527" y="3830002"/>
              <a:ext cx="127000" cy="1612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endParaRPr lang="zh-CN" sz="1050" b="1" dirty="0">
                <a:solidFill>
                  <a:srgbClr val="0B57D0"/>
                </a:solidFill>
                <a:latin typeface="等线" panose="02010600030101010101" charset="-122"/>
                <a:ea typeface="微软雅黑" panose="020B0503020204020204" charset="-122"/>
                <a:cs typeface="等线" panose="02010600030101010101" charset="-122"/>
              </a:endParaRPr>
            </a:p>
          </p:txBody>
        </p:sp>
        <p:sp>
          <p:nvSpPr>
            <p:cNvPr id="81" name="TextBox 81"/>
            <p:cNvSpPr txBox="1"/>
            <p:nvPr/>
          </p:nvSpPr>
          <p:spPr>
            <a:xfrm>
              <a:off x="7532370" y="4893945"/>
              <a:ext cx="127000" cy="13843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endParaRPr lang="zh-CN" sz="900" dirty="0">
                <a:solidFill>
                  <a:srgbClr val="51677F"/>
                </a:solidFill>
                <a:latin typeface="等线" panose="02010600030101010101" charset="-122"/>
                <a:ea typeface="微软雅黑" panose="020B0503020204020204" charset="-122"/>
                <a:cs typeface="等线" panose="02010600030101010101" charset="-122"/>
              </a:endParaRPr>
            </a:p>
          </p:txBody>
        </p:sp>
        <p:sp>
          <p:nvSpPr>
            <p:cNvPr id="83" name="Rectangle 83"/>
            <p:cNvSpPr/>
            <p:nvPr/>
          </p:nvSpPr>
          <p:spPr>
            <a:xfrm>
              <a:off x="9467850" y="2686050"/>
              <a:ext cx="1809750" cy="2895600"/>
            </a:xfrm>
            <a:prstGeom prst="roundRect">
              <a:avLst>
                <a:gd name="adj" fmla="val 13684"/>
              </a:avLst>
            </a:prstGeom>
            <a:solidFill>
              <a:srgbClr val="082044"/>
            </a:solidFill>
            <a:ln>
              <a:noFill/>
            </a:ln>
          </p:spPr>
        </p:sp>
        <p:sp>
          <p:nvSpPr>
            <p:cNvPr id="84" name="Rectangle 84"/>
            <p:cNvSpPr/>
            <p:nvPr/>
          </p:nvSpPr>
          <p:spPr>
            <a:xfrm>
              <a:off x="9544050" y="2762250"/>
              <a:ext cx="1657350" cy="2743200"/>
            </a:xfrm>
            <a:prstGeom prst="roundRect">
              <a:avLst>
                <a:gd name="adj" fmla="val 12069"/>
              </a:avLst>
            </a:prstGeom>
            <a:solidFill>
              <a:srgbClr val="FFFFFF"/>
            </a:solidFill>
            <a:ln>
              <a:noFill/>
            </a:ln>
          </p:spPr>
        </p:sp>
        <p:sp>
          <p:nvSpPr>
            <p:cNvPr id="85" name="Rectangle 85"/>
            <p:cNvSpPr/>
            <p:nvPr/>
          </p:nvSpPr>
          <p:spPr>
            <a:xfrm>
              <a:off x="9677400" y="2914650"/>
              <a:ext cx="1390650" cy="285750"/>
            </a:xfrm>
            <a:prstGeom prst="roundRect">
              <a:avLst>
                <a:gd name="adj" fmla="val 40000"/>
              </a:avLst>
            </a:prstGeom>
            <a:solidFill>
              <a:srgbClr val="26A7FF"/>
            </a:solidFill>
            <a:ln>
              <a:noFill/>
            </a:ln>
          </p:spPr>
        </p:sp>
        <p:sp>
          <p:nvSpPr>
            <p:cNvPr id="86" name="TextBox 86"/>
            <p:cNvSpPr txBox="1"/>
            <p:nvPr/>
          </p:nvSpPr>
          <p:spPr>
            <a:xfrm>
              <a:off x="10093643" y="2975769"/>
              <a:ext cx="612140" cy="18415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00" b="1" dirty="0">
                  <a:solidFill>
                    <a:srgbClr val="FFFFFF"/>
                  </a:solidFill>
                  <a:latin typeface="MiSans Normal" panose="00000500000000000000" charset="-122"/>
                  <a:ea typeface="MiSans Normal" panose="00000500000000000000" charset="-122"/>
                  <a:cs typeface="等线" panose="02010600030101010101" charset="-122"/>
                </a:rPr>
                <a:t>旅行复盘</a:t>
              </a:r>
              <a:endParaRPr lang="zh-CN" sz="1200" b="1" dirty="0">
                <a:solidFill>
                  <a:srgbClr val="FFFFFF"/>
                </a:solidFill>
                <a:latin typeface="MiSans Normal" panose="00000500000000000000" charset="-122"/>
                <a:ea typeface="MiSans Normal" panose="00000500000000000000" charset="-122"/>
                <a:cs typeface="等线" panose="02010600030101010101" charset="-122"/>
              </a:endParaRPr>
            </a:p>
          </p:txBody>
        </p:sp>
        <p:sp>
          <p:nvSpPr>
            <p:cNvPr id="87" name="Rectangle 87"/>
            <p:cNvSpPr/>
            <p:nvPr/>
          </p:nvSpPr>
          <p:spPr>
            <a:xfrm>
              <a:off x="9696450" y="3429000"/>
              <a:ext cx="1352550" cy="1390650"/>
            </a:xfrm>
            <a:prstGeom prst="roundRect">
              <a:avLst>
                <a:gd name="adj" fmla="val 9859"/>
              </a:avLst>
            </a:prstGeom>
            <a:solidFill>
              <a:srgbClr val="F8FCFF"/>
            </a:solidFill>
            <a:ln w="9525">
              <a:solidFill>
                <a:srgbClr val="C9E4FF"/>
              </a:solidFill>
              <a:custDash>
                <a:ds d="500000" sp="500000"/>
              </a:custDash>
            </a:ln>
          </p:spPr>
        </p:sp>
        <p:sp>
          <p:nvSpPr>
            <p:cNvPr id="88" name="TextBox 88"/>
            <p:cNvSpPr txBox="1"/>
            <p:nvPr/>
          </p:nvSpPr>
          <p:spPr>
            <a:xfrm>
              <a:off x="10309227" y="3830002"/>
              <a:ext cx="127000" cy="1612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endParaRPr lang="zh-CN" sz="1050" b="1" dirty="0">
                <a:solidFill>
                  <a:srgbClr val="0B57D0"/>
                </a:solidFill>
                <a:latin typeface="等线" panose="02010600030101010101" charset="-122"/>
                <a:ea typeface="微软雅黑" panose="020B0503020204020204" charset="-122"/>
                <a:cs typeface="等线" panose="02010600030101010101" charset="-122"/>
              </a:endParaRPr>
            </a:p>
          </p:txBody>
        </p:sp>
        <p:sp>
          <p:nvSpPr>
            <p:cNvPr id="91" name="Rectangle 91"/>
            <p:cNvSpPr/>
            <p:nvPr/>
          </p:nvSpPr>
          <p:spPr>
            <a:xfrm>
              <a:off x="762000" y="5905500"/>
              <a:ext cx="10020300" cy="514350"/>
            </a:xfrm>
            <a:prstGeom prst="roundRect">
              <a:avLst>
                <a:gd name="adj" fmla="val 29630"/>
              </a:avLst>
            </a:prstGeom>
            <a:solidFill>
              <a:srgbClr val="0B57D0">
                <a:alpha val="5000"/>
              </a:srgbClr>
            </a:solidFill>
            <a:ln>
              <a:noFill/>
            </a:ln>
          </p:spPr>
        </p:sp>
        <p:sp>
          <p:nvSpPr>
            <p:cNvPr id="92" name="Rectangle 92"/>
            <p:cNvSpPr/>
            <p:nvPr/>
          </p:nvSpPr>
          <p:spPr>
            <a:xfrm>
              <a:off x="685800" y="5810250"/>
              <a:ext cx="10020300" cy="514350"/>
            </a:xfrm>
            <a:prstGeom prst="roundRect">
              <a:avLst>
                <a:gd name="adj" fmla="val 29630"/>
              </a:avLst>
            </a:prstGeom>
            <a:solidFill>
              <a:srgbClr val="FFFFFF"/>
            </a:solidFill>
            <a:ln w="11430">
              <a:solidFill>
                <a:srgbClr val="BFD9F4"/>
              </a:solidFill>
            </a:ln>
          </p:spPr>
        </p:sp>
        <p:sp>
          <p:nvSpPr>
            <p:cNvPr id="93" name="Line 93"/>
            <p:cNvSpPr/>
            <p:nvPr/>
          </p:nvSpPr>
          <p:spPr>
            <a:xfrm>
              <a:off x="857250" y="5819775"/>
              <a:ext cx="1238250" cy="9525"/>
            </a:xfrm>
            <a:custGeom>
              <a:avLst/>
              <a:gdLst/>
              <a:ahLst/>
              <a:cxnLst/>
              <a:rect l="l" t="t" r="r" b="b"/>
              <a:pathLst>
                <a:path w="1238250" h="9525">
                  <a:moveTo>
                    <a:pt x="0" y="0"/>
                  </a:moveTo>
                  <a:lnTo>
                    <a:pt x="1238250" y="0"/>
                  </a:lnTo>
                </a:path>
              </a:pathLst>
            </a:custGeom>
            <a:noFill/>
            <a:ln w="19050">
              <a:solidFill>
                <a:srgbClr val="26A7FF">
                  <a:alpha val="90000"/>
                </a:srgbClr>
              </a:solidFill>
            </a:ln>
          </p:spPr>
        </p:sp>
        <p:sp>
          <p:nvSpPr>
            <p:cNvPr id="94" name="Freeform 94"/>
            <p:cNvSpPr/>
            <p:nvPr/>
          </p:nvSpPr>
          <p:spPr>
            <a:xfrm>
              <a:off x="930274" y="5995985"/>
              <a:ext cx="158751" cy="142878"/>
            </a:xfrm>
            <a:custGeom>
              <a:avLst/>
              <a:gdLst/>
              <a:ahLst/>
              <a:cxnLst/>
              <a:rect l="l" t="t" r="r" b="b"/>
              <a:pathLst>
                <a:path w="158751" h="142878">
                  <a:moveTo>
                    <a:pt x="103188" y="3"/>
                  </a:moveTo>
                  <a:cubicBezTo>
                    <a:pt x="111496" y="0"/>
                    <a:pt x="118400" y="6403"/>
                    <a:pt x="119024" y="14687"/>
                  </a:cubicBezTo>
                  <a:lnTo>
                    <a:pt x="119063" y="15878"/>
                  </a:lnTo>
                  <a:cubicBezTo>
                    <a:pt x="119064" y="19902"/>
                    <a:pt x="122076" y="23289"/>
                    <a:pt x="126072" y="23760"/>
                  </a:cubicBezTo>
                  <a:lnTo>
                    <a:pt x="127001" y="23815"/>
                  </a:lnTo>
                  <a:lnTo>
                    <a:pt x="134938" y="23815"/>
                  </a:lnTo>
                  <a:cubicBezTo>
                    <a:pt x="147547" y="23814"/>
                    <a:pt x="157971" y="33643"/>
                    <a:pt x="158711" y="46231"/>
                  </a:cubicBezTo>
                  <a:lnTo>
                    <a:pt x="158751" y="47628"/>
                  </a:lnTo>
                  <a:lnTo>
                    <a:pt x="158751" y="119065"/>
                  </a:lnTo>
                  <a:cubicBezTo>
                    <a:pt x="158751" y="131674"/>
                    <a:pt x="148923" y="142098"/>
                    <a:pt x="136335" y="142838"/>
                  </a:cubicBezTo>
                  <a:lnTo>
                    <a:pt x="134938" y="142878"/>
                  </a:lnTo>
                  <a:lnTo>
                    <a:pt x="23813" y="142878"/>
                  </a:lnTo>
                  <a:cubicBezTo>
                    <a:pt x="11204" y="142878"/>
                    <a:pt x="780" y="133050"/>
                    <a:pt x="40" y="120462"/>
                  </a:cubicBezTo>
                  <a:lnTo>
                    <a:pt x="1" y="119065"/>
                  </a:lnTo>
                  <a:lnTo>
                    <a:pt x="1" y="47628"/>
                  </a:lnTo>
                  <a:cubicBezTo>
                    <a:pt x="0" y="35018"/>
                    <a:pt x="9829" y="24595"/>
                    <a:pt x="22416" y="23855"/>
                  </a:cubicBezTo>
                  <a:lnTo>
                    <a:pt x="23813" y="23815"/>
                  </a:lnTo>
                  <a:lnTo>
                    <a:pt x="31751" y="23815"/>
                  </a:lnTo>
                  <a:cubicBezTo>
                    <a:pt x="36134" y="23815"/>
                    <a:pt x="39688" y="20261"/>
                    <a:pt x="39688" y="15878"/>
                  </a:cubicBezTo>
                  <a:cubicBezTo>
                    <a:pt x="39686" y="7570"/>
                    <a:pt x="46088" y="665"/>
                    <a:pt x="54373" y="42"/>
                  </a:cubicBezTo>
                  <a:lnTo>
                    <a:pt x="55563" y="3"/>
                  </a:lnTo>
                  <a:lnTo>
                    <a:pt x="103188" y="3"/>
                  </a:lnTo>
                  <a:close/>
                  <a:moveTo>
                    <a:pt x="79376" y="55565"/>
                  </a:moveTo>
                  <a:cubicBezTo>
                    <a:pt x="67152" y="55564"/>
                    <a:pt x="56913" y="64819"/>
                    <a:pt x="55682" y="76981"/>
                  </a:cubicBezTo>
                  <a:lnTo>
                    <a:pt x="55595" y="78187"/>
                  </a:lnTo>
                  <a:lnTo>
                    <a:pt x="55563" y="79378"/>
                  </a:lnTo>
                  <a:lnTo>
                    <a:pt x="55595" y="80568"/>
                  </a:lnTo>
                  <a:cubicBezTo>
                    <a:pt x="56245" y="93549"/>
                    <a:pt x="67183" y="103611"/>
                    <a:pt x="80172" y="103177"/>
                  </a:cubicBezTo>
                  <a:cubicBezTo>
                    <a:pt x="93162" y="102743"/>
                    <a:pt x="103404" y="91974"/>
                    <a:pt x="103187" y="78979"/>
                  </a:cubicBezTo>
                  <a:cubicBezTo>
                    <a:pt x="102969" y="65984"/>
                    <a:pt x="92372" y="55564"/>
                    <a:pt x="79376" y="55565"/>
                  </a:cubicBezTo>
                  <a:close/>
                </a:path>
              </a:pathLst>
            </a:custGeom>
            <a:solidFill>
              <a:srgbClr val="0B57D0"/>
            </a:solidFill>
            <a:ln>
              <a:noFill/>
            </a:ln>
          </p:spPr>
        </p:sp>
        <p:sp>
          <p:nvSpPr>
            <p:cNvPr id="95" name="TextBox 95"/>
            <p:cNvSpPr txBox="1"/>
            <p:nvPr/>
          </p:nvSpPr>
          <p:spPr>
            <a:xfrm>
              <a:off x="1202055" y="5997892"/>
              <a:ext cx="688340" cy="207645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b="1" dirty="0">
                  <a:solidFill>
                    <a:srgbClr val="102033"/>
                  </a:solidFill>
                  <a:latin typeface="MiSans Normal" panose="00000500000000000000" charset="-122"/>
                  <a:ea typeface="MiSans Normal" panose="00000500000000000000" charset="-122"/>
                  <a:cs typeface="等线" panose="02010600030101010101" charset="-122"/>
                </a:rPr>
                <a:t>展示重点</a:t>
              </a:r>
              <a:endParaRPr lang="zh-CN" sz="1350" b="1" dirty="0">
                <a:solidFill>
                  <a:srgbClr val="102033"/>
                </a:solidFill>
                <a:latin typeface="MiSans Normal" panose="00000500000000000000" charset="-122"/>
                <a:ea typeface="MiSans Normal" panose="00000500000000000000" charset="-122"/>
                <a:cs typeface="等线" panose="02010600030101010101" charset="-122"/>
              </a:endParaRPr>
            </a:p>
          </p:txBody>
        </p:sp>
        <p:sp>
          <p:nvSpPr>
            <p:cNvPr id="96" name="TextBox 96"/>
            <p:cNvSpPr txBox="1"/>
            <p:nvPr/>
          </p:nvSpPr>
          <p:spPr>
            <a:xfrm>
              <a:off x="2308542" y="5961221"/>
              <a:ext cx="8128000" cy="245745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600" dirty="0">
                  <a:solidFill>
                    <a:srgbClr val="51677F"/>
                  </a:solidFill>
                  <a:latin typeface="MiSans Normal" panose="00000500000000000000" charset="-122"/>
                  <a:ea typeface="MiSans Normal" panose="00000500000000000000" charset="-122"/>
                  <a:cs typeface="等线" panose="02010600030101010101" charset="-122"/>
                </a:rPr>
                <a:t>首页展示蓝小心；记忆页展示偏好资产；规划解释原因；提醒有触发条件；复盘沉淀记忆。</a:t>
              </a:r>
              <a:endParaRPr lang="zh-CN" sz="1600" dirty="0">
                <a:solidFill>
                  <a:srgbClr val="51677F"/>
                </a:solidFill>
                <a:latin typeface="MiSans Normal" panose="00000500000000000000" charset="-122"/>
                <a:ea typeface="MiSans Normal" panose="00000500000000000000" charset="-122"/>
                <a:cs typeface="等线" panose="02010600030101010101" charset="-122"/>
              </a:endParaRPr>
            </a:p>
          </p:txBody>
        </p:sp>
        <p:sp>
          <p:nvSpPr>
            <p:cNvPr id="97" name="TextBox 97"/>
            <p:cNvSpPr txBox="1"/>
            <p:nvPr/>
          </p:nvSpPr>
          <p:spPr>
            <a:xfrm>
              <a:off x="521970" y="6598920"/>
              <a:ext cx="2106263" cy="18288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00" dirty="0">
                  <a:solidFill>
                    <a:srgbClr val="8AA1B7"/>
                  </a:solidFill>
                  <a:latin typeface="等线" panose="02010600030101010101" charset="-122"/>
                  <a:ea typeface="微软雅黑" panose="020B0503020204020204" charset="-122"/>
                  <a:cs typeface="等线" panose="02010600030101010101" charset="-122"/>
                </a:rPr>
                <a:t>蓝心同行 | AIGC创新赛应用赛道初赛</a:t>
              </a:r>
              <a:endParaRPr lang="zh-CN" sz="900" dirty="0">
                <a:solidFill>
                  <a:srgbClr val="8AA1B7"/>
                </a:solidFill>
                <a:latin typeface="等线" panose="02010600030101010101" charset="-122"/>
                <a:ea typeface="微软雅黑" panose="020B0503020204020204" charset="-122"/>
                <a:cs typeface="等线" panose="02010600030101010101" charset="-122"/>
              </a:endParaRPr>
            </a:p>
          </p:txBody>
        </p:sp>
        <p:sp>
          <p:nvSpPr>
            <p:cNvPr id="98" name="TextBox 98"/>
            <p:cNvSpPr txBox="1"/>
            <p:nvPr/>
          </p:nvSpPr>
          <p:spPr>
            <a:xfrm>
              <a:off x="11464480" y="6598920"/>
              <a:ext cx="167449" cy="18288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r"/>
              <a:r>
                <a:rPr lang="zh-CN" sz="900" dirty="0">
                  <a:solidFill>
                    <a:srgbClr val="8AA1B7"/>
                  </a:solidFill>
                  <a:latin typeface="等线" panose="02010600030101010101" charset="-122"/>
                  <a:ea typeface="微软雅黑" panose="020B0503020204020204" charset="-122"/>
                  <a:cs typeface="等线" panose="02010600030101010101" charset="-122"/>
                </a:rPr>
                <a:t>05</a:t>
              </a:r>
              <a:endParaRPr lang="zh-CN" sz="900" dirty="0">
                <a:solidFill>
                  <a:srgbClr val="8AA1B7"/>
                </a:solidFill>
                <a:latin typeface="等线" panose="02010600030101010101" charset="-122"/>
                <a:ea typeface="微软雅黑" panose="020B0503020204020204" charset="-122"/>
                <a:cs typeface="等线" panose="02010600030101010101" charset="-122"/>
              </a:endParaRPr>
            </a:p>
          </p:txBody>
        </p:sp>
      </p:grpSp>
      <p:sp>
        <p:nvSpPr>
          <p:cNvPr id="105" name="Rectangle 104"/>
          <p:cNvSpPr/>
          <p:nvPr/>
        </p:nvSpPr>
        <p:spPr>
          <a:xfrm>
            <a:off x="420000" y="1450000"/>
            <a:ext cx="11370000" cy="5000000"/>
          </a:xfrm>
          <a:prstGeom prst="rect">
            <a:avLst/>
          </a:prstGeom>
          <a:solidFill>
            <a:srgbClr val="F8FB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6" name="Rounded Rectangle 105"/>
          <p:cNvSpPr/>
          <p:nvPr/>
        </p:nvSpPr>
        <p:spPr>
          <a:xfrm>
            <a:off x="495300" y="1545000"/>
            <a:ext cx="11353800" cy="79000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1E2F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7" name="Rectangle 106"/>
          <p:cNvSpPr/>
          <p:nvPr/>
        </p:nvSpPr>
        <p:spPr>
          <a:xfrm>
            <a:off x="590550" y="1625000"/>
            <a:ext cx="1250000" cy="9525"/>
          </a:xfrm>
          <a:prstGeom prst="rect">
            <a:avLst/>
          </a:prstGeom>
          <a:solidFill>
            <a:srgbClr val="0B57D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8" name="TextBox 107"/>
          <p:cNvSpPr txBox="1"/>
          <p:nvPr/>
        </p:nvSpPr>
        <p:spPr>
          <a:xfrm>
            <a:off x="762070" y="1784135"/>
            <a:ext cx="971550" cy="294640"/>
          </a:xfrm>
          <a:prstGeom prst="rect">
            <a:avLst/>
          </a:prstGeom>
          <a:noFill/>
        </p:spPr>
        <p:txBody>
          <a:bodyPr wrap="none" lIns="27432" tIns="9144" rIns="27432" bIns="9144">
            <a:spAutoFit/>
          </a:bodyPr>
          <a:lstStyle/>
          <a:p>
            <a:pPr algn="ctr"/>
            <a:r>
              <a:rPr b="1">
                <a:solidFill>
                  <a:srgbClr val="0B57D0"/>
                </a:solidFill>
                <a:latin typeface="金山云技术体" charset="-122"/>
                <a:ea typeface="金山云技术体" charset="-122"/>
              </a:rPr>
              <a:t>当前功能</a:t>
            </a:r>
            <a:endParaRPr b="1">
              <a:solidFill>
                <a:srgbClr val="0B57D0"/>
              </a:solidFill>
              <a:latin typeface="金山云技术体" charset="-122"/>
              <a:ea typeface="金山云技术体" charset="-122"/>
            </a:endParaRPr>
          </a:p>
        </p:txBody>
      </p:sp>
      <p:sp>
        <p:nvSpPr>
          <p:cNvPr id="109" name="TextBox 108"/>
          <p:cNvSpPr txBox="1"/>
          <p:nvPr/>
        </p:nvSpPr>
        <p:spPr>
          <a:xfrm>
            <a:off x="1900000" y="1815505"/>
            <a:ext cx="1073785" cy="263525"/>
          </a:xfrm>
          <a:prstGeom prst="rect">
            <a:avLst/>
          </a:prstGeom>
          <a:noFill/>
        </p:spPr>
        <p:txBody>
          <a:bodyPr wrap="none" lIns="27432" tIns="9144" rIns="27432" bIns="9144">
            <a:spAutoFit/>
          </a:bodyPr>
          <a:lstStyle/>
          <a:p>
            <a:pPr algn="l"/>
            <a:r>
              <a:rPr lang="zh-CN" sz="1600" b="1">
                <a:solidFill>
                  <a:srgbClr val="102033"/>
                </a:solidFill>
                <a:latin typeface="MiSans Normal" panose="00000500000000000000" charset="-122"/>
                <a:ea typeface="MiSans Normal" panose="00000500000000000000" charset="-122"/>
              </a:rPr>
              <a:t>重庆两日游</a:t>
            </a:r>
            <a:endParaRPr lang="zh-CN" sz="1600" b="1">
              <a:solidFill>
                <a:srgbClr val="102033"/>
              </a:solidFill>
              <a:latin typeface="MiSans Normal" panose="00000500000000000000" charset="-122"/>
              <a:ea typeface="MiSans Normal" panose="00000500000000000000" charset="-122"/>
            </a:endParaRPr>
          </a:p>
        </p:txBody>
      </p:sp>
      <p:sp>
        <p:nvSpPr>
          <p:cNvPr id="123" name="Rectangle 122"/>
          <p:cNvSpPr/>
          <p:nvPr/>
        </p:nvSpPr>
        <p:spPr>
          <a:xfrm>
            <a:off x="11370000" y="6540000"/>
            <a:ext cx="420000" cy="260000"/>
          </a:xfrm>
          <a:prstGeom prst="rect">
            <a:avLst/>
          </a:prstGeom>
          <a:solidFill>
            <a:srgbClr val="F8FB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4" name="TextBox 123"/>
          <p:cNvSpPr txBox="1"/>
          <p:nvPr/>
        </p:nvSpPr>
        <p:spPr>
          <a:xfrm>
            <a:off x="11464480" y="6598920"/>
            <a:ext cx="167449" cy="182880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algn="l"/>
            <a:r>
              <a:rPr sz="900" b="0">
                <a:solidFill>
                  <a:srgbClr val="8AA1B7"/>
                </a:solidFill>
                <a:latin typeface="等线" panose="02010600030101010101" charset="-122"/>
              </a:rPr>
              <a:t>05</a:t>
            </a:r>
            <a:endParaRPr sz="900" b="0">
              <a:solidFill>
                <a:srgbClr val="8AA1B7"/>
              </a:solidFill>
              <a:latin typeface="等线" panose="02010600030101010101" charset="-122"/>
            </a:endParaRPr>
          </a:p>
        </p:txBody>
      </p:sp>
      <p:sp>
        <p:nvSpPr>
          <p:cNvPr id="125" name="TextBox 124"/>
          <p:cNvSpPr txBox="1"/>
          <p:nvPr/>
        </p:nvSpPr>
        <p:spPr>
          <a:xfrm>
            <a:off x="780923" y="2487168"/>
            <a:ext cx="768350" cy="233045"/>
          </a:xfrm>
          <a:prstGeom prst="rect">
            <a:avLst/>
          </a:prstGeom>
          <a:noFill/>
        </p:spPr>
        <p:txBody>
          <a:bodyPr wrap="none" lIns="27432" tIns="9144" rIns="27432" bIns="9144">
            <a:spAutoFit/>
          </a:bodyPr>
          <a:lstStyle/>
          <a:p>
            <a:pPr algn="l"/>
            <a:r>
              <a:rPr sz="1400" b="1">
                <a:solidFill>
                  <a:srgbClr val="0B57D0"/>
                </a:solidFill>
                <a:latin typeface="金山云技术体" charset="-122"/>
                <a:ea typeface="金山云技术体" charset="-122"/>
              </a:rPr>
              <a:t>本页看点</a:t>
            </a:r>
            <a:endParaRPr sz="1400" b="1">
              <a:solidFill>
                <a:srgbClr val="0B57D0"/>
              </a:solidFill>
              <a:latin typeface="金山云技术体" charset="-122"/>
              <a:ea typeface="金山云技术体" charset="-122"/>
            </a:endParaRPr>
          </a:p>
        </p:txBody>
      </p:sp>
      <p:sp>
        <p:nvSpPr>
          <p:cNvPr id="126" name="Rectangle 125"/>
          <p:cNvSpPr/>
          <p:nvPr/>
        </p:nvSpPr>
        <p:spPr>
          <a:xfrm>
            <a:off x="740918" y="2761488"/>
            <a:ext cx="987552" cy="16459"/>
          </a:xfrm>
          <a:prstGeom prst="rect">
            <a:avLst/>
          </a:prstGeom>
          <a:solidFill>
            <a:srgbClr val="0B57D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7" name="TextBox 126"/>
          <p:cNvSpPr txBox="1"/>
          <p:nvPr/>
        </p:nvSpPr>
        <p:spPr>
          <a:xfrm>
            <a:off x="804418" y="3035808"/>
            <a:ext cx="1010285" cy="248285"/>
          </a:xfrm>
          <a:prstGeom prst="rect">
            <a:avLst/>
          </a:prstGeom>
          <a:noFill/>
        </p:spPr>
        <p:txBody>
          <a:bodyPr wrap="none" lIns="27432" tIns="9144" rIns="27432" bIns="9144">
            <a:spAutoFit/>
          </a:bodyPr>
          <a:lstStyle/>
          <a:p>
            <a:pPr algn="l"/>
            <a:r>
              <a:rPr lang="zh-CN" sz="1500" b="1">
                <a:solidFill>
                  <a:srgbClr val="102033"/>
                </a:solidFill>
                <a:latin typeface="MiSans Normal" panose="00000500000000000000" charset="-122"/>
                <a:ea typeface="MiSans Normal" panose="00000500000000000000" charset="-122"/>
              </a:rPr>
              <a:t>个性化</a:t>
            </a:r>
            <a:r>
              <a:rPr lang="zh-CN" sz="1500" b="1">
                <a:solidFill>
                  <a:srgbClr val="102033"/>
                </a:solidFill>
                <a:latin typeface="MiSans Normal" panose="00000500000000000000" charset="-122"/>
                <a:ea typeface="MiSans Normal" panose="00000500000000000000" charset="-122"/>
              </a:rPr>
              <a:t>行程</a:t>
            </a:r>
            <a:endParaRPr lang="zh-CN" sz="1500" b="1">
              <a:solidFill>
                <a:srgbClr val="102033"/>
              </a:solidFill>
              <a:latin typeface="MiSans Normal" panose="00000500000000000000" charset="-122"/>
              <a:ea typeface="MiSans Normal" panose="00000500000000000000" charset="-122"/>
            </a:endParaRPr>
          </a:p>
        </p:txBody>
      </p:sp>
      <p:sp>
        <p:nvSpPr>
          <p:cNvPr id="128" name="TextBox 127"/>
          <p:cNvSpPr txBox="1"/>
          <p:nvPr/>
        </p:nvSpPr>
        <p:spPr>
          <a:xfrm>
            <a:off x="804418" y="3429254"/>
            <a:ext cx="1201420" cy="248285"/>
          </a:xfrm>
          <a:prstGeom prst="rect">
            <a:avLst/>
          </a:prstGeom>
          <a:noFill/>
        </p:spPr>
        <p:txBody>
          <a:bodyPr wrap="none" lIns="27432" tIns="9144" rIns="27432" bIns="9144">
            <a:spAutoFit/>
          </a:bodyPr>
          <a:lstStyle/>
          <a:p>
            <a:pPr algn="l"/>
            <a:r>
              <a:rPr lang="zh-CN" sz="1500" b="1">
                <a:solidFill>
                  <a:srgbClr val="102033"/>
                </a:solidFill>
                <a:latin typeface="MiSans Normal" panose="00000500000000000000" charset="-122"/>
                <a:ea typeface="MiSans Normal" panose="00000500000000000000" charset="-122"/>
              </a:rPr>
              <a:t>推荐原因</a:t>
            </a:r>
            <a:r>
              <a:rPr lang="zh-CN" sz="1500" b="1">
                <a:solidFill>
                  <a:srgbClr val="102033"/>
                </a:solidFill>
                <a:latin typeface="MiSans Normal" panose="00000500000000000000" charset="-122"/>
                <a:ea typeface="MiSans Normal" panose="00000500000000000000" charset="-122"/>
              </a:rPr>
              <a:t>解释</a:t>
            </a:r>
            <a:endParaRPr lang="zh-CN" sz="1500" b="1">
              <a:solidFill>
                <a:srgbClr val="102033"/>
              </a:solidFill>
              <a:latin typeface="MiSans Normal" panose="00000500000000000000" charset="-122"/>
              <a:ea typeface="MiSans Normal" panose="00000500000000000000" charset="-122"/>
            </a:endParaRPr>
          </a:p>
        </p:txBody>
      </p:sp>
      <p:sp>
        <p:nvSpPr>
          <p:cNvPr id="129" name="Oval 128"/>
          <p:cNvSpPr/>
          <p:nvPr/>
        </p:nvSpPr>
        <p:spPr>
          <a:xfrm>
            <a:off x="877824" y="4101084"/>
            <a:ext cx="68580" cy="68580"/>
          </a:xfrm>
          <a:prstGeom prst="ellipse">
            <a:avLst/>
          </a:prstGeom>
          <a:solidFill>
            <a:srgbClr val="0B57D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0" name="TextBox 129"/>
          <p:cNvSpPr txBox="1"/>
          <p:nvPr/>
        </p:nvSpPr>
        <p:spPr>
          <a:xfrm>
            <a:off x="1042415" y="4041648"/>
            <a:ext cx="2899410" cy="448310"/>
          </a:xfrm>
          <a:prstGeom prst="rect">
            <a:avLst/>
          </a:prstGeom>
          <a:noFill/>
        </p:spPr>
        <p:txBody>
          <a:bodyPr wrap="none" lIns="27432" tIns="9144" rIns="27432" bIns="9144">
            <a:spAutoFit/>
          </a:bodyPr>
          <a:lstStyle/>
          <a:p>
            <a:pPr algn="l"/>
            <a:r>
              <a:rPr sz="1400">
                <a:solidFill>
                  <a:srgbClr val="51677F"/>
                </a:solidFill>
                <a:latin typeface="MiSans Normal" panose="00000500000000000000" charset="-122"/>
                <a:ea typeface="MiSans Normal" panose="00000500000000000000" charset="-122"/>
                <a:sym typeface="+mn-ea"/>
              </a:rPr>
              <a:t>展示基于用户画像生成的两日游路线</a:t>
            </a:r>
            <a:endParaRPr sz="1400" b="0">
              <a:solidFill>
                <a:srgbClr val="51677F"/>
              </a:solidFill>
              <a:latin typeface="MiSans Normal" panose="00000500000000000000" charset="-122"/>
              <a:ea typeface="MiSans Normal" panose="00000500000000000000" charset="-122"/>
            </a:endParaRPr>
          </a:p>
          <a:p>
            <a:pPr algn="l"/>
            <a:endParaRPr lang="zh-CN" sz="1400" b="0">
              <a:solidFill>
                <a:srgbClr val="51677F"/>
              </a:solidFill>
              <a:latin typeface="MiSans Normal" panose="00000500000000000000" charset="-122"/>
              <a:ea typeface="MiSans Normal" panose="00000500000000000000" charset="-122"/>
            </a:endParaRPr>
          </a:p>
        </p:txBody>
      </p:sp>
      <p:sp>
        <p:nvSpPr>
          <p:cNvPr id="131" name="Oval 130"/>
          <p:cNvSpPr/>
          <p:nvPr/>
        </p:nvSpPr>
        <p:spPr>
          <a:xfrm>
            <a:off x="877824" y="4649724"/>
            <a:ext cx="68580" cy="68580"/>
          </a:xfrm>
          <a:prstGeom prst="ellipse">
            <a:avLst/>
          </a:prstGeom>
          <a:solidFill>
            <a:srgbClr val="0B57D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2" name="TextBox 131"/>
          <p:cNvSpPr txBox="1"/>
          <p:nvPr/>
        </p:nvSpPr>
        <p:spPr>
          <a:xfrm>
            <a:off x="1042415" y="4590288"/>
            <a:ext cx="2721610" cy="233045"/>
          </a:xfrm>
          <a:prstGeom prst="rect">
            <a:avLst/>
          </a:prstGeom>
          <a:noFill/>
        </p:spPr>
        <p:txBody>
          <a:bodyPr wrap="none" lIns="27432" tIns="9144" rIns="27432" bIns="9144">
            <a:spAutoFit/>
          </a:bodyPr>
          <a:lstStyle/>
          <a:p>
            <a:pPr algn="l"/>
            <a:r>
              <a:rPr sz="1400">
                <a:solidFill>
                  <a:srgbClr val="51677F"/>
                </a:solidFill>
                <a:latin typeface="MiSans Normal" panose="00000500000000000000" charset="-122"/>
                <a:ea typeface="MiSans Normal" panose="00000500000000000000" charset="-122"/>
                <a:sym typeface="+mn-ea"/>
              </a:rPr>
              <a:t>突出推荐理由，而不是只罗列景点</a:t>
            </a:r>
            <a:endParaRPr lang="zh-CN" sz="1400" b="0">
              <a:solidFill>
                <a:srgbClr val="51677F"/>
              </a:solidFill>
              <a:latin typeface="MiSans Normal" panose="00000500000000000000" charset="-122"/>
              <a:ea typeface="MiSans Normal" panose="00000500000000000000" charset="-122"/>
            </a:endParaRPr>
          </a:p>
        </p:txBody>
      </p:sp>
      <p:sp>
        <p:nvSpPr>
          <p:cNvPr id="133" name="Oval 132"/>
          <p:cNvSpPr/>
          <p:nvPr/>
        </p:nvSpPr>
        <p:spPr>
          <a:xfrm>
            <a:off x="877824" y="5198364"/>
            <a:ext cx="68580" cy="68580"/>
          </a:xfrm>
          <a:prstGeom prst="ellipse">
            <a:avLst/>
          </a:prstGeom>
          <a:solidFill>
            <a:srgbClr val="0B57D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4" name="TextBox 133"/>
          <p:cNvSpPr txBox="1"/>
          <p:nvPr/>
        </p:nvSpPr>
        <p:spPr>
          <a:xfrm>
            <a:off x="1042415" y="5138928"/>
            <a:ext cx="2366010" cy="233045"/>
          </a:xfrm>
          <a:prstGeom prst="rect">
            <a:avLst/>
          </a:prstGeom>
          <a:noFill/>
        </p:spPr>
        <p:txBody>
          <a:bodyPr wrap="none" lIns="27432" tIns="9144" rIns="27432" bIns="9144">
            <a:spAutoFit/>
          </a:bodyPr>
          <a:lstStyle/>
          <a:p>
            <a:pPr algn="l"/>
            <a:r>
              <a:rPr sz="1400">
                <a:solidFill>
                  <a:srgbClr val="51677F"/>
                </a:solidFill>
                <a:latin typeface="MiSans Normal" panose="00000500000000000000" charset="-122"/>
                <a:ea typeface="MiSans Normal" panose="00000500000000000000" charset="-122"/>
                <a:sym typeface="+mn-ea"/>
              </a:rPr>
              <a:t>体现大模型的规划与解释能力</a:t>
            </a:r>
            <a:endParaRPr lang="zh-CN" sz="1400" b="0">
              <a:solidFill>
                <a:srgbClr val="51677F"/>
              </a:solidFill>
              <a:latin typeface="MiSans Normal" panose="00000500000000000000" charset="-122"/>
              <a:ea typeface="MiSans Normal" panose="00000500000000000000" charset="-122"/>
              <a:cs typeface="MiSans Normal" panose="00000500000000000000" charset="-122"/>
            </a:endParaRPr>
          </a:p>
        </p:txBody>
      </p:sp>
      <p:grpSp>
        <p:nvGrpSpPr>
          <p:cNvPr id="66" name="组合 65"/>
          <p:cNvGrpSpPr/>
          <p:nvPr/>
        </p:nvGrpSpPr>
        <p:grpSpPr>
          <a:xfrm>
            <a:off x="6615430" y="1755775"/>
            <a:ext cx="2148840" cy="4663440"/>
            <a:chOff x="8626" y="2765"/>
            <a:chExt cx="3384" cy="7344"/>
          </a:xfrm>
        </p:grpSpPr>
        <p:sp>
          <p:nvSpPr>
            <p:cNvPr id="135" name="Rounded Rectangle 134"/>
            <p:cNvSpPr/>
            <p:nvPr/>
          </p:nvSpPr>
          <p:spPr>
            <a:xfrm>
              <a:off x="8626" y="2765"/>
              <a:ext cx="3384" cy="7344"/>
            </a:xfrm>
            <a:prstGeom prst="roundRect">
              <a:avLst/>
            </a:prstGeom>
            <a:solidFill>
              <a:srgbClr val="FFFFFF"/>
            </a:solidFill>
            <a:ln w="14604">
              <a:solidFill>
                <a:srgbClr val="9CCAF5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136" name="Rounded Rectangle 135"/>
            <p:cNvSpPr/>
            <p:nvPr/>
          </p:nvSpPr>
          <p:spPr>
            <a:xfrm>
              <a:off x="9749" y="2952"/>
              <a:ext cx="1123" cy="108"/>
            </a:xfrm>
            <a:prstGeom prst="roundRect">
              <a:avLst/>
            </a:prstGeom>
            <a:solidFill>
              <a:srgbClr val="D7EAFF"/>
            </a:solidFill>
            <a:ln>
              <a:noFill/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137" name="Rounded Rectangle 136"/>
            <p:cNvSpPr/>
            <p:nvPr/>
          </p:nvSpPr>
          <p:spPr>
            <a:xfrm>
              <a:off x="8798" y="3211"/>
              <a:ext cx="3038" cy="6566"/>
            </a:xfrm>
            <a:prstGeom prst="roundRect">
              <a:avLst/>
            </a:prstGeom>
            <a:solidFill>
              <a:srgbClr val="F8FCFF"/>
            </a:solidFill>
            <a:ln w="11430">
              <a:solidFill>
                <a:srgbClr val="C9E4FF"/>
              </a:solidFill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138" name="Rectangle 137"/>
            <p:cNvSpPr/>
            <p:nvPr/>
          </p:nvSpPr>
          <p:spPr>
            <a:xfrm>
              <a:off x="9144" y="4003"/>
              <a:ext cx="2333" cy="20"/>
            </a:xfrm>
            <a:prstGeom prst="rect">
              <a:avLst/>
            </a:prstGeom>
            <a:solidFill>
              <a:srgbClr val="E0F0FF"/>
            </a:solidFill>
            <a:ln>
              <a:noFill/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139" name="Rectangle 138"/>
            <p:cNvSpPr/>
            <p:nvPr/>
          </p:nvSpPr>
          <p:spPr>
            <a:xfrm>
              <a:off x="9144" y="5011"/>
              <a:ext cx="1901" cy="20"/>
            </a:xfrm>
            <a:prstGeom prst="rect">
              <a:avLst/>
            </a:prstGeom>
            <a:solidFill>
              <a:srgbClr val="E0F0FF"/>
            </a:solidFill>
            <a:ln>
              <a:noFill/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140" name="Rectangle 139"/>
            <p:cNvSpPr/>
            <p:nvPr/>
          </p:nvSpPr>
          <p:spPr>
            <a:xfrm>
              <a:off x="9144" y="6019"/>
              <a:ext cx="2333" cy="20"/>
            </a:xfrm>
            <a:prstGeom prst="rect">
              <a:avLst/>
            </a:prstGeom>
            <a:solidFill>
              <a:srgbClr val="E0F0FF"/>
            </a:solidFill>
            <a:ln>
              <a:noFill/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141" name="Rectangle 140"/>
            <p:cNvSpPr/>
            <p:nvPr/>
          </p:nvSpPr>
          <p:spPr>
            <a:xfrm>
              <a:off x="9144" y="7027"/>
              <a:ext cx="1901" cy="20"/>
            </a:xfrm>
            <a:prstGeom prst="rect">
              <a:avLst/>
            </a:prstGeom>
            <a:solidFill>
              <a:srgbClr val="E0F0FF"/>
            </a:solidFill>
            <a:ln>
              <a:noFill/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142" name="Rectangle 141"/>
            <p:cNvSpPr/>
            <p:nvPr/>
          </p:nvSpPr>
          <p:spPr>
            <a:xfrm>
              <a:off x="9144" y="8035"/>
              <a:ext cx="2333" cy="20"/>
            </a:xfrm>
            <a:prstGeom prst="rect">
              <a:avLst/>
            </a:prstGeom>
            <a:solidFill>
              <a:srgbClr val="E0F0FF"/>
            </a:solidFill>
            <a:ln>
              <a:noFill/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</p:grpSp>
      <p:grpSp>
        <p:nvGrpSpPr>
          <p:cNvPr id="65" name="组合 64"/>
          <p:cNvGrpSpPr/>
          <p:nvPr/>
        </p:nvGrpSpPr>
        <p:grpSpPr>
          <a:xfrm>
            <a:off x="9594215" y="1755775"/>
            <a:ext cx="2148840" cy="4663440"/>
            <a:chOff x="13205" y="2765"/>
            <a:chExt cx="3384" cy="7344"/>
          </a:xfrm>
        </p:grpSpPr>
        <p:sp>
          <p:nvSpPr>
            <p:cNvPr id="144" name="Rounded Rectangle 143"/>
            <p:cNvSpPr/>
            <p:nvPr/>
          </p:nvSpPr>
          <p:spPr>
            <a:xfrm>
              <a:off x="13205" y="2765"/>
              <a:ext cx="3384" cy="7344"/>
            </a:xfrm>
            <a:prstGeom prst="roundRect">
              <a:avLst/>
            </a:prstGeom>
            <a:solidFill>
              <a:srgbClr val="FFFFFF"/>
            </a:solidFill>
            <a:ln w="14604">
              <a:solidFill>
                <a:srgbClr val="9CCAF5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145" name="Rounded Rectangle 144"/>
            <p:cNvSpPr/>
            <p:nvPr/>
          </p:nvSpPr>
          <p:spPr>
            <a:xfrm>
              <a:off x="14328" y="2952"/>
              <a:ext cx="1123" cy="108"/>
            </a:xfrm>
            <a:prstGeom prst="roundRect">
              <a:avLst/>
            </a:prstGeom>
            <a:solidFill>
              <a:srgbClr val="D7EAFF"/>
            </a:solidFill>
            <a:ln>
              <a:noFill/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146" name="Rounded Rectangle 145"/>
            <p:cNvSpPr/>
            <p:nvPr/>
          </p:nvSpPr>
          <p:spPr>
            <a:xfrm>
              <a:off x="13378" y="3211"/>
              <a:ext cx="3038" cy="6566"/>
            </a:xfrm>
            <a:prstGeom prst="roundRect">
              <a:avLst/>
            </a:prstGeom>
            <a:solidFill>
              <a:srgbClr val="F8FCFF"/>
            </a:solidFill>
            <a:ln w="11430">
              <a:solidFill>
                <a:srgbClr val="C9E4FF"/>
              </a:solidFill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147" name="Rectangle 146"/>
            <p:cNvSpPr/>
            <p:nvPr/>
          </p:nvSpPr>
          <p:spPr>
            <a:xfrm>
              <a:off x="13723" y="4003"/>
              <a:ext cx="2333" cy="20"/>
            </a:xfrm>
            <a:prstGeom prst="rect">
              <a:avLst/>
            </a:prstGeom>
            <a:solidFill>
              <a:srgbClr val="E0F0FF"/>
            </a:solidFill>
            <a:ln>
              <a:noFill/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148" name="Rectangle 147"/>
            <p:cNvSpPr/>
            <p:nvPr/>
          </p:nvSpPr>
          <p:spPr>
            <a:xfrm>
              <a:off x="13723" y="5011"/>
              <a:ext cx="1901" cy="20"/>
            </a:xfrm>
            <a:prstGeom prst="rect">
              <a:avLst/>
            </a:prstGeom>
            <a:solidFill>
              <a:srgbClr val="E0F0FF"/>
            </a:solidFill>
            <a:ln>
              <a:noFill/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149" name="Rectangle 148"/>
            <p:cNvSpPr/>
            <p:nvPr/>
          </p:nvSpPr>
          <p:spPr>
            <a:xfrm>
              <a:off x="13723" y="6019"/>
              <a:ext cx="2333" cy="20"/>
            </a:xfrm>
            <a:prstGeom prst="rect">
              <a:avLst/>
            </a:prstGeom>
            <a:solidFill>
              <a:srgbClr val="E0F0FF"/>
            </a:solidFill>
            <a:ln>
              <a:noFill/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150" name="Rectangle 149"/>
            <p:cNvSpPr/>
            <p:nvPr/>
          </p:nvSpPr>
          <p:spPr>
            <a:xfrm>
              <a:off x="13723" y="7027"/>
              <a:ext cx="1901" cy="20"/>
            </a:xfrm>
            <a:prstGeom prst="rect">
              <a:avLst/>
            </a:prstGeom>
            <a:solidFill>
              <a:srgbClr val="E0F0FF"/>
            </a:solidFill>
            <a:ln>
              <a:noFill/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151" name="Rectangle 150"/>
            <p:cNvSpPr/>
            <p:nvPr/>
          </p:nvSpPr>
          <p:spPr>
            <a:xfrm>
              <a:off x="13723" y="8035"/>
              <a:ext cx="2333" cy="20"/>
            </a:xfrm>
            <a:prstGeom prst="rect">
              <a:avLst/>
            </a:prstGeom>
            <a:solidFill>
              <a:srgbClr val="E0F0FF"/>
            </a:solidFill>
            <a:ln>
              <a:noFill/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</p:grp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p14:dur="400">
        <p:fade/>
      </p:transition>
    </mc:Choice>
    <mc:Fallback>
      <p:transition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400"/>
                                        <p:tgtEl>
                                          <p:spTgt spid="9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99" grpId="0"/>
    </p:bld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2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4F9FF"/>
          </a:solidFill>
          <a:ln>
            <a:noFill/>
          </a:ln>
        </p:spPr>
      </p:sp>
      <p:sp>
        <p:nvSpPr>
          <p:cNvPr id="3" name="Rectangle 3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gradFill>
            <a:gsLst>
              <a:gs pos="0">
                <a:srgbClr val="26A7FF">
                  <a:alpha val="12000"/>
                </a:srgbClr>
              </a:gs>
              <a:gs pos="100000">
                <a:srgbClr val="26A7FF">
                  <a:alpha val="0"/>
                </a:srgbClr>
              </a:gs>
            </a:gsLst>
            <a:path path="circle">
              <a:fillToRect l="50000" t="50000" r="50000" b="50000"/>
            </a:path>
          </a:gradFill>
          <a:ln>
            <a:noFill/>
          </a:ln>
        </p:spPr>
      </p:sp>
      <p:sp>
        <p:nvSpPr>
          <p:cNvPr id="4" name="Ellipse 4"/>
          <p:cNvSpPr/>
          <p:nvPr/>
        </p:nvSpPr>
        <p:spPr>
          <a:xfrm>
            <a:off x="9391650" y="-304800"/>
            <a:ext cx="2362200" cy="2362200"/>
          </a:xfrm>
          <a:prstGeom prst="ellipse">
            <a:avLst/>
          </a:prstGeom>
          <a:solidFill>
            <a:srgbClr val="26A7FF">
              <a:alpha val="8000"/>
            </a:srgbClr>
          </a:solidFill>
          <a:ln>
            <a:noFill/>
          </a:ln>
        </p:spPr>
      </p:sp>
      <p:sp>
        <p:nvSpPr>
          <p:cNvPr id="5" name="Ellipse 5"/>
          <p:cNvSpPr/>
          <p:nvPr/>
        </p:nvSpPr>
        <p:spPr>
          <a:xfrm>
            <a:off x="10553700" y="647700"/>
            <a:ext cx="1638300" cy="1638300"/>
          </a:xfrm>
          <a:prstGeom prst="ellipse">
            <a:avLst/>
          </a:prstGeom>
          <a:solidFill>
            <a:srgbClr val="00D4FF">
              <a:alpha val="7000"/>
            </a:srgbClr>
          </a:solidFill>
          <a:ln>
            <a:noFill/>
          </a:ln>
        </p:spPr>
      </p:sp>
      <p:sp>
        <p:nvSpPr>
          <p:cNvPr id="6" name="Freeform 6"/>
          <p:cNvSpPr/>
          <p:nvPr/>
        </p:nvSpPr>
        <p:spPr>
          <a:xfrm>
            <a:off x="8382000" y="781050"/>
            <a:ext cx="3390900" cy="438150"/>
          </a:xfrm>
          <a:custGeom>
            <a:avLst/>
            <a:gdLst/>
            <a:ahLst/>
            <a:cxnLst/>
            <a:rect l="l" t="t" r="r" b="b"/>
            <a:pathLst>
              <a:path w="3390900" h="438150">
                <a:moveTo>
                  <a:pt x="0" y="0"/>
                </a:moveTo>
                <a:lnTo>
                  <a:pt x="1600200" y="0"/>
                </a:lnTo>
                <a:lnTo>
                  <a:pt x="2038350" y="438150"/>
                </a:lnTo>
                <a:lnTo>
                  <a:pt x="3390900" y="438150"/>
                </a:lnTo>
              </a:path>
            </a:pathLst>
          </a:custGeom>
          <a:noFill/>
          <a:ln w="13335">
            <a:solidFill>
              <a:srgbClr val="BFD9F4">
                <a:alpha val="75000"/>
              </a:srgbClr>
            </a:solidFill>
          </a:ln>
        </p:spPr>
      </p:sp>
      <p:sp>
        <p:nvSpPr>
          <p:cNvPr id="7" name="Freeform 7"/>
          <p:cNvSpPr/>
          <p:nvPr/>
        </p:nvSpPr>
        <p:spPr>
          <a:xfrm>
            <a:off x="8705850" y="5638800"/>
            <a:ext cx="2990850" cy="457200"/>
          </a:xfrm>
          <a:custGeom>
            <a:avLst/>
            <a:gdLst/>
            <a:ahLst/>
            <a:cxnLst/>
            <a:rect l="l" t="t" r="r" b="b"/>
            <a:pathLst>
              <a:path w="2990850" h="457200">
                <a:moveTo>
                  <a:pt x="0" y="457200"/>
                </a:moveTo>
                <a:lnTo>
                  <a:pt x="1295400" y="457200"/>
                </a:lnTo>
                <a:lnTo>
                  <a:pt x="1752600" y="0"/>
                </a:lnTo>
                <a:lnTo>
                  <a:pt x="2990850" y="0"/>
                </a:lnTo>
              </a:path>
            </a:pathLst>
          </a:custGeom>
          <a:noFill/>
          <a:ln w="11430">
            <a:solidFill>
              <a:srgbClr val="BFD9F4">
                <a:alpha val="65000"/>
              </a:srgbClr>
            </a:solidFill>
          </a:ln>
        </p:spPr>
      </p:sp>
      <p:sp>
        <p:nvSpPr>
          <p:cNvPr id="8" name="Freeform 8"/>
          <p:cNvSpPr/>
          <p:nvPr/>
        </p:nvSpPr>
        <p:spPr>
          <a:xfrm>
            <a:off x="419100" y="5734050"/>
            <a:ext cx="2057400" cy="381000"/>
          </a:xfrm>
          <a:custGeom>
            <a:avLst/>
            <a:gdLst/>
            <a:ahLst/>
            <a:cxnLst/>
            <a:rect l="l" t="t" r="r" b="b"/>
            <a:pathLst>
              <a:path w="2057400" h="381000">
                <a:moveTo>
                  <a:pt x="0" y="381000"/>
                </a:moveTo>
                <a:lnTo>
                  <a:pt x="1676400" y="381000"/>
                </a:lnTo>
                <a:lnTo>
                  <a:pt x="2057400" y="0"/>
                </a:lnTo>
              </a:path>
            </a:pathLst>
          </a:custGeom>
          <a:noFill/>
          <a:ln w="11430">
            <a:solidFill>
              <a:srgbClr val="D7EAFF">
                <a:alpha val="90000"/>
              </a:srgbClr>
            </a:solidFill>
          </a:ln>
        </p:spPr>
      </p:sp>
      <p:sp>
        <p:nvSpPr>
          <p:cNvPr id="9" name="Ellipse 9"/>
          <p:cNvSpPr/>
          <p:nvPr/>
        </p:nvSpPr>
        <p:spPr>
          <a:xfrm>
            <a:off x="9944100" y="742950"/>
            <a:ext cx="76200" cy="76200"/>
          </a:xfrm>
          <a:prstGeom prst="ellipse">
            <a:avLst/>
          </a:prstGeom>
          <a:solidFill>
            <a:srgbClr val="26A7FF"/>
          </a:solidFill>
          <a:ln>
            <a:noFill/>
          </a:ln>
        </p:spPr>
      </p:sp>
      <p:sp>
        <p:nvSpPr>
          <p:cNvPr id="10" name="Ellipse 10"/>
          <p:cNvSpPr/>
          <p:nvPr/>
        </p:nvSpPr>
        <p:spPr>
          <a:xfrm>
            <a:off x="10382250" y="1181100"/>
            <a:ext cx="76200" cy="76200"/>
          </a:xfrm>
          <a:prstGeom prst="ellipse">
            <a:avLst/>
          </a:prstGeom>
          <a:solidFill>
            <a:srgbClr val="00D4FF"/>
          </a:solidFill>
          <a:ln>
            <a:noFill/>
          </a:ln>
        </p:spPr>
      </p:sp>
      <p:sp>
        <p:nvSpPr>
          <p:cNvPr id="11" name="Ellipse 11"/>
          <p:cNvSpPr/>
          <p:nvPr/>
        </p:nvSpPr>
        <p:spPr>
          <a:xfrm>
            <a:off x="2438400" y="5695950"/>
            <a:ext cx="76200" cy="76200"/>
          </a:xfrm>
          <a:prstGeom prst="ellipse">
            <a:avLst/>
          </a:prstGeom>
          <a:solidFill>
            <a:srgbClr val="26A7FF"/>
          </a:solidFill>
          <a:ln>
            <a:noFill/>
          </a:ln>
        </p:spPr>
      </p:sp>
      <p:sp>
        <p:nvSpPr>
          <p:cNvPr id="12" name="Line 12"/>
          <p:cNvSpPr/>
          <p:nvPr/>
        </p:nvSpPr>
        <p:spPr>
          <a:xfrm>
            <a:off x="762000" y="0"/>
            <a:ext cx="9525" cy="6858000"/>
          </a:xfrm>
          <a:custGeom>
            <a:avLst/>
            <a:gdLst/>
            <a:ahLst/>
            <a:cxnLst/>
            <a:rect l="l" t="t" r="r" b="b"/>
            <a:pathLst>
              <a:path w="9525" h="6858000">
                <a:moveTo>
                  <a:pt x="0" y="0"/>
                </a:moveTo>
                <a:lnTo>
                  <a:pt x="0" y="6858000"/>
                </a:lnTo>
              </a:path>
            </a:pathLst>
          </a:custGeom>
          <a:noFill/>
          <a:ln w="4762">
            <a:solidFill>
              <a:srgbClr val="D7EAFF">
                <a:alpha val="22000"/>
              </a:srgbClr>
            </a:solidFill>
          </a:ln>
        </p:spPr>
      </p:sp>
      <p:sp>
        <p:nvSpPr>
          <p:cNvPr id="13" name="Line 13"/>
          <p:cNvSpPr/>
          <p:nvPr/>
        </p:nvSpPr>
        <p:spPr>
          <a:xfrm>
            <a:off x="1524000" y="0"/>
            <a:ext cx="9525" cy="6858000"/>
          </a:xfrm>
          <a:custGeom>
            <a:avLst/>
            <a:gdLst/>
            <a:ahLst/>
            <a:cxnLst/>
            <a:rect l="l" t="t" r="r" b="b"/>
            <a:pathLst>
              <a:path w="9525" h="6858000">
                <a:moveTo>
                  <a:pt x="0" y="0"/>
                </a:moveTo>
                <a:lnTo>
                  <a:pt x="0" y="6858000"/>
                </a:lnTo>
              </a:path>
            </a:pathLst>
          </a:custGeom>
          <a:noFill/>
          <a:ln w="4762">
            <a:solidFill>
              <a:srgbClr val="D7EAFF">
                <a:alpha val="22000"/>
              </a:srgbClr>
            </a:solidFill>
          </a:ln>
        </p:spPr>
      </p:sp>
      <p:sp>
        <p:nvSpPr>
          <p:cNvPr id="14" name="Line 14"/>
          <p:cNvSpPr/>
          <p:nvPr/>
        </p:nvSpPr>
        <p:spPr>
          <a:xfrm>
            <a:off x="2286000" y="0"/>
            <a:ext cx="9525" cy="6858000"/>
          </a:xfrm>
          <a:custGeom>
            <a:avLst/>
            <a:gdLst/>
            <a:ahLst/>
            <a:cxnLst/>
            <a:rect l="l" t="t" r="r" b="b"/>
            <a:pathLst>
              <a:path w="9525" h="6858000">
                <a:moveTo>
                  <a:pt x="0" y="0"/>
                </a:moveTo>
                <a:lnTo>
                  <a:pt x="0" y="6858000"/>
                </a:lnTo>
              </a:path>
            </a:pathLst>
          </a:custGeom>
          <a:noFill/>
          <a:ln w="4762">
            <a:solidFill>
              <a:srgbClr val="D7EAFF">
                <a:alpha val="22000"/>
              </a:srgbClr>
            </a:solidFill>
          </a:ln>
        </p:spPr>
      </p:sp>
      <p:sp>
        <p:nvSpPr>
          <p:cNvPr id="15" name="Line 15"/>
          <p:cNvSpPr/>
          <p:nvPr/>
        </p:nvSpPr>
        <p:spPr>
          <a:xfrm>
            <a:off x="3048000" y="0"/>
            <a:ext cx="9525" cy="6858000"/>
          </a:xfrm>
          <a:custGeom>
            <a:avLst/>
            <a:gdLst/>
            <a:ahLst/>
            <a:cxnLst/>
            <a:rect l="l" t="t" r="r" b="b"/>
            <a:pathLst>
              <a:path w="9525" h="6858000">
                <a:moveTo>
                  <a:pt x="0" y="0"/>
                </a:moveTo>
                <a:lnTo>
                  <a:pt x="0" y="6858000"/>
                </a:lnTo>
              </a:path>
            </a:pathLst>
          </a:custGeom>
          <a:noFill/>
          <a:ln w="4762">
            <a:solidFill>
              <a:srgbClr val="D7EAFF">
                <a:alpha val="22000"/>
              </a:srgbClr>
            </a:solidFill>
          </a:ln>
        </p:spPr>
      </p:sp>
      <p:sp>
        <p:nvSpPr>
          <p:cNvPr id="16" name="Line 16"/>
          <p:cNvSpPr/>
          <p:nvPr/>
        </p:nvSpPr>
        <p:spPr>
          <a:xfrm>
            <a:off x="3810000" y="0"/>
            <a:ext cx="9525" cy="6858000"/>
          </a:xfrm>
          <a:custGeom>
            <a:avLst/>
            <a:gdLst/>
            <a:ahLst/>
            <a:cxnLst/>
            <a:rect l="l" t="t" r="r" b="b"/>
            <a:pathLst>
              <a:path w="9525" h="6858000">
                <a:moveTo>
                  <a:pt x="0" y="0"/>
                </a:moveTo>
                <a:lnTo>
                  <a:pt x="0" y="6858000"/>
                </a:lnTo>
              </a:path>
            </a:pathLst>
          </a:custGeom>
          <a:noFill/>
          <a:ln w="4762">
            <a:solidFill>
              <a:srgbClr val="D7EAFF">
                <a:alpha val="22000"/>
              </a:srgbClr>
            </a:solidFill>
          </a:ln>
        </p:spPr>
      </p:sp>
      <p:sp>
        <p:nvSpPr>
          <p:cNvPr id="17" name="Line 17"/>
          <p:cNvSpPr/>
          <p:nvPr/>
        </p:nvSpPr>
        <p:spPr>
          <a:xfrm>
            <a:off x="4572000" y="0"/>
            <a:ext cx="9525" cy="6858000"/>
          </a:xfrm>
          <a:custGeom>
            <a:avLst/>
            <a:gdLst/>
            <a:ahLst/>
            <a:cxnLst/>
            <a:rect l="l" t="t" r="r" b="b"/>
            <a:pathLst>
              <a:path w="9525" h="6858000">
                <a:moveTo>
                  <a:pt x="0" y="0"/>
                </a:moveTo>
                <a:lnTo>
                  <a:pt x="0" y="6858000"/>
                </a:lnTo>
              </a:path>
            </a:pathLst>
          </a:custGeom>
          <a:noFill/>
          <a:ln w="4762">
            <a:solidFill>
              <a:srgbClr val="D7EAFF">
                <a:alpha val="22000"/>
              </a:srgbClr>
            </a:solidFill>
          </a:ln>
        </p:spPr>
      </p:sp>
      <p:sp>
        <p:nvSpPr>
          <p:cNvPr id="18" name="Line 18"/>
          <p:cNvSpPr/>
          <p:nvPr/>
        </p:nvSpPr>
        <p:spPr>
          <a:xfrm>
            <a:off x="5334000" y="0"/>
            <a:ext cx="9525" cy="6858000"/>
          </a:xfrm>
          <a:custGeom>
            <a:avLst/>
            <a:gdLst/>
            <a:ahLst/>
            <a:cxnLst/>
            <a:rect l="l" t="t" r="r" b="b"/>
            <a:pathLst>
              <a:path w="9525" h="6858000">
                <a:moveTo>
                  <a:pt x="0" y="0"/>
                </a:moveTo>
                <a:lnTo>
                  <a:pt x="0" y="6858000"/>
                </a:lnTo>
              </a:path>
            </a:pathLst>
          </a:custGeom>
          <a:noFill/>
          <a:ln w="4762">
            <a:solidFill>
              <a:srgbClr val="D7EAFF">
                <a:alpha val="22000"/>
              </a:srgbClr>
            </a:solidFill>
          </a:ln>
        </p:spPr>
      </p:sp>
      <p:sp>
        <p:nvSpPr>
          <p:cNvPr id="19" name="Line 19"/>
          <p:cNvSpPr/>
          <p:nvPr/>
        </p:nvSpPr>
        <p:spPr>
          <a:xfrm>
            <a:off x="6096000" y="0"/>
            <a:ext cx="9525" cy="6858000"/>
          </a:xfrm>
          <a:custGeom>
            <a:avLst/>
            <a:gdLst/>
            <a:ahLst/>
            <a:cxnLst/>
            <a:rect l="l" t="t" r="r" b="b"/>
            <a:pathLst>
              <a:path w="9525" h="6858000">
                <a:moveTo>
                  <a:pt x="0" y="0"/>
                </a:moveTo>
                <a:lnTo>
                  <a:pt x="0" y="6858000"/>
                </a:lnTo>
              </a:path>
            </a:pathLst>
          </a:custGeom>
          <a:noFill/>
          <a:ln w="4762">
            <a:solidFill>
              <a:srgbClr val="D7EAFF">
                <a:alpha val="22000"/>
              </a:srgbClr>
            </a:solidFill>
          </a:ln>
        </p:spPr>
      </p:sp>
      <p:sp>
        <p:nvSpPr>
          <p:cNvPr id="20" name="Line 20"/>
          <p:cNvSpPr/>
          <p:nvPr/>
        </p:nvSpPr>
        <p:spPr>
          <a:xfrm>
            <a:off x="6858000" y="0"/>
            <a:ext cx="9525" cy="6858000"/>
          </a:xfrm>
          <a:custGeom>
            <a:avLst/>
            <a:gdLst/>
            <a:ahLst/>
            <a:cxnLst/>
            <a:rect l="l" t="t" r="r" b="b"/>
            <a:pathLst>
              <a:path w="9525" h="6858000">
                <a:moveTo>
                  <a:pt x="0" y="0"/>
                </a:moveTo>
                <a:lnTo>
                  <a:pt x="0" y="6858000"/>
                </a:lnTo>
              </a:path>
            </a:pathLst>
          </a:custGeom>
          <a:noFill/>
          <a:ln w="4762">
            <a:solidFill>
              <a:srgbClr val="D7EAFF">
                <a:alpha val="22000"/>
              </a:srgbClr>
            </a:solidFill>
          </a:ln>
        </p:spPr>
      </p:sp>
      <p:sp>
        <p:nvSpPr>
          <p:cNvPr id="21" name="Line 21"/>
          <p:cNvSpPr/>
          <p:nvPr/>
        </p:nvSpPr>
        <p:spPr>
          <a:xfrm>
            <a:off x="7620000" y="0"/>
            <a:ext cx="9525" cy="6858000"/>
          </a:xfrm>
          <a:custGeom>
            <a:avLst/>
            <a:gdLst/>
            <a:ahLst/>
            <a:cxnLst/>
            <a:rect l="l" t="t" r="r" b="b"/>
            <a:pathLst>
              <a:path w="9525" h="6858000">
                <a:moveTo>
                  <a:pt x="0" y="0"/>
                </a:moveTo>
                <a:lnTo>
                  <a:pt x="0" y="6858000"/>
                </a:lnTo>
              </a:path>
            </a:pathLst>
          </a:custGeom>
          <a:noFill/>
          <a:ln w="4762">
            <a:solidFill>
              <a:srgbClr val="D7EAFF">
                <a:alpha val="22000"/>
              </a:srgbClr>
            </a:solidFill>
          </a:ln>
        </p:spPr>
      </p:sp>
      <p:sp>
        <p:nvSpPr>
          <p:cNvPr id="22" name="Line 22"/>
          <p:cNvSpPr/>
          <p:nvPr/>
        </p:nvSpPr>
        <p:spPr>
          <a:xfrm>
            <a:off x="8382000" y="0"/>
            <a:ext cx="9525" cy="6858000"/>
          </a:xfrm>
          <a:custGeom>
            <a:avLst/>
            <a:gdLst/>
            <a:ahLst/>
            <a:cxnLst/>
            <a:rect l="l" t="t" r="r" b="b"/>
            <a:pathLst>
              <a:path w="9525" h="6858000">
                <a:moveTo>
                  <a:pt x="0" y="0"/>
                </a:moveTo>
                <a:lnTo>
                  <a:pt x="0" y="6858000"/>
                </a:lnTo>
              </a:path>
            </a:pathLst>
          </a:custGeom>
          <a:noFill/>
          <a:ln w="4762">
            <a:solidFill>
              <a:srgbClr val="D7EAFF">
                <a:alpha val="22000"/>
              </a:srgbClr>
            </a:solidFill>
          </a:ln>
        </p:spPr>
      </p:sp>
      <p:sp>
        <p:nvSpPr>
          <p:cNvPr id="23" name="Line 23"/>
          <p:cNvSpPr/>
          <p:nvPr/>
        </p:nvSpPr>
        <p:spPr>
          <a:xfrm>
            <a:off x="9144000" y="0"/>
            <a:ext cx="9525" cy="6858000"/>
          </a:xfrm>
          <a:custGeom>
            <a:avLst/>
            <a:gdLst/>
            <a:ahLst/>
            <a:cxnLst/>
            <a:rect l="l" t="t" r="r" b="b"/>
            <a:pathLst>
              <a:path w="9525" h="6858000">
                <a:moveTo>
                  <a:pt x="0" y="0"/>
                </a:moveTo>
                <a:lnTo>
                  <a:pt x="0" y="6858000"/>
                </a:lnTo>
              </a:path>
            </a:pathLst>
          </a:custGeom>
          <a:noFill/>
          <a:ln w="4762">
            <a:solidFill>
              <a:srgbClr val="D7EAFF">
                <a:alpha val="22000"/>
              </a:srgbClr>
            </a:solidFill>
          </a:ln>
        </p:spPr>
      </p:sp>
      <p:sp>
        <p:nvSpPr>
          <p:cNvPr id="24" name="Line 24"/>
          <p:cNvSpPr/>
          <p:nvPr/>
        </p:nvSpPr>
        <p:spPr>
          <a:xfrm>
            <a:off x="9906000" y="0"/>
            <a:ext cx="9525" cy="6858000"/>
          </a:xfrm>
          <a:custGeom>
            <a:avLst/>
            <a:gdLst/>
            <a:ahLst/>
            <a:cxnLst/>
            <a:rect l="l" t="t" r="r" b="b"/>
            <a:pathLst>
              <a:path w="9525" h="6858000">
                <a:moveTo>
                  <a:pt x="0" y="0"/>
                </a:moveTo>
                <a:lnTo>
                  <a:pt x="0" y="6858000"/>
                </a:lnTo>
              </a:path>
            </a:pathLst>
          </a:custGeom>
          <a:noFill/>
          <a:ln w="4762">
            <a:solidFill>
              <a:srgbClr val="D7EAFF">
                <a:alpha val="22000"/>
              </a:srgbClr>
            </a:solidFill>
          </a:ln>
        </p:spPr>
      </p:sp>
      <p:sp>
        <p:nvSpPr>
          <p:cNvPr id="25" name="Line 25"/>
          <p:cNvSpPr/>
          <p:nvPr/>
        </p:nvSpPr>
        <p:spPr>
          <a:xfrm>
            <a:off x="10668000" y="0"/>
            <a:ext cx="9525" cy="6858000"/>
          </a:xfrm>
          <a:custGeom>
            <a:avLst/>
            <a:gdLst/>
            <a:ahLst/>
            <a:cxnLst/>
            <a:rect l="l" t="t" r="r" b="b"/>
            <a:pathLst>
              <a:path w="9525" h="6858000">
                <a:moveTo>
                  <a:pt x="0" y="0"/>
                </a:moveTo>
                <a:lnTo>
                  <a:pt x="0" y="6858000"/>
                </a:lnTo>
              </a:path>
            </a:pathLst>
          </a:custGeom>
          <a:noFill/>
          <a:ln w="4762">
            <a:solidFill>
              <a:srgbClr val="D7EAFF">
                <a:alpha val="22000"/>
              </a:srgbClr>
            </a:solidFill>
          </a:ln>
        </p:spPr>
      </p:sp>
      <p:sp>
        <p:nvSpPr>
          <p:cNvPr id="26" name="Line 26"/>
          <p:cNvSpPr/>
          <p:nvPr/>
        </p:nvSpPr>
        <p:spPr>
          <a:xfrm>
            <a:off x="11430000" y="0"/>
            <a:ext cx="9525" cy="6858000"/>
          </a:xfrm>
          <a:custGeom>
            <a:avLst/>
            <a:gdLst/>
            <a:ahLst/>
            <a:cxnLst/>
            <a:rect l="l" t="t" r="r" b="b"/>
            <a:pathLst>
              <a:path w="9525" h="6858000">
                <a:moveTo>
                  <a:pt x="0" y="0"/>
                </a:moveTo>
                <a:lnTo>
                  <a:pt x="0" y="6858000"/>
                </a:lnTo>
              </a:path>
            </a:pathLst>
          </a:custGeom>
          <a:noFill/>
          <a:ln w="4762">
            <a:solidFill>
              <a:srgbClr val="D7EAFF">
                <a:alpha val="22000"/>
              </a:srgbClr>
            </a:solidFill>
          </a:ln>
        </p:spPr>
      </p:sp>
      <p:sp>
        <p:nvSpPr>
          <p:cNvPr id="27" name="Line 27"/>
          <p:cNvSpPr/>
          <p:nvPr/>
        </p:nvSpPr>
        <p:spPr>
          <a:xfrm>
            <a:off x="0" y="762000"/>
            <a:ext cx="12192000" cy="9525"/>
          </a:xfrm>
          <a:custGeom>
            <a:avLst/>
            <a:gdLst/>
            <a:ahLst/>
            <a:cxnLst/>
            <a:rect l="l" t="t" r="r" b="b"/>
            <a:pathLst>
              <a:path w="12192000" h="9525">
                <a:moveTo>
                  <a:pt x="0" y="0"/>
                </a:moveTo>
                <a:lnTo>
                  <a:pt x="12192000" y="0"/>
                </a:lnTo>
              </a:path>
            </a:pathLst>
          </a:custGeom>
          <a:noFill/>
          <a:ln w="4762">
            <a:solidFill>
              <a:srgbClr val="D7EAFF">
                <a:alpha val="22000"/>
              </a:srgbClr>
            </a:solidFill>
          </a:ln>
        </p:spPr>
      </p:sp>
      <p:sp>
        <p:nvSpPr>
          <p:cNvPr id="28" name="Line 28"/>
          <p:cNvSpPr/>
          <p:nvPr/>
        </p:nvSpPr>
        <p:spPr>
          <a:xfrm>
            <a:off x="0" y="1524000"/>
            <a:ext cx="12192000" cy="9525"/>
          </a:xfrm>
          <a:custGeom>
            <a:avLst/>
            <a:gdLst/>
            <a:ahLst/>
            <a:cxnLst/>
            <a:rect l="l" t="t" r="r" b="b"/>
            <a:pathLst>
              <a:path w="12192000" h="9525">
                <a:moveTo>
                  <a:pt x="0" y="0"/>
                </a:moveTo>
                <a:lnTo>
                  <a:pt x="12192000" y="0"/>
                </a:lnTo>
              </a:path>
            </a:pathLst>
          </a:custGeom>
          <a:noFill/>
          <a:ln w="4762">
            <a:solidFill>
              <a:srgbClr val="D7EAFF">
                <a:alpha val="22000"/>
              </a:srgbClr>
            </a:solidFill>
          </a:ln>
        </p:spPr>
      </p:sp>
      <p:sp>
        <p:nvSpPr>
          <p:cNvPr id="29" name="Line 29"/>
          <p:cNvSpPr/>
          <p:nvPr/>
        </p:nvSpPr>
        <p:spPr>
          <a:xfrm>
            <a:off x="0" y="2286000"/>
            <a:ext cx="12192000" cy="9525"/>
          </a:xfrm>
          <a:custGeom>
            <a:avLst/>
            <a:gdLst/>
            <a:ahLst/>
            <a:cxnLst/>
            <a:rect l="l" t="t" r="r" b="b"/>
            <a:pathLst>
              <a:path w="12192000" h="9525">
                <a:moveTo>
                  <a:pt x="0" y="0"/>
                </a:moveTo>
                <a:lnTo>
                  <a:pt x="12192000" y="0"/>
                </a:lnTo>
              </a:path>
            </a:pathLst>
          </a:custGeom>
          <a:noFill/>
          <a:ln w="4762">
            <a:solidFill>
              <a:srgbClr val="D7EAFF">
                <a:alpha val="22000"/>
              </a:srgbClr>
            </a:solidFill>
          </a:ln>
        </p:spPr>
      </p:sp>
      <p:sp>
        <p:nvSpPr>
          <p:cNvPr id="30" name="Line 30"/>
          <p:cNvSpPr/>
          <p:nvPr/>
        </p:nvSpPr>
        <p:spPr>
          <a:xfrm>
            <a:off x="0" y="3048000"/>
            <a:ext cx="12192000" cy="9525"/>
          </a:xfrm>
          <a:custGeom>
            <a:avLst/>
            <a:gdLst/>
            <a:ahLst/>
            <a:cxnLst/>
            <a:rect l="l" t="t" r="r" b="b"/>
            <a:pathLst>
              <a:path w="12192000" h="9525">
                <a:moveTo>
                  <a:pt x="0" y="0"/>
                </a:moveTo>
                <a:lnTo>
                  <a:pt x="12192000" y="0"/>
                </a:lnTo>
              </a:path>
            </a:pathLst>
          </a:custGeom>
          <a:noFill/>
          <a:ln w="4762">
            <a:solidFill>
              <a:srgbClr val="D7EAFF">
                <a:alpha val="22000"/>
              </a:srgbClr>
            </a:solidFill>
          </a:ln>
        </p:spPr>
      </p:sp>
      <p:sp>
        <p:nvSpPr>
          <p:cNvPr id="31" name="Line 31"/>
          <p:cNvSpPr/>
          <p:nvPr/>
        </p:nvSpPr>
        <p:spPr>
          <a:xfrm>
            <a:off x="0" y="3810000"/>
            <a:ext cx="12192000" cy="9525"/>
          </a:xfrm>
          <a:custGeom>
            <a:avLst/>
            <a:gdLst/>
            <a:ahLst/>
            <a:cxnLst/>
            <a:rect l="l" t="t" r="r" b="b"/>
            <a:pathLst>
              <a:path w="12192000" h="9525">
                <a:moveTo>
                  <a:pt x="0" y="0"/>
                </a:moveTo>
                <a:lnTo>
                  <a:pt x="12192000" y="0"/>
                </a:lnTo>
              </a:path>
            </a:pathLst>
          </a:custGeom>
          <a:noFill/>
          <a:ln w="4762">
            <a:solidFill>
              <a:srgbClr val="D7EAFF">
                <a:alpha val="22000"/>
              </a:srgbClr>
            </a:solidFill>
          </a:ln>
        </p:spPr>
      </p:sp>
      <p:sp>
        <p:nvSpPr>
          <p:cNvPr id="32" name="Line 32"/>
          <p:cNvSpPr/>
          <p:nvPr/>
        </p:nvSpPr>
        <p:spPr>
          <a:xfrm>
            <a:off x="0" y="4572000"/>
            <a:ext cx="12192000" cy="9525"/>
          </a:xfrm>
          <a:custGeom>
            <a:avLst/>
            <a:gdLst/>
            <a:ahLst/>
            <a:cxnLst/>
            <a:rect l="l" t="t" r="r" b="b"/>
            <a:pathLst>
              <a:path w="12192000" h="9525">
                <a:moveTo>
                  <a:pt x="0" y="0"/>
                </a:moveTo>
                <a:lnTo>
                  <a:pt x="12192000" y="0"/>
                </a:lnTo>
              </a:path>
            </a:pathLst>
          </a:custGeom>
          <a:noFill/>
          <a:ln w="4762">
            <a:solidFill>
              <a:srgbClr val="D7EAFF">
                <a:alpha val="22000"/>
              </a:srgbClr>
            </a:solidFill>
          </a:ln>
        </p:spPr>
      </p:sp>
      <p:sp>
        <p:nvSpPr>
          <p:cNvPr id="33" name="Line 33"/>
          <p:cNvSpPr/>
          <p:nvPr/>
        </p:nvSpPr>
        <p:spPr>
          <a:xfrm>
            <a:off x="0" y="5334000"/>
            <a:ext cx="12192000" cy="9525"/>
          </a:xfrm>
          <a:custGeom>
            <a:avLst/>
            <a:gdLst/>
            <a:ahLst/>
            <a:cxnLst/>
            <a:rect l="l" t="t" r="r" b="b"/>
            <a:pathLst>
              <a:path w="12192000" h="9525">
                <a:moveTo>
                  <a:pt x="0" y="0"/>
                </a:moveTo>
                <a:lnTo>
                  <a:pt x="12192000" y="0"/>
                </a:lnTo>
              </a:path>
            </a:pathLst>
          </a:custGeom>
          <a:noFill/>
          <a:ln w="4762">
            <a:solidFill>
              <a:srgbClr val="D7EAFF">
                <a:alpha val="22000"/>
              </a:srgbClr>
            </a:solidFill>
          </a:ln>
        </p:spPr>
      </p:sp>
      <p:sp>
        <p:nvSpPr>
          <p:cNvPr id="34" name="Line 34"/>
          <p:cNvSpPr/>
          <p:nvPr/>
        </p:nvSpPr>
        <p:spPr>
          <a:xfrm>
            <a:off x="0" y="6096000"/>
            <a:ext cx="12192000" cy="9525"/>
          </a:xfrm>
          <a:custGeom>
            <a:avLst/>
            <a:gdLst/>
            <a:ahLst/>
            <a:cxnLst/>
            <a:rect l="l" t="t" r="r" b="b"/>
            <a:pathLst>
              <a:path w="12192000" h="9525">
                <a:moveTo>
                  <a:pt x="0" y="0"/>
                </a:moveTo>
                <a:lnTo>
                  <a:pt x="12192000" y="0"/>
                </a:lnTo>
              </a:path>
            </a:pathLst>
          </a:custGeom>
          <a:noFill/>
          <a:ln w="4762">
            <a:solidFill>
              <a:srgbClr val="D7EAFF">
                <a:alpha val="22000"/>
              </a:srgbClr>
            </a:solidFill>
          </a:ln>
        </p:spPr>
      </p:sp>
      <p:grpSp>
        <p:nvGrpSpPr>
          <p:cNvPr id="99" name="Group 99"/>
          <p:cNvGrpSpPr/>
          <p:nvPr/>
        </p:nvGrpSpPr>
        <p:grpSpPr>
          <a:xfrm>
            <a:off x="0" y="0"/>
            <a:ext cx="12192000" cy="6781800"/>
            <a:chOff x="0" y="0"/>
            <a:chExt cx="12192000" cy="6781800"/>
          </a:xfrm>
        </p:grpSpPr>
        <p:sp>
          <p:nvSpPr>
            <p:cNvPr id="35" name="Rectangle 35"/>
            <p:cNvSpPr/>
            <p:nvPr/>
          </p:nvSpPr>
          <p:spPr>
            <a:xfrm>
              <a:off x="0" y="0"/>
              <a:ext cx="12192000" cy="47625"/>
            </a:xfrm>
            <a:prstGeom prst="rect">
              <a:avLst/>
            </a:prstGeom>
            <a:gradFill>
              <a:gsLst>
                <a:gs pos="0">
                  <a:srgbClr val="0B57D0"/>
                </a:gs>
                <a:gs pos="52000">
                  <a:srgbClr val="26A7FF"/>
                </a:gs>
                <a:gs pos="100000">
                  <a:srgbClr val="00D4FF"/>
                </a:gs>
              </a:gsLst>
              <a:lin ang="0" scaled="1"/>
            </a:gradFill>
            <a:ln>
              <a:noFill/>
            </a:ln>
          </p:spPr>
        </p:sp>
        <p:sp>
          <p:nvSpPr>
            <p:cNvPr id="36" name="TextBox 36"/>
            <p:cNvSpPr txBox="1"/>
            <p:nvPr/>
          </p:nvSpPr>
          <p:spPr>
            <a:xfrm>
              <a:off x="504825" y="233362"/>
              <a:ext cx="3723005" cy="346075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2250" b="1" dirty="0">
                  <a:solidFill>
                    <a:srgbClr val="102033"/>
                  </a:solidFill>
                  <a:latin typeface="MiSans Heavy" panose="00000A00000000000000" charset="-122"/>
                  <a:ea typeface="MiSans Heavy" panose="00000A00000000000000" charset="-122"/>
                  <a:cs typeface="等线" panose="02010600030101010101" charset="-122"/>
                </a:rPr>
                <a:t>产品原型设计：核心界面展示</a:t>
              </a:r>
              <a:endParaRPr lang="zh-CN" sz="2250" b="1" dirty="0">
                <a:solidFill>
                  <a:srgbClr val="102033"/>
                </a:solidFill>
                <a:latin typeface="MiSans Heavy" panose="00000A00000000000000" charset="-122"/>
                <a:ea typeface="MiSans Heavy" panose="00000A00000000000000" charset="-122"/>
                <a:cs typeface="等线" panose="02010600030101010101" charset="-122"/>
              </a:endParaRPr>
            </a:p>
          </p:txBody>
        </p:sp>
        <p:sp>
          <p:nvSpPr>
            <p:cNvPr id="37" name="TextBox 37"/>
            <p:cNvSpPr txBox="1"/>
            <p:nvPr/>
          </p:nvSpPr>
          <p:spPr>
            <a:xfrm>
              <a:off x="521970" y="645795"/>
              <a:ext cx="809625" cy="13843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00" b="1" dirty="0">
                  <a:solidFill>
                    <a:srgbClr val="0B57D0"/>
                  </a:solidFill>
                  <a:latin typeface="金山云技术体" charset="-122"/>
                  <a:ea typeface="金山云技术体" charset="-122"/>
                  <a:cs typeface="等线" panose="02010600030101010101" charset="-122"/>
                </a:rPr>
                <a:t>PROTOTYPE UI</a:t>
              </a:r>
              <a:endParaRPr lang="zh-CN" sz="900" b="1" dirty="0">
                <a:solidFill>
                  <a:srgbClr val="0B57D0"/>
                </a:solidFill>
                <a:latin typeface="金山云技术体" charset="-122"/>
                <a:ea typeface="金山云技术体" charset="-122"/>
                <a:cs typeface="等线" panose="02010600030101010101" charset="-122"/>
              </a:endParaRPr>
            </a:p>
          </p:txBody>
        </p:sp>
        <p:sp>
          <p:nvSpPr>
            <p:cNvPr id="38" name="Line 38"/>
            <p:cNvSpPr/>
            <p:nvPr/>
          </p:nvSpPr>
          <p:spPr>
            <a:xfrm>
              <a:off x="533400" y="876300"/>
              <a:ext cx="11125200" cy="9525"/>
            </a:xfrm>
            <a:custGeom>
              <a:avLst/>
              <a:gdLst/>
              <a:ahLst/>
              <a:cxnLst/>
              <a:rect l="l" t="t" r="r" b="b"/>
              <a:pathLst>
                <a:path w="11125200" h="9525">
                  <a:moveTo>
                    <a:pt x="0" y="0"/>
                  </a:moveTo>
                  <a:lnTo>
                    <a:pt x="11125200" y="0"/>
                  </a:lnTo>
                </a:path>
              </a:pathLst>
            </a:custGeom>
            <a:noFill/>
            <a:ln w="11430">
              <a:solidFill>
                <a:srgbClr val="BFD9F4"/>
              </a:solidFill>
            </a:ln>
          </p:spPr>
        </p:sp>
        <p:sp>
          <p:nvSpPr>
            <p:cNvPr id="39" name="Rectangle 39"/>
            <p:cNvSpPr/>
            <p:nvPr/>
          </p:nvSpPr>
          <p:spPr>
            <a:xfrm>
              <a:off x="533400" y="1028700"/>
              <a:ext cx="95250" cy="95250"/>
            </a:xfrm>
            <a:prstGeom prst="roundRect">
              <a:avLst>
                <a:gd name="adj" fmla="val 50000"/>
              </a:avLst>
            </a:prstGeom>
            <a:solidFill>
              <a:srgbClr val="00D4FF"/>
            </a:solidFill>
            <a:ln>
              <a:noFill/>
            </a:ln>
          </p:spPr>
        </p:sp>
        <p:sp>
          <p:nvSpPr>
            <p:cNvPr id="40" name="TextBox 40"/>
            <p:cNvSpPr txBox="1"/>
            <p:nvPr/>
          </p:nvSpPr>
          <p:spPr>
            <a:xfrm>
              <a:off x="765810" y="1003935"/>
              <a:ext cx="3978910" cy="18415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00" b="1" dirty="0">
                  <a:solidFill>
                    <a:srgbClr val="51677F"/>
                  </a:solidFill>
                  <a:latin typeface="MiSans Normal" panose="00000500000000000000" charset="-122"/>
                  <a:ea typeface="MiSans Normal" panose="00000500000000000000" charset="-122"/>
                  <a:cs typeface="等线" panose="02010600030101010101" charset="-122"/>
                </a:rPr>
                <a:t>原型重点展示记忆、规划、陪伴和复盘如何形成完整闭环。</a:t>
              </a:r>
              <a:endParaRPr lang="zh-CN" sz="1200" b="1" dirty="0">
                <a:solidFill>
                  <a:srgbClr val="51677F"/>
                </a:solidFill>
                <a:latin typeface="MiSans Normal" panose="00000500000000000000" charset="-122"/>
                <a:ea typeface="MiSans Normal" panose="00000500000000000000" charset="-122"/>
                <a:cs typeface="等线" panose="02010600030101010101" charset="-122"/>
              </a:endParaRPr>
            </a:p>
          </p:txBody>
        </p:sp>
        <p:sp>
          <p:nvSpPr>
            <p:cNvPr id="41" name="Rectangle 41"/>
            <p:cNvSpPr/>
            <p:nvPr/>
          </p:nvSpPr>
          <p:spPr>
            <a:xfrm>
              <a:off x="495300" y="1581150"/>
              <a:ext cx="11353800" cy="935990"/>
            </a:xfrm>
            <a:prstGeom prst="roundRect">
              <a:avLst>
                <a:gd name="adj" fmla="val 17949"/>
              </a:avLst>
            </a:prstGeom>
            <a:solidFill>
              <a:srgbClr val="0B57D0">
                <a:alpha val="5000"/>
              </a:srgbClr>
            </a:solidFill>
            <a:ln>
              <a:noFill/>
            </a:ln>
          </p:spPr>
        </p:sp>
        <p:sp>
          <p:nvSpPr>
            <p:cNvPr id="42" name="Rectangle 42"/>
            <p:cNvSpPr/>
            <p:nvPr/>
          </p:nvSpPr>
          <p:spPr>
            <a:xfrm>
              <a:off x="419100" y="1485900"/>
              <a:ext cx="11353800" cy="848995"/>
            </a:xfrm>
            <a:prstGeom prst="roundRect">
              <a:avLst>
                <a:gd name="adj" fmla="val 17949"/>
              </a:avLst>
            </a:prstGeom>
            <a:solidFill>
              <a:srgbClr val="FFFFFF"/>
            </a:solidFill>
            <a:ln w="11430">
              <a:solidFill>
                <a:srgbClr val="BFD9F4"/>
              </a:solidFill>
            </a:ln>
          </p:spPr>
        </p:sp>
        <p:sp>
          <p:nvSpPr>
            <p:cNvPr id="43" name="Line 43"/>
            <p:cNvSpPr/>
            <p:nvPr/>
          </p:nvSpPr>
          <p:spPr>
            <a:xfrm>
              <a:off x="590550" y="1495425"/>
              <a:ext cx="1238250" cy="9525"/>
            </a:xfrm>
            <a:custGeom>
              <a:avLst/>
              <a:gdLst/>
              <a:ahLst/>
              <a:cxnLst/>
              <a:rect l="l" t="t" r="r" b="b"/>
              <a:pathLst>
                <a:path w="1238250" h="9525">
                  <a:moveTo>
                    <a:pt x="0" y="0"/>
                  </a:moveTo>
                  <a:lnTo>
                    <a:pt x="1238250" y="0"/>
                  </a:lnTo>
                </a:path>
              </a:pathLst>
            </a:custGeom>
            <a:noFill/>
            <a:ln w="19050">
              <a:solidFill>
                <a:srgbClr val="26A7FF">
                  <a:alpha val="90000"/>
                </a:srgbClr>
              </a:solidFill>
            </a:ln>
          </p:spPr>
        </p:sp>
        <p:sp>
          <p:nvSpPr>
            <p:cNvPr id="44" name="Rectangle 44"/>
            <p:cNvSpPr/>
            <p:nvPr/>
          </p:nvSpPr>
          <p:spPr>
            <a:xfrm>
              <a:off x="590550" y="1657350"/>
              <a:ext cx="285750" cy="285750"/>
            </a:xfrm>
            <a:prstGeom prst="roundRect">
              <a:avLst>
                <a:gd name="adj" fmla="val 33333"/>
              </a:avLst>
            </a:prstGeom>
            <a:solidFill>
              <a:srgbClr val="E7F2FF"/>
            </a:solidFill>
            <a:ln>
              <a:noFill/>
            </a:ln>
          </p:spPr>
        </p:sp>
        <p:grpSp>
          <p:nvGrpSpPr>
            <p:cNvPr id="48" name="Group 48"/>
            <p:cNvGrpSpPr/>
            <p:nvPr/>
          </p:nvGrpSpPr>
          <p:grpSpPr>
            <a:xfrm>
              <a:off x="661988" y="1728788"/>
              <a:ext cx="142874" cy="142875"/>
              <a:chOff x="661988" y="1728788"/>
              <a:chExt cx="142874" cy="142875"/>
            </a:xfrm>
          </p:grpSpPr>
          <p:sp>
            <p:nvSpPr>
              <p:cNvPr id="45" name="Freeform 45"/>
              <p:cNvSpPr/>
              <p:nvPr/>
            </p:nvSpPr>
            <p:spPr>
              <a:xfrm>
                <a:off x="661988" y="1728788"/>
                <a:ext cx="63500" cy="55563"/>
              </a:xfrm>
              <a:custGeom>
                <a:avLst/>
                <a:gdLst/>
                <a:ahLst/>
                <a:cxnLst/>
                <a:rect l="l" t="t" r="r" b="b"/>
                <a:pathLst>
                  <a:path w="63500" h="55563">
                    <a:moveTo>
                      <a:pt x="39688" y="0"/>
                    </a:moveTo>
                    <a:cubicBezTo>
                      <a:pt x="52839" y="0"/>
                      <a:pt x="63500" y="10661"/>
                      <a:pt x="63500" y="23812"/>
                    </a:cubicBezTo>
                    <a:lnTo>
                      <a:pt x="63500" y="31750"/>
                    </a:lnTo>
                    <a:cubicBezTo>
                      <a:pt x="63500" y="44901"/>
                      <a:pt x="52839" y="55563"/>
                      <a:pt x="39688" y="55563"/>
                    </a:cubicBezTo>
                    <a:lnTo>
                      <a:pt x="23812" y="55563"/>
                    </a:lnTo>
                    <a:cubicBezTo>
                      <a:pt x="10661" y="55563"/>
                      <a:pt x="0" y="44901"/>
                      <a:pt x="0" y="31750"/>
                    </a:cubicBezTo>
                    <a:lnTo>
                      <a:pt x="0" y="23812"/>
                    </a:lnTo>
                    <a:cubicBezTo>
                      <a:pt x="0" y="10661"/>
                      <a:pt x="10661" y="0"/>
                      <a:pt x="23812" y="0"/>
                    </a:cubicBezTo>
                    <a:close/>
                  </a:path>
                </a:pathLst>
              </a:custGeom>
              <a:solidFill>
                <a:srgbClr val="0B57D0"/>
              </a:solidFill>
              <a:ln>
                <a:noFill/>
              </a:ln>
            </p:spPr>
          </p:sp>
          <p:sp>
            <p:nvSpPr>
              <p:cNvPr id="46" name="Freeform 46"/>
              <p:cNvSpPr/>
              <p:nvPr/>
            </p:nvSpPr>
            <p:spPr>
              <a:xfrm>
                <a:off x="661988" y="1800225"/>
                <a:ext cx="63500" cy="71438"/>
              </a:xfrm>
              <a:custGeom>
                <a:avLst/>
                <a:gdLst/>
                <a:ahLst/>
                <a:cxnLst/>
                <a:rect l="l" t="t" r="r" b="b"/>
                <a:pathLst>
                  <a:path w="63500" h="71438">
                    <a:moveTo>
                      <a:pt x="39688" y="0"/>
                    </a:moveTo>
                    <a:cubicBezTo>
                      <a:pt x="52839" y="0"/>
                      <a:pt x="63500" y="10661"/>
                      <a:pt x="63500" y="23812"/>
                    </a:cubicBezTo>
                    <a:lnTo>
                      <a:pt x="63500" y="47625"/>
                    </a:lnTo>
                    <a:cubicBezTo>
                      <a:pt x="63500" y="60776"/>
                      <a:pt x="52839" y="71438"/>
                      <a:pt x="39688" y="71438"/>
                    </a:cubicBezTo>
                    <a:lnTo>
                      <a:pt x="23812" y="71438"/>
                    </a:lnTo>
                    <a:cubicBezTo>
                      <a:pt x="10661" y="71438"/>
                      <a:pt x="0" y="60776"/>
                      <a:pt x="0" y="47625"/>
                    </a:cubicBezTo>
                    <a:lnTo>
                      <a:pt x="0" y="23812"/>
                    </a:lnTo>
                    <a:cubicBezTo>
                      <a:pt x="0" y="10661"/>
                      <a:pt x="10661" y="0"/>
                      <a:pt x="23812" y="0"/>
                    </a:cubicBezTo>
                    <a:close/>
                  </a:path>
                </a:pathLst>
              </a:custGeom>
              <a:solidFill>
                <a:srgbClr val="0B57D0"/>
              </a:solidFill>
              <a:ln>
                <a:noFill/>
              </a:ln>
            </p:spPr>
          </p:sp>
          <p:sp>
            <p:nvSpPr>
              <p:cNvPr id="47" name="Freeform 47"/>
              <p:cNvSpPr/>
              <p:nvPr/>
            </p:nvSpPr>
            <p:spPr>
              <a:xfrm>
                <a:off x="741362" y="1728788"/>
                <a:ext cx="63500" cy="142875"/>
              </a:xfrm>
              <a:custGeom>
                <a:avLst/>
                <a:gdLst/>
                <a:ahLst/>
                <a:cxnLst/>
                <a:rect l="l" t="t" r="r" b="b"/>
                <a:pathLst>
                  <a:path w="63500" h="142875">
                    <a:moveTo>
                      <a:pt x="39688" y="0"/>
                    </a:moveTo>
                    <a:cubicBezTo>
                      <a:pt x="52839" y="0"/>
                      <a:pt x="63500" y="10661"/>
                      <a:pt x="63500" y="23812"/>
                    </a:cubicBezTo>
                    <a:lnTo>
                      <a:pt x="63500" y="119062"/>
                    </a:lnTo>
                    <a:cubicBezTo>
                      <a:pt x="63500" y="132214"/>
                      <a:pt x="52839" y="142875"/>
                      <a:pt x="39688" y="142875"/>
                    </a:cubicBezTo>
                    <a:lnTo>
                      <a:pt x="23812" y="142875"/>
                    </a:lnTo>
                    <a:cubicBezTo>
                      <a:pt x="10661" y="142875"/>
                      <a:pt x="0" y="132214"/>
                      <a:pt x="0" y="119062"/>
                    </a:cubicBezTo>
                    <a:lnTo>
                      <a:pt x="0" y="23812"/>
                    </a:lnTo>
                    <a:cubicBezTo>
                      <a:pt x="0" y="10661"/>
                      <a:pt x="10661" y="0"/>
                      <a:pt x="23812" y="0"/>
                    </a:cubicBezTo>
                    <a:close/>
                  </a:path>
                </a:pathLst>
              </a:custGeom>
              <a:solidFill>
                <a:srgbClr val="0B57D0"/>
              </a:solidFill>
              <a:ln>
                <a:noFill/>
              </a:ln>
            </p:spPr>
          </p:sp>
        </p:grpSp>
        <p:sp>
          <p:nvSpPr>
            <p:cNvPr id="49" name="TextBox 49"/>
            <p:cNvSpPr txBox="1"/>
            <p:nvPr/>
          </p:nvSpPr>
          <p:spPr>
            <a:xfrm>
              <a:off x="953452" y="1697196"/>
              <a:ext cx="1223010" cy="245745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600" b="1" dirty="0">
                  <a:solidFill>
                    <a:srgbClr val="102033"/>
                  </a:solidFill>
                  <a:latin typeface="MiSans Normal" panose="00000500000000000000" charset="-122"/>
                  <a:ea typeface="MiSans Normal" panose="00000500000000000000" charset="-122"/>
                  <a:cs typeface="等线" panose="02010600030101010101" charset="-122"/>
                </a:rPr>
                <a:t>界面风格说明</a:t>
              </a:r>
              <a:endParaRPr lang="zh-CN" sz="1600" b="1" dirty="0">
                <a:solidFill>
                  <a:srgbClr val="102033"/>
                </a:solidFill>
                <a:latin typeface="MiSans Normal" panose="00000500000000000000" charset="-122"/>
                <a:ea typeface="MiSans Normal" panose="00000500000000000000" charset="-122"/>
                <a:cs typeface="等线" panose="02010600030101010101" charset="-122"/>
              </a:endParaRPr>
            </a:p>
          </p:txBody>
        </p:sp>
        <p:sp>
          <p:nvSpPr>
            <p:cNvPr id="50" name="TextBox 50"/>
            <p:cNvSpPr txBox="1"/>
            <p:nvPr/>
          </p:nvSpPr>
          <p:spPr>
            <a:xfrm>
              <a:off x="633412" y="2050256"/>
              <a:ext cx="5596890" cy="173355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125" dirty="0">
                  <a:solidFill>
                    <a:srgbClr val="51677F"/>
                  </a:solidFill>
                  <a:latin typeface="MiSans Normal" panose="00000500000000000000" charset="-122"/>
                  <a:ea typeface="MiSans Normal" panose="00000500000000000000" charset="-122"/>
                  <a:cs typeface="等线" panose="02010600030101010101" charset="-122"/>
                </a:rPr>
                <a:t>整体采用蓝白清爽、圆角轻卡片和移动端优先的设计语言，蓝小心始终作为主交互对象。</a:t>
              </a:r>
              <a:endParaRPr lang="zh-CN" sz="1125" dirty="0">
                <a:solidFill>
                  <a:srgbClr val="51677F"/>
                </a:solidFill>
                <a:latin typeface="MiSans Normal" panose="00000500000000000000" charset="-122"/>
                <a:ea typeface="MiSans Normal" panose="00000500000000000000" charset="-122"/>
                <a:cs typeface="等线" panose="02010600030101010101" charset="-122"/>
              </a:endParaRPr>
            </a:p>
          </p:txBody>
        </p:sp>
        <p:sp>
          <p:nvSpPr>
            <p:cNvPr id="51" name="Rectangle 51"/>
            <p:cNvSpPr/>
            <p:nvPr/>
          </p:nvSpPr>
          <p:spPr>
            <a:xfrm>
              <a:off x="781050" y="2686050"/>
              <a:ext cx="1809750" cy="2895600"/>
            </a:xfrm>
            <a:prstGeom prst="roundRect">
              <a:avLst>
                <a:gd name="adj" fmla="val 13684"/>
              </a:avLst>
            </a:prstGeom>
            <a:solidFill>
              <a:srgbClr val="082044"/>
            </a:solidFill>
            <a:ln>
              <a:noFill/>
            </a:ln>
          </p:spPr>
        </p:sp>
        <p:sp>
          <p:nvSpPr>
            <p:cNvPr id="52" name="Rectangle 52"/>
            <p:cNvSpPr/>
            <p:nvPr/>
          </p:nvSpPr>
          <p:spPr>
            <a:xfrm>
              <a:off x="857250" y="2762250"/>
              <a:ext cx="1657350" cy="2743200"/>
            </a:xfrm>
            <a:prstGeom prst="roundRect">
              <a:avLst>
                <a:gd name="adj" fmla="val 12069"/>
              </a:avLst>
            </a:prstGeom>
            <a:solidFill>
              <a:srgbClr val="FFFFFF"/>
            </a:solidFill>
            <a:ln>
              <a:noFill/>
            </a:ln>
          </p:spPr>
        </p:sp>
        <p:sp>
          <p:nvSpPr>
            <p:cNvPr id="53" name="Rectangle 53"/>
            <p:cNvSpPr/>
            <p:nvPr/>
          </p:nvSpPr>
          <p:spPr>
            <a:xfrm>
              <a:off x="990600" y="2914650"/>
              <a:ext cx="1390650" cy="285750"/>
            </a:xfrm>
            <a:prstGeom prst="roundRect">
              <a:avLst>
                <a:gd name="adj" fmla="val 40000"/>
              </a:avLst>
            </a:prstGeom>
            <a:solidFill>
              <a:srgbClr val="0B57D0"/>
            </a:solidFill>
            <a:ln>
              <a:noFill/>
            </a:ln>
          </p:spPr>
        </p:sp>
        <p:sp>
          <p:nvSpPr>
            <p:cNvPr id="54" name="TextBox 54"/>
            <p:cNvSpPr txBox="1"/>
            <p:nvPr/>
          </p:nvSpPr>
          <p:spPr>
            <a:xfrm>
              <a:off x="1300163" y="2975769"/>
              <a:ext cx="765175" cy="18415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00" b="1" dirty="0">
                  <a:solidFill>
                    <a:srgbClr val="FFFFFF"/>
                  </a:solidFill>
                  <a:latin typeface="MiSans Normal" panose="00000500000000000000" charset="-122"/>
                  <a:ea typeface="MiSans Normal" panose="00000500000000000000" charset="-122"/>
                  <a:cs typeface="等线" panose="02010600030101010101" charset="-122"/>
                </a:rPr>
                <a:t>蓝小心空间</a:t>
              </a:r>
              <a:endParaRPr lang="zh-CN" sz="1200" b="1" dirty="0">
                <a:solidFill>
                  <a:srgbClr val="FFFFFF"/>
                </a:solidFill>
                <a:latin typeface="MiSans Normal" panose="00000500000000000000" charset="-122"/>
                <a:ea typeface="MiSans Normal" panose="00000500000000000000" charset="-122"/>
                <a:cs typeface="等线" panose="02010600030101010101" charset="-122"/>
              </a:endParaRPr>
            </a:p>
          </p:txBody>
        </p:sp>
        <p:sp>
          <p:nvSpPr>
            <p:cNvPr id="55" name="Rectangle 55"/>
            <p:cNvSpPr/>
            <p:nvPr/>
          </p:nvSpPr>
          <p:spPr>
            <a:xfrm>
              <a:off x="1009650" y="3429000"/>
              <a:ext cx="1352550" cy="1390650"/>
            </a:xfrm>
            <a:prstGeom prst="roundRect">
              <a:avLst>
                <a:gd name="adj" fmla="val 9859"/>
              </a:avLst>
            </a:prstGeom>
            <a:solidFill>
              <a:srgbClr val="F8FCFF"/>
            </a:solidFill>
            <a:ln w="9525">
              <a:solidFill>
                <a:srgbClr val="C9E4FF"/>
              </a:solidFill>
              <a:custDash>
                <a:ds d="500000" sp="500000"/>
              </a:custDash>
            </a:ln>
          </p:spPr>
        </p:sp>
        <p:sp>
          <p:nvSpPr>
            <p:cNvPr id="56" name="TextBox 56"/>
            <p:cNvSpPr txBox="1"/>
            <p:nvPr/>
          </p:nvSpPr>
          <p:spPr>
            <a:xfrm>
              <a:off x="1622427" y="3830002"/>
              <a:ext cx="127000" cy="1612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endParaRPr lang="zh-CN" sz="1050" b="1" dirty="0">
                <a:solidFill>
                  <a:srgbClr val="0B57D0"/>
                </a:solidFill>
                <a:latin typeface="等线" panose="02010600030101010101" charset="-122"/>
                <a:ea typeface="微软雅黑" panose="020B0503020204020204" charset="-122"/>
                <a:cs typeface="等线" panose="02010600030101010101" charset="-122"/>
              </a:endParaRPr>
            </a:p>
          </p:txBody>
        </p:sp>
        <p:sp>
          <p:nvSpPr>
            <p:cNvPr id="57" name="TextBox 57"/>
            <p:cNvSpPr txBox="1"/>
            <p:nvPr/>
          </p:nvSpPr>
          <p:spPr>
            <a:xfrm>
              <a:off x="1017270" y="4893945"/>
              <a:ext cx="127000" cy="13843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endParaRPr lang="zh-CN" sz="900" dirty="0">
                <a:solidFill>
                  <a:srgbClr val="51677F"/>
                </a:solidFill>
                <a:latin typeface="等线" panose="02010600030101010101" charset="-122"/>
                <a:ea typeface="微软雅黑" panose="020B0503020204020204" charset="-122"/>
                <a:cs typeface="等线" panose="02010600030101010101" charset="-122"/>
              </a:endParaRPr>
            </a:p>
          </p:txBody>
        </p:sp>
        <p:sp>
          <p:nvSpPr>
            <p:cNvPr id="58" name="TextBox 58"/>
            <p:cNvSpPr txBox="1"/>
            <p:nvPr/>
          </p:nvSpPr>
          <p:spPr>
            <a:xfrm>
              <a:off x="1017270" y="5065395"/>
              <a:ext cx="127000" cy="13843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endParaRPr lang="zh-CN" sz="900" dirty="0">
                <a:solidFill>
                  <a:srgbClr val="51677F"/>
                </a:solidFill>
                <a:latin typeface="等线" panose="02010600030101010101" charset="-122"/>
                <a:ea typeface="微软雅黑" panose="020B0503020204020204" charset="-122"/>
                <a:cs typeface="等线" panose="02010600030101010101" charset="-122"/>
              </a:endParaRPr>
            </a:p>
          </p:txBody>
        </p:sp>
        <p:sp>
          <p:nvSpPr>
            <p:cNvPr id="59" name="Rectangle 59"/>
            <p:cNvSpPr/>
            <p:nvPr/>
          </p:nvSpPr>
          <p:spPr>
            <a:xfrm>
              <a:off x="2952750" y="2686050"/>
              <a:ext cx="1809750" cy="2895600"/>
            </a:xfrm>
            <a:prstGeom prst="roundRect">
              <a:avLst>
                <a:gd name="adj" fmla="val 13684"/>
              </a:avLst>
            </a:prstGeom>
            <a:solidFill>
              <a:srgbClr val="082044"/>
            </a:solidFill>
            <a:ln>
              <a:noFill/>
            </a:ln>
          </p:spPr>
        </p:sp>
        <p:sp>
          <p:nvSpPr>
            <p:cNvPr id="60" name="Rectangle 60"/>
            <p:cNvSpPr/>
            <p:nvPr/>
          </p:nvSpPr>
          <p:spPr>
            <a:xfrm>
              <a:off x="3028950" y="2762250"/>
              <a:ext cx="1657350" cy="2743200"/>
            </a:xfrm>
            <a:prstGeom prst="roundRect">
              <a:avLst>
                <a:gd name="adj" fmla="val 12069"/>
              </a:avLst>
            </a:prstGeom>
            <a:solidFill>
              <a:srgbClr val="FFFFFF"/>
            </a:solidFill>
            <a:ln>
              <a:noFill/>
            </a:ln>
          </p:spPr>
        </p:sp>
        <p:sp>
          <p:nvSpPr>
            <p:cNvPr id="61" name="Rectangle 61"/>
            <p:cNvSpPr/>
            <p:nvPr/>
          </p:nvSpPr>
          <p:spPr>
            <a:xfrm>
              <a:off x="3162300" y="2914650"/>
              <a:ext cx="1390650" cy="285750"/>
            </a:xfrm>
            <a:prstGeom prst="roundRect">
              <a:avLst>
                <a:gd name="adj" fmla="val 40000"/>
              </a:avLst>
            </a:prstGeom>
            <a:solidFill>
              <a:srgbClr val="26A7FF"/>
            </a:solidFill>
            <a:ln>
              <a:noFill/>
            </a:ln>
          </p:spPr>
        </p:sp>
        <p:sp>
          <p:nvSpPr>
            <p:cNvPr id="62" name="TextBox 62"/>
            <p:cNvSpPr txBox="1"/>
            <p:nvPr/>
          </p:nvSpPr>
          <p:spPr>
            <a:xfrm>
              <a:off x="3551238" y="2975769"/>
              <a:ext cx="612140" cy="18415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00" b="1" dirty="0">
                  <a:solidFill>
                    <a:srgbClr val="FFFFFF"/>
                  </a:solidFill>
                  <a:latin typeface="MiSans Normal" panose="00000500000000000000" charset="-122"/>
                  <a:ea typeface="MiSans Normal" panose="00000500000000000000" charset="-122"/>
                  <a:cs typeface="等线" panose="02010600030101010101" charset="-122"/>
                </a:rPr>
                <a:t>记忆列表</a:t>
              </a:r>
              <a:endParaRPr lang="zh-CN" sz="1200" b="1" dirty="0">
                <a:solidFill>
                  <a:srgbClr val="FFFFFF"/>
                </a:solidFill>
                <a:latin typeface="MiSans Normal" panose="00000500000000000000" charset="-122"/>
                <a:ea typeface="MiSans Normal" panose="00000500000000000000" charset="-122"/>
                <a:cs typeface="等线" panose="02010600030101010101" charset="-122"/>
              </a:endParaRPr>
            </a:p>
          </p:txBody>
        </p:sp>
        <p:sp>
          <p:nvSpPr>
            <p:cNvPr id="63" name="Rectangle 63"/>
            <p:cNvSpPr/>
            <p:nvPr/>
          </p:nvSpPr>
          <p:spPr>
            <a:xfrm>
              <a:off x="3181350" y="3429000"/>
              <a:ext cx="1352550" cy="1390650"/>
            </a:xfrm>
            <a:prstGeom prst="roundRect">
              <a:avLst>
                <a:gd name="adj" fmla="val 9859"/>
              </a:avLst>
            </a:prstGeom>
            <a:solidFill>
              <a:srgbClr val="F8FCFF"/>
            </a:solidFill>
            <a:ln w="9525">
              <a:solidFill>
                <a:srgbClr val="C9E4FF"/>
              </a:solidFill>
              <a:custDash>
                <a:ds d="500000" sp="500000"/>
              </a:custDash>
            </a:ln>
          </p:spPr>
        </p:sp>
        <p:sp>
          <p:nvSpPr>
            <p:cNvPr id="64" name="TextBox 64"/>
            <p:cNvSpPr txBox="1"/>
            <p:nvPr/>
          </p:nvSpPr>
          <p:spPr>
            <a:xfrm>
              <a:off x="3794126" y="3830002"/>
              <a:ext cx="127000" cy="1612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endParaRPr lang="zh-CN" sz="1050" b="1" dirty="0">
                <a:solidFill>
                  <a:srgbClr val="0B57D0"/>
                </a:solidFill>
                <a:latin typeface="等线" panose="02010600030101010101" charset="-122"/>
                <a:ea typeface="微软雅黑" panose="020B0503020204020204" charset="-122"/>
                <a:cs typeface="等线" panose="02010600030101010101" charset="-122"/>
              </a:endParaRPr>
            </a:p>
          </p:txBody>
        </p:sp>
        <p:sp>
          <p:nvSpPr>
            <p:cNvPr id="67" name="Rectangle 67"/>
            <p:cNvSpPr/>
            <p:nvPr/>
          </p:nvSpPr>
          <p:spPr>
            <a:xfrm>
              <a:off x="5124450" y="2686050"/>
              <a:ext cx="1809750" cy="2895600"/>
            </a:xfrm>
            <a:prstGeom prst="roundRect">
              <a:avLst>
                <a:gd name="adj" fmla="val 13684"/>
              </a:avLst>
            </a:prstGeom>
            <a:solidFill>
              <a:srgbClr val="082044"/>
            </a:solidFill>
            <a:ln>
              <a:noFill/>
            </a:ln>
          </p:spPr>
        </p:sp>
        <p:sp>
          <p:nvSpPr>
            <p:cNvPr id="68" name="Rectangle 68"/>
            <p:cNvSpPr/>
            <p:nvPr/>
          </p:nvSpPr>
          <p:spPr>
            <a:xfrm>
              <a:off x="5200650" y="2762250"/>
              <a:ext cx="1657350" cy="2743200"/>
            </a:xfrm>
            <a:prstGeom prst="roundRect">
              <a:avLst>
                <a:gd name="adj" fmla="val 12069"/>
              </a:avLst>
            </a:prstGeom>
            <a:solidFill>
              <a:srgbClr val="FFFFFF"/>
            </a:solidFill>
            <a:ln>
              <a:noFill/>
            </a:ln>
          </p:spPr>
        </p:sp>
        <p:sp>
          <p:nvSpPr>
            <p:cNvPr id="69" name="Rectangle 69"/>
            <p:cNvSpPr/>
            <p:nvPr/>
          </p:nvSpPr>
          <p:spPr>
            <a:xfrm>
              <a:off x="5334000" y="2914650"/>
              <a:ext cx="1390650" cy="285750"/>
            </a:xfrm>
            <a:prstGeom prst="roundRect">
              <a:avLst>
                <a:gd name="adj" fmla="val 40000"/>
              </a:avLst>
            </a:prstGeom>
            <a:solidFill>
              <a:srgbClr val="00D4FF"/>
            </a:solidFill>
            <a:ln>
              <a:noFill/>
            </a:ln>
          </p:spPr>
        </p:sp>
        <p:sp>
          <p:nvSpPr>
            <p:cNvPr id="70" name="TextBox 70"/>
            <p:cNvSpPr txBox="1"/>
            <p:nvPr/>
          </p:nvSpPr>
          <p:spPr>
            <a:xfrm>
              <a:off x="5646103" y="2975769"/>
              <a:ext cx="765175" cy="18415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00" b="1" dirty="0">
                  <a:solidFill>
                    <a:srgbClr val="FFFFFF"/>
                  </a:solidFill>
                  <a:latin typeface="MiSans Normal" panose="00000500000000000000" charset="-122"/>
                  <a:ea typeface="MiSans Normal" panose="00000500000000000000" charset="-122"/>
                  <a:cs typeface="等线" panose="02010600030101010101" charset="-122"/>
                </a:rPr>
                <a:t>重庆两日游</a:t>
              </a:r>
              <a:endParaRPr lang="zh-CN" sz="1200" b="1" dirty="0">
                <a:solidFill>
                  <a:srgbClr val="FFFFFF"/>
                </a:solidFill>
                <a:latin typeface="MiSans Normal" panose="00000500000000000000" charset="-122"/>
                <a:ea typeface="MiSans Normal" panose="00000500000000000000" charset="-122"/>
                <a:cs typeface="等线" panose="02010600030101010101" charset="-122"/>
              </a:endParaRPr>
            </a:p>
          </p:txBody>
        </p:sp>
        <p:sp>
          <p:nvSpPr>
            <p:cNvPr id="71" name="Rectangle 71"/>
            <p:cNvSpPr/>
            <p:nvPr/>
          </p:nvSpPr>
          <p:spPr>
            <a:xfrm>
              <a:off x="5353050" y="3429000"/>
              <a:ext cx="1352550" cy="1390650"/>
            </a:xfrm>
            <a:prstGeom prst="roundRect">
              <a:avLst>
                <a:gd name="adj" fmla="val 9859"/>
              </a:avLst>
            </a:prstGeom>
            <a:solidFill>
              <a:srgbClr val="F8FCFF"/>
            </a:solidFill>
            <a:ln w="9525">
              <a:solidFill>
                <a:srgbClr val="C9E4FF"/>
              </a:solidFill>
              <a:custDash>
                <a:ds d="500000" sp="500000"/>
              </a:custDash>
            </a:ln>
          </p:spPr>
        </p:sp>
        <p:sp>
          <p:nvSpPr>
            <p:cNvPr id="72" name="TextBox 72"/>
            <p:cNvSpPr txBox="1"/>
            <p:nvPr/>
          </p:nvSpPr>
          <p:spPr>
            <a:xfrm>
              <a:off x="5965827" y="3830002"/>
              <a:ext cx="127000" cy="1612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endParaRPr lang="zh-CN" sz="1050" b="1" dirty="0">
                <a:solidFill>
                  <a:srgbClr val="0B57D0"/>
                </a:solidFill>
                <a:latin typeface="等线" panose="02010600030101010101" charset="-122"/>
                <a:ea typeface="微软雅黑" panose="020B0503020204020204" charset="-122"/>
                <a:cs typeface="等线" panose="02010600030101010101" charset="-122"/>
              </a:endParaRPr>
            </a:p>
          </p:txBody>
        </p:sp>
        <p:sp>
          <p:nvSpPr>
            <p:cNvPr id="75" name="Rectangle 75"/>
            <p:cNvSpPr/>
            <p:nvPr/>
          </p:nvSpPr>
          <p:spPr>
            <a:xfrm>
              <a:off x="7296150" y="2686050"/>
              <a:ext cx="1809750" cy="2895600"/>
            </a:xfrm>
            <a:prstGeom prst="roundRect">
              <a:avLst>
                <a:gd name="adj" fmla="val 13684"/>
              </a:avLst>
            </a:prstGeom>
            <a:solidFill>
              <a:srgbClr val="082044"/>
            </a:solidFill>
            <a:ln>
              <a:noFill/>
            </a:ln>
          </p:spPr>
        </p:sp>
        <p:sp>
          <p:nvSpPr>
            <p:cNvPr id="76" name="Rectangle 76"/>
            <p:cNvSpPr/>
            <p:nvPr/>
          </p:nvSpPr>
          <p:spPr>
            <a:xfrm>
              <a:off x="7372350" y="2762250"/>
              <a:ext cx="1657350" cy="2743200"/>
            </a:xfrm>
            <a:prstGeom prst="roundRect">
              <a:avLst>
                <a:gd name="adj" fmla="val 12069"/>
              </a:avLst>
            </a:prstGeom>
            <a:solidFill>
              <a:srgbClr val="FFFFFF"/>
            </a:solidFill>
            <a:ln>
              <a:noFill/>
            </a:ln>
          </p:spPr>
        </p:sp>
        <p:sp>
          <p:nvSpPr>
            <p:cNvPr id="77" name="Rectangle 77"/>
            <p:cNvSpPr/>
            <p:nvPr/>
          </p:nvSpPr>
          <p:spPr>
            <a:xfrm>
              <a:off x="7505700" y="2914650"/>
              <a:ext cx="1390650" cy="285750"/>
            </a:xfrm>
            <a:prstGeom prst="roundRect">
              <a:avLst>
                <a:gd name="adj" fmla="val 40000"/>
              </a:avLst>
            </a:prstGeom>
            <a:solidFill>
              <a:srgbClr val="0B57D0"/>
            </a:solidFill>
            <a:ln>
              <a:noFill/>
            </a:ln>
          </p:spPr>
        </p:sp>
        <p:sp>
          <p:nvSpPr>
            <p:cNvPr id="78" name="TextBox 78"/>
            <p:cNvSpPr txBox="1"/>
            <p:nvPr/>
          </p:nvSpPr>
          <p:spPr>
            <a:xfrm>
              <a:off x="7894638" y="2975769"/>
              <a:ext cx="612140" cy="18415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00" b="1" dirty="0">
                  <a:solidFill>
                    <a:srgbClr val="FFFFFF"/>
                  </a:solidFill>
                  <a:latin typeface="MiSans Normal" panose="00000500000000000000" charset="-122"/>
                  <a:ea typeface="MiSans Normal" panose="00000500000000000000" charset="-122"/>
                  <a:cs typeface="等线" panose="02010600030101010101" charset="-122"/>
                </a:rPr>
                <a:t>主动提醒</a:t>
              </a:r>
              <a:endParaRPr lang="zh-CN" sz="1200" b="1" dirty="0">
                <a:solidFill>
                  <a:srgbClr val="FFFFFF"/>
                </a:solidFill>
                <a:latin typeface="MiSans Normal" panose="00000500000000000000" charset="-122"/>
                <a:ea typeface="MiSans Normal" panose="00000500000000000000" charset="-122"/>
                <a:cs typeface="等线" panose="02010600030101010101" charset="-122"/>
              </a:endParaRPr>
            </a:p>
          </p:txBody>
        </p:sp>
        <p:sp>
          <p:nvSpPr>
            <p:cNvPr id="79" name="Rectangle 79"/>
            <p:cNvSpPr/>
            <p:nvPr/>
          </p:nvSpPr>
          <p:spPr>
            <a:xfrm>
              <a:off x="7524750" y="3429000"/>
              <a:ext cx="1352550" cy="1390650"/>
            </a:xfrm>
            <a:prstGeom prst="roundRect">
              <a:avLst>
                <a:gd name="adj" fmla="val 9859"/>
              </a:avLst>
            </a:prstGeom>
            <a:solidFill>
              <a:srgbClr val="F8FCFF"/>
            </a:solidFill>
            <a:ln w="9525">
              <a:solidFill>
                <a:srgbClr val="C9E4FF"/>
              </a:solidFill>
              <a:custDash>
                <a:ds d="500000" sp="500000"/>
              </a:custDash>
            </a:ln>
          </p:spPr>
        </p:sp>
        <p:sp>
          <p:nvSpPr>
            <p:cNvPr id="80" name="TextBox 80"/>
            <p:cNvSpPr txBox="1"/>
            <p:nvPr/>
          </p:nvSpPr>
          <p:spPr>
            <a:xfrm>
              <a:off x="8137527" y="3830002"/>
              <a:ext cx="127000" cy="1612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endParaRPr lang="zh-CN" sz="1050" b="1" dirty="0">
                <a:solidFill>
                  <a:srgbClr val="0B57D0"/>
                </a:solidFill>
                <a:latin typeface="等线" panose="02010600030101010101" charset="-122"/>
                <a:ea typeface="微软雅黑" panose="020B0503020204020204" charset="-122"/>
                <a:cs typeface="等线" panose="02010600030101010101" charset="-122"/>
              </a:endParaRPr>
            </a:p>
          </p:txBody>
        </p:sp>
        <p:sp>
          <p:nvSpPr>
            <p:cNvPr id="81" name="TextBox 81"/>
            <p:cNvSpPr txBox="1"/>
            <p:nvPr/>
          </p:nvSpPr>
          <p:spPr>
            <a:xfrm>
              <a:off x="7532370" y="4893945"/>
              <a:ext cx="127000" cy="13843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endParaRPr lang="zh-CN" sz="900" dirty="0">
                <a:solidFill>
                  <a:srgbClr val="51677F"/>
                </a:solidFill>
                <a:latin typeface="等线" panose="02010600030101010101" charset="-122"/>
                <a:ea typeface="微软雅黑" panose="020B0503020204020204" charset="-122"/>
                <a:cs typeface="等线" panose="02010600030101010101" charset="-122"/>
              </a:endParaRPr>
            </a:p>
          </p:txBody>
        </p:sp>
        <p:sp>
          <p:nvSpPr>
            <p:cNvPr id="83" name="Rectangle 83"/>
            <p:cNvSpPr/>
            <p:nvPr/>
          </p:nvSpPr>
          <p:spPr>
            <a:xfrm>
              <a:off x="9467850" y="2686050"/>
              <a:ext cx="1809750" cy="2895600"/>
            </a:xfrm>
            <a:prstGeom prst="roundRect">
              <a:avLst>
                <a:gd name="adj" fmla="val 13684"/>
              </a:avLst>
            </a:prstGeom>
            <a:solidFill>
              <a:srgbClr val="082044"/>
            </a:solidFill>
            <a:ln>
              <a:noFill/>
            </a:ln>
          </p:spPr>
        </p:sp>
        <p:sp>
          <p:nvSpPr>
            <p:cNvPr id="84" name="Rectangle 84"/>
            <p:cNvSpPr/>
            <p:nvPr/>
          </p:nvSpPr>
          <p:spPr>
            <a:xfrm>
              <a:off x="9544050" y="2762250"/>
              <a:ext cx="1657350" cy="2743200"/>
            </a:xfrm>
            <a:prstGeom prst="roundRect">
              <a:avLst>
                <a:gd name="adj" fmla="val 12069"/>
              </a:avLst>
            </a:prstGeom>
            <a:solidFill>
              <a:srgbClr val="FFFFFF"/>
            </a:solidFill>
            <a:ln>
              <a:noFill/>
            </a:ln>
          </p:spPr>
        </p:sp>
        <p:sp>
          <p:nvSpPr>
            <p:cNvPr id="85" name="Rectangle 85"/>
            <p:cNvSpPr/>
            <p:nvPr/>
          </p:nvSpPr>
          <p:spPr>
            <a:xfrm>
              <a:off x="9677400" y="2914650"/>
              <a:ext cx="1390650" cy="285750"/>
            </a:xfrm>
            <a:prstGeom prst="roundRect">
              <a:avLst>
                <a:gd name="adj" fmla="val 40000"/>
              </a:avLst>
            </a:prstGeom>
            <a:solidFill>
              <a:srgbClr val="26A7FF"/>
            </a:solidFill>
            <a:ln>
              <a:noFill/>
            </a:ln>
          </p:spPr>
        </p:sp>
        <p:sp>
          <p:nvSpPr>
            <p:cNvPr id="86" name="TextBox 86"/>
            <p:cNvSpPr txBox="1"/>
            <p:nvPr/>
          </p:nvSpPr>
          <p:spPr>
            <a:xfrm>
              <a:off x="10093643" y="2975769"/>
              <a:ext cx="612140" cy="18415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00" b="1" dirty="0">
                  <a:solidFill>
                    <a:srgbClr val="FFFFFF"/>
                  </a:solidFill>
                  <a:latin typeface="MiSans Normal" panose="00000500000000000000" charset="-122"/>
                  <a:ea typeface="MiSans Normal" panose="00000500000000000000" charset="-122"/>
                  <a:cs typeface="等线" panose="02010600030101010101" charset="-122"/>
                </a:rPr>
                <a:t>旅行复盘</a:t>
              </a:r>
              <a:endParaRPr lang="zh-CN" sz="1200" b="1" dirty="0">
                <a:solidFill>
                  <a:srgbClr val="FFFFFF"/>
                </a:solidFill>
                <a:latin typeface="MiSans Normal" panose="00000500000000000000" charset="-122"/>
                <a:ea typeface="MiSans Normal" panose="00000500000000000000" charset="-122"/>
                <a:cs typeface="等线" panose="02010600030101010101" charset="-122"/>
              </a:endParaRPr>
            </a:p>
          </p:txBody>
        </p:sp>
        <p:sp>
          <p:nvSpPr>
            <p:cNvPr id="87" name="Rectangle 87"/>
            <p:cNvSpPr/>
            <p:nvPr/>
          </p:nvSpPr>
          <p:spPr>
            <a:xfrm>
              <a:off x="9696450" y="3429000"/>
              <a:ext cx="1352550" cy="1390650"/>
            </a:xfrm>
            <a:prstGeom prst="roundRect">
              <a:avLst>
                <a:gd name="adj" fmla="val 9859"/>
              </a:avLst>
            </a:prstGeom>
            <a:solidFill>
              <a:srgbClr val="F8FCFF"/>
            </a:solidFill>
            <a:ln w="9525">
              <a:solidFill>
                <a:srgbClr val="C9E4FF"/>
              </a:solidFill>
              <a:custDash>
                <a:ds d="500000" sp="500000"/>
              </a:custDash>
            </a:ln>
          </p:spPr>
        </p:sp>
        <p:sp>
          <p:nvSpPr>
            <p:cNvPr id="88" name="TextBox 88"/>
            <p:cNvSpPr txBox="1"/>
            <p:nvPr/>
          </p:nvSpPr>
          <p:spPr>
            <a:xfrm>
              <a:off x="10309227" y="3830002"/>
              <a:ext cx="127000" cy="1612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endParaRPr lang="zh-CN" sz="1050" b="1" dirty="0">
                <a:solidFill>
                  <a:srgbClr val="0B57D0"/>
                </a:solidFill>
                <a:latin typeface="等线" panose="02010600030101010101" charset="-122"/>
                <a:ea typeface="微软雅黑" panose="020B0503020204020204" charset="-122"/>
                <a:cs typeface="等线" panose="02010600030101010101" charset="-122"/>
              </a:endParaRPr>
            </a:p>
          </p:txBody>
        </p:sp>
        <p:sp>
          <p:nvSpPr>
            <p:cNvPr id="91" name="Rectangle 91"/>
            <p:cNvSpPr/>
            <p:nvPr/>
          </p:nvSpPr>
          <p:spPr>
            <a:xfrm>
              <a:off x="762000" y="5905500"/>
              <a:ext cx="10020300" cy="514350"/>
            </a:xfrm>
            <a:prstGeom prst="roundRect">
              <a:avLst>
                <a:gd name="adj" fmla="val 29630"/>
              </a:avLst>
            </a:prstGeom>
            <a:solidFill>
              <a:srgbClr val="0B57D0">
                <a:alpha val="5000"/>
              </a:srgbClr>
            </a:solidFill>
            <a:ln>
              <a:noFill/>
            </a:ln>
          </p:spPr>
        </p:sp>
        <p:sp>
          <p:nvSpPr>
            <p:cNvPr id="92" name="Rectangle 92"/>
            <p:cNvSpPr/>
            <p:nvPr/>
          </p:nvSpPr>
          <p:spPr>
            <a:xfrm>
              <a:off x="685800" y="5810250"/>
              <a:ext cx="10020300" cy="514350"/>
            </a:xfrm>
            <a:prstGeom prst="roundRect">
              <a:avLst>
                <a:gd name="adj" fmla="val 29630"/>
              </a:avLst>
            </a:prstGeom>
            <a:solidFill>
              <a:srgbClr val="FFFFFF"/>
            </a:solidFill>
            <a:ln w="11430">
              <a:solidFill>
                <a:srgbClr val="BFD9F4"/>
              </a:solidFill>
            </a:ln>
          </p:spPr>
        </p:sp>
        <p:sp>
          <p:nvSpPr>
            <p:cNvPr id="93" name="Line 93"/>
            <p:cNvSpPr/>
            <p:nvPr/>
          </p:nvSpPr>
          <p:spPr>
            <a:xfrm>
              <a:off x="857250" y="5819775"/>
              <a:ext cx="1238250" cy="9525"/>
            </a:xfrm>
            <a:custGeom>
              <a:avLst/>
              <a:gdLst/>
              <a:ahLst/>
              <a:cxnLst/>
              <a:rect l="l" t="t" r="r" b="b"/>
              <a:pathLst>
                <a:path w="1238250" h="9525">
                  <a:moveTo>
                    <a:pt x="0" y="0"/>
                  </a:moveTo>
                  <a:lnTo>
                    <a:pt x="1238250" y="0"/>
                  </a:lnTo>
                </a:path>
              </a:pathLst>
            </a:custGeom>
            <a:noFill/>
            <a:ln w="19050">
              <a:solidFill>
                <a:srgbClr val="26A7FF">
                  <a:alpha val="90000"/>
                </a:srgbClr>
              </a:solidFill>
            </a:ln>
          </p:spPr>
        </p:sp>
        <p:sp>
          <p:nvSpPr>
            <p:cNvPr id="94" name="Freeform 94"/>
            <p:cNvSpPr/>
            <p:nvPr/>
          </p:nvSpPr>
          <p:spPr>
            <a:xfrm>
              <a:off x="930274" y="5995985"/>
              <a:ext cx="158751" cy="142878"/>
            </a:xfrm>
            <a:custGeom>
              <a:avLst/>
              <a:gdLst/>
              <a:ahLst/>
              <a:cxnLst/>
              <a:rect l="l" t="t" r="r" b="b"/>
              <a:pathLst>
                <a:path w="158751" h="142878">
                  <a:moveTo>
                    <a:pt x="103188" y="3"/>
                  </a:moveTo>
                  <a:cubicBezTo>
                    <a:pt x="111496" y="0"/>
                    <a:pt x="118400" y="6403"/>
                    <a:pt x="119024" y="14687"/>
                  </a:cubicBezTo>
                  <a:lnTo>
                    <a:pt x="119063" y="15878"/>
                  </a:lnTo>
                  <a:cubicBezTo>
                    <a:pt x="119064" y="19902"/>
                    <a:pt x="122076" y="23289"/>
                    <a:pt x="126072" y="23760"/>
                  </a:cubicBezTo>
                  <a:lnTo>
                    <a:pt x="127001" y="23815"/>
                  </a:lnTo>
                  <a:lnTo>
                    <a:pt x="134938" y="23815"/>
                  </a:lnTo>
                  <a:cubicBezTo>
                    <a:pt x="147547" y="23814"/>
                    <a:pt x="157971" y="33643"/>
                    <a:pt x="158711" y="46231"/>
                  </a:cubicBezTo>
                  <a:lnTo>
                    <a:pt x="158751" y="47628"/>
                  </a:lnTo>
                  <a:lnTo>
                    <a:pt x="158751" y="119065"/>
                  </a:lnTo>
                  <a:cubicBezTo>
                    <a:pt x="158751" y="131674"/>
                    <a:pt x="148923" y="142098"/>
                    <a:pt x="136335" y="142838"/>
                  </a:cubicBezTo>
                  <a:lnTo>
                    <a:pt x="134938" y="142878"/>
                  </a:lnTo>
                  <a:lnTo>
                    <a:pt x="23813" y="142878"/>
                  </a:lnTo>
                  <a:cubicBezTo>
                    <a:pt x="11204" y="142878"/>
                    <a:pt x="780" y="133050"/>
                    <a:pt x="40" y="120462"/>
                  </a:cubicBezTo>
                  <a:lnTo>
                    <a:pt x="1" y="119065"/>
                  </a:lnTo>
                  <a:lnTo>
                    <a:pt x="1" y="47628"/>
                  </a:lnTo>
                  <a:cubicBezTo>
                    <a:pt x="0" y="35018"/>
                    <a:pt x="9829" y="24595"/>
                    <a:pt x="22416" y="23855"/>
                  </a:cubicBezTo>
                  <a:lnTo>
                    <a:pt x="23813" y="23815"/>
                  </a:lnTo>
                  <a:lnTo>
                    <a:pt x="31751" y="23815"/>
                  </a:lnTo>
                  <a:cubicBezTo>
                    <a:pt x="36134" y="23815"/>
                    <a:pt x="39688" y="20261"/>
                    <a:pt x="39688" y="15878"/>
                  </a:cubicBezTo>
                  <a:cubicBezTo>
                    <a:pt x="39686" y="7570"/>
                    <a:pt x="46088" y="665"/>
                    <a:pt x="54373" y="42"/>
                  </a:cubicBezTo>
                  <a:lnTo>
                    <a:pt x="55563" y="3"/>
                  </a:lnTo>
                  <a:lnTo>
                    <a:pt x="103188" y="3"/>
                  </a:lnTo>
                  <a:close/>
                  <a:moveTo>
                    <a:pt x="79376" y="55565"/>
                  </a:moveTo>
                  <a:cubicBezTo>
                    <a:pt x="67152" y="55564"/>
                    <a:pt x="56913" y="64819"/>
                    <a:pt x="55682" y="76981"/>
                  </a:cubicBezTo>
                  <a:lnTo>
                    <a:pt x="55595" y="78187"/>
                  </a:lnTo>
                  <a:lnTo>
                    <a:pt x="55563" y="79378"/>
                  </a:lnTo>
                  <a:lnTo>
                    <a:pt x="55595" y="80568"/>
                  </a:lnTo>
                  <a:cubicBezTo>
                    <a:pt x="56245" y="93549"/>
                    <a:pt x="67183" y="103611"/>
                    <a:pt x="80172" y="103177"/>
                  </a:cubicBezTo>
                  <a:cubicBezTo>
                    <a:pt x="93162" y="102743"/>
                    <a:pt x="103404" y="91974"/>
                    <a:pt x="103187" y="78979"/>
                  </a:cubicBezTo>
                  <a:cubicBezTo>
                    <a:pt x="102969" y="65984"/>
                    <a:pt x="92372" y="55564"/>
                    <a:pt x="79376" y="55565"/>
                  </a:cubicBezTo>
                  <a:close/>
                </a:path>
              </a:pathLst>
            </a:custGeom>
            <a:solidFill>
              <a:srgbClr val="0B57D0"/>
            </a:solidFill>
            <a:ln>
              <a:noFill/>
            </a:ln>
          </p:spPr>
        </p:sp>
        <p:sp>
          <p:nvSpPr>
            <p:cNvPr id="95" name="TextBox 95"/>
            <p:cNvSpPr txBox="1"/>
            <p:nvPr/>
          </p:nvSpPr>
          <p:spPr>
            <a:xfrm>
              <a:off x="1202055" y="5997892"/>
              <a:ext cx="688340" cy="207645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b="1" dirty="0">
                  <a:solidFill>
                    <a:srgbClr val="102033"/>
                  </a:solidFill>
                  <a:latin typeface="MiSans Normal" panose="00000500000000000000" charset="-122"/>
                  <a:ea typeface="MiSans Normal" panose="00000500000000000000" charset="-122"/>
                  <a:cs typeface="等线" panose="02010600030101010101" charset="-122"/>
                </a:rPr>
                <a:t>展示重点</a:t>
              </a:r>
              <a:endParaRPr lang="zh-CN" sz="1350" b="1" dirty="0">
                <a:solidFill>
                  <a:srgbClr val="102033"/>
                </a:solidFill>
                <a:latin typeface="MiSans Normal" panose="00000500000000000000" charset="-122"/>
                <a:ea typeface="MiSans Normal" panose="00000500000000000000" charset="-122"/>
                <a:cs typeface="等线" panose="02010600030101010101" charset="-122"/>
              </a:endParaRPr>
            </a:p>
          </p:txBody>
        </p:sp>
        <p:sp>
          <p:nvSpPr>
            <p:cNvPr id="96" name="TextBox 96"/>
            <p:cNvSpPr txBox="1"/>
            <p:nvPr/>
          </p:nvSpPr>
          <p:spPr>
            <a:xfrm>
              <a:off x="2308542" y="5961221"/>
              <a:ext cx="8128000" cy="245745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600" dirty="0">
                  <a:solidFill>
                    <a:srgbClr val="51677F"/>
                  </a:solidFill>
                  <a:latin typeface="MiSans Normal" panose="00000500000000000000" charset="-122"/>
                  <a:ea typeface="MiSans Normal" panose="00000500000000000000" charset="-122"/>
                  <a:cs typeface="等线" panose="02010600030101010101" charset="-122"/>
                </a:rPr>
                <a:t>首页展示蓝小心；记忆页展示偏好资产；规划解释原因；提醒有触发条件；复盘沉淀记忆。</a:t>
              </a:r>
              <a:endParaRPr lang="zh-CN" sz="1600" dirty="0">
                <a:solidFill>
                  <a:srgbClr val="51677F"/>
                </a:solidFill>
                <a:latin typeface="MiSans Normal" panose="00000500000000000000" charset="-122"/>
                <a:ea typeface="MiSans Normal" panose="00000500000000000000" charset="-122"/>
                <a:cs typeface="等线" panose="02010600030101010101" charset="-122"/>
              </a:endParaRPr>
            </a:p>
          </p:txBody>
        </p:sp>
        <p:sp>
          <p:nvSpPr>
            <p:cNvPr id="97" name="TextBox 97"/>
            <p:cNvSpPr txBox="1"/>
            <p:nvPr/>
          </p:nvSpPr>
          <p:spPr>
            <a:xfrm>
              <a:off x="521970" y="6598920"/>
              <a:ext cx="2106263" cy="18288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00" dirty="0">
                  <a:solidFill>
                    <a:srgbClr val="8AA1B7"/>
                  </a:solidFill>
                  <a:latin typeface="等线" panose="02010600030101010101" charset="-122"/>
                  <a:ea typeface="微软雅黑" panose="020B0503020204020204" charset="-122"/>
                  <a:cs typeface="等线" panose="02010600030101010101" charset="-122"/>
                </a:rPr>
                <a:t>蓝心同行 | AIGC创新赛应用赛道初赛</a:t>
              </a:r>
              <a:endParaRPr lang="zh-CN" sz="900" dirty="0">
                <a:solidFill>
                  <a:srgbClr val="8AA1B7"/>
                </a:solidFill>
                <a:latin typeface="等线" panose="02010600030101010101" charset="-122"/>
                <a:ea typeface="微软雅黑" panose="020B0503020204020204" charset="-122"/>
                <a:cs typeface="等线" panose="02010600030101010101" charset="-122"/>
              </a:endParaRPr>
            </a:p>
          </p:txBody>
        </p:sp>
        <p:sp>
          <p:nvSpPr>
            <p:cNvPr id="98" name="TextBox 98"/>
            <p:cNvSpPr txBox="1"/>
            <p:nvPr/>
          </p:nvSpPr>
          <p:spPr>
            <a:xfrm>
              <a:off x="11464480" y="6598920"/>
              <a:ext cx="167449" cy="18288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r"/>
              <a:r>
                <a:rPr lang="zh-CN" sz="900" dirty="0">
                  <a:solidFill>
                    <a:srgbClr val="8AA1B7"/>
                  </a:solidFill>
                  <a:latin typeface="等线" panose="02010600030101010101" charset="-122"/>
                  <a:ea typeface="微软雅黑" panose="020B0503020204020204" charset="-122"/>
                  <a:cs typeface="等线" panose="02010600030101010101" charset="-122"/>
                </a:rPr>
                <a:t>05</a:t>
              </a:r>
              <a:endParaRPr lang="zh-CN" sz="900" dirty="0">
                <a:solidFill>
                  <a:srgbClr val="8AA1B7"/>
                </a:solidFill>
                <a:latin typeface="等线" panose="02010600030101010101" charset="-122"/>
                <a:ea typeface="微软雅黑" panose="020B0503020204020204" charset="-122"/>
                <a:cs typeface="等线" panose="02010600030101010101" charset="-122"/>
              </a:endParaRPr>
            </a:p>
          </p:txBody>
        </p:sp>
      </p:grpSp>
      <p:sp>
        <p:nvSpPr>
          <p:cNvPr id="105" name="Rectangle 104"/>
          <p:cNvSpPr/>
          <p:nvPr/>
        </p:nvSpPr>
        <p:spPr>
          <a:xfrm>
            <a:off x="420000" y="1450000"/>
            <a:ext cx="11370000" cy="5000000"/>
          </a:xfrm>
          <a:prstGeom prst="rect">
            <a:avLst/>
          </a:prstGeom>
          <a:solidFill>
            <a:srgbClr val="F8FB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6" name="Rounded Rectangle 105"/>
          <p:cNvSpPr/>
          <p:nvPr/>
        </p:nvSpPr>
        <p:spPr>
          <a:xfrm>
            <a:off x="495300" y="1545000"/>
            <a:ext cx="11353800" cy="79000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1E2F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7" name="Rectangle 106"/>
          <p:cNvSpPr/>
          <p:nvPr/>
        </p:nvSpPr>
        <p:spPr>
          <a:xfrm>
            <a:off x="590550" y="1625000"/>
            <a:ext cx="1250000" cy="9525"/>
          </a:xfrm>
          <a:prstGeom prst="rect">
            <a:avLst/>
          </a:prstGeom>
          <a:solidFill>
            <a:srgbClr val="0B57D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8" name="TextBox 107"/>
          <p:cNvSpPr txBox="1"/>
          <p:nvPr/>
        </p:nvSpPr>
        <p:spPr>
          <a:xfrm>
            <a:off x="762070" y="1784135"/>
            <a:ext cx="971550" cy="294640"/>
          </a:xfrm>
          <a:prstGeom prst="rect">
            <a:avLst/>
          </a:prstGeom>
          <a:noFill/>
        </p:spPr>
        <p:txBody>
          <a:bodyPr wrap="none" lIns="27432" tIns="9144" rIns="27432" bIns="9144">
            <a:spAutoFit/>
          </a:bodyPr>
          <a:lstStyle/>
          <a:p>
            <a:pPr algn="ctr"/>
            <a:r>
              <a:rPr b="1">
                <a:solidFill>
                  <a:srgbClr val="0B57D0"/>
                </a:solidFill>
                <a:latin typeface="金山云技术体" charset="-122"/>
                <a:ea typeface="金山云技术体" charset="-122"/>
              </a:rPr>
              <a:t>当前功能</a:t>
            </a:r>
            <a:endParaRPr b="1">
              <a:solidFill>
                <a:srgbClr val="0B57D0"/>
              </a:solidFill>
              <a:latin typeface="金山云技术体" charset="-122"/>
              <a:ea typeface="金山云技术体" charset="-122"/>
            </a:endParaRPr>
          </a:p>
        </p:txBody>
      </p:sp>
      <p:sp>
        <p:nvSpPr>
          <p:cNvPr id="109" name="TextBox 108"/>
          <p:cNvSpPr txBox="1"/>
          <p:nvPr/>
        </p:nvSpPr>
        <p:spPr>
          <a:xfrm>
            <a:off x="1900000" y="1815505"/>
            <a:ext cx="869950" cy="263525"/>
          </a:xfrm>
          <a:prstGeom prst="rect">
            <a:avLst/>
          </a:prstGeom>
          <a:noFill/>
        </p:spPr>
        <p:txBody>
          <a:bodyPr wrap="none" lIns="27432" tIns="9144" rIns="27432" bIns="9144">
            <a:spAutoFit/>
          </a:bodyPr>
          <a:lstStyle/>
          <a:p>
            <a:pPr algn="l"/>
            <a:r>
              <a:rPr sz="1600" b="1">
                <a:solidFill>
                  <a:srgbClr val="102033"/>
                </a:solidFill>
                <a:latin typeface="MiSans Normal" panose="00000500000000000000" charset="-122"/>
                <a:ea typeface="MiSans Normal" panose="00000500000000000000" charset="-122"/>
                <a:sym typeface="+mn-ea"/>
              </a:rPr>
              <a:t>主动提醒</a:t>
            </a:r>
            <a:endParaRPr lang="zh-CN" sz="1600" b="1">
              <a:solidFill>
                <a:srgbClr val="102033"/>
              </a:solidFill>
              <a:latin typeface="MiSans Normal" panose="00000500000000000000" charset="-122"/>
              <a:ea typeface="MiSans Normal" panose="00000500000000000000" charset="-122"/>
              <a:sym typeface="+mn-ea"/>
            </a:endParaRPr>
          </a:p>
        </p:txBody>
      </p:sp>
      <p:sp>
        <p:nvSpPr>
          <p:cNvPr id="123" name="Rectangle 122"/>
          <p:cNvSpPr/>
          <p:nvPr/>
        </p:nvSpPr>
        <p:spPr>
          <a:xfrm>
            <a:off x="11370000" y="6540000"/>
            <a:ext cx="420000" cy="260000"/>
          </a:xfrm>
          <a:prstGeom prst="rect">
            <a:avLst/>
          </a:prstGeom>
          <a:solidFill>
            <a:srgbClr val="F8FB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4" name="TextBox 123"/>
          <p:cNvSpPr txBox="1"/>
          <p:nvPr/>
        </p:nvSpPr>
        <p:spPr>
          <a:xfrm>
            <a:off x="11464480" y="6598920"/>
            <a:ext cx="167449" cy="182880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algn="l"/>
            <a:r>
              <a:rPr sz="900" b="0">
                <a:solidFill>
                  <a:srgbClr val="8AA1B7"/>
                </a:solidFill>
                <a:latin typeface="等线" panose="02010600030101010101" charset="-122"/>
              </a:rPr>
              <a:t>05</a:t>
            </a:r>
            <a:endParaRPr sz="900" b="0">
              <a:solidFill>
                <a:srgbClr val="8AA1B7"/>
              </a:solidFill>
              <a:latin typeface="等线" panose="02010600030101010101" charset="-122"/>
            </a:endParaRPr>
          </a:p>
        </p:txBody>
      </p:sp>
      <p:sp>
        <p:nvSpPr>
          <p:cNvPr id="125" name="TextBox 124"/>
          <p:cNvSpPr txBox="1"/>
          <p:nvPr/>
        </p:nvSpPr>
        <p:spPr>
          <a:xfrm>
            <a:off x="780923" y="2487168"/>
            <a:ext cx="768350" cy="233045"/>
          </a:xfrm>
          <a:prstGeom prst="rect">
            <a:avLst/>
          </a:prstGeom>
          <a:noFill/>
        </p:spPr>
        <p:txBody>
          <a:bodyPr wrap="none" lIns="27432" tIns="9144" rIns="27432" bIns="9144">
            <a:spAutoFit/>
          </a:bodyPr>
          <a:lstStyle/>
          <a:p>
            <a:pPr algn="l"/>
            <a:r>
              <a:rPr sz="1400" b="1">
                <a:solidFill>
                  <a:srgbClr val="0B57D0"/>
                </a:solidFill>
                <a:latin typeface="金山云技术体" charset="-122"/>
                <a:ea typeface="金山云技术体" charset="-122"/>
              </a:rPr>
              <a:t>本页看点</a:t>
            </a:r>
            <a:endParaRPr sz="1400" b="1">
              <a:solidFill>
                <a:srgbClr val="0B57D0"/>
              </a:solidFill>
              <a:latin typeface="金山云技术体" charset="-122"/>
              <a:ea typeface="金山云技术体" charset="-122"/>
            </a:endParaRPr>
          </a:p>
        </p:txBody>
      </p:sp>
      <p:sp>
        <p:nvSpPr>
          <p:cNvPr id="126" name="Rectangle 125"/>
          <p:cNvSpPr/>
          <p:nvPr/>
        </p:nvSpPr>
        <p:spPr>
          <a:xfrm>
            <a:off x="740918" y="2761488"/>
            <a:ext cx="987552" cy="16459"/>
          </a:xfrm>
          <a:prstGeom prst="rect">
            <a:avLst/>
          </a:prstGeom>
          <a:solidFill>
            <a:srgbClr val="0B57D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7" name="TextBox 126"/>
          <p:cNvSpPr txBox="1"/>
          <p:nvPr/>
        </p:nvSpPr>
        <p:spPr>
          <a:xfrm>
            <a:off x="804418" y="3035808"/>
            <a:ext cx="1201420" cy="248285"/>
          </a:xfrm>
          <a:prstGeom prst="rect">
            <a:avLst/>
          </a:prstGeom>
          <a:noFill/>
        </p:spPr>
        <p:txBody>
          <a:bodyPr wrap="none" lIns="27432" tIns="9144" rIns="27432" bIns="9144">
            <a:spAutoFit/>
          </a:bodyPr>
          <a:lstStyle/>
          <a:p>
            <a:pPr algn="l"/>
            <a:r>
              <a:rPr sz="1500" b="1">
                <a:solidFill>
                  <a:srgbClr val="102033"/>
                </a:solidFill>
                <a:latin typeface="MiSans Normal" panose="00000500000000000000" charset="-122"/>
                <a:ea typeface="MiSans Normal" panose="00000500000000000000" charset="-122"/>
                <a:sym typeface="+mn-ea"/>
              </a:rPr>
              <a:t>情境触发提醒</a:t>
            </a:r>
            <a:endParaRPr lang="zh-CN" sz="1500" b="1">
              <a:solidFill>
                <a:srgbClr val="102033"/>
              </a:solidFill>
              <a:latin typeface="MiSans Normal" panose="00000500000000000000" charset="-122"/>
              <a:ea typeface="MiSans Normal" panose="00000500000000000000" charset="-122"/>
            </a:endParaRPr>
          </a:p>
        </p:txBody>
      </p:sp>
      <p:sp>
        <p:nvSpPr>
          <p:cNvPr id="128" name="TextBox 127"/>
          <p:cNvSpPr txBox="1"/>
          <p:nvPr/>
        </p:nvSpPr>
        <p:spPr>
          <a:xfrm>
            <a:off x="804418" y="3429254"/>
            <a:ext cx="1201420" cy="248285"/>
          </a:xfrm>
          <a:prstGeom prst="rect">
            <a:avLst/>
          </a:prstGeom>
          <a:noFill/>
        </p:spPr>
        <p:txBody>
          <a:bodyPr wrap="none" lIns="27432" tIns="9144" rIns="27432" bIns="9144">
            <a:spAutoFit/>
          </a:bodyPr>
          <a:lstStyle/>
          <a:p>
            <a:pPr algn="l"/>
            <a:r>
              <a:rPr sz="1500" b="1">
                <a:solidFill>
                  <a:srgbClr val="102033"/>
                </a:solidFill>
                <a:latin typeface="MiSans Normal" panose="00000500000000000000" charset="-122"/>
                <a:ea typeface="MiSans Normal" panose="00000500000000000000" charset="-122"/>
                <a:sym typeface="+mn-ea"/>
              </a:rPr>
              <a:t>替代路线建议</a:t>
            </a:r>
            <a:endParaRPr lang="zh-CN" sz="1500" b="1">
              <a:solidFill>
                <a:srgbClr val="102033"/>
              </a:solidFill>
              <a:latin typeface="MiSans Normal" panose="00000500000000000000" charset="-122"/>
              <a:ea typeface="MiSans Normal" panose="00000500000000000000" charset="-122"/>
            </a:endParaRPr>
          </a:p>
        </p:txBody>
      </p:sp>
      <p:sp>
        <p:nvSpPr>
          <p:cNvPr id="129" name="Oval 128"/>
          <p:cNvSpPr/>
          <p:nvPr/>
        </p:nvSpPr>
        <p:spPr>
          <a:xfrm>
            <a:off x="877824" y="4101084"/>
            <a:ext cx="68580" cy="68580"/>
          </a:xfrm>
          <a:prstGeom prst="ellipse">
            <a:avLst/>
          </a:prstGeom>
          <a:solidFill>
            <a:srgbClr val="0B57D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0" name="TextBox 129"/>
          <p:cNvSpPr txBox="1"/>
          <p:nvPr/>
        </p:nvSpPr>
        <p:spPr>
          <a:xfrm>
            <a:off x="1042415" y="4041648"/>
            <a:ext cx="2543810" cy="233045"/>
          </a:xfrm>
          <a:prstGeom prst="rect">
            <a:avLst/>
          </a:prstGeom>
          <a:noFill/>
        </p:spPr>
        <p:txBody>
          <a:bodyPr wrap="none" lIns="27432" tIns="9144" rIns="27432" bIns="9144">
            <a:spAutoFit/>
          </a:bodyPr>
          <a:lstStyle/>
          <a:p>
            <a:pPr algn="l"/>
            <a:r>
              <a:rPr sz="1400">
                <a:solidFill>
                  <a:srgbClr val="51677F"/>
                </a:solidFill>
                <a:latin typeface="MiSans Normal" panose="00000500000000000000" charset="-122"/>
                <a:ea typeface="MiSans Normal" panose="00000500000000000000" charset="-122"/>
                <a:sym typeface="+mn-ea"/>
              </a:rPr>
              <a:t>展示旅途中主动弹出的情境提醒</a:t>
            </a:r>
            <a:endParaRPr lang="zh-CN" sz="1400" b="0">
              <a:solidFill>
                <a:srgbClr val="51677F"/>
              </a:solidFill>
              <a:latin typeface="MiSans Normal" panose="00000500000000000000" charset="-122"/>
              <a:ea typeface="MiSans Normal" panose="00000500000000000000" charset="-122"/>
            </a:endParaRPr>
          </a:p>
        </p:txBody>
      </p:sp>
      <p:sp>
        <p:nvSpPr>
          <p:cNvPr id="131" name="Oval 130"/>
          <p:cNvSpPr/>
          <p:nvPr/>
        </p:nvSpPr>
        <p:spPr>
          <a:xfrm>
            <a:off x="877824" y="4649724"/>
            <a:ext cx="68580" cy="68580"/>
          </a:xfrm>
          <a:prstGeom prst="ellipse">
            <a:avLst/>
          </a:prstGeom>
          <a:solidFill>
            <a:srgbClr val="0B57D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2" name="TextBox 131"/>
          <p:cNvSpPr txBox="1"/>
          <p:nvPr/>
        </p:nvSpPr>
        <p:spPr>
          <a:xfrm>
            <a:off x="1042415" y="4590288"/>
            <a:ext cx="3255010" cy="233045"/>
          </a:xfrm>
          <a:prstGeom prst="rect">
            <a:avLst/>
          </a:prstGeom>
          <a:noFill/>
        </p:spPr>
        <p:txBody>
          <a:bodyPr wrap="none" lIns="27432" tIns="9144" rIns="27432" bIns="9144">
            <a:spAutoFit/>
          </a:bodyPr>
          <a:lstStyle/>
          <a:p>
            <a:pPr algn="l"/>
            <a:r>
              <a:rPr sz="1400">
                <a:solidFill>
                  <a:srgbClr val="51677F"/>
                </a:solidFill>
                <a:latin typeface="MiSans Normal" panose="00000500000000000000" charset="-122"/>
                <a:ea typeface="MiSans Normal" panose="00000500000000000000" charset="-122"/>
                <a:sym typeface="+mn-ea"/>
              </a:rPr>
              <a:t>说明触发依据来自天气、时间和状态变化</a:t>
            </a:r>
            <a:endParaRPr lang="zh-CN" sz="1400" b="0">
              <a:solidFill>
                <a:srgbClr val="51677F"/>
              </a:solidFill>
              <a:latin typeface="MiSans Normal" panose="00000500000000000000" charset="-122"/>
              <a:ea typeface="MiSans Normal" panose="00000500000000000000" charset="-122"/>
            </a:endParaRPr>
          </a:p>
        </p:txBody>
      </p:sp>
      <p:sp>
        <p:nvSpPr>
          <p:cNvPr id="133" name="Oval 132"/>
          <p:cNvSpPr/>
          <p:nvPr/>
        </p:nvSpPr>
        <p:spPr>
          <a:xfrm>
            <a:off x="877824" y="5198364"/>
            <a:ext cx="68580" cy="68580"/>
          </a:xfrm>
          <a:prstGeom prst="ellipse">
            <a:avLst/>
          </a:prstGeom>
          <a:solidFill>
            <a:srgbClr val="0B57D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4" name="TextBox 133"/>
          <p:cNvSpPr txBox="1"/>
          <p:nvPr/>
        </p:nvSpPr>
        <p:spPr>
          <a:xfrm>
            <a:off x="1042415" y="5138928"/>
            <a:ext cx="2543810" cy="233045"/>
          </a:xfrm>
          <a:prstGeom prst="rect">
            <a:avLst/>
          </a:prstGeom>
          <a:noFill/>
        </p:spPr>
        <p:txBody>
          <a:bodyPr wrap="none" lIns="27432" tIns="9144" rIns="27432" bIns="9144">
            <a:spAutoFit/>
          </a:bodyPr>
          <a:lstStyle/>
          <a:p>
            <a:pPr algn="l"/>
            <a:r>
              <a:rPr sz="1400">
                <a:solidFill>
                  <a:srgbClr val="51677F"/>
                </a:solidFill>
                <a:latin typeface="MiSans Normal" panose="00000500000000000000" charset="-122"/>
                <a:ea typeface="MiSans Normal" panose="00000500000000000000" charset="-122"/>
                <a:sym typeface="+mn-ea"/>
              </a:rPr>
              <a:t>给出替代路线，形成动态陪伴感</a:t>
            </a:r>
            <a:endParaRPr lang="zh-CN" sz="1400" b="0">
              <a:solidFill>
                <a:srgbClr val="51677F"/>
              </a:solidFill>
              <a:latin typeface="MiSans Normal" panose="00000500000000000000" charset="-122"/>
              <a:ea typeface="MiSans Normal" panose="00000500000000000000" charset="-122"/>
              <a:cs typeface="MiSans Normal" panose="00000500000000000000" charset="-122"/>
            </a:endParaRPr>
          </a:p>
        </p:txBody>
      </p:sp>
      <p:grpSp>
        <p:nvGrpSpPr>
          <p:cNvPr id="66" name="组合 65"/>
          <p:cNvGrpSpPr/>
          <p:nvPr/>
        </p:nvGrpSpPr>
        <p:grpSpPr>
          <a:xfrm>
            <a:off x="6615430" y="1755775"/>
            <a:ext cx="2148840" cy="4663440"/>
            <a:chOff x="8626" y="2765"/>
            <a:chExt cx="3384" cy="7344"/>
          </a:xfrm>
        </p:grpSpPr>
        <p:sp>
          <p:nvSpPr>
            <p:cNvPr id="135" name="Rounded Rectangle 134"/>
            <p:cNvSpPr/>
            <p:nvPr/>
          </p:nvSpPr>
          <p:spPr>
            <a:xfrm>
              <a:off x="8626" y="2765"/>
              <a:ext cx="3384" cy="7344"/>
            </a:xfrm>
            <a:prstGeom prst="roundRect">
              <a:avLst/>
            </a:prstGeom>
            <a:solidFill>
              <a:srgbClr val="FFFFFF"/>
            </a:solidFill>
            <a:ln w="14604">
              <a:solidFill>
                <a:srgbClr val="9CCAF5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136" name="Rounded Rectangle 135"/>
            <p:cNvSpPr/>
            <p:nvPr/>
          </p:nvSpPr>
          <p:spPr>
            <a:xfrm>
              <a:off x="9749" y="2952"/>
              <a:ext cx="1123" cy="108"/>
            </a:xfrm>
            <a:prstGeom prst="roundRect">
              <a:avLst/>
            </a:prstGeom>
            <a:solidFill>
              <a:srgbClr val="D7EAFF"/>
            </a:solidFill>
            <a:ln>
              <a:noFill/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137" name="Rounded Rectangle 136"/>
            <p:cNvSpPr/>
            <p:nvPr/>
          </p:nvSpPr>
          <p:spPr>
            <a:xfrm>
              <a:off x="8798" y="3211"/>
              <a:ext cx="3038" cy="6566"/>
            </a:xfrm>
            <a:prstGeom prst="roundRect">
              <a:avLst/>
            </a:prstGeom>
            <a:solidFill>
              <a:srgbClr val="F8FCFF"/>
            </a:solidFill>
            <a:ln w="11430">
              <a:solidFill>
                <a:srgbClr val="C9E4FF"/>
              </a:solidFill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138" name="Rectangle 137"/>
            <p:cNvSpPr/>
            <p:nvPr/>
          </p:nvSpPr>
          <p:spPr>
            <a:xfrm>
              <a:off x="9144" y="4003"/>
              <a:ext cx="2333" cy="20"/>
            </a:xfrm>
            <a:prstGeom prst="rect">
              <a:avLst/>
            </a:prstGeom>
            <a:solidFill>
              <a:srgbClr val="E0F0FF"/>
            </a:solidFill>
            <a:ln>
              <a:noFill/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139" name="Rectangle 138"/>
            <p:cNvSpPr/>
            <p:nvPr/>
          </p:nvSpPr>
          <p:spPr>
            <a:xfrm>
              <a:off x="9144" y="5011"/>
              <a:ext cx="1901" cy="20"/>
            </a:xfrm>
            <a:prstGeom prst="rect">
              <a:avLst/>
            </a:prstGeom>
            <a:solidFill>
              <a:srgbClr val="E0F0FF"/>
            </a:solidFill>
            <a:ln>
              <a:noFill/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140" name="Rectangle 139"/>
            <p:cNvSpPr/>
            <p:nvPr/>
          </p:nvSpPr>
          <p:spPr>
            <a:xfrm>
              <a:off x="9144" y="6019"/>
              <a:ext cx="2333" cy="20"/>
            </a:xfrm>
            <a:prstGeom prst="rect">
              <a:avLst/>
            </a:prstGeom>
            <a:solidFill>
              <a:srgbClr val="E0F0FF"/>
            </a:solidFill>
            <a:ln>
              <a:noFill/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141" name="Rectangle 140"/>
            <p:cNvSpPr/>
            <p:nvPr/>
          </p:nvSpPr>
          <p:spPr>
            <a:xfrm>
              <a:off x="9144" y="7027"/>
              <a:ext cx="1901" cy="20"/>
            </a:xfrm>
            <a:prstGeom prst="rect">
              <a:avLst/>
            </a:prstGeom>
            <a:solidFill>
              <a:srgbClr val="E0F0FF"/>
            </a:solidFill>
            <a:ln>
              <a:noFill/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142" name="Rectangle 141"/>
            <p:cNvSpPr/>
            <p:nvPr/>
          </p:nvSpPr>
          <p:spPr>
            <a:xfrm>
              <a:off x="9144" y="8035"/>
              <a:ext cx="2333" cy="20"/>
            </a:xfrm>
            <a:prstGeom prst="rect">
              <a:avLst/>
            </a:prstGeom>
            <a:solidFill>
              <a:srgbClr val="E0F0FF"/>
            </a:solidFill>
            <a:ln>
              <a:noFill/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</p:grpSp>
      <p:grpSp>
        <p:nvGrpSpPr>
          <p:cNvPr id="65" name="组合 64"/>
          <p:cNvGrpSpPr/>
          <p:nvPr/>
        </p:nvGrpSpPr>
        <p:grpSpPr>
          <a:xfrm>
            <a:off x="9594215" y="1755775"/>
            <a:ext cx="2148840" cy="4663440"/>
            <a:chOff x="13205" y="2765"/>
            <a:chExt cx="3384" cy="7344"/>
          </a:xfrm>
        </p:grpSpPr>
        <p:sp>
          <p:nvSpPr>
            <p:cNvPr id="144" name="Rounded Rectangle 143"/>
            <p:cNvSpPr/>
            <p:nvPr/>
          </p:nvSpPr>
          <p:spPr>
            <a:xfrm>
              <a:off x="13205" y="2765"/>
              <a:ext cx="3384" cy="7344"/>
            </a:xfrm>
            <a:prstGeom prst="roundRect">
              <a:avLst/>
            </a:prstGeom>
            <a:solidFill>
              <a:srgbClr val="FFFFFF"/>
            </a:solidFill>
            <a:ln w="14604">
              <a:solidFill>
                <a:srgbClr val="9CCAF5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145" name="Rounded Rectangle 144"/>
            <p:cNvSpPr/>
            <p:nvPr/>
          </p:nvSpPr>
          <p:spPr>
            <a:xfrm>
              <a:off x="14328" y="2952"/>
              <a:ext cx="1123" cy="108"/>
            </a:xfrm>
            <a:prstGeom prst="roundRect">
              <a:avLst/>
            </a:prstGeom>
            <a:solidFill>
              <a:srgbClr val="D7EAFF"/>
            </a:solidFill>
            <a:ln>
              <a:noFill/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146" name="Rounded Rectangle 145"/>
            <p:cNvSpPr/>
            <p:nvPr/>
          </p:nvSpPr>
          <p:spPr>
            <a:xfrm>
              <a:off x="13378" y="3211"/>
              <a:ext cx="3038" cy="6566"/>
            </a:xfrm>
            <a:prstGeom prst="roundRect">
              <a:avLst/>
            </a:prstGeom>
            <a:solidFill>
              <a:srgbClr val="F8FCFF"/>
            </a:solidFill>
            <a:ln w="11430">
              <a:solidFill>
                <a:srgbClr val="C9E4FF"/>
              </a:solidFill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147" name="Rectangle 146"/>
            <p:cNvSpPr/>
            <p:nvPr/>
          </p:nvSpPr>
          <p:spPr>
            <a:xfrm>
              <a:off x="13723" y="4003"/>
              <a:ext cx="2333" cy="20"/>
            </a:xfrm>
            <a:prstGeom prst="rect">
              <a:avLst/>
            </a:prstGeom>
            <a:solidFill>
              <a:srgbClr val="E0F0FF"/>
            </a:solidFill>
            <a:ln>
              <a:noFill/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148" name="Rectangle 147"/>
            <p:cNvSpPr/>
            <p:nvPr/>
          </p:nvSpPr>
          <p:spPr>
            <a:xfrm>
              <a:off x="13723" y="5011"/>
              <a:ext cx="1901" cy="20"/>
            </a:xfrm>
            <a:prstGeom prst="rect">
              <a:avLst/>
            </a:prstGeom>
            <a:solidFill>
              <a:srgbClr val="E0F0FF"/>
            </a:solidFill>
            <a:ln>
              <a:noFill/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149" name="Rectangle 148"/>
            <p:cNvSpPr/>
            <p:nvPr/>
          </p:nvSpPr>
          <p:spPr>
            <a:xfrm>
              <a:off x="13723" y="6019"/>
              <a:ext cx="2333" cy="20"/>
            </a:xfrm>
            <a:prstGeom prst="rect">
              <a:avLst/>
            </a:prstGeom>
            <a:solidFill>
              <a:srgbClr val="E0F0FF"/>
            </a:solidFill>
            <a:ln>
              <a:noFill/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150" name="Rectangle 149"/>
            <p:cNvSpPr/>
            <p:nvPr/>
          </p:nvSpPr>
          <p:spPr>
            <a:xfrm>
              <a:off x="13723" y="7027"/>
              <a:ext cx="1901" cy="20"/>
            </a:xfrm>
            <a:prstGeom prst="rect">
              <a:avLst/>
            </a:prstGeom>
            <a:solidFill>
              <a:srgbClr val="E0F0FF"/>
            </a:solidFill>
            <a:ln>
              <a:noFill/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151" name="Rectangle 150"/>
            <p:cNvSpPr/>
            <p:nvPr/>
          </p:nvSpPr>
          <p:spPr>
            <a:xfrm>
              <a:off x="13723" y="8035"/>
              <a:ext cx="2333" cy="20"/>
            </a:xfrm>
            <a:prstGeom prst="rect">
              <a:avLst/>
            </a:prstGeom>
            <a:solidFill>
              <a:srgbClr val="E0F0FF"/>
            </a:solidFill>
            <a:ln>
              <a:noFill/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</p:grp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p14:dur="400">
        <p:fade/>
      </p:transition>
    </mc:Choice>
    <mc:Fallback>
      <p:transition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400"/>
                                        <p:tgtEl>
                                          <p:spTgt spid="9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99" grpId="0"/>
    </p:bld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2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4F9FF"/>
          </a:solidFill>
          <a:ln>
            <a:noFill/>
          </a:ln>
        </p:spPr>
      </p:sp>
      <p:sp>
        <p:nvSpPr>
          <p:cNvPr id="3" name="Rectangle 3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gradFill>
            <a:gsLst>
              <a:gs pos="0">
                <a:srgbClr val="26A7FF">
                  <a:alpha val="12000"/>
                </a:srgbClr>
              </a:gs>
              <a:gs pos="100000">
                <a:srgbClr val="26A7FF">
                  <a:alpha val="0"/>
                </a:srgbClr>
              </a:gs>
            </a:gsLst>
            <a:path path="circle">
              <a:fillToRect l="50000" t="50000" r="50000" b="50000"/>
            </a:path>
          </a:gradFill>
          <a:ln>
            <a:noFill/>
          </a:ln>
        </p:spPr>
      </p:sp>
      <p:sp>
        <p:nvSpPr>
          <p:cNvPr id="4" name="Ellipse 4"/>
          <p:cNvSpPr/>
          <p:nvPr/>
        </p:nvSpPr>
        <p:spPr>
          <a:xfrm>
            <a:off x="9391650" y="-304800"/>
            <a:ext cx="2362200" cy="2362200"/>
          </a:xfrm>
          <a:prstGeom prst="ellipse">
            <a:avLst/>
          </a:prstGeom>
          <a:solidFill>
            <a:srgbClr val="26A7FF">
              <a:alpha val="8000"/>
            </a:srgbClr>
          </a:solidFill>
          <a:ln>
            <a:noFill/>
          </a:ln>
        </p:spPr>
      </p:sp>
      <p:sp>
        <p:nvSpPr>
          <p:cNvPr id="5" name="Ellipse 5"/>
          <p:cNvSpPr/>
          <p:nvPr/>
        </p:nvSpPr>
        <p:spPr>
          <a:xfrm>
            <a:off x="10553700" y="647700"/>
            <a:ext cx="1638300" cy="1638300"/>
          </a:xfrm>
          <a:prstGeom prst="ellipse">
            <a:avLst/>
          </a:prstGeom>
          <a:solidFill>
            <a:srgbClr val="00D4FF">
              <a:alpha val="7000"/>
            </a:srgbClr>
          </a:solidFill>
          <a:ln>
            <a:noFill/>
          </a:ln>
        </p:spPr>
      </p:sp>
      <p:sp>
        <p:nvSpPr>
          <p:cNvPr id="6" name="Freeform 6"/>
          <p:cNvSpPr/>
          <p:nvPr/>
        </p:nvSpPr>
        <p:spPr>
          <a:xfrm>
            <a:off x="8382000" y="781050"/>
            <a:ext cx="3390900" cy="438150"/>
          </a:xfrm>
          <a:custGeom>
            <a:avLst/>
            <a:gdLst/>
            <a:ahLst/>
            <a:cxnLst/>
            <a:rect l="l" t="t" r="r" b="b"/>
            <a:pathLst>
              <a:path w="3390900" h="438150">
                <a:moveTo>
                  <a:pt x="0" y="0"/>
                </a:moveTo>
                <a:lnTo>
                  <a:pt x="1600200" y="0"/>
                </a:lnTo>
                <a:lnTo>
                  <a:pt x="2038350" y="438150"/>
                </a:lnTo>
                <a:lnTo>
                  <a:pt x="3390900" y="438150"/>
                </a:lnTo>
              </a:path>
            </a:pathLst>
          </a:custGeom>
          <a:noFill/>
          <a:ln w="13335">
            <a:solidFill>
              <a:srgbClr val="BFD9F4">
                <a:alpha val="75000"/>
              </a:srgbClr>
            </a:solidFill>
          </a:ln>
        </p:spPr>
      </p:sp>
      <p:sp>
        <p:nvSpPr>
          <p:cNvPr id="7" name="Freeform 7"/>
          <p:cNvSpPr/>
          <p:nvPr/>
        </p:nvSpPr>
        <p:spPr>
          <a:xfrm>
            <a:off x="8705850" y="5638800"/>
            <a:ext cx="2990850" cy="457200"/>
          </a:xfrm>
          <a:custGeom>
            <a:avLst/>
            <a:gdLst/>
            <a:ahLst/>
            <a:cxnLst/>
            <a:rect l="l" t="t" r="r" b="b"/>
            <a:pathLst>
              <a:path w="2990850" h="457200">
                <a:moveTo>
                  <a:pt x="0" y="457200"/>
                </a:moveTo>
                <a:lnTo>
                  <a:pt x="1295400" y="457200"/>
                </a:lnTo>
                <a:lnTo>
                  <a:pt x="1752600" y="0"/>
                </a:lnTo>
                <a:lnTo>
                  <a:pt x="2990850" y="0"/>
                </a:lnTo>
              </a:path>
            </a:pathLst>
          </a:custGeom>
          <a:noFill/>
          <a:ln w="11430">
            <a:solidFill>
              <a:srgbClr val="BFD9F4">
                <a:alpha val="65000"/>
              </a:srgbClr>
            </a:solidFill>
          </a:ln>
        </p:spPr>
      </p:sp>
      <p:sp>
        <p:nvSpPr>
          <p:cNvPr id="8" name="Freeform 8"/>
          <p:cNvSpPr/>
          <p:nvPr/>
        </p:nvSpPr>
        <p:spPr>
          <a:xfrm>
            <a:off x="419100" y="5734050"/>
            <a:ext cx="2057400" cy="381000"/>
          </a:xfrm>
          <a:custGeom>
            <a:avLst/>
            <a:gdLst/>
            <a:ahLst/>
            <a:cxnLst/>
            <a:rect l="l" t="t" r="r" b="b"/>
            <a:pathLst>
              <a:path w="2057400" h="381000">
                <a:moveTo>
                  <a:pt x="0" y="381000"/>
                </a:moveTo>
                <a:lnTo>
                  <a:pt x="1676400" y="381000"/>
                </a:lnTo>
                <a:lnTo>
                  <a:pt x="2057400" y="0"/>
                </a:lnTo>
              </a:path>
            </a:pathLst>
          </a:custGeom>
          <a:noFill/>
          <a:ln w="11430">
            <a:solidFill>
              <a:srgbClr val="D7EAFF">
                <a:alpha val="90000"/>
              </a:srgbClr>
            </a:solidFill>
          </a:ln>
        </p:spPr>
      </p:sp>
      <p:sp>
        <p:nvSpPr>
          <p:cNvPr id="9" name="Ellipse 9"/>
          <p:cNvSpPr/>
          <p:nvPr/>
        </p:nvSpPr>
        <p:spPr>
          <a:xfrm>
            <a:off x="9944100" y="742950"/>
            <a:ext cx="76200" cy="76200"/>
          </a:xfrm>
          <a:prstGeom prst="ellipse">
            <a:avLst/>
          </a:prstGeom>
          <a:solidFill>
            <a:srgbClr val="26A7FF"/>
          </a:solidFill>
          <a:ln>
            <a:noFill/>
          </a:ln>
        </p:spPr>
      </p:sp>
      <p:sp>
        <p:nvSpPr>
          <p:cNvPr id="10" name="Ellipse 10"/>
          <p:cNvSpPr/>
          <p:nvPr/>
        </p:nvSpPr>
        <p:spPr>
          <a:xfrm>
            <a:off x="10382250" y="1181100"/>
            <a:ext cx="76200" cy="76200"/>
          </a:xfrm>
          <a:prstGeom prst="ellipse">
            <a:avLst/>
          </a:prstGeom>
          <a:solidFill>
            <a:srgbClr val="00D4FF"/>
          </a:solidFill>
          <a:ln>
            <a:noFill/>
          </a:ln>
        </p:spPr>
      </p:sp>
      <p:sp>
        <p:nvSpPr>
          <p:cNvPr id="11" name="Ellipse 11"/>
          <p:cNvSpPr/>
          <p:nvPr/>
        </p:nvSpPr>
        <p:spPr>
          <a:xfrm>
            <a:off x="2438400" y="5695950"/>
            <a:ext cx="76200" cy="76200"/>
          </a:xfrm>
          <a:prstGeom prst="ellipse">
            <a:avLst/>
          </a:prstGeom>
          <a:solidFill>
            <a:srgbClr val="26A7FF"/>
          </a:solidFill>
          <a:ln>
            <a:noFill/>
          </a:ln>
        </p:spPr>
      </p:sp>
      <p:sp>
        <p:nvSpPr>
          <p:cNvPr id="12" name="Line 12"/>
          <p:cNvSpPr/>
          <p:nvPr/>
        </p:nvSpPr>
        <p:spPr>
          <a:xfrm>
            <a:off x="762000" y="0"/>
            <a:ext cx="9525" cy="6858000"/>
          </a:xfrm>
          <a:custGeom>
            <a:avLst/>
            <a:gdLst/>
            <a:ahLst/>
            <a:cxnLst/>
            <a:rect l="l" t="t" r="r" b="b"/>
            <a:pathLst>
              <a:path w="9525" h="6858000">
                <a:moveTo>
                  <a:pt x="0" y="0"/>
                </a:moveTo>
                <a:lnTo>
                  <a:pt x="0" y="6858000"/>
                </a:lnTo>
              </a:path>
            </a:pathLst>
          </a:custGeom>
          <a:noFill/>
          <a:ln w="4762">
            <a:solidFill>
              <a:srgbClr val="D7EAFF">
                <a:alpha val="22000"/>
              </a:srgbClr>
            </a:solidFill>
          </a:ln>
        </p:spPr>
      </p:sp>
      <p:sp>
        <p:nvSpPr>
          <p:cNvPr id="13" name="Line 13"/>
          <p:cNvSpPr/>
          <p:nvPr/>
        </p:nvSpPr>
        <p:spPr>
          <a:xfrm>
            <a:off x="1524000" y="0"/>
            <a:ext cx="9525" cy="6858000"/>
          </a:xfrm>
          <a:custGeom>
            <a:avLst/>
            <a:gdLst/>
            <a:ahLst/>
            <a:cxnLst/>
            <a:rect l="l" t="t" r="r" b="b"/>
            <a:pathLst>
              <a:path w="9525" h="6858000">
                <a:moveTo>
                  <a:pt x="0" y="0"/>
                </a:moveTo>
                <a:lnTo>
                  <a:pt x="0" y="6858000"/>
                </a:lnTo>
              </a:path>
            </a:pathLst>
          </a:custGeom>
          <a:noFill/>
          <a:ln w="4762">
            <a:solidFill>
              <a:srgbClr val="D7EAFF">
                <a:alpha val="22000"/>
              </a:srgbClr>
            </a:solidFill>
          </a:ln>
        </p:spPr>
      </p:sp>
      <p:sp>
        <p:nvSpPr>
          <p:cNvPr id="14" name="Line 14"/>
          <p:cNvSpPr/>
          <p:nvPr/>
        </p:nvSpPr>
        <p:spPr>
          <a:xfrm>
            <a:off x="2286000" y="0"/>
            <a:ext cx="9525" cy="6858000"/>
          </a:xfrm>
          <a:custGeom>
            <a:avLst/>
            <a:gdLst/>
            <a:ahLst/>
            <a:cxnLst/>
            <a:rect l="l" t="t" r="r" b="b"/>
            <a:pathLst>
              <a:path w="9525" h="6858000">
                <a:moveTo>
                  <a:pt x="0" y="0"/>
                </a:moveTo>
                <a:lnTo>
                  <a:pt x="0" y="6858000"/>
                </a:lnTo>
              </a:path>
            </a:pathLst>
          </a:custGeom>
          <a:noFill/>
          <a:ln w="4762">
            <a:solidFill>
              <a:srgbClr val="D7EAFF">
                <a:alpha val="22000"/>
              </a:srgbClr>
            </a:solidFill>
          </a:ln>
        </p:spPr>
      </p:sp>
      <p:sp>
        <p:nvSpPr>
          <p:cNvPr id="15" name="Line 15"/>
          <p:cNvSpPr/>
          <p:nvPr/>
        </p:nvSpPr>
        <p:spPr>
          <a:xfrm>
            <a:off x="3048000" y="0"/>
            <a:ext cx="9525" cy="6858000"/>
          </a:xfrm>
          <a:custGeom>
            <a:avLst/>
            <a:gdLst/>
            <a:ahLst/>
            <a:cxnLst/>
            <a:rect l="l" t="t" r="r" b="b"/>
            <a:pathLst>
              <a:path w="9525" h="6858000">
                <a:moveTo>
                  <a:pt x="0" y="0"/>
                </a:moveTo>
                <a:lnTo>
                  <a:pt x="0" y="6858000"/>
                </a:lnTo>
              </a:path>
            </a:pathLst>
          </a:custGeom>
          <a:noFill/>
          <a:ln w="4762">
            <a:solidFill>
              <a:srgbClr val="D7EAFF">
                <a:alpha val="22000"/>
              </a:srgbClr>
            </a:solidFill>
          </a:ln>
        </p:spPr>
      </p:sp>
      <p:sp>
        <p:nvSpPr>
          <p:cNvPr id="16" name="Line 16"/>
          <p:cNvSpPr/>
          <p:nvPr/>
        </p:nvSpPr>
        <p:spPr>
          <a:xfrm>
            <a:off x="3810000" y="0"/>
            <a:ext cx="9525" cy="6858000"/>
          </a:xfrm>
          <a:custGeom>
            <a:avLst/>
            <a:gdLst/>
            <a:ahLst/>
            <a:cxnLst/>
            <a:rect l="l" t="t" r="r" b="b"/>
            <a:pathLst>
              <a:path w="9525" h="6858000">
                <a:moveTo>
                  <a:pt x="0" y="0"/>
                </a:moveTo>
                <a:lnTo>
                  <a:pt x="0" y="6858000"/>
                </a:lnTo>
              </a:path>
            </a:pathLst>
          </a:custGeom>
          <a:noFill/>
          <a:ln w="4762">
            <a:solidFill>
              <a:srgbClr val="D7EAFF">
                <a:alpha val="22000"/>
              </a:srgbClr>
            </a:solidFill>
          </a:ln>
        </p:spPr>
      </p:sp>
      <p:sp>
        <p:nvSpPr>
          <p:cNvPr id="17" name="Line 17"/>
          <p:cNvSpPr/>
          <p:nvPr/>
        </p:nvSpPr>
        <p:spPr>
          <a:xfrm>
            <a:off x="4572000" y="0"/>
            <a:ext cx="9525" cy="6858000"/>
          </a:xfrm>
          <a:custGeom>
            <a:avLst/>
            <a:gdLst/>
            <a:ahLst/>
            <a:cxnLst/>
            <a:rect l="l" t="t" r="r" b="b"/>
            <a:pathLst>
              <a:path w="9525" h="6858000">
                <a:moveTo>
                  <a:pt x="0" y="0"/>
                </a:moveTo>
                <a:lnTo>
                  <a:pt x="0" y="6858000"/>
                </a:lnTo>
              </a:path>
            </a:pathLst>
          </a:custGeom>
          <a:noFill/>
          <a:ln w="4762">
            <a:solidFill>
              <a:srgbClr val="D7EAFF">
                <a:alpha val="22000"/>
              </a:srgbClr>
            </a:solidFill>
          </a:ln>
        </p:spPr>
      </p:sp>
      <p:sp>
        <p:nvSpPr>
          <p:cNvPr id="18" name="Line 18"/>
          <p:cNvSpPr/>
          <p:nvPr/>
        </p:nvSpPr>
        <p:spPr>
          <a:xfrm>
            <a:off x="5334000" y="0"/>
            <a:ext cx="9525" cy="6858000"/>
          </a:xfrm>
          <a:custGeom>
            <a:avLst/>
            <a:gdLst/>
            <a:ahLst/>
            <a:cxnLst/>
            <a:rect l="l" t="t" r="r" b="b"/>
            <a:pathLst>
              <a:path w="9525" h="6858000">
                <a:moveTo>
                  <a:pt x="0" y="0"/>
                </a:moveTo>
                <a:lnTo>
                  <a:pt x="0" y="6858000"/>
                </a:lnTo>
              </a:path>
            </a:pathLst>
          </a:custGeom>
          <a:noFill/>
          <a:ln w="4762">
            <a:solidFill>
              <a:srgbClr val="D7EAFF">
                <a:alpha val="22000"/>
              </a:srgbClr>
            </a:solidFill>
          </a:ln>
        </p:spPr>
      </p:sp>
      <p:sp>
        <p:nvSpPr>
          <p:cNvPr id="19" name="Line 19"/>
          <p:cNvSpPr/>
          <p:nvPr/>
        </p:nvSpPr>
        <p:spPr>
          <a:xfrm>
            <a:off x="6096000" y="0"/>
            <a:ext cx="9525" cy="6858000"/>
          </a:xfrm>
          <a:custGeom>
            <a:avLst/>
            <a:gdLst/>
            <a:ahLst/>
            <a:cxnLst/>
            <a:rect l="l" t="t" r="r" b="b"/>
            <a:pathLst>
              <a:path w="9525" h="6858000">
                <a:moveTo>
                  <a:pt x="0" y="0"/>
                </a:moveTo>
                <a:lnTo>
                  <a:pt x="0" y="6858000"/>
                </a:lnTo>
              </a:path>
            </a:pathLst>
          </a:custGeom>
          <a:noFill/>
          <a:ln w="4762">
            <a:solidFill>
              <a:srgbClr val="D7EAFF">
                <a:alpha val="22000"/>
              </a:srgbClr>
            </a:solidFill>
          </a:ln>
        </p:spPr>
      </p:sp>
      <p:sp>
        <p:nvSpPr>
          <p:cNvPr id="20" name="Line 20"/>
          <p:cNvSpPr/>
          <p:nvPr/>
        </p:nvSpPr>
        <p:spPr>
          <a:xfrm>
            <a:off x="6858000" y="0"/>
            <a:ext cx="9525" cy="6858000"/>
          </a:xfrm>
          <a:custGeom>
            <a:avLst/>
            <a:gdLst/>
            <a:ahLst/>
            <a:cxnLst/>
            <a:rect l="l" t="t" r="r" b="b"/>
            <a:pathLst>
              <a:path w="9525" h="6858000">
                <a:moveTo>
                  <a:pt x="0" y="0"/>
                </a:moveTo>
                <a:lnTo>
                  <a:pt x="0" y="6858000"/>
                </a:lnTo>
              </a:path>
            </a:pathLst>
          </a:custGeom>
          <a:noFill/>
          <a:ln w="4762">
            <a:solidFill>
              <a:srgbClr val="D7EAFF">
                <a:alpha val="22000"/>
              </a:srgbClr>
            </a:solidFill>
          </a:ln>
        </p:spPr>
      </p:sp>
      <p:sp>
        <p:nvSpPr>
          <p:cNvPr id="21" name="Line 21"/>
          <p:cNvSpPr/>
          <p:nvPr/>
        </p:nvSpPr>
        <p:spPr>
          <a:xfrm>
            <a:off x="7620000" y="0"/>
            <a:ext cx="9525" cy="6858000"/>
          </a:xfrm>
          <a:custGeom>
            <a:avLst/>
            <a:gdLst/>
            <a:ahLst/>
            <a:cxnLst/>
            <a:rect l="l" t="t" r="r" b="b"/>
            <a:pathLst>
              <a:path w="9525" h="6858000">
                <a:moveTo>
                  <a:pt x="0" y="0"/>
                </a:moveTo>
                <a:lnTo>
                  <a:pt x="0" y="6858000"/>
                </a:lnTo>
              </a:path>
            </a:pathLst>
          </a:custGeom>
          <a:noFill/>
          <a:ln w="4762">
            <a:solidFill>
              <a:srgbClr val="D7EAFF">
                <a:alpha val="22000"/>
              </a:srgbClr>
            </a:solidFill>
          </a:ln>
        </p:spPr>
      </p:sp>
      <p:sp>
        <p:nvSpPr>
          <p:cNvPr id="22" name="Line 22"/>
          <p:cNvSpPr/>
          <p:nvPr/>
        </p:nvSpPr>
        <p:spPr>
          <a:xfrm>
            <a:off x="8382000" y="0"/>
            <a:ext cx="9525" cy="6858000"/>
          </a:xfrm>
          <a:custGeom>
            <a:avLst/>
            <a:gdLst/>
            <a:ahLst/>
            <a:cxnLst/>
            <a:rect l="l" t="t" r="r" b="b"/>
            <a:pathLst>
              <a:path w="9525" h="6858000">
                <a:moveTo>
                  <a:pt x="0" y="0"/>
                </a:moveTo>
                <a:lnTo>
                  <a:pt x="0" y="6858000"/>
                </a:lnTo>
              </a:path>
            </a:pathLst>
          </a:custGeom>
          <a:noFill/>
          <a:ln w="4762">
            <a:solidFill>
              <a:srgbClr val="D7EAFF">
                <a:alpha val="22000"/>
              </a:srgbClr>
            </a:solidFill>
          </a:ln>
        </p:spPr>
      </p:sp>
      <p:sp>
        <p:nvSpPr>
          <p:cNvPr id="23" name="Line 23"/>
          <p:cNvSpPr/>
          <p:nvPr/>
        </p:nvSpPr>
        <p:spPr>
          <a:xfrm>
            <a:off x="9144000" y="0"/>
            <a:ext cx="9525" cy="6858000"/>
          </a:xfrm>
          <a:custGeom>
            <a:avLst/>
            <a:gdLst/>
            <a:ahLst/>
            <a:cxnLst/>
            <a:rect l="l" t="t" r="r" b="b"/>
            <a:pathLst>
              <a:path w="9525" h="6858000">
                <a:moveTo>
                  <a:pt x="0" y="0"/>
                </a:moveTo>
                <a:lnTo>
                  <a:pt x="0" y="6858000"/>
                </a:lnTo>
              </a:path>
            </a:pathLst>
          </a:custGeom>
          <a:noFill/>
          <a:ln w="4762">
            <a:solidFill>
              <a:srgbClr val="D7EAFF">
                <a:alpha val="22000"/>
              </a:srgbClr>
            </a:solidFill>
          </a:ln>
        </p:spPr>
      </p:sp>
      <p:sp>
        <p:nvSpPr>
          <p:cNvPr id="24" name="Line 24"/>
          <p:cNvSpPr/>
          <p:nvPr/>
        </p:nvSpPr>
        <p:spPr>
          <a:xfrm>
            <a:off x="9906000" y="0"/>
            <a:ext cx="9525" cy="6858000"/>
          </a:xfrm>
          <a:custGeom>
            <a:avLst/>
            <a:gdLst/>
            <a:ahLst/>
            <a:cxnLst/>
            <a:rect l="l" t="t" r="r" b="b"/>
            <a:pathLst>
              <a:path w="9525" h="6858000">
                <a:moveTo>
                  <a:pt x="0" y="0"/>
                </a:moveTo>
                <a:lnTo>
                  <a:pt x="0" y="6858000"/>
                </a:lnTo>
              </a:path>
            </a:pathLst>
          </a:custGeom>
          <a:noFill/>
          <a:ln w="4762">
            <a:solidFill>
              <a:srgbClr val="D7EAFF">
                <a:alpha val="22000"/>
              </a:srgbClr>
            </a:solidFill>
          </a:ln>
        </p:spPr>
      </p:sp>
      <p:sp>
        <p:nvSpPr>
          <p:cNvPr id="25" name="Line 25"/>
          <p:cNvSpPr/>
          <p:nvPr/>
        </p:nvSpPr>
        <p:spPr>
          <a:xfrm>
            <a:off x="10668000" y="0"/>
            <a:ext cx="9525" cy="6858000"/>
          </a:xfrm>
          <a:custGeom>
            <a:avLst/>
            <a:gdLst/>
            <a:ahLst/>
            <a:cxnLst/>
            <a:rect l="l" t="t" r="r" b="b"/>
            <a:pathLst>
              <a:path w="9525" h="6858000">
                <a:moveTo>
                  <a:pt x="0" y="0"/>
                </a:moveTo>
                <a:lnTo>
                  <a:pt x="0" y="6858000"/>
                </a:lnTo>
              </a:path>
            </a:pathLst>
          </a:custGeom>
          <a:noFill/>
          <a:ln w="4762">
            <a:solidFill>
              <a:srgbClr val="D7EAFF">
                <a:alpha val="22000"/>
              </a:srgbClr>
            </a:solidFill>
          </a:ln>
        </p:spPr>
      </p:sp>
      <p:sp>
        <p:nvSpPr>
          <p:cNvPr id="26" name="Line 26"/>
          <p:cNvSpPr/>
          <p:nvPr/>
        </p:nvSpPr>
        <p:spPr>
          <a:xfrm>
            <a:off x="11430000" y="0"/>
            <a:ext cx="9525" cy="6858000"/>
          </a:xfrm>
          <a:custGeom>
            <a:avLst/>
            <a:gdLst/>
            <a:ahLst/>
            <a:cxnLst/>
            <a:rect l="l" t="t" r="r" b="b"/>
            <a:pathLst>
              <a:path w="9525" h="6858000">
                <a:moveTo>
                  <a:pt x="0" y="0"/>
                </a:moveTo>
                <a:lnTo>
                  <a:pt x="0" y="6858000"/>
                </a:lnTo>
              </a:path>
            </a:pathLst>
          </a:custGeom>
          <a:noFill/>
          <a:ln w="4762">
            <a:solidFill>
              <a:srgbClr val="D7EAFF">
                <a:alpha val="22000"/>
              </a:srgbClr>
            </a:solidFill>
          </a:ln>
        </p:spPr>
      </p:sp>
      <p:sp>
        <p:nvSpPr>
          <p:cNvPr id="27" name="Line 27"/>
          <p:cNvSpPr/>
          <p:nvPr/>
        </p:nvSpPr>
        <p:spPr>
          <a:xfrm>
            <a:off x="0" y="762000"/>
            <a:ext cx="12192000" cy="9525"/>
          </a:xfrm>
          <a:custGeom>
            <a:avLst/>
            <a:gdLst/>
            <a:ahLst/>
            <a:cxnLst/>
            <a:rect l="l" t="t" r="r" b="b"/>
            <a:pathLst>
              <a:path w="12192000" h="9525">
                <a:moveTo>
                  <a:pt x="0" y="0"/>
                </a:moveTo>
                <a:lnTo>
                  <a:pt x="12192000" y="0"/>
                </a:lnTo>
              </a:path>
            </a:pathLst>
          </a:custGeom>
          <a:noFill/>
          <a:ln w="4762">
            <a:solidFill>
              <a:srgbClr val="D7EAFF">
                <a:alpha val="22000"/>
              </a:srgbClr>
            </a:solidFill>
          </a:ln>
        </p:spPr>
      </p:sp>
      <p:sp>
        <p:nvSpPr>
          <p:cNvPr id="28" name="Line 28"/>
          <p:cNvSpPr/>
          <p:nvPr/>
        </p:nvSpPr>
        <p:spPr>
          <a:xfrm>
            <a:off x="0" y="1524000"/>
            <a:ext cx="12192000" cy="9525"/>
          </a:xfrm>
          <a:custGeom>
            <a:avLst/>
            <a:gdLst/>
            <a:ahLst/>
            <a:cxnLst/>
            <a:rect l="l" t="t" r="r" b="b"/>
            <a:pathLst>
              <a:path w="12192000" h="9525">
                <a:moveTo>
                  <a:pt x="0" y="0"/>
                </a:moveTo>
                <a:lnTo>
                  <a:pt x="12192000" y="0"/>
                </a:lnTo>
              </a:path>
            </a:pathLst>
          </a:custGeom>
          <a:noFill/>
          <a:ln w="4762">
            <a:solidFill>
              <a:srgbClr val="D7EAFF">
                <a:alpha val="22000"/>
              </a:srgbClr>
            </a:solidFill>
          </a:ln>
        </p:spPr>
      </p:sp>
      <p:sp>
        <p:nvSpPr>
          <p:cNvPr id="29" name="Line 29"/>
          <p:cNvSpPr/>
          <p:nvPr/>
        </p:nvSpPr>
        <p:spPr>
          <a:xfrm>
            <a:off x="0" y="2286000"/>
            <a:ext cx="12192000" cy="9525"/>
          </a:xfrm>
          <a:custGeom>
            <a:avLst/>
            <a:gdLst/>
            <a:ahLst/>
            <a:cxnLst/>
            <a:rect l="l" t="t" r="r" b="b"/>
            <a:pathLst>
              <a:path w="12192000" h="9525">
                <a:moveTo>
                  <a:pt x="0" y="0"/>
                </a:moveTo>
                <a:lnTo>
                  <a:pt x="12192000" y="0"/>
                </a:lnTo>
              </a:path>
            </a:pathLst>
          </a:custGeom>
          <a:noFill/>
          <a:ln w="4762">
            <a:solidFill>
              <a:srgbClr val="D7EAFF">
                <a:alpha val="22000"/>
              </a:srgbClr>
            </a:solidFill>
          </a:ln>
        </p:spPr>
      </p:sp>
      <p:sp>
        <p:nvSpPr>
          <p:cNvPr id="30" name="Line 30"/>
          <p:cNvSpPr/>
          <p:nvPr/>
        </p:nvSpPr>
        <p:spPr>
          <a:xfrm>
            <a:off x="0" y="3048000"/>
            <a:ext cx="12192000" cy="9525"/>
          </a:xfrm>
          <a:custGeom>
            <a:avLst/>
            <a:gdLst/>
            <a:ahLst/>
            <a:cxnLst/>
            <a:rect l="l" t="t" r="r" b="b"/>
            <a:pathLst>
              <a:path w="12192000" h="9525">
                <a:moveTo>
                  <a:pt x="0" y="0"/>
                </a:moveTo>
                <a:lnTo>
                  <a:pt x="12192000" y="0"/>
                </a:lnTo>
              </a:path>
            </a:pathLst>
          </a:custGeom>
          <a:noFill/>
          <a:ln w="4762">
            <a:solidFill>
              <a:srgbClr val="D7EAFF">
                <a:alpha val="22000"/>
              </a:srgbClr>
            </a:solidFill>
          </a:ln>
        </p:spPr>
      </p:sp>
      <p:sp>
        <p:nvSpPr>
          <p:cNvPr id="31" name="Line 31"/>
          <p:cNvSpPr/>
          <p:nvPr/>
        </p:nvSpPr>
        <p:spPr>
          <a:xfrm>
            <a:off x="0" y="3810000"/>
            <a:ext cx="12192000" cy="9525"/>
          </a:xfrm>
          <a:custGeom>
            <a:avLst/>
            <a:gdLst/>
            <a:ahLst/>
            <a:cxnLst/>
            <a:rect l="l" t="t" r="r" b="b"/>
            <a:pathLst>
              <a:path w="12192000" h="9525">
                <a:moveTo>
                  <a:pt x="0" y="0"/>
                </a:moveTo>
                <a:lnTo>
                  <a:pt x="12192000" y="0"/>
                </a:lnTo>
              </a:path>
            </a:pathLst>
          </a:custGeom>
          <a:noFill/>
          <a:ln w="4762">
            <a:solidFill>
              <a:srgbClr val="D7EAFF">
                <a:alpha val="22000"/>
              </a:srgbClr>
            </a:solidFill>
          </a:ln>
        </p:spPr>
      </p:sp>
      <p:sp>
        <p:nvSpPr>
          <p:cNvPr id="32" name="Line 32"/>
          <p:cNvSpPr/>
          <p:nvPr/>
        </p:nvSpPr>
        <p:spPr>
          <a:xfrm>
            <a:off x="0" y="4572000"/>
            <a:ext cx="12192000" cy="9525"/>
          </a:xfrm>
          <a:custGeom>
            <a:avLst/>
            <a:gdLst/>
            <a:ahLst/>
            <a:cxnLst/>
            <a:rect l="l" t="t" r="r" b="b"/>
            <a:pathLst>
              <a:path w="12192000" h="9525">
                <a:moveTo>
                  <a:pt x="0" y="0"/>
                </a:moveTo>
                <a:lnTo>
                  <a:pt x="12192000" y="0"/>
                </a:lnTo>
              </a:path>
            </a:pathLst>
          </a:custGeom>
          <a:noFill/>
          <a:ln w="4762">
            <a:solidFill>
              <a:srgbClr val="D7EAFF">
                <a:alpha val="22000"/>
              </a:srgbClr>
            </a:solidFill>
          </a:ln>
        </p:spPr>
      </p:sp>
      <p:sp>
        <p:nvSpPr>
          <p:cNvPr id="33" name="Line 33"/>
          <p:cNvSpPr/>
          <p:nvPr/>
        </p:nvSpPr>
        <p:spPr>
          <a:xfrm>
            <a:off x="0" y="5334000"/>
            <a:ext cx="12192000" cy="9525"/>
          </a:xfrm>
          <a:custGeom>
            <a:avLst/>
            <a:gdLst/>
            <a:ahLst/>
            <a:cxnLst/>
            <a:rect l="l" t="t" r="r" b="b"/>
            <a:pathLst>
              <a:path w="12192000" h="9525">
                <a:moveTo>
                  <a:pt x="0" y="0"/>
                </a:moveTo>
                <a:lnTo>
                  <a:pt x="12192000" y="0"/>
                </a:lnTo>
              </a:path>
            </a:pathLst>
          </a:custGeom>
          <a:noFill/>
          <a:ln w="4762">
            <a:solidFill>
              <a:srgbClr val="D7EAFF">
                <a:alpha val="22000"/>
              </a:srgbClr>
            </a:solidFill>
          </a:ln>
        </p:spPr>
      </p:sp>
      <p:sp>
        <p:nvSpPr>
          <p:cNvPr id="34" name="Line 34"/>
          <p:cNvSpPr/>
          <p:nvPr/>
        </p:nvSpPr>
        <p:spPr>
          <a:xfrm>
            <a:off x="0" y="6096000"/>
            <a:ext cx="12192000" cy="9525"/>
          </a:xfrm>
          <a:custGeom>
            <a:avLst/>
            <a:gdLst/>
            <a:ahLst/>
            <a:cxnLst/>
            <a:rect l="l" t="t" r="r" b="b"/>
            <a:pathLst>
              <a:path w="12192000" h="9525">
                <a:moveTo>
                  <a:pt x="0" y="0"/>
                </a:moveTo>
                <a:lnTo>
                  <a:pt x="12192000" y="0"/>
                </a:lnTo>
              </a:path>
            </a:pathLst>
          </a:custGeom>
          <a:noFill/>
          <a:ln w="4762">
            <a:solidFill>
              <a:srgbClr val="D7EAFF">
                <a:alpha val="22000"/>
              </a:srgbClr>
            </a:solidFill>
          </a:ln>
        </p:spPr>
      </p:sp>
      <p:grpSp>
        <p:nvGrpSpPr>
          <p:cNvPr id="99" name="Group 99"/>
          <p:cNvGrpSpPr/>
          <p:nvPr/>
        </p:nvGrpSpPr>
        <p:grpSpPr>
          <a:xfrm>
            <a:off x="0" y="0"/>
            <a:ext cx="12192000" cy="6781800"/>
            <a:chOff x="0" y="0"/>
            <a:chExt cx="12192000" cy="6781800"/>
          </a:xfrm>
        </p:grpSpPr>
        <p:sp>
          <p:nvSpPr>
            <p:cNvPr id="35" name="Rectangle 35"/>
            <p:cNvSpPr/>
            <p:nvPr/>
          </p:nvSpPr>
          <p:spPr>
            <a:xfrm>
              <a:off x="0" y="0"/>
              <a:ext cx="12192000" cy="47625"/>
            </a:xfrm>
            <a:prstGeom prst="rect">
              <a:avLst/>
            </a:prstGeom>
            <a:gradFill>
              <a:gsLst>
                <a:gs pos="0">
                  <a:srgbClr val="0B57D0"/>
                </a:gs>
                <a:gs pos="52000">
                  <a:srgbClr val="26A7FF"/>
                </a:gs>
                <a:gs pos="100000">
                  <a:srgbClr val="00D4FF"/>
                </a:gs>
              </a:gsLst>
              <a:lin ang="0" scaled="1"/>
            </a:gradFill>
            <a:ln>
              <a:noFill/>
            </a:ln>
          </p:spPr>
        </p:sp>
        <p:sp>
          <p:nvSpPr>
            <p:cNvPr id="36" name="TextBox 36"/>
            <p:cNvSpPr txBox="1"/>
            <p:nvPr/>
          </p:nvSpPr>
          <p:spPr>
            <a:xfrm>
              <a:off x="504825" y="233362"/>
              <a:ext cx="3723005" cy="346075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2250" b="1" dirty="0">
                  <a:solidFill>
                    <a:srgbClr val="102033"/>
                  </a:solidFill>
                  <a:latin typeface="MiSans Heavy" panose="00000A00000000000000" charset="-122"/>
                  <a:ea typeface="MiSans Heavy" panose="00000A00000000000000" charset="-122"/>
                  <a:cs typeface="等线" panose="02010600030101010101" charset="-122"/>
                </a:rPr>
                <a:t>产品原型设计：核心界面展示</a:t>
              </a:r>
              <a:endParaRPr lang="zh-CN" sz="2250" b="1" dirty="0">
                <a:solidFill>
                  <a:srgbClr val="102033"/>
                </a:solidFill>
                <a:latin typeface="MiSans Heavy" panose="00000A00000000000000" charset="-122"/>
                <a:ea typeface="MiSans Heavy" panose="00000A00000000000000" charset="-122"/>
                <a:cs typeface="等线" panose="02010600030101010101" charset="-122"/>
              </a:endParaRPr>
            </a:p>
          </p:txBody>
        </p:sp>
        <p:sp>
          <p:nvSpPr>
            <p:cNvPr id="37" name="TextBox 37"/>
            <p:cNvSpPr txBox="1"/>
            <p:nvPr/>
          </p:nvSpPr>
          <p:spPr>
            <a:xfrm>
              <a:off x="521970" y="645795"/>
              <a:ext cx="809625" cy="13843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00" b="1" dirty="0">
                  <a:solidFill>
                    <a:srgbClr val="0B57D0"/>
                  </a:solidFill>
                  <a:latin typeface="金山云技术体" charset="-122"/>
                  <a:ea typeface="金山云技术体" charset="-122"/>
                  <a:cs typeface="等线" panose="02010600030101010101" charset="-122"/>
                </a:rPr>
                <a:t>PROTOTYPE UI</a:t>
              </a:r>
              <a:endParaRPr lang="zh-CN" sz="900" b="1" dirty="0">
                <a:solidFill>
                  <a:srgbClr val="0B57D0"/>
                </a:solidFill>
                <a:latin typeface="金山云技术体" charset="-122"/>
                <a:ea typeface="金山云技术体" charset="-122"/>
                <a:cs typeface="等线" panose="02010600030101010101" charset="-122"/>
              </a:endParaRPr>
            </a:p>
          </p:txBody>
        </p:sp>
        <p:sp>
          <p:nvSpPr>
            <p:cNvPr id="38" name="Line 38"/>
            <p:cNvSpPr/>
            <p:nvPr/>
          </p:nvSpPr>
          <p:spPr>
            <a:xfrm>
              <a:off x="533400" y="876300"/>
              <a:ext cx="11125200" cy="9525"/>
            </a:xfrm>
            <a:custGeom>
              <a:avLst/>
              <a:gdLst/>
              <a:ahLst/>
              <a:cxnLst/>
              <a:rect l="l" t="t" r="r" b="b"/>
              <a:pathLst>
                <a:path w="11125200" h="9525">
                  <a:moveTo>
                    <a:pt x="0" y="0"/>
                  </a:moveTo>
                  <a:lnTo>
                    <a:pt x="11125200" y="0"/>
                  </a:lnTo>
                </a:path>
              </a:pathLst>
            </a:custGeom>
            <a:noFill/>
            <a:ln w="11430">
              <a:solidFill>
                <a:srgbClr val="BFD9F4"/>
              </a:solidFill>
            </a:ln>
          </p:spPr>
        </p:sp>
        <p:sp>
          <p:nvSpPr>
            <p:cNvPr id="39" name="Rectangle 39"/>
            <p:cNvSpPr/>
            <p:nvPr/>
          </p:nvSpPr>
          <p:spPr>
            <a:xfrm>
              <a:off x="533400" y="1028700"/>
              <a:ext cx="95250" cy="95250"/>
            </a:xfrm>
            <a:prstGeom prst="roundRect">
              <a:avLst>
                <a:gd name="adj" fmla="val 50000"/>
              </a:avLst>
            </a:prstGeom>
            <a:solidFill>
              <a:srgbClr val="00D4FF"/>
            </a:solidFill>
            <a:ln>
              <a:noFill/>
            </a:ln>
          </p:spPr>
        </p:sp>
        <p:sp>
          <p:nvSpPr>
            <p:cNvPr id="40" name="TextBox 40"/>
            <p:cNvSpPr txBox="1"/>
            <p:nvPr/>
          </p:nvSpPr>
          <p:spPr>
            <a:xfrm>
              <a:off x="765810" y="1003935"/>
              <a:ext cx="3978910" cy="18415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00" b="1" dirty="0">
                  <a:solidFill>
                    <a:srgbClr val="51677F"/>
                  </a:solidFill>
                  <a:latin typeface="MiSans Normal" panose="00000500000000000000" charset="-122"/>
                  <a:ea typeface="MiSans Normal" panose="00000500000000000000" charset="-122"/>
                  <a:cs typeface="等线" panose="02010600030101010101" charset="-122"/>
                </a:rPr>
                <a:t>原型重点展示记忆、规划、陪伴和复盘如何形成完整闭环。</a:t>
              </a:r>
              <a:endParaRPr lang="zh-CN" sz="1200" b="1" dirty="0">
                <a:solidFill>
                  <a:srgbClr val="51677F"/>
                </a:solidFill>
                <a:latin typeface="MiSans Normal" panose="00000500000000000000" charset="-122"/>
                <a:ea typeface="MiSans Normal" panose="00000500000000000000" charset="-122"/>
                <a:cs typeface="等线" panose="02010600030101010101" charset="-122"/>
              </a:endParaRPr>
            </a:p>
          </p:txBody>
        </p:sp>
        <p:sp>
          <p:nvSpPr>
            <p:cNvPr id="41" name="Rectangle 41"/>
            <p:cNvSpPr/>
            <p:nvPr/>
          </p:nvSpPr>
          <p:spPr>
            <a:xfrm>
              <a:off x="495300" y="1581150"/>
              <a:ext cx="11353800" cy="935990"/>
            </a:xfrm>
            <a:prstGeom prst="roundRect">
              <a:avLst>
                <a:gd name="adj" fmla="val 17949"/>
              </a:avLst>
            </a:prstGeom>
            <a:solidFill>
              <a:srgbClr val="0B57D0">
                <a:alpha val="5000"/>
              </a:srgbClr>
            </a:solidFill>
            <a:ln>
              <a:noFill/>
            </a:ln>
          </p:spPr>
        </p:sp>
        <p:sp>
          <p:nvSpPr>
            <p:cNvPr id="42" name="Rectangle 42"/>
            <p:cNvSpPr/>
            <p:nvPr/>
          </p:nvSpPr>
          <p:spPr>
            <a:xfrm>
              <a:off x="419100" y="1485900"/>
              <a:ext cx="11353800" cy="848995"/>
            </a:xfrm>
            <a:prstGeom prst="roundRect">
              <a:avLst>
                <a:gd name="adj" fmla="val 17949"/>
              </a:avLst>
            </a:prstGeom>
            <a:solidFill>
              <a:srgbClr val="FFFFFF"/>
            </a:solidFill>
            <a:ln w="11430">
              <a:solidFill>
                <a:srgbClr val="BFD9F4"/>
              </a:solidFill>
            </a:ln>
          </p:spPr>
        </p:sp>
        <p:sp>
          <p:nvSpPr>
            <p:cNvPr id="43" name="Line 43"/>
            <p:cNvSpPr/>
            <p:nvPr/>
          </p:nvSpPr>
          <p:spPr>
            <a:xfrm>
              <a:off x="590550" y="1495425"/>
              <a:ext cx="1238250" cy="9525"/>
            </a:xfrm>
            <a:custGeom>
              <a:avLst/>
              <a:gdLst/>
              <a:ahLst/>
              <a:cxnLst/>
              <a:rect l="l" t="t" r="r" b="b"/>
              <a:pathLst>
                <a:path w="1238250" h="9525">
                  <a:moveTo>
                    <a:pt x="0" y="0"/>
                  </a:moveTo>
                  <a:lnTo>
                    <a:pt x="1238250" y="0"/>
                  </a:lnTo>
                </a:path>
              </a:pathLst>
            </a:custGeom>
            <a:noFill/>
            <a:ln w="19050">
              <a:solidFill>
                <a:srgbClr val="26A7FF">
                  <a:alpha val="90000"/>
                </a:srgbClr>
              </a:solidFill>
            </a:ln>
          </p:spPr>
        </p:sp>
        <p:sp>
          <p:nvSpPr>
            <p:cNvPr id="44" name="Rectangle 44"/>
            <p:cNvSpPr/>
            <p:nvPr/>
          </p:nvSpPr>
          <p:spPr>
            <a:xfrm>
              <a:off x="590550" y="1657350"/>
              <a:ext cx="285750" cy="285750"/>
            </a:xfrm>
            <a:prstGeom prst="roundRect">
              <a:avLst>
                <a:gd name="adj" fmla="val 33333"/>
              </a:avLst>
            </a:prstGeom>
            <a:solidFill>
              <a:srgbClr val="E7F2FF"/>
            </a:solidFill>
            <a:ln>
              <a:noFill/>
            </a:ln>
          </p:spPr>
        </p:sp>
        <p:grpSp>
          <p:nvGrpSpPr>
            <p:cNvPr id="48" name="Group 48"/>
            <p:cNvGrpSpPr/>
            <p:nvPr/>
          </p:nvGrpSpPr>
          <p:grpSpPr>
            <a:xfrm>
              <a:off x="661988" y="1728788"/>
              <a:ext cx="142874" cy="142875"/>
              <a:chOff x="661988" y="1728788"/>
              <a:chExt cx="142874" cy="142875"/>
            </a:xfrm>
          </p:grpSpPr>
          <p:sp>
            <p:nvSpPr>
              <p:cNvPr id="45" name="Freeform 45"/>
              <p:cNvSpPr/>
              <p:nvPr/>
            </p:nvSpPr>
            <p:spPr>
              <a:xfrm>
                <a:off x="661988" y="1728788"/>
                <a:ext cx="63500" cy="55563"/>
              </a:xfrm>
              <a:custGeom>
                <a:avLst/>
                <a:gdLst/>
                <a:ahLst/>
                <a:cxnLst/>
                <a:rect l="l" t="t" r="r" b="b"/>
                <a:pathLst>
                  <a:path w="63500" h="55563">
                    <a:moveTo>
                      <a:pt x="39688" y="0"/>
                    </a:moveTo>
                    <a:cubicBezTo>
                      <a:pt x="52839" y="0"/>
                      <a:pt x="63500" y="10661"/>
                      <a:pt x="63500" y="23812"/>
                    </a:cubicBezTo>
                    <a:lnTo>
                      <a:pt x="63500" y="31750"/>
                    </a:lnTo>
                    <a:cubicBezTo>
                      <a:pt x="63500" y="44901"/>
                      <a:pt x="52839" y="55563"/>
                      <a:pt x="39688" y="55563"/>
                    </a:cubicBezTo>
                    <a:lnTo>
                      <a:pt x="23812" y="55563"/>
                    </a:lnTo>
                    <a:cubicBezTo>
                      <a:pt x="10661" y="55563"/>
                      <a:pt x="0" y="44901"/>
                      <a:pt x="0" y="31750"/>
                    </a:cubicBezTo>
                    <a:lnTo>
                      <a:pt x="0" y="23812"/>
                    </a:lnTo>
                    <a:cubicBezTo>
                      <a:pt x="0" y="10661"/>
                      <a:pt x="10661" y="0"/>
                      <a:pt x="23812" y="0"/>
                    </a:cubicBezTo>
                    <a:close/>
                  </a:path>
                </a:pathLst>
              </a:custGeom>
              <a:solidFill>
                <a:srgbClr val="0B57D0"/>
              </a:solidFill>
              <a:ln>
                <a:noFill/>
              </a:ln>
            </p:spPr>
          </p:sp>
          <p:sp>
            <p:nvSpPr>
              <p:cNvPr id="46" name="Freeform 46"/>
              <p:cNvSpPr/>
              <p:nvPr/>
            </p:nvSpPr>
            <p:spPr>
              <a:xfrm>
                <a:off x="661988" y="1800225"/>
                <a:ext cx="63500" cy="71438"/>
              </a:xfrm>
              <a:custGeom>
                <a:avLst/>
                <a:gdLst/>
                <a:ahLst/>
                <a:cxnLst/>
                <a:rect l="l" t="t" r="r" b="b"/>
                <a:pathLst>
                  <a:path w="63500" h="71438">
                    <a:moveTo>
                      <a:pt x="39688" y="0"/>
                    </a:moveTo>
                    <a:cubicBezTo>
                      <a:pt x="52839" y="0"/>
                      <a:pt x="63500" y="10661"/>
                      <a:pt x="63500" y="23812"/>
                    </a:cubicBezTo>
                    <a:lnTo>
                      <a:pt x="63500" y="47625"/>
                    </a:lnTo>
                    <a:cubicBezTo>
                      <a:pt x="63500" y="60776"/>
                      <a:pt x="52839" y="71438"/>
                      <a:pt x="39688" y="71438"/>
                    </a:cubicBezTo>
                    <a:lnTo>
                      <a:pt x="23812" y="71438"/>
                    </a:lnTo>
                    <a:cubicBezTo>
                      <a:pt x="10661" y="71438"/>
                      <a:pt x="0" y="60776"/>
                      <a:pt x="0" y="47625"/>
                    </a:cubicBezTo>
                    <a:lnTo>
                      <a:pt x="0" y="23812"/>
                    </a:lnTo>
                    <a:cubicBezTo>
                      <a:pt x="0" y="10661"/>
                      <a:pt x="10661" y="0"/>
                      <a:pt x="23812" y="0"/>
                    </a:cubicBezTo>
                    <a:close/>
                  </a:path>
                </a:pathLst>
              </a:custGeom>
              <a:solidFill>
                <a:srgbClr val="0B57D0"/>
              </a:solidFill>
              <a:ln>
                <a:noFill/>
              </a:ln>
            </p:spPr>
          </p:sp>
          <p:sp>
            <p:nvSpPr>
              <p:cNvPr id="47" name="Freeform 47"/>
              <p:cNvSpPr/>
              <p:nvPr/>
            </p:nvSpPr>
            <p:spPr>
              <a:xfrm>
                <a:off x="741362" y="1728788"/>
                <a:ext cx="63500" cy="142875"/>
              </a:xfrm>
              <a:custGeom>
                <a:avLst/>
                <a:gdLst/>
                <a:ahLst/>
                <a:cxnLst/>
                <a:rect l="l" t="t" r="r" b="b"/>
                <a:pathLst>
                  <a:path w="63500" h="142875">
                    <a:moveTo>
                      <a:pt x="39688" y="0"/>
                    </a:moveTo>
                    <a:cubicBezTo>
                      <a:pt x="52839" y="0"/>
                      <a:pt x="63500" y="10661"/>
                      <a:pt x="63500" y="23812"/>
                    </a:cubicBezTo>
                    <a:lnTo>
                      <a:pt x="63500" y="119062"/>
                    </a:lnTo>
                    <a:cubicBezTo>
                      <a:pt x="63500" y="132214"/>
                      <a:pt x="52839" y="142875"/>
                      <a:pt x="39688" y="142875"/>
                    </a:cubicBezTo>
                    <a:lnTo>
                      <a:pt x="23812" y="142875"/>
                    </a:lnTo>
                    <a:cubicBezTo>
                      <a:pt x="10661" y="142875"/>
                      <a:pt x="0" y="132214"/>
                      <a:pt x="0" y="119062"/>
                    </a:cubicBezTo>
                    <a:lnTo>
                      <a:pt x="0" y="23812"/>
                    </a:lnTo>
                    <a:cubicBezTo>
                      <a:pt x="0" y="10661"/>
                      <a:pt x="10661" y="0"/>
                      <a:pt x="23812" y="0"/>
                    </a:cubicBezTo>
                    <a:close/>
                  </a:path>
                </a:pathLst>
              </a:custGeom>
              <a:solidFill>
                <a:srgbClr val="0B57D0"/>
              </a:solidFill>
              <a:ln>
                <a:noFill/>
              </a:ln>
            </p:spPr>
          </p:sp>
        </p:grpSp>
        <p:sp>
          <p:nvSpPr>
            <p:cNvPr id="49" name="TextBox 49"/>
            <p:cNvSpPr txBox="1"/>
            <p:nvPr/>
          </p:nvSpPr>
          <p:spPr>
            <a:xfrm>
              <a:off x="953452" y="1697196"/>
              <a:ext cx="1223010" cy="245745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600" b="1" dirty="0">
                  <a:solidFill>
                    <a:srgbClr val="102033"/>
                  </a:solidFill>
                  <a:latin typeface="MiSans Normal" panose="00000500000000000000" charset="-122"/>
                  <a:ea typeface="MiSans Normal" panose="00000500000000000000" charset="-122"/>
                  <a:cs typeface="等线" panose="02010600030101010101" charset="-122"/>
                </a:rPr>
                <a:t>界面风格说明</a:t>
              </a:r>
              <a:endParaRPr lang="zh-CN" sz="1600" b="1" dirty="0">
                <a:solidFill>
                  <a:srgbClr val="102033"/>
                </a:solidFill>
                <a:latin typeface="MiSans Normal" panose="00000500000000000000" charset="-122"/>
                <a:ea typeface="MiSans Normal" panose="00000500000000000000" charset="-122"/>
                <a:cs typeface="等线" panose="02010600030101010101" charset="-122"/>
              </a:endParaRPr>
            </a:p>
          </p:txBody>
        </p:sp>
        <p:sp>
          <p:nvSpPr>
            <p:cNvPr id="50" name="TextBox 50"/>
            <p:cNvSpPr txBox="1"/>
            <p:nvPr/>
          </p:nvSpPr>
          <p:spPr>
            <a:xfrm>
              <a:off x="633412" y="2050256"/>
              <a:ext cx="5596890" cy="173355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125" dirty="0">
                  <a:solidFill>
                    <a:srgbClr val="51677F"/>
                  </a:solidFill>
                  <a:latin typeface="MiSans Normal" panose="00000500000000000000" charset="-122"/>
                  <a:ea typeface="MiSans Normal" panose="00000500000000000000" charset="-122"/>
                  <a:cs typeface="等线" panose="02010600030101010101" charset="-122"/>
                </a:rPr>
                <a:t>整体采用蓝白清爽、圆角轻卡片和移动端优先的设计语言，蓝小心始终作为主交互对象。</a:t>
              </a:r>
              <a:endParaRPr lang="zh-CN" sz="1125" dirty="0">
                <a:solidFill>
                  <a:srgbClr val="51677F"/>
                </a:solidFill>
                <a:latin typeface="MiSans Normal" panose="00000500000000000000" charset="-122"/>
                <a:ea typeface="MiSans Normal" panose="00000500000000000000" charset="-122"/>
                <a:cs typeface="等线" panose="02010600030101010101" charset="-122"/>
              </a:endParaRPr>
            </a:p>
          </p:txBody>
        </p:sp>
        <p:sp>
          <p:nvSpPr>
            <p:cNvPr id="51" name="Rectangle 51"/>
            <p:cNvSpPr/>
            <p:nvPr/>
          </p:nvSpPr>
          <p:spPr>
            <a:xfrm>
              <a:off x="781050" y="2686050"/>
              <a:ext cx="1809750" cy="2895600"/>
            </a:xfrm>
            <a:prstGeom prst="roundRect">
              <a:avLst>
                <a:gd name="adj" fmla="val 13684"/>
              </a:avLst>
            </a:prstGeom>
            <a:solidFill>
              <a:srgbClr val="082044"/>
            </a:solidFill>
            <a:ln>
              <a:noFill/>
            </a:ln>
          </p:spPr>
        </p:sp>
        <p:sp>
          <p:nvSpPr>
            <p:cNvPr id="52" name="Rectangle 52"/>
            <p:cNvSpPr/>
            <p:nvPr/>
          </p:nvSpPr>
          <p:spPr>
            <a:xfrm>
              <a:off x="857250" y="2762250"/>
              <a:ext cx="1657350" cy="2743200"/>
            </a:xfrm>
            <a:prstGeom prst="roundRect">
              <a:avLst>
                <a:gd name="adj" fmla="val 12069"/>
              </a:avLst>
            </a:prstGeom>
            <a:solidFill>
              <a:srgbClr val="FFFFFF"/>
            </a:solidFill>
            <a:ln>
              <a:noFill/>
            </a:ln>
          </p:spPr>
        </p:sp>
        <p:sp>
          <p:nvSpPr>
            <p:cNvPr id="53" name="Rectangle 53"/>
            <p:cNvSpPr/>
            <p:nvPr/>
          </p:nvSpPr>
          <p:spPr>
            <a:xfrm>
              <a:off x="990600" y="2914650"/>
              <a:ext cx="1390650" cy="285750"/>
            </a:xfrm>
            <a:prstGeom prst="roundRect">
              <a:avLst>
                <a:gd name="adj" fmla="val 40000"/>
              </a:avLst>
            </a:prstGeom>
            <a:solidFill>
              <a:srgbClr val="0B57D0"/>
            </a:solidFill>
            <a:ln>
              <a:noFill/>
            </a:ln>
          </p:spPr>
        </p:sp>
        <p:sp>
          <p:nvSpPr>
            <p:cNvPr id="54" name="TextBox 54"/>
            <p:cNvSpPr txBox="1"/>
            <p:nvPr/>
          </p:nvSpPr>
          <p:spPr>
            <a:xfrm>
              <a:off x="1300163" y="2975769"/>
              <a:ext cx="765175" cy="18415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00" b="1" dirty="0">
                  <a:solidFill>
                    <a:srgbClr val="FFFFFF"/>
                  </a:solidFill>
                  <a:latin typeface="MiSans Normal" panose="00000500000000000000" charset="-122"/>
                  <a:ea typeface="MiSans Normal" panose="00000500000000000000" charset="-122"/>
                  <a:cs typeface="等线" panose="02010600030101010101" charset="-122"/>
                </a:rPr>
                <a:t>蓝小心空间</a:t>
              </a:r>
              <a:endParaRPr lang="zh-CN" sz="1200" b="1" dirty="0">
                <a:solidFill>
                  <a:srgbClr val="FFFFFF"/>
                </a:solidFill>
                <a:latin typeface="MiSans Normal" panose="00000500000000000000" charset="-122"/>
                <a:ea typeface="MiSans Normal" panose="00000500000000000000" charset="-122"/>
                <a:cs typeface="等线" panose="02010600030101010101" charset="-122"/>
              </a:endParaRPr>
            </a:p>
          </p:txBody>
        </p:sp>
        <p:sp>
          <p:nvSpPr>
            <p:cNvPr id="55" name="Rectangle 55"/>
            <p:cNvSpPr/>
            <p:nvPr/>
          </p:nvSpPr>
          <p:spPr>
            <a:xfrm>
              <a:off x="1009650" y="3429000"/>
              <a:ext cx="1352550" cy="1390650"/>
            </a:xfrm>
            <a:prstGeom prst="roundRect">
              <a:avLst>
                <a:gd name="adj" fmla="val 9859"/>
              </a:avLst>
            </a:prstGeom>
            <a:solidFill>
              <a:srgbClr val="F8FCFF"/>
            </a:solidFill>
            <a:ln w="9525">
              <a:solidFill>
                <a:srgbClr val="C9E4FF"/>
              </a:solidFill>
              <a:custDash>
                <a:ds d="500000" sp="500000"/>
              </a:custDash>
            </a:ln>
          </p:spPr>
        </p:sp>
        <p:sp>
          <p:nvSpPr>
            <p:cNvPr id="56" name="TextBox 56"/>
            <p:cNvSpPr txBox="1"/>
            <p:nvPr/>
          </p:nvSpPr>
          <p:spPr>
            <a:xfrm>
              <a:off x="1622427" y="3830002"/>
              <a:ext cx="127000" cy="1612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endParaRPr lang="zh-CN" sz="1050" b="1" dirty="0">
                <a:solidFill>
                  <a:srgbClr val="0B57D0"/>
                </a:solidFill>
                <a:latin typeface="等线" panose="02010600030101010101" charset="-122"/>
                <a:ea typeface="微软雅黑" panose="020B0503020204020204" charset="-122"/>
                <a:cs typeface="等线" panose="02010600030101010101" charset="-122"/>
              </a:endParaRPr>
            </a:p>
          </p:txBody>
        </p:sp>
        <p:sp>
          <p:nvSpPr>
            <p:cNvPr id="57" name="TextBox 57"/>
            <p:cNvSpPr txBox="1"/>
            <p:nvPr/>
          </p:nvSpPr>
          <p:spPr>
            <a:xfrm>
              <a:off x="1017270" y="4893945"/>
              <a:ext cx="127000" cy="13843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endParaRPr lang="zh-CN" sz="900" dirty="0">
                <a:solidFill>
                  <a:srgbClr val="51677F"/>
                </a:solidFill>
                <a:latin typeface="等线" panose="02010600030101010101" charset="-122"/>
                <a:ea typeface="微软雅黑" panose="020B0503020204020204" charset="-122"/>
                <a:cs typeface="等线" panose="02010600030101010101" charset="-122"/>
              </a:endParaRPr>
            </a:p>
          </p:txBody>
        </p:sp>
        <p:sp>
          <p:nvSpPr>
            <p:cNvPr id="58" name="TextBox 58"/>
            <p:cNvSpPr txBox="1"/>
            <p:nvPr/>
          </p:nvSpPr>
          <p:spPr>
            <a:xfrm>
              <a:off x="1017270" y="5065395"/>
              <a:ext cx="127000" cy="13843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endParaRPr lang="zh-CN" sz="900" dirty="0">
                <a:solidFill>
                  <a:srgbClr val="51677F"/>
                </a:solidFill>
                <a:latin typeface="等线" panose="02010600030101010101" charset="-122"/>
                <a:ea typeface="微软雅黑" panose="020B0503020204020204" charset="-122"/>
                <a:cs typeface="等线" panose="02010600030101010101" charset="-122"/>
              </a:endParaRPr>
            </a:p>
          </p:txBody>
        </p:sp>
        <p:sp>
          <p:nvSpPr>
            <p:cNvPr id="59" name="Rectangle 59"/>
            <p:cNvSpPr/>
            <p:nvPr/>
          </p:nvSpPr>
          <p:spPr>
            <a:xfrm>
              <a:off x="2952750" y="2686050"/>
              <a:ext cx="1809750" cy="2895600"/>
            </a:xfrm>
            <a:prstGeom prst="roundRect">
              <a:avLst>
                <a:gd name="adj" fmla="val 13684"/>
              </a:avLst>
            </a:prstGeom>
            <a:solidFill>
              <a:srgbClr val="082044"/>
            </a:solidFill>
            <a:ln>
              <a:noFill/>
            </a:ln>
          </p:spPr>
        </p:sp>
        <p:sp>
          <p:nvSpPr>
            <p:cNvPr id="60" name="Rectangle 60"/>
            <p:cNvSpPr/>
            <p:nvPr/>
          </p:nvSpPr>
          <p:spPr>
            <a:xfrm>
              <a:off x="3028950" y="2762250"/>
              <a:ext cx="1657350" cy="2743200"/>
            </a:xfrm>
            <a:prstGeom prst="roundRect">
              <a:avLst>
                <a:gd name="adj" fmla="val 12069"/>
              </a:avLst>
            </a:prstGeom>
            <a:solidFill>
              <a:srgbClr val="FFFFFF"/>
            </a:solidFill>
            <a:ln>
              <a:noFill/>
            </a:ln>
          </p:spPr>
        </p:sp>
        <p:sp>
          <p:nvSpPr>
            <p:cNvPr id="61" name="Rectangle 61"/>
            <p:cNvSpPr/>
            <p:nvPr/>
          </p:nvSpPr>
          <p:spPr>
            <a:xfrm>
              <a:off x="3162300" y="2914650"/>
              <a:ext cx="1390650" cy="285750"/>
            </a:xfrm>
            <a:prstGeom prst="roundRect">
              <a:avLst>
                <a:gd name="adj" fmla="val 40000"/>
              </a:avLst>
            </a:prstGeom>
            <a:solidFill>
              <a:srgbClr val="26A7FF"/>
            </a:solidFill>
            <a:ln>
              <a:noFill/>
            </a:ln>
          </p:spPr>
        </p:sp>
        <p:sp>
          <p:nvSpPr>
            <p:cNvPr id="62" name="TextBox 62"/>
            <p:cNvSpPr txBox="1"/>
            <p:nvPr/>
          </p:nvSpPr>
          <p:spPr>
            <a:xfrm>
              <a:off x="3551238" y="2975769"/>
              <a:ext cx="612140" cy="18415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00" b="1" dirty="0">
                  <a:solidFill>
                    <a:srgbClr val="FFFFFF"/>
                  </a:solidFill>
                  <a:latin typeface="MiSans Normal" panose="00000500000000000000" charset="-122"/>
                  <a:ea typeface="MiSans Normal" panose="00000500000000000000" charset="-122"/>
                  <a:cs typeface="等线" panose="02010600030101010101" charset="-122"/>
                </a:rPr>
                <a:t>记忆列表</a:t>
              </a:r>
              <a:endParaRPr lang="zh-CN" sz="1200" b="1" dirty="0">
                <a:solidFill>
                  <a:srgbClr val="FFFFFF"/>
                </a:solidFill>
                <a:latin typeface="MiSans Normal" panose="00000500000000000000" charset="-122"/>
                <a:ea typeface="MiSans Normal" panose="00000500000000000000" charset="-122"/>
                <a:cs typeface="等线" panose="02010600030101010101" charset="-122"/>
              </a:endParaRPr>
            </a:p>
          </p:txBody>
        </p:sp>
        <p:sp>
          <p:nvSpPr>
            <p:cNvPr id="63" name="Rectangle 63"/>
            <p:cNvSpPr/>
            <p:nvPr/>
          </p:nvSpPr>
          <p:spPr>
            <a:xfrm>
              <a:off x="3181350" y="3429000"/>
              <a:ext cx="1352550" cy="1390650"/>
            </a:xfrm>
            <a:prstGeom prst="roundRect">
              <a:avLst>
                <a:gd name="adj" fmla="val 9859"/>
              </a:avLst>
            </a:prstGeom>
            <a:solidFill>
              <a:srgbClr val="F8FCFF"/>
            </a:solidFill>
            <a:ln w="9525">
              <a:solidFill>
                <a:srgbClr val="C9E4FF"/>
              </a:solidFill>
              <a:custDash>
                <a:ds d="500000" sp="500000"/>
              </a:custDash>
            </a:ln>
          </p:spPr>
        </p:sp>
        <p:sp>
          <p:nvSpPr>
            <p:cNvPr id="64" name="TextBox 64"/>
            <p:cNvSpPr txBox="1"/>
            <p:nvPr/>
          </p:nvSpPr>
          <p:spPr>
            <a:xfrm>
              <a:off x="3794126" y="3830002"/>
              <a:ext cx="127000" cy="1612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endParaRPr lang="zh-CN" sz="1050" b="1" dirty="0">
                <a:solidFill>
                  <a:srgbClr val="0B57D0"/>
                </a:solidFill>
                <a:latin typeface="等线" panose="02010600030101010101" charset="-122"/>
                <a:ea typeface="微软雅黑" panose="020B0503020204020204" charset="-122"/>
                <a:cs typeface="等线" panose="02010600030101010101" charset="-122"/>
              </a:endParaRPr>
            </a:p>
          </p:txBody>
        </p:sp>
        <p:sp>
          <p:nvSpPr>
            <p:cNvPr id="67" name="Rectangle 67"/>
            <p:cNvSpPr/>
            <p:nvPr/>
          </p:nvSpPr>
          <p:spPr>
            <a:xfrm>
              <a:off x="5124450" y="2686050"/>
              <a:ext cx="1809750" cy="2895600"/>
            </a:xfrm>
            <a:prstGeom prst="roundRect">
              <a:avLst>
                <a:gd name="adj" fmla="val 13684"/>
              </a:avLst>
            </a:prstGeom>
            <a:solidFill>
              <a:srgbClr val="082044"/>
            </a:solidFill>
            <a:ln>
              <a:noFill/>
            </a:ln>
          </p:spPr>
        </p:sp>
        <p:sp>
          <p:nvSpPr>
            <p:cNvPr id="68" name="Rectangle 68"/>
            <p:cNvSpPr/>
            <p:nvPr/>
          </p:nvSpPr>
          <p:spPr>
            <a:xfrm>
              <a:off x="5200650" y="2762250"/>
              <a:ext cx="1657350" cy="2743200"/>
            </a:xfrm>
            <a:prstGeom prst="roundRect">
              <a:avLst>
                <a:gd name="adj" fmla="val 12069"/>
              </a:avLst>
            </a:prstGeom>
            <a:solidFill>
              <a:srgbClr val="FFFFFF"/>
            </a:solidFill>
            <a:ln>
              <a:noFill/>
            </a:ln>
          </p:spPr>
        </p:sp>
        <p:sp>
          <p:nvSpPr>
            <p:cNvPr id="69" name="Rectangle 69"/>
            <p:cNvSpPr/>
            <p:nvPr/>
          </p:nvSpPr>
          <p:spPr>
            <a:xfrm>
              <a:off x="5334000" y="2914650"/>
              <a:ext cx="1390650" cy="285750"/>
            </a:xfrm>
            <a:prstGeom prst="roundRect">
              <a:avLst>
                <a:gd name="adj" fmla="val 40000"/>
              </a:avLst>
            </a:prstGeom>
            <a:solidFill>
              <a:srgbClr val="00D4FF"/>
            </a:solidFill>
            <a:ln>
              <a:noFill/>
            </a:ln>
          </p:spPr>
        </p:sp>
        <p:sp>
          <p:nvSpPr>
            <p:cNvPr id="70" name="TextBox 70"/>
            <p:cNvSpPr txBox="1"/>
            <p:nvPr/>
          </p:nvSpPr>
          <p:spPr>
            <a:xfrm>
              <a:off x="5646103" y="2975769"/>
              <a:ext cx="765175" cy="18415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00" b="1" dirty="0">
                  <a:solidFill>
                    <a:srgbClr val="FFFFFF"/>
                  </a:solidFill>
                  <a:latin typeface="MiSans Normal" panose="00000500000000000000" charset="-122"/>
                  <a:ea typeface="MiSans Normal" panose="00000500000000000000" charset="-122"/>
                  <a:cs typeface="等线" panose="02010600030101010101" charset="-122"/>
                </a:rPr>
                <a:t>重庆两日游</a:t>
              </a:r>
              <a:endParaRPr lang="zh-CN" sz="1200" b="1" dirty="0">
                <a:solidFill>
                  <a:srgbClr val="FFFFFF"/>
                </a:solidFill>
                <a:latin typeface="MiSans Normal" panose="00000500000000000000" charset="-122"/>
                <a:ea typeface="MiSans Normal" panose="00000500000000000000" charset="-122"/>
                <a:cs typeface="等线" panose="02010600030101010101" charset="-122"/>
              </a:endParaRPr>
            </a:p>
          </p:txBody>
        </p:sp>
        <p:sp>
          <p:nvSpPr>
            <p:cNvPr id="71" name="Rectangle 71"/>
            <p:cNvSpPr/>
            <p:nvPr/>
          </p:nvSpPr>
          <p:spPr>
            <a:xfrm>
              <a:off x="5353050" y="3429000"/>
              <a:ext cx="1352550" cy="1390650"/>
            </a:xfrm>
            <a:prstGeom prst="roundRect">
              <a:avLst>
                <a:gd name="adj" fmla="val 9859"/>
              </a:avLst>
            </a:prstGeom>
            <a:solidFill>
              <a:srgbClr val="F8FCFF"/>
            </a:solidFill>
            <a:ln w="9525">
              <a:solidFill>
                <a:srgbClr val="C9E4FF"/>
              </a:solidFill>
              <a:custDash>
                <a:ds d="500000" sp="500000"/>
              </a:custDash>
            </a:ln>
          </p:spPr>
        </p:sp>
        <p:sp>
          <p:nvSpPr>
            <p:cNvPr id="72" name="TextBox 72"/>
            <p:cNvSpPr txBox="1"/>
            <p:nvPr/>
          </p:nvSpPr>
          <p:spPr>
            <a:xfrm>
              <a:off x="5965827" y="3830002"/>
              <a:ext cx="127000" cy="1612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endParaRPr lang="zh-CN" sz="1050" b="1" dirty="0">
                <a:solidFill>
                  <a:srgbClr val="0B57D0"/>
                </a:solidFill>
                <a:latin typeface="等线" panose="02010600030101010101" charset="-122"/>
                <a:ea typeface="微软雅黑" panose="020B0503020204020204" charset="-122"/>
                <a:cs typeface="等线" panose="02010600030101010101" charset="-122"/>
              </a:endParaRPr>
            </a:p>
          </p:txBody>
        </p:sp>
        <p:sp>
          <p:nvSpPr>
            <p:cNvPr id="75" name="Rectangle 75"/>
            <p:cNvSpPr/>
            <p:nvPr/>
          </p:nvSpPr>
          <p:spPr>
            <a:xfrm>
              <a:off x="7296150" y="2686050"/>
              <a:ext cx="1809750" cy="2895600"/>
            </a:xfrm>
            <a:prstGeom prst="roundRect">
              <a:avLst>
                <a:gd name="adj" fmla="val 13684"/>
              </a:avLst>
            </a:prstGeom>
            <a:solidFill>
              <a:srgbClr val="082044"/>
            </a:solidFill>
            <a:ln>
              <a:noFill/>
            </a:ln>
          </p:spPr>
        </p:sp>
        <p:sp>
          <p:nvSpPr>
            <p:cNvPr id="76" name="Rectangle 76"/>
            <p:cNvSpPr/>
            <p:nvPr/>
          </p:nvSpPr>
          <p:spPr>
            <a:xfrm>
              <a:off x="7372350" y="2762250"/>
              <a:ext cx="1657350" cy="2743200"/>
            </a:xfrm>
            <a:prstGeom prst="roundRect">
              <a:avLst>
                <a:gd name="adj" fmla="val 12069"/>
              </a:avLst>
            </a:prstGeom>
            <a:solidFill>
              <a:srgbClr val="FFFFFF"/>
            </a:solidFill>
            <a:ln>
              <a:noFill/>
            </a:ln>
          </p:spPr>
        </p:sp>
        <p:sp>
          <p:nvSpPr>
            <p:cNvPr id="77" name="Rectangle 77"/>
            <p:cNvSpPr/>
            <p:nvPr/>
          </p:nvSpPr>
          <p:spPr>
            <a:xfrm>
              <a:off x="7505700" y="2914650"/>
              <a:ext cx="1390650" cy="285750"/>
            </a:xfrm>
            <a:prstGeom prst="roundRect">
              <a:avLst>
                <a:gd name="adj" fmla="val 40000"/>
              </a:avLst>
            </a:prstGeom>
            <a:solidFill>
              <a:srgbClr val="0B57D0"/>
            </a:solidFill>
            <a:ln>
              <a:noFill/>
            </a:ln>
          </p:spPr>
        </p:sp>
        <p:sp>
          <p:nvSpPr>
            <p:cNvPr id="78" name="TextBox 78"/>
            <p:cNvSpPr txBox="1"/>
            <p:nvPr/>
          </p:nvSpPr>
          <p:spPr>
            <a:xfrm>
              <a:off x="7894638" y="2975769"/>
              <a:ext cx="612140" cy="18415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00" b="1" dirty="0">
                  <a:solidFill>
                    <a:srgbClr val="FFFFFF"/>
                  </a:solidFill>
                  <a:latin typeface="MiSans Normal" panose="00000500000000000000" charset="-122"/>
                  <a:ea typeface="MiSans Normal" panose="00000500000000000000" charset="-122"/>
                  <a:cs typeface="等线" panose="02010600030101010101" charset="-122"/>
                </a:rPr>
                <a:t>主动提醒</a:t>
              </a:r>
              <a:endParaRPr lang="zh-CN" sz="1200" b="1" dirty="0">
                <a:solidFill>
                  <a:srgbClr val="FFFFFF"/>
                </a:solidFill>
                <a:latin typeface="MiSans Normal" panose="00000500000000000000" charset="-122"/>
                <a:ea typeface="MiSans Normal" panose="00000500000000000000" charset="-122"/>
                <a:cs typeface="等线" panose="02010600030101010101" charset="-122"/>
              </a:endParaRPr>
            </a:p>
          </p:txBody>
        </p:sp>
        <p:sp>
          <p:nvSpPr>
            <p:cNvPr id="79" name="Rectangle 79"/>
            <p:cNvSpPr/>
            <p:nvPr/>
          </p:nvSpPr>
          <p:spPr>
            <a:xfrm>
              <a:off x="7524750" y="3429000"/>
              <a:ext cx="1352550" cy="1390650"/>
            </a:xfrm>
            <a:prstGeom prst="roundRect">
              <a:avLst>
                <a:gd name="adj" fmla="val 9859"/>
              </a:avLst>
            </a:prstGeom>
            <a:solidFill>
              <a:srgbClr val="F8FCFF"/>
            </a:solidFill>
            <a:ln w="9525">
              <a:solidFill>
                <a:srgbClr val="C9E4FF"/>
              </a:solidFill>
              <a:custDash>
                <a:ds d="500000" sp="500000"/>
              </a:custDash>
            </a:ln>
          </p:spPr>
        </p:sp>
        <p:sp>
          <p:nvSpPr>
            <p:cNvPr id="80" name="TextBox 80"/>
            <p:cNvSpPr txBox="1"/>
            <p:nvPr/>
          </p:nvSpPr>
          <p:spPr>
            <a:xfrm>
              <a:off x="8137527" y="3830002"/>
              <a:ext cx="127000" cy="1612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endParaRPr lang="zh-CN" sz="1050" b="1" dirty="0">
                <a:solidFill>
                  <a:srgbClr val="0B57D0"/>
                </a:solidFill>
                <a:latin typeface="等线" panose="02010600030101010101" charset="-122"/>
                <a:ea typeface="微软雅黑" panose="020B0503020204020204" charset="-122"/>
                <a:cs typeface="等线" panose="02010600030101010101" charset="-122"/>
              </a:endParaRPr>
            </a:p>
          </p:txBody>
        </p:sp>
        <p:sp>
          <p:nvSpPr>
            <p:cNvPr id="81" name="TextBox 81"/>
            <p:cNvSpPr txBox="1"/>
            <p:nvPr/>
          </p:nvSpPr>
          <p:spPr>
            <a:xfrm>
              <a:off x="7532370" y="4893945"/>
              <a:ext cx="127000" cy="13843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endParaRPr lang="zh-CN" sz="900" dirty="0">
                <a:solidFill>
                  <a:srgbClr val="51677F"/>
                </a:solidFill>
                <a:latin typeface="等线" panose="02010600030101010101" charset="-122"/>
                <a:ea typeface="微软雅黑" panose="020B0503020204020204" charset="-122"/>
                <a:cs typeface="等线" panose="02010600030101010101" charset="-122"/>
              </a:endParaRPr>
            </a:p>
          </p:txBody>
        </p:sp>
        <p:sp>
          <p:nvSpPr>
            <p:cNvPr id="83" name="Rectangle 83"/>
            <p:cNvSpPr/>
            <p:nvPr/>
          </p:nvSpPr>
          <p:spPr>
            <a:xfrm>
              <a:off x="9467850" y="2686050"/>
              <a:ext cx="1809750" cy="2895600"/>
            </a:xfrm>
            <a:prstGeom prst="roundRect">
              <a:avLst>
                <a:gd name="adj" fmla="val 13684"/>
              </a:avLst>
            </a:prstGeom>
            <a:solidFill>
              <a:srgbClr val="082044"/>
            </a:solidFill>
            <a:ln>
              <a:noFill/>
            </a:ln>
          </p:spPr>
        </p:sp>
        <p:sp>
          <p:nvSpPr>
            <p:cNvPr id="84" name="Rectangle 84"/>
            <p:cNvSpPr/>
            <p:nvPr/>
          </p:nvSpPr>
          <p:spPr>
            <a:xfrm>
              <a:off x="9544050" y="2762250"/>
              <a:ext cx="1657350" cy="2743200"/>
            </a:xfrm>
            <a:prstGeom prst="roundRect">
              <a:avLst>
                <a:gd name="adj" fmla="val 12069"/>
              </a:avLst>
            </a:prstGeom>
            <a:solidFill>
              <a:srgbClr val="FFFFFF"/>
            </a:solidFill>
            <a:ln>
              <a:noFill/>
            </a:ln>
          </p:spPr>
        </p:sp>
        <p:sp>
          <p:nvSpPr>
            <p:cNvPr id="85" name="Rectangle 85"/>
            <p:cNvSpPr/>
            <p:nvPr/>
          </p:nvSpPr>
          <p:spPr>
            <a:xfrm>
              <a:off x="9677400" y="2914650"/>
              <a:ext cx="1390650" cy="285750"/>
            </a:xfrm>
            <a:prstGeom prst="roundRect">
              <a:avLst>
                <a:gd name="adj" fmla="val 40000"/>
              </a:avLst>
            </a:prstGeom>
            <a:solidFill>
              <a:srgbClr val="26A7FF"/>
            </a:solidFill>
            <a:ln>
              <a:noFill/>
            </a:ln>
          </p:spPr>
        </p:sp>
        <p:sp>
          <p:nvSpPr>
            <p:cNvPr id="86" name="TextBox 86"/>
            <p:cNvSpPr txBox="1"/>
            <p:nvPr/>
          </p:nvSpPr>
          <p:spPr>
            <a:xfrm>
              <a:off x="10093643" y="2975769"/>
              <a:ext cx="612140" cy="18415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00" b="1" dirty="0">
                  <a:solidFill>
                    <a:srgbClr val="FFFFFF"/>
                  </a:solidFill>
                  <a:latin typeface="MiSans Normal" panose="00000500000000000000" charset="-122"/>
                  <a:ea typeface="MiSans Normal" panose="00000500000000000000" charset="-122"/>
                  <a:cs typeface="等线" panose="02010600030101010101" charset="-122"/>
                </a:rPr>
                <a:t>旅行复盘</a:t>
              </a:r>
              <a:endParaRPr lang="zh-CN" sz="1200" b="1" dirty="0">
                <a:solidFill>
                  <a:srgbClr val="FFFFFF"/>
                </a:solidFill>
                <a:latin typeface="MiSans Normal" panose="00000500000000000000" charset="-122"/>
                <a:ea typeface="MiSans Normal" panose="00000500000000000000" charset="-122"/>
                <a:cs typeface="等线" panose="02010600030101010101" charset="-122"/>
              </a:endParaRPr>
            </a:p>
          </p:txBody>
        </p:sp>
        <p:sp>
          <p:nvSpPr>
            <p:cNvPr id="87" name="Rectangle 87"/>
            <p:cNvSpPr/>
            <p:nvPr/>
          </p:nvSpPr>
          <p:spPr>
            <a:xfrm>
              <a:off x="9696450" y="3429000"/>
              <a:ext cx="1352550" cy="1390650"/>
            </a:xfrm>
            <a:prstGeom prst="roundRect">
              <a:avLst>
                <a:gd name="adj" fmla="val 9859"/>
              </a:avLst>
            </a:prstGeom>
            <a:solidFill>
              <a:srgbClr val="F8FCFF"/>
            </a:solidFill>
            <a:ln w="9525">
              <a:solidFill>
                <a:srgbClr val="C9E4FF"/>
              </a:solidFill>
              <a:custDash>
                <a:ds d="500000" sp="500000"/>
              </a:custDash>
            </a:ln>
          </p:spPr>
        </p:sp>
        <p:sp>
          <p:nvSpPr>
            <p:cNvPr id="88" name="TextBox 88"/>
            <p:cNvSpPr txBox="1"/>
            <p:nvPr/>
          </p:nvSpPr>
          <p:spPr>
            <a:xfrm>
              <a:off x="10309227" y="3830002"/>
              <a:ext cx="127000" cy="1612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endParaRPr lang="zh-CN" sz="1050" b="1" dirty="0">
                <a:solidFill>
                  <a:srgbClr val="0B57D0"/>
                </a:solidFill>
                <a:latin typeface="等线" panose="02010600030101010101" charset="-122"/>
                <a:ea typeface="微软雅黑" panose="020B0503020204020204" charset="-122"/>
                <a:cs typeface="等线" panose="02010600030101010101" charset="-122"/>
              </a:endParaRPr>
            </a:p>
          </p:txBody>
        </p:sp>
        <p:sp>
          <p:nvSpPr>
            <p:cNvPr id="91" name="Rectangle 91"/>
            <p:cNvSpPr/>
            <p:nvPr/>
          </p:nvSpPr>
          <p:spPr>
            <a:xfrm>
              <a:off x="762000" y="5905500"/>
              <a:ext cx="10020300" cy="514350"/>
            </a:xfrm>
            <a:prstGeom prst="roundRect">
              <a:avLst>
                <a:gd name="adj" fmla="val 29630"/>
              </a:avLst>
            </a:prstGeom>
            <a:solidFill>
              <a:srgbClr val="0B57D0">
                <a:alpha val="5000"/>
              </a:srgbClr>
            </a:solidFill>
            <a:ln>
              <a:noFill/>
            </a:ln>
          </p:spPr>
        </p:sp>
        <p:sp>
          <p:nvSpPr>
            <p:cNvPr id="92" name="Rectangle 92"/>
            <p:cNvSpPr/>
            <p:nvPr/>
          </p:nvSpPr>
          <p:spPr>
            <a:xfrm>
              <a:off x="685800" y="5810250"/>
              <a:ext cx="10020300" cy="514350"/>
            </a:xfrm>
            <a:prstGeom prst="roundRect">
              <a:avLst>
                <a:gd name="adj" fmla="val 29630"/>
              </a:avLst>
            </a:prstGeom>
            <a:solidFill>
              <a:srgbClr val="FFFFFF"/>
            </a:solidFill>
            <a:ln w="11430">
              <a:solidFill>
                <a:srgbClr val="BFD9F4"/>
              </a:solidFill>
            </a:ln>
          </p:spPr>
        </p:sp>
        <p:sp>
          <p:nvSpPr>
            <p:cNvPr id="93" name="Line 93"/>
            <p:cNvSpPr/>
            <p:nvPr/>
          </p:nvSpPr>
          <p:spPr>
            <a:xfrm>
              <a:off x="857250" y="5819775"/>
              <a:ext cx="1238250" cy="9525"/>
            </a:xfrm>
            <a:custGeom>
              <a:avLst/>
              <a:gdLst/>
              <a:ahLst/>
              <a:cxnLst/>
              <a:rect l="l" t="t" r="r" b="b"/>
              <a:pathLst>
                <a:path w="1238250" h="9525">
                  <a:moveTo>
                    <a:pt x="0" y="0"/>
                  </a:moveTo>
                  <a:lnTo>
                    <a:pt x="1238250" y="0"/>
                  </a:lnTo>
                </a:path>
              </a:pathLst>
            </a:custGeom>
            <a:noFill/>
            <a:ln w="19050">
              <a:solidFill>
                <a:srgbClr val="26A7FF">
                  <a:alpha val="90000"/>
                </a:srgbClr>
              </a:solidFill>
            </a:ln>
          </p:spPr>
        </p:sp>
        <p:sp>
          <p:nvSpPr>
            <p:cNvPr id="94" name="Freeform 94"/>
            <p:cNvSpPr/>
            <p:nvPr/>
          </p:nvSpPr>
          <p:spPr>
            <a:xfrm>
              <a:off x="930274" y="5995985"/>
              <a:ext cx="158751" cy="142878"/>
            </a:xfrm>
            <a:custGeom>
              <a:avLst/>
              <a:gdLst/>
              <a:ahLst/>
              <a:cxnLst/>
              <a:rect l="l" t="t" r="r" b="b"/>
              <a:pathLst>
                <a:path w="158751" h="142878">
                  <a:moveTo>
                    <a:pt x="103188" y="3"/>
                  </a:moveTo>
                  <a:cubicBezTo>
                    <a:pt x="111496" y="0"/>
                    <a:pt x="118400" y="6403"/>
                    <a:pt x="119024" y="14687"/>
                  </a:cubicBezTo>
                  <a:lnTo>
                    <a:pt x="119063" y="15878"/>
                  </a:lnTo>
                  <a:cubicBezTo>
                    <a:pt x="119064" y="19902"/>
                    <a:pt x="122076" y="23289"/>
                    <a:pt x="126072" y="23760"/>
                  </a:cubicBezTo>
                  <a:lnTo>
                    <a:pt x="127001" y="23815"/>
                  </a:lnTo>
                  <a:lnTo>
                    <a:pt x="134938" y="23815"/>
                  </a:lnTo>
                  <a:cubicBezTo>
                    <a:pt x="147547" y="23814"/>
                    <a:pt x="157971" y="33643"/>
                    <a:pt x="158711" y="46231"/>
                  </a:cubicBezTo>
                  <a:lnTo>
                    <a:pt x="158751" y="47628"/>
                  </a:lnTo>
                  <a:lnTo>
                    <a:pt x="158751" y="119065"/>
                  </a:lnTo>
                  <a:cubicBezTo>
                    <a:pt x="158751" y="131674"/>
                    <a:pt x="148923" y="142098"/>
                    <a:pt x="136335" y="142838"/>
                  </a:cubicBezTo>
                  <a:lnTo>
                    <a:pt x="134938" y="142878"/>
                  </a:lnTo>
                  <a:lnTo>
                    <a:pt x="23813" y="142878"/>
                  </a:lnTo>
                  <a:cubicBezTo>
                    <a:pt x="11204" y="142878"/>
                    <a:pt x="780" y="133050"/>
                    <a:pt x="40" y="120462"/>
                  </a:cubicBezTo>
                  <a:lnTo>
                    <a:pt x="1" y="119065"/>
                  </a:lnTo>
                  <a:lnTo>
                    <a:pt x="1" y="47628"/>
                  </a:lnTo>
                  <a:cubicBezTo>
                    <a:pt x="0" y="35018"/>
                    <a:pt x="9829" y="24595"/>
                    <a:pt x="22416" y="23855"/>
                  </a:cubicBezTo>
                  <a:lnTo>
                    <a:pt x="23813" y="23815"/>
                  </a:lnTo>
                  <a:lnTo>
                    <a:pt x="31751" y="23815"/>
                  </a:lnTo>
                  <a:cubicBezTo>
                    <a:pt x="36134" y="23815"/>
                    <a:pt x="39688" y="20261"/>
                    <a:pt x="39688" y="15878"/>
                  </a:cubicBezTo>
                  <a:cubicBezTo>
                    <a:pt x="39686" y="7570"/>
                    <a:pt x="46088" y="665"/>
                    <a:pt x="54373" y="42"/>
                  </a:cubicBezTo>
                  <a:lnTo>
                    <a:pt x="55563" y="3"/>
                  </a:lnTo>
                  <a:lnTo>
                    <a:pt x="103188" y="3"/>
                  </a:lnTo>
                  <a:close/>
                  <a:moveTo>
                    <a:pt x="79376" y="55565"/>
                  </a:moveTo>
                  <a:cubicBezTo>
                    <a:pt x="67152" y="55564"/>
                    <a:pt x="56913" y="64819"/>
                    <a:pt x="55682" y="76981"/>
                  </a:cubicBezTo>
                  <a:lnTo>
                    <a:pt x="55595" y="78187"/>
                  </a:lnTo>
                  <a:lnTo>
                    <a:pt x="55563" y="79378"/>
                  </a:lnTo>
                  <a:lnTo>
                    <a:pt x="55595" y="80568"/>
                  </a:lnTo>
                  <a:cubicBezTo>
                    <a:pt x="56245" y="93549"/>
                    <a:pt x="67183" y="103611"/>
                    <a:pt x="80172" y="103177"/>
                  </a:cubicBezTo>
                  <a:cubicBezTo>
                    <a:pt x="93162" y="102743"/>
                    <a:pt x="103404" y="91974"/>
                    <a:pt x="103187" y="78979"/>
                  </a:cubicBezTo>
                  <a:cubicBezTo>
                    <a:pt x="102969" y="65984"/>
                    <a:pt x="92372" y="55564"/>
                    <a:pt x="79376" y="55565"/>
                  </a:cubicBezTo>
                  <a:close/>
                </a:path>
              </a:pathLst>
            </a:custGeom>
            <a:solidFill>
              <a:srgbClr val="0B57D0"/>
            </a:solidFill>
            <a:ln>
              <a:noFill/>
            </a:ln>
          </p:spPr>
        </p:sp>
        <p:sp>
          <p:nvSpPr>
            <p:cNvPr id="95" name="TextBox 95"/>
            <p:cNvSpPr txBox="1"/>
            <p:nvPr/>
          </p:nvSpPr>
          <p:spPr>
            <a:xfrm>
              <a:off x="1202055" y="5997892"/>
              <a:ext cx="688340" cy="207645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b="1" dirty="0">
                  <a:solidFill>
                    <a:srgbClr val="102033"/>
                  </a:solidFill>
                  <a:latin typeface="MiSans Normal" panose="00000500000000000000" charset="-122"/>
                  <a:ea typeface="MiSans Normal" panose="00000500000000000000" charset="-122"/>
                  <a:cs typeface="等线" panose="02010600030101010101" charset="-122"/>
                </a:rPr>
                <a:t>展示重点</a:t>
              </a:r>
              <a:endParaRPr lang="zh-CN" sz="1350" b="1" dirty="0">
                <a:solidFill>
                  <a:srgbClr val="102033"/>
                </a:solidFill>
                <a:latin typeface="MiSans Normal" panose="00000500000000000000" charset="-122"/>
                <a:ea typeface="MiSans Normal" panose="00000500000000000000" charset="-122"/>
                <a:cs typeface="等线" panose="02010600030101010101" charset="-122"/>
              </a:endParaRPr>
            </a:p>
          </p:txBody>
        </p:sp>
        <p:sp>
          <p:nvSpPr>
            <p:cNvPr id="96" name="TextBox 96"/>
            <p:cNvSpPr txBox="1"/>
            <p:nvPr/>
          </p:nvSpPr>
          <p:spPr>
            <a:xfrm>
              <a:off x="2308542" y="5961221"/>
              <a:ext cx="8128000" cy="245745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600" dirty="0">
                  <a:solidFill>
                    <a:srgbClr val="51677F"/>
                  </a:solidFill>
                  <a:latin typeface="MiSans Normal" panose="00000500000000000000" charset="-122"/>
                  <a:ea typeface="MiSans Normal" panose="00000500000000000000" charset="-122"/>
                  <a:cs typeface="等线" panose="02010600030101010101" charset="-122"/>
                </a:rPr>
                <a:t>首页展示蓝小心；记忆页展示偏好资产；规划解释原因；提醒有触发条件；复盘沉淀记忆。</a:t>
              </a:r>
              <a:endParaRPr lang="zh-CN" sz="1600" dirty="0">
                <a:solidFill>
                  <a:srgbClr val="51677F"/>
                </a:solidFill>
                <a:latin typeface="MiSans Normal" panose="00000500000000000000" charset="-122"/>
                <a:ea typeface="MiSans Normal" panose="00000500000000000000" charset="-122"/>
                <a:cs typeface="等线" panose="02010600030101010101" charset="-122"/>
              </a:endParaRPr>
            </a:p>
          </p:txBody>
        </p:sp>
        <p:sp>
          <p:nvSpPr>
            <p:cNvPr id="97" name="TextBox 97"/>
            <p:cNvSpPr txBox="1"/>
            <p:nvPr/>
          </p:nvSpPr>
          <p:spPr>
            <a:xfrm>
              <a:off x="521970" y="6598920"/>
              <a:ext cx="2106263" cy="18288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00" dirty="0">
                  <a:solidFill>
                    <a:srgbClr val="8AA1B7"/>
                  </a:solidFill>
                  <a:latin typeface="等线" panose="02010600030101010101" charset="-122"/>
                  <a:ea typeface="微软雅黑" panose="020B0503020204020204" charset="-122"/>
                  <a:cs typeface="等线" panose="02010600030101010101" charset="-122"/>
                </a:rPr>
                <a:t>蓝心同行 | AIGC创新赛应用赛道初赛</a:t>
              </a:r>
              <a:endParaRPr lang="zh-CN" sz="900" dirty="0">
                <a:solidFill>
                  <a:srgbClr val="8AA1B7"/>
                </a:solidFill>
                <a:latin typeface="等线" panose="02010600030101010101" charset="-122"/>
                <a:ea typeface="微软雅黑" panose="020B0503020204020204" charset="-122"/>
                <a:cs typeface="等线" panose="02010600030101010101" charset="-122"/>
              </a:endParaRPr>
            </a:p>
          </p:txBody>
        </p:sp>
        <p:sp>
          <p:nvSpPr>
            <p:cNvPr id="98" name="TextBox 98"/>
            <p:cNvSpPr txBox="1"/>
            <p:nvPr/>
          </p:nvSpPr>
          <p:spPr>
            <a:xfrm>
              <a:off x="11464480" y="6598920"/>
              <a:ext cx="167449" cy="18288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r"/>
              <a:r>
                <a:rPr lang="zh-CN" sz="900" dirty="0">
                  <a:solidFill>
                    <a:srgbClr val="8AA1B7"/>
                  </a:solidFill>
                  <a:latin typeface="等线" panose="02010600030101010101" charset="-122"/>
                  <a:ea typeface="微软雅黑" panose="020B0503020204020204" charset="-122"/>
                  <a:cs typeface="等线" panose="02010600030101010101" charset="-122"/>
                </a:rPr>
                <a:t>05</a:t>
              </a:r>
              <a:endParaRPr lang="zh-CN" sz="900" dirty="0">
                <a:solidFill>
                  <a:srgbClr val="8AA1B7"/>
                </a:solidFill>
                <a:latin typeface="等线" panose="02010600030101010101" charset="-122"/>
                <a:ea typeface="微软雅黑" panose="020B0503020204020204" charset="-122"/>
                <a:cs typeface="等线" panose="02010600030101010101" charset="-122"/>
              </a:endParaRPr>
            </a:p>
          </p:txBody>
        </p:sp>
      </p:grpSp>
      <p:sp>
        <p:nvSpPr>
          <p:cNvPr id="105" name="Rectangle 104"/>
          <p:cNvSpPr/>
          <p:nvPr/>
        </p:nvSpPr>
        <p:spPr>
          <a:xfrm>
            <a:off x="420000" y="1450000"/>
            <a:ext cx="11370000" cy="5000000"/>
          </a:xfrm>
          <a:prstGeom prst="rect">
            <a:avLst/>
          </a:prstGeom>
          <a:solidFill>
            <a:srgbClr val="F8FB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6" name="Rounded Rectangle 105"/>
          <p:cNvSpPr/>
          <p:nvPr/>
        </p:nvSpPr>
        <p:spPr>
          <a:xfrm>
            <a:off x="495300" y="1545000"/>
            <a:ext cx="11353800" cy="79000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1E2F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7" name="Rectangle 106"/>
          <p:cNvSpPr/>
          <p:nvPr/>
        </p:nvSpPr>
        <p:spPr>
          <a:xfrm>
            <a:off x="590550" y="1625000"/>
            <a:ext cx="1250000" cy="9525"/>
          </a:xfrm>
          <a:prstGeom prst="rect">
            <a:avLst/>
          </a:prstGeom>
          <a:solidFill>
            <a:srgbClr val="0B57D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8" name="TextBox 107"/>
          <p:cNvSpPr txBox="1"/>
          <p:nvPr/>
        </p:nvSpPr>
        <p:spPr>
          <a:xfrm>
            <a:off x="762070" y="1784135"/>
            <a:ext cx="971550" cy="294640"/>
          </a:xfrm>
          <a:prstGeom prst="rect">
            <a:avLst/>
          </a:prstGeom>
          <a:noFill/>
        </p:spPr>
        <p:txBody>
          <a:bodyPr wrap="none" lIns="27432" tIns="9144" rIns="27432" bIns="9144">
            <a:spAutoFit/>
          </a:bodyPr>
          <a:lstStyle/>
          <a:p>
            <a:pPr algn="ctr"/>
            <a:r>
              <a:rPr b="1">
                <a:solidFill>
                  <a:srgbClr val="0B57D0"/>
                </a:solidFill>
                <a:latin typeface="金山云技术体" charset="-122"/>
                <a:ea typeface="金山云技术体" charset="-122"/>
              </a:rPr>
              <a:t>当前功能</a:t>
            </a:r>
            <a:endParaRPr b="1">
              <a:solidFill>
                <a:srgbClr val="0B57D0"/>
              </a:solidFill>
              <a:latin typeface="金山云技术体" charset="-122"/>
              <a:ea typeface="金山云技术体" charset="-122"/>
            </a:endParaRPr>
          </a:p>
        </p:txBody>
      </p:sp>
      <p:sp>
        <p:nvSpPr>
          <p:cNvPr id="109" name="TextBox 108"/>
          <p:cNvSpPr txBox="1"/>
          <p:nvPr/>
        </p:nvSpPr>
        <p:spPr>
          <a:xfrm>
            <a:off x="1890475" y="1815505"/>
            <a:ext cx="869950" cy="263525"/>
          </a:xfrm>
          <a:prstGeom prst="rect">
            <a:avLst/>
          </a:prstGeom>
          <a:noFill/>
        </p:spPr>
        <p:txBody>
          <a:bodyPr wrap="none" lIns="27432" tIns="9144" rIns="27432" bIns="9144">
            <a:spAutoFit/>
          </a:bodyPr>
          <a:lstStyle/>
          <a:p>
            <a:pPr algn="l"/>
            <a:r>
              <a:rPr sz="1600" b="1">
                <a:solidFill>
                  <a:srgbClr val="102033"/>
                </a:solidFill>
                <a:latin typeface="MiSans Normal" panose="00000500000000000000" charset="-122"/>
                <a:ea typeface="MiSans Normal" panose="00000500000000000000" charset="-122"/>
                <a:sym typeface="+mn-ea"/>
              </a:rPr>
              <a:t>旅行复盘</a:t>
            </a:r>
            <a:endParaRPr lang="zh-CN" sz="1600" b="1">
              <a:solidFill>
                <a:srgbClr val="102033"/>
              </a:solidFill>
              <a:latin typeface="MiSans Normal" panose="00000500000000000000" charset="-122"/>
              <a:ea typeface="MiSans Normal" panose="00000500000000000000" charset="-122"/>
              <a:sym typeface="+mn-ea"/>
            </a:endParaRPr>
          </a:p>
        </p:txBody>
      </p:sp>
      <p:sp>
        <p:nvSpPr>
          <p:cNvPr id="123" name="Rectangle 122"/>
          <p:cNvSpPr/>
          <p:nvPr/>
        </p:nvSpPr>
        <p:spPr>
          <a:xfrm>
            <a:off x="11370000" y="6540000"/>
            <a:ext cx="420000" cy="260000"/>
          </a:xfrm>
          <a:prstGeom prst="rect">
            <a:avLst/>
          </a:prstGeom>
          <a:solidFill>
            <a:srgbClr val="F8FB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4" name="TextBox 123"/>
          <p:cNvSpPr txBox="1"/>
          <p:nvPr/>
        </p:nvSpPr>
        <p:spPr>
          <a:xfrm>
            <a:off x="11464480" y="6598920"/>
            <a:ext cx="167449" cy="182880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algn="l"/>
            <a:r>
              <a:rPr sz="900" b="0">
                <a:solidFill>
                  <a:srgbClr val="8AA1B7"/>
                </a:solidFill>
                <a:latin typeface="等线" panose="02010600030101010101" charset="-122"/>
              </a:rPr>
              <a:t>05</a:t>
            </a:r>
            <a:endParaRPr sz="900" b="0">
              <a:solidFill>
                <a:srgbClr val="8AA1B7"/>
              </a:solidFill>
              <a:latin typeface="等线" panose="02010600030101010101" charset="-122"/>
            </a:endParaRPr>
          </a:p>
        </p:txBody>
      </p:sp>
      <p:sp>
        <p:nvSpPr>
          <p:cNvPr id="125" name="TextBox 124"/>
          <p:cNvSpPr txBox="1"/>
          <p:nvPr/>
        </p:nvSpPr>
        <p:spPr>
          <a:xfrm>
            <a:off x="780923" y="2487168"/>
            <a:ext cx="768350" cy="233045"/>
          </a:xfrm>
          <a:prstGeom prst="rect">
            <a:avLst/>
          </a:prstGeom>
          <a:noFill/>
        </p:spPr>
        <p:txBody>
          <a:bodyPr wrap="none" lIns="27432" tIns="9144" rIns="27432" bIns="9144">
            <a:spAutoFit/>
          </a:bodyPr>
          <a:lstStyle/>
          <a:p>
            <a:pPr algn="l"/>
            <a:r>
              <a:rPr sz="1400" b="1">
                <a:solidFill>
                  <a:srgbClr val="0B57D0"/>
                </a:solidFill>
                <a:latin typeface="金山云技术体" charset="-122"/>
                <a:ea typeface="金山云技术体" charset="-122"/>
              </a:rPr>
              <a:t>本页看点</a:t>
            </a:r>
            <a:endParaRPr sz="1400" b="1">
              <a:solidFill>
                <a:srgbClr val="0B57D0"/>
              </a:solidFill>
              <a:latin typeface="金山云技术体" charset="-122"/>
              <a:ea typeface="金山云技术体" charset="-122"/>
            </a:endParaRPr>
          </a:p>
        </p:txBody>
      </p:sp>
      <p:sp>
        <p:nvSpPr>
          <p:cNvPr id="126" name="Rectangle 125"/>
          <p:cNvSpPr/>
          <p:nvPr/>
        </p:nvSpPr>
        <p:spPr>
          <a:xfrm>
            <a:off x="740918" y="2761488"/>
            <a:ext cx="987552" cy="16459"/>
          </a:xfrm>
          <a:prstGeom prst="rect">
            <a:avLst/>
          </a:prstGeom>
          <a:solidFill>
            <a:srgbClr val="0B57D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7" name="TextBox 126"/>
          <p:cNvSpPr txBox="1"/>
          <p:nvPr/>
        </p:nvSpPr>
        <p:spPr>
          <a:xfrm>
            <a:off x="804418" y="3035808"/>
            <a:ext cx="1201420" cy="248285"/>
          </a:xfrm>
          <a:prstGeom prst="rect">
            <a:avLst/>
          </a:prstGeom>
          <a:noFill/>
        </p:spPr>
        <p:txBody>
          <a:bodyPr wrap="none" lIns="27432" tIns="9144" rIns="27432" bIns="9144">
            <a:spAutoFit/>
          </a:bodyPr>
          <a:lstStyle/>
          <a:p>
            <a:pPr algn="l"/>
            <a:r>
              <a:rPr sz="1500" b="1">
                <a:solidFill>
                  <a:srgbClr val="102033"/>
                </a:solidFill>
                <a:latin typeface="MiSans Normal" panose="00000500000000000000" charset="-122"/>
                <a:ea typeface="MiSans Normal" panose="00000500000000000000" charset="-122"/>
                <a:sym typeface="+mn-ea"/>
              </a:rPr>
              <a:t>旅程高光总结</a:t>
            </a:r>
            <a:endParaRPr lang="zh-CN" sz="1500" b="1">
              <a:solidFill>
                <a:srgbClr val="102033"/>
              </a:solidFill>
              <a:latin typeface="MiSans Normal" panose="00000500000000000000" charset="-122"/>
              <a:ea typeface="MiSans Normal" panose="00000500000000000000" charset="-122"/>
            </a:endParaRPr>
          </a:p>
        </p:txBody>
      </p:sp>
      <p:sp>
        <p:nvSpPr>
          <p:cNvPr id="128" name="TextBox 127"/>
          <p:cNvSpPr txBox="1"/>
          <p:nvPr/>
        </p:nvSpPr>
        <p:spPr>
          <a:xfrm>
            <a:off x="804418" y="3429254"/>
            <a:ext cx="1201420" cy="248285"/>
          </a:xfrm>
          <a:prstGeom prst="rect">
            <a:avLst/>
          </a:prstGeom>
          <a:noFill/>
        </p:spPr>
        <p:txBody>
          <a:bodyPr wrap="none" lIns="27432" tIns="9144" rIns="27432" bIns="9144">
            <a:spAutoFit/>
          </a:bodyPr>
          <a:lstStyle/>
          <a:p>
            <a:pPr algn="l"/>
            <a:r>
              <a:rPr sz="1500" b="1">
                <a:solidFill>
                  <a:srgbClr val="102033"/>
                </a:solidFill>
                <a:latin typeface="MiSans Normal" panose="00000500000000000000" charset="-122"/>
                <a:ea typeface="MiSans Normal" panose="00000500000000000000" charset="-122"/>
                <a:sym typeface="+mn-ea"/>
              </a:rPr>
              <a:t>新增记忆沉淀</a:t>
            </a:r>
            <a:endParaRPr lang="zh-CN" sz="1500" b="1">
              <a:solidFill>
                <a:srgbClr val="102033"/>
              </a:solidFill>
              <a:latin typeface="MiSans Normal" panose="00000500000000000000" charset="-122"/>
              <a:ea typeface="MiSans Normal" panose="00000500000000000000" charset="-122"/>
            </a:endParaRPr>
          </a:p>
        </p:txBody>
      </p:sp>
      <p:sp>
        <p:nvSpPr>
          <p:cNvPr id="129" name="Oval 128"/>
          <p:cNvSpPr/>
          <p:nvPr/>
        </p:nvSpPr>
        <p:spPr>
          <a:xfrm>
            <a:off x="877824" y="4101084"/>
            <a:ext cx="68580" cy="68580"/>
          </a:xfrm>
          <a:prstGeom prst="ellipse">
            <a:avLst/>
          </a:prstGeom>
          <a:solidFill>
            <a:srgbClr val="0B57D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0" name="TextBox 129"/>
          <p:cNvSpPr txBox="1"/>
          <p:nvPr/>
        </p:nvSpPr>
        <p:spPr>
          <a:xfrm>
            <a:off x="1042415" y="4041648"/>
            <a:ext cx="2366010" cy="233045"/>
          </a:xfrm>
          <a:prstGeom prst="rect">
            <a:avLst/>
          </a:prstGeom>
          <a:noFill/>
        </p:spPr>
        <p:txBody>
          <a:bodyPr wrap="none" lIns="27432" tIns="9144" rIns="27432" bIns="9144">
            <a:spAutoFit/>
          </a:bodyPr>
          <a:lstStyle/>
          <a:p>
            <a:pPr algn="l"/>
            <a:r>
              <a:rPr sz="1400">
                <a:solidFill>
                  <a:srgbClr val="51677F"/>
                </a:solidFill>
                <a:latin typeface="MiSans Normal" panose="00000500000000000000" charset="-122"/>
                <a:ea typeface="MiSans Normal" panose="00000500000000000000" charset="-122"/>
                <a:sym typeface="+mn-ea"/>
              </a:rPr>
              <a:t>展示旅行结束后的高光与总结</a:t>
            </a:r>
            <a:endParaRPr lang="zh-CN" sz="1400" b="0">
              <a:solidFill>
                <a:srgbClr val="51677F"/>
              </a:solidFill>
              <a:latin typeface="MiSans Normal" panose="00000500000000000000" charset="-122"/>
              <a:ea typeface="MiSans Normal" panose="00000500000000000000" charset="-122"/>
            </a:endParaRPr>
          </a:p>
        </p:txBody>
      </p:sp>
      <p:sp>
        <p:nvSpPr>
          <p:cNvPr id="131" name="Oval 130"/>
          <p:cNvSpPr/>
          <p:nvPr/>
        </p:nvSpPr>
        <p:spPr>
          <a:xfrm>
            <a:off x="877824" y="4649724"/>
            <a:ext cx="68580" cy="68580"/>
          </a:xfrm>
          <a:prstGeom prst="ellipse">
            <a:avLst/>
          </a:prstGeom>
          <a:solidFill>
            <a:srgbClr val="0B57D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2" name="TextBox 131"/>
          <p:cNvSpPr txBox="1"/>
          <p:nvPr/>
        </p:nvSpPr>
        <p:spPr>
          <a:xfrm>
            <a:off x="1042415" y="4590288"/>
            <a:ext cx="2899410" cy="233045"/>
          </a:xfrm>
          <a:prstGeom prst="rect">
            <a:avLst/>
          </a:prstGeom>
          <a:noFill/>
        </p:spPr>
        <p:txBody>
          <a:bodyPr wrap="none" lIns="27432" tIns="9144" rIns="27432" bIns="9144">
            <a:spAutoFit/>
          </a:bodyPr>
          <a:lstStyle/>
          <a:p>
            <a:pPr algn="l"/>
            <a:r>
              <a:rPr sz="1400">
                <a:solidFill>
                  <a:srgbClr val="51677F"/>
                </a:solidFill>
                <a:latin typeface="MiSans Normal" panose="00000500000000000000" charset="-122"/>
                <a:ea typeface="MiSans Normal" panose="00000500000000000000" charset="-122"/>
                <a:sym typeface="+mn-ea"/>
              </a:rPr>
              <a:t>沉淀新增偏好，为下一次旅行做准备</a:t>
            </a:r>
            <a:endParaRPr lang="zh-CN" sz="1400" b="0">
              <a:solidFill>
                <a:srgbClr val="51677F"/>
              </a:solidFill>
              <a:latin typeface="MiSans Normal" panose="00000500000000000000" charset="-122"/>
              <a:ea typeface="MiSans Normal" panose="00000500000000000000" charset="-122"/>
            </a:endParaRPr>
          </a:p>
        </p:txBody>
      </p:sp>
      <p:sp>
        <p:nvSpPr>
          <p:cNvPr id="133" name="Oval 132"/>
          <p:cNvSpPr/>
          <p:nvPr/>
        </p:nvSpPr>
        <p:spPr>
          <a:xfrm>
            <a:off x="877824" y="5198364"/>
            <a:ext cx="68580" cy="68580"/>
          </a:xfrm>
          <a:prstGeom prst="ellipse">
            <a:avLst/>
          </a:prstGeom>
          <a:solidFill>
            <a:srgbClr val="0B57D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4" name="TextBox 133"/>
          <p:cNvSpPr txBox="1"/>
          <p:nvPr/>
        </p:nvSpPr>
        <p:spPr>
          <a:xfrm>
            <a:off x="1042415" y="5138928"/>
            <a:ext cx="2721610" cy="233045"/>
          </a:xfrm>
          <a:prstGeom prst="rect">
            <a:avLst/>
          </a:prstGeom>
          <a:noFill/>
        </p:spPr>
        <p:txBody>
          <a:bodyPr wrap="none" lIns="27432" tIns="9144" rIns="27432" bIns="9144">
            <a:spAutoFit/>
          </a:bodyPr>
          <a:lstStyle/>
          <a:p>
            <a:pPr algn="l"/>
            <a:r>
              <a:rPr sz="1400">
                <a:solidFill>
                  <a:srgbClr val="51677F"/>
                </a:solidFill>
                <a:latin typeface="MiSans Normal" panose="00000500000000000000" charset="-122"/>
                <a:ea typeface="MiSans Normal" panose="00000500000000000000" charset="-122"/>
                <a:sym typeface="+mn-ea"/>
              </a:rPr>
              <a:t>让体验从一次行程延伸为长期关系</a:t>
            </a:r>
            <a:endParaRPr lang="zh-CN" sz="1400" b="0">
              <a:solidFill>
                <a:srgbClr val="51677F"/>
              </a:solidFill>
              <a:latin typeface="MiSans Normal" panose="00000500000000000000" charset="-122"/>
              <a:ea typeface="MiSans Normal" panose="00000500000000000000" charset="-122"/>
              <a:cs typeface="MiSans Normal" panose="00000500000000000000" charset="-122"/>
            </a:endParaRPr>
          </a:p>
        </p:txBody>
      </p:sp>
      <p:grpSp>
        <p:nvGrpSpPr>
          <p:cNvPr id="66" name="组合 65"/>
          <p:cNvGrpSpPr/>
          <p:nvPr/>
        </p:nvGrpSpPr>
        <p:grpSpPr>
          <a:xfrm>
            <a:off x="6615430" y="1755775"/>
            <a:ext cx="2148840" cy="4663440"/>
            <a:chOff x="8626" y="2765"/>
            <a:chExt cx="3384" cy="7344"/>
          </a:xfrm>
        </p:grpSpPr>
        <p:sp>
          <p:nvSpPr>
            <p:cNvPr id="135" name="Rounded Rectangle 134"/>
            <p:cNvSpPr/>
            <p:nvPr/>
          </p:nvSpPr>
          <p:spPr>
            <a:xfrm>
              <a:off x="8626" y="2765"/>
              <a:ext cx="3384" cy="7344"/>
            </a:xfrm>
            <a:prstGeom prst="roundRect">
              <a:avLst/>
            </a:prstGeom>
            <a:solidFill>
              <a:srgbClr val="FFFFFF"/>
            </a:solidFill>
            <a:ln w="14604">
              <a:solidFill>
                <a:srgbClr val="9CCAF5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136" name="Rounded Rectangle 135"/>
            <p:cNvSpPr/>
            <p:nvPr/>
          </p:nvSpPr>
          <p:spPr>
            <a:xfrm>
              <a:off x="9749" y="2952"/>
              <a:ext cx="1123" cy="108"/>
            </a:xfrm>
            <a:prstGeom prst="roundRect">
              <a:avLst/>
            </a:prstGeom>
            <a:solidFill>
              <a:srgbClr val="D7EAFF"/>
            </a:solidFill>
            <a:ln>
              <a:noFill/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137" name="Rounded Rectangle 136"/>
            <p:cNvSpPr/>
            <p:nvPr/>
          </p:nvSpPr>
          <p:spPr>
            <a:xfrm>
              <a:off x="8798" y="3211"/>
              <a:ext cx="3038" cy="6566"/>
            </a:xfrm>
            <a:prstGeom prst="roundRect">
              <a:avLst/>
            </a:prstGeom>
            <a:solidFill>
              <a:srgbClr val="F8FCFF"/>
            </a:solidFill>
            <a:ln w="11430">
              <a:solidFill>
                <a:srgbClr val="C9E4FF"/>
              </a:solidFill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138" name="Rectangle 137"/>
            <p:cNvSpPr/>
            <p:nvPr/>
          </p:nvSpPr>
          <p:spPr>
            <a:xfrm>
              <a:off x="9144" y="4003"/>
              <a:ext cx="2333" cy="20"/>
            </a:xfrm>
            <a:prstGeom prst="rect">
              <a:avLst/>
            </a:prstGeom>
            <a:solidFill>
              <a:srgbClr val="E0F0FF"/>
            </a:solidFill>
            <a:ln>
              <a:noFill/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139" name="Rectangle 138"/>
            <p:cNvSpPr/>
            <p:nvPr/>
          </p:nvSpPr>
          <p:spPr>
            <a:xfrm>
              <a:off x="9144" y="5011"/>
              <a:ext cx="1901" cy="20"/>
            </a:xfrm>
            <a:prstGeom prst="rect">
              <a:avLst/>
            </a:prstGeom>
            <a:solidFill>
              <a:srgbClr val="E0F0FF"/>
            </a:solidFill>
            <a:ln>
              <a:noFill/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140" name="Rectangle 139"/>
            <p:cNvSpPr/>
            <p:nvPr/>
          </p:nvSpPr>
          <p:spPr>
            <a:xfrm>
              <a:off x="9144" y="6019"/>
              <a:ext cx="2333" cy="20"/>
            </a:xfrm>
            <a:prstGeom prst="rect">
              <a:avLst/>
            </a:prstGeom>
            <a:solidFill>
              <a:srgbClr val="E0F0FF"/>
            </a:solidFill>
            <a:ln>
              <a:noFill/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141" name="Rectangle 140"/>
            <p:cNvSpPr/>
            <p:nvPr/>
          </p:nvSpPr>
          <p:spPr>
            <a:xfrm>
              <a:off x="9144" y="7027"/>
              <a:ext cx="1901" cy="20"/>
            </a:xfrm>
            <a:prstGeom prst="rect">
              <a:avLst/>
            </a:prstGeom>
            <a:solidFill>
              <a:srgbClr val="E0F0FF"/>
            </a:solidFill>
            <a:ln>
              <a:noFill/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142" name="Rectangle 141"/>
            <p:cNvSpPr/>
            <p:nvPr/>
          </p:nvSpPr>
          <p:spPr>
            <a:xfrm>
              <a:off x="9144" y="8035"/>
              <a:ext cx="2333" cy="20"/>
            </a:xfrm>
            <a:prstGeom prst="rect">
              <a:avLst/>
            </a:prstGeom>
            <a:solidFill>
              <a:srgbClr val="E0F0FF"/>
            </a:solidFill>
            <a:ln>
              <a:noFill/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</p:grpSp>
      <p:grpSp>
        <p:nvGrpSpPr>
          <p:cNvPr id="65" name="组合 64"/>
          <p:cNvGrpSpPr/>
          <p:nvPr/>
        </p:nvGrpSpPr>
        <p:grpSpPr>
          <a:xfrm>
            <a:off x="9594215" y="1755775"/>
            <a:ext cx="2148840" cy="4663440"/>
            <a:chOff x="13205" y="2765"/>
            <a:chExt cx="3384" cy="7344"/>
          </a:xfrm>
        </p:grpSpPr>
        <p:sp>
          <p:nvSpPr>
            <p:cNvPr id="144" name="Rounded Rectangle 143"/>
            <p:cNvSpPr/>
            <p:nvPr/>
          </p:nvSpPr>
          <p:spPr>
            <a:xfrm>
              <a:off x="13205" y="2765"/>
              <a:ext cx="3384" cy="7344"/>
            </a:xfrm>
            <a:prstGeom prst="roundRect">
              <a:avLst/>
            </a:prstGeom>
            <a:solidFill>
              <a:srgbClr val="FFFFFF"/>
            </a:solidFill>
            <a:ln w="14604">
              <a:solidFill>
                <a:srgbClr val="9CCAF5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145" name="Rounded Rectangle 144"/>
            <p:cNvSpPr/>
            <p:nvPr/>
          </p:nvSpPr>
          <p:spPr>
            <a:xfrm>
              <a:off x="14328" y="2952"/>
              <a:ext cx="1123" cy="108"/>
            </a:xfrm>
            <a:prstGeom prst="roundRect">
              <a:avLst/>
            </a:prstGeom>
            <a:solidFill>
              <a:srgbClr val="D7EAFF"/>
            </a:solidFill>
            <a:ln>
              <a:noFill/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146" name="Rounded Rectangle 145"/>
            <p:cNvSpPr/>
            <p:nvPr/>
          </p:nvSpPr>
          <p:spPr>
            <a:xfrm>
              <a:off x="13378" y="3211"/>
              <a:ext cx="3038" cy="6566"/>
            </a:xfrm>
            <a:prstGeom prst="roundRect">
              <a:avLst/>
            </a:prstGeom>
            <a:solidFill>
              <a:srgbClr val="F8FCFF"/>
            </a:solidFill>
            <a:ln w="11430">
              <a:solidFill>
                <a:srgbClr val="C9E4FF"/>
              </a:solidFill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147" name="Rectangle 146"/>
            <p:cNvSpPr/>
            <p:nvPr/>
          </p:nvSpPr>
          <p:spPr>
            <a:xfrm>
              <a:off x="13723" y="4003"/>
              <a:ext cx="2333" cy="20"/>
            </a:xfrm>
            <a:prstGeom prst="rect">
              <a:avLst/>
            </a:prstGeom>
            <a:solidFill>
              <a:srgbClr val="E0F0FF"/>
            </a:solidFill>
            <a:ln>
              <a:noFill/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148" name="Rectangle 147"/>
            <p:cNvSpPr/>
            <p:nvPr/>
          </p:nvSpPr>
          <p:spPr>
            <a:xfrm>
              <a:off x="13723" y="5011"/>
              <a:ext cx="1901" cy="20"/>
            </a:xfrm>
            <a:prstGeom prst="rect">
              <a:avLst/>
            </a:prstGeom>
            <a:solidFill>
              <a:srgbClr val="E0F0FF"/>
            </a:solidFill>
            <a:ln>
              <a:noFill/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149" name="Rectangle 148"/>
            <p:cNvSpPr/>
            <p:nvPr/>
          </p:nvSpPr>
          <p:spPr>
            <a:xfrm>
              <a:off x="13723" y="6019"/>
              <a:ext cx="2333" cy="20"/>
            </a:xfrm>
            <a:prstGeom prst="rect">
              <a:avLst/>
            </a:prstGeom>
            <a:solidFill>
              <a:srgbClr val="E0F0FF"/>
            </a:solidFill>
            <a:ln>
              <a:noFill/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150" name="Rectangle 149"/>
            <p:cNvSpPr/>
            <p:nvPr/>
          </p:nvSpPr>
          <p:spPr>
            <a:xfrm>
              <a:off x="13723" y="7027"/>
              <a:ext cx="1901" cy="20"/>
            </a:xfrm>
            <a:prstGeom prst="rect">
              <a:avLst/>
            </a:prstGeom>
            <a:solidFill>
              <a:srgbClr val="E0F0FF"/>
            </a:solidFill>
            <a:ln>
              <a:noFill/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151" name="Rectangle 150"/>
            <p:cNvSpPr/>
            <p:nvPr/>
          </p:nvSpPr>
          <p:spPr>
            <a:xfrm>
              <a:off x="13723" y="8035"/>
              <a:ext cx="2333" cy="20"/>
            </a:xfrm>
            <a:prstGeom prst="rect">
              <a:avLst/>
            </a:prstGeom>
            <a:solidFill>
              <a:srgbClr val="E0F0FF"/>
            </a:solidFill>
            <a:ln>
              <a:noFill/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</p:grp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p14:dur="400">
        <p:fade/>
      </p:transition>
    </mc:Choice>
    <mc:Fallback>
      <p:transition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400"/>
                                        <p:tgtEl>
                                          <p:spTgt spid="9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99" grpId="0"/>
    </p:bld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2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4F9FF"/>
          </a:solidFill>
          <a:ln>
            <a:noFill/>
          </a:ln>
        </p:spPr>
      </p:sp>
      <p:sp>
        <p:nvSpPr>
          <p:cNvPr id="3" name="Rectangle 3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gradFill>
            <a:gsLst>
              <a:gs pos="0">
                <a:srgbClr val="26A7FF">
                  <a:alpha val="12000"/>
                </a:srgbClr>
              </a:gs>
              <a:gs pos="100000">
                <a:srgbClr val="26A7FF">
                  <a:alpha val="0"/>
                </a:srgbClr>
              </a:gs>
            </a:gsLst>
            <a:path path="circle">
              <a:fillToRect l="50000" t="50000" r="50000" b="50000"/>
            </a:path>
          </a:gradFill>
          <a:ln>
            <a:noFill/>
          </a:ln>
        </p:spPr>
      </p:sp>
      <p:sp>
        <p:nvSpPr>
          <p:cNvPr id="4" name="Ellipse 4"/>
          <p:cNvSpPr/>
          <p:nvPr/>
        </p:nvSpPr>
        <p:spPr>
          <a:xfrm>
            <a:off x="9391650" y="-304800"/>
            <a:ext cx="2362200" cy="2362200"/>
          </a:xfrm>
          <a:prstGeom prst="ellipse">
            <a:avLst/>
          </a:prstGeom>
          <a:solidFill>
            <a:srgbClr val="26A7FF">
              <a:alpha val="8000"/>
            </a:srgbClr>
          </a:solidFill>
          <a:ln>
            <a:noFill/>
          </a:ln>
        </p:spPr>
      </p:sp>
      <p:sp>
        <p:nvSpPr>
          <p:cNvPr id="5" name="Ellipse 5"/>
          <p:cNvSpPr/>
          <p:nvPr/>
        </p:nvSpPr>
        <p:spPr>
          <a:xfrm>
            <a:off x="10553700" y="647700"/>
            <a:ext cx="1638300" cy="1638300"/>
          </a:xfrm>
          <a:prstGeom prst="ellipse">
            <a:avLst/>
          </a:prstGeom>
          <a:solidFill>
            <a:srgbClr val="00D4FF">
              <a:alpha val="7000"/>
            </a:srgbClr>
          </a:solidFill>
          <a:ln>
            <a:noFill/>
          </a:ln>
        </p:spPr>
      </p:sp>
      <p:sp>
        <p:nvSpPr>
          <p:cNvPr id="6" name="Freeform 6"/>
          <p:cNvSpPr/>
          <p:nvPr/>
        </p:nvSpPr>
        <p:spPr>
          <a:xfrm>
            <a:off x="8382000" y="781050"/>
            <a:ext cx="3390900" cy="438150"/>
          </a:xfrm>
          <a:custGeom>
            <a:avLst/>
            <a:gdLst/>
            <a:ahLst/>
            <a:cxnLst/>
            <a:rect l="l" t="t" r="r" b="b"/>
            <a:pathLst>
              <a:path w="3390900" h="438150">
                <a:moveTo>
                  <a:pt x="0" y="0"/>
                </a:moveTo>
                <a:lnTo>
                  <a:pt x="1600200" y="0"/>
                </a:lnTo>
                <a:lnTo>
                  <a:pt x="2038350" y="438150"/>
                </a:lnTo>
                <a:lnTo>
                  <a:pt x="3390900" y="438150"/>
                </a:lnTo>
              </a:path>
            </a:pathLst>
          </a:custGeom>
          <a:noFill/>
          <a:ln w="13335">
            <a:solidFill>
              <a:srgbClr val="BFD9F4">
                <a:alpha val="75000"/>
              </a:srgbClr>
            </a:solidFill>
          </a:ln>
        </p:spPr>
      </p:sp>
      <p:sp>
        <p:nvSpPr>
          <p:cNvPr id="7" name="Freeform 7"/>
          <p:cNvSpPr/>
          <p:nvPr/>
        </p:nvSpPr>
        <p:spPr>
          <a:xfrm>
            <a:off x="8705850" y="5638800"/>
            <a:ext cx="2990850" cy="457200"/>
          </a:xfrm>
          <a:custGeom>
            <a:avLst/>
            <a:gdLst/>
            <a:ahLst/>
            <a:cxnLst/>
            <a:rect l="l" t="t" r="r" b="b"/>
            <a:pathLst>
              <a:path w="2990850" h="457200">
                <a:moveTo>
                  <a:pt x="0" y="457200"/>
                </a:moveTo>
                <a:lnTo>
                  <a:pt x="1295400" y="457200"/>
                </a:lnTo>
                <a:lnTo>
                  <a:pt x="1752600" y="0"/>
                </a:lnTo>
                <a:lnTo>
                  <a:pt x="2990850" y="0"/>
                </a:lnTo>
              </a:path>
            </a:pathLst>
          </a:custGeom>
          <a:noFill/>
          <a:ln w="11430">
            <a:solidFill>
              <a:srgbClr val="BFD9F4">
                <a:alpha val="65000"/>
              </a:srgbClr>
            </a:solidFill>
          </a:ln>
        </p:spPr>
      </p:sp>
      <p:sp>
        <p:nvSpPr>
          <p:cNvPr id="8" name="Freeform 8"/>
          <p:cNvSpPr/>
          <p:nvPr/>
        </p:nvSpPr>
        <p:spPr>
          <a:xfrm>
            <a:off x="419100" y="5734050"/>
            <a:ext cx="2057400" cy="381000"/>
          </a:xfrm>
          <a:custGeom>
            <a:avLst/>
            <a:gdLst/>
            <a:ahLst/>
            <a:cxnLst/>
            <a:rect l="l" t="t" r="r" b="b"/>
            <a:pathLst>
              <a:path w="2057400" h="381000">
                <a:moveTo>
                  <a:pt x="0" y="381000"/>
                </a:moveTo>
                <a:lnTo>
                  <a:pt x="1676400" y="381000"/>
                </a:lnTo>
                <a:lnTo>
                  <a:pt x="2057400" y="0"/>
                </a:lnTo>
              </a:path>
            </a:pathLst>
          </a:custGeom>
          <a:noFill/>
          <a:ln w="11430">
            <a:solidFill>
              <a:srgbClr val="D7EAFF">
                <a:alpha val="90000"/>
              </a:srgbClr>
            </a:solidFill>
          </a:ln>
        </p:spPr>
      </p:sp>
      <p:sp>
        <p:nvSpPr>
          <p:cNvPr id="9" name="Ellipse 9"/>
          <p:cNvSpPr/>
          <p:nvPr/>
        </p:nvSpPr>
        <p:spPr>
          <a:xfrm>
            <a:off x="9944100" y="742950"/>
            <a:ext cx="76200" cy="76200"/>
          </a:xfrm>
          <a:prstGeom prst="ellipse">
            <a:avLst/>
          </a:prstGeom>
          <a:solidFill>
            <a:srgbClr val="26A7FF"/>
          </a:solidFill>
          <a:ln>
            <a:noFill/>
          </a:ln>
        </p:spPr>
      </p:sp>
      <p:sp>
        <p:nvSpPr>
          <p:cNvPr id="10" name="Ellipse 10"/>
          <p:cNvSpPr/>
          <p:nvPr/>
        </p:nvSpPr>
        <p:spPr>
          <a:xfrm>
            <a:off x="10382250" y="1181100"/>
            <a:ext cx="76200" cy="76200"/>
          </a:xfrm>
          <a:prstGeom prst="ellipse">
            <a:avLst/>
          </a:prstGeom>
          <a:solidFill>
            <a:srgbClr val="00D4FF"/>
          </a:solidFill>
          <a:ln>
            <a:noFill/>
          </a:ln>
        </p:spPr>
      </p:sp>
      <p:sp>
        <p:nvSpPr>
          <p:cNvPr id="11" name="Ellipse 11"/>
          <p:cNvSpPr/>
          <p:nvPr/>
        </p:nvSpPr>
        <p:spPr>
          <a:xfrm>
            <a:off x="2438400" y="5695950"/>
            <a:ext cx="76200" cy="76200"/>
          </a:xfrm>
          <a:prstGeom prst="ellipse">
            <a:avLst/>
          </a:prstGeom>
          <a:solidFill>
            <a:srgbClr val="26A7FF"/>
          </a:solidFill>
          <a:ln>
            <a:noFill/>
          </a:ln>
        </p:spPr>
      </p:sp>
      <p:sp>
        <p:nvSpPr>
          <p:cNvPr id="12" name="Line 12"/>
          <p:cNvSpPr/>
          <p:nvPr/>
        </p:nvSpPr>
        <p:spPr>
          <a:xfrm>
            <a:off x="762000" y="0"/>
            <a:ext cx="9525" cy="6858000"/>
          </a:xfrm>
          <a:custGeom>
            <a:avLst/>
            <a:gdLst/>
            <a:ahLst/>
            <a:cxnLst/>
            <a:rect l="l" t="t" r="r" b="b"/>
            <a:pathLst>
              <a:path w="9525" h="6858000">
                <a:moveTo>
                  <a:pt x="0" y="0"/>
                </a:moveTo>
                <a:lnTo>
                  <a:pt x="0" y="6858000"/>
                </a:lnTo>
              </a:path>
            </a:pathLst>
          </a:custGeom>
          <a:noFill/>
          <a:ln w="4762">
            <a:solidFill>
              <a:srgbClr val="D7EAFF">
                <a:alpha val="22000"/>
              </a:srgbClr>
            </a:solidFill>
          </a:ln>
        </p:spPr>
      </p:sp>
      <p:sp>
        <p:nvSpPr>
          <p:cNvPr id="13" name="Line 13"/>
          <p:cNvSpPr/>
          <p:nvPr/>
        </p:nvSpPr>
        <p:spPr>
          <a:xfrm>
            <a:off x="1524000" y="0"/>
            <a:ext cx="9525" cy="6858000"/>
          </a:xfrm>
          <a:custGeom>
            <a:avLst/>
            <a:gdLst/>
            <a:ahLst/>
            <a:cxnLst/>
            <a:rect l="l" t="t" r="r" b="b"/>
            <a:pathLst>
              <a:path w="9525" h="6858000">
                <a:moveTo>
                  <a:pt x="0" y="0"/>
                </a:moveTo>
                <a:lnTo>
                  <a:pt x="0" y="6858000"/>
                </a:lnTo>
              </a:path>
            </a:pathLst>
          </a:custGeom>
          <a:noFill/>
          <a:ln w="4762">
            <a:solidFill>
              <a:srgbClr val="D7EAFF">
                <a:alpha val="22000"/>
              </a:srgbClr>
            </a:solidFill>
          </a:ln>
        </p:spPr>
      </p:sp>
      <p:sp>
        <p:nvSpPr>
          <p:cNvPr id="14" name="Line 14"/>
          <p:cNvSpPr/>
          <p:nvPr/>
        </p:nvSpPr>
        <p:spPr>
          <a:xfrm>
            <a:off x="2286000" y="0"/>
            <a:ext cx="9525" cy="6858000"/>
          </a:xfrm>
          <a:custGeom>
            <a:avLst/>
            <a:gdLst/>
            <a:ahLst/>
            <a:cxnLst/>
            <a:rect l="l" t="t" r="r" b="b"/>
            <a:pathLst>
              <a:path w="9525" h="6858000">
                <a:moveTo>
                  <a:pt x="0" y="0"/>
                </a:moveTo>
                <a:lnTo>
                  <a:pt x="0" y="6858000"/>
                </a:lnTo>
              </a:path>
            </a:pathLst>
          </a:custGeom>
          <a:noFill/>
          <a:ln w="4762">
            <a:solidFill>
              <a:srgbClr val="D7EAFF">
                <a:alpha val="22000"/>
              </a:srgbClr>
            </a:solidFill>
          </a:ln>
        </p:spPr>
      </p:sp>
      <p:sp>
        <p:nvSpPr>
          <p:cNvPr id="15" name="Line 15"/>
          <p:cNvSpPr/>
          <p:nvPr/>
        </p:nvSpPr>
        <p:spPr>
          <a:xfrm>
            <a:off x="3048000" y="0"/>
            <a:ext cx="9525" cy="6858000"/>
          </a:xfrm>
          <a:custGeom>
            <a:avLst/>
            <a:gdLst/>
            <a:ahLst/>
            <a:cxnLst/>
            <a:rect l="l" t="t" r="r" b="b"/>
            <a:pathLst>
              <a:path w="9525" h="6858000">
                <a:moveTo>
                  <a:pt x="0" y="0"/>
                </a:moveTo>
                <a:lnTo>
                  <a:pt x="0" y="6858000"/>
                </a:lnTo>
              </a:path>
            </a:pathLst>
          </a:custGeom>
          <a:noFill/>
          <a:ln w="4762">
            <a:solidFill>
              <a:srgbClr val="D7EAFF">
                <a:alpha val="22000"/>
              </a:srgbClr>
            </a:solidFill>
          </a:ln>
        </p:spPr>
      </p:sp>
      <p:sp>
        <p:nvSpPr>
          <p:cNvPr id="16" name="Line 16"/>
          <p:cNvSpPr/>
          <p:nvPr/>
        </p:nvSpPr>
        <p:spPr>
          <a:xfrm>
            <a:off x="3810000" y="0"/>
            <a:ext cx="9525" cy="6858000"/>
          </a:xfrm>
          <a:custGeom>
            <a:avLst/>
            <a:gdLst/>
            <a:ahLst/>
            <a:cxnLst/>
            <a:rect l="l" t="t" r="r" b="b"/>
            <a:pathLst>
              <a:path w="9525" h="6858000">
                <a:moveTo>
                  <a:pt x="0" y="0"/>
                </a:moveTo>
                <a:lnTo>
                  <a:pt x="0" y="6858000"/>
                </a:lnTo>
              </a:path>
            </a:pathLst>
          </a:custGeom>
          <a:noFill/>
          <a:ln w="4762">
            <a:solidFill>
              <a:srgbClr val="D7EAFF">
                <a:alpha val="22000"/>
              </a:srgbClr>
            </a:solidFill>
          </a:ln>
        </p:spPr>
      </p:sp>
      <p:sp>
        <p:nvSpPr>
          <p:cNvPr id="17" name="Line 17"/>
          <p:cNvSpPr/>
          <p:nvPr/>
        </p:nvSpPr>
        <p:spPr>
          <a:xfrm>
            <a:off x="4572000" y="0"/>
            <a:ext cx="9525" cy="6858000"/>
          </a:xfrm>
          <a:custGeom>
            <a:avLst/>
            <a:gdLst/>
            <a:ahLst/>
            <a:cxnLst/>
            <a:rect l="l" t="t" r="r" b="b"/>
            <a:pathLst>
              <a:path w="9525" h="6858000">
                <a:moveTo>
                  <a:pt x="0" y="0"/>
                </a:moveTo>
                <a:lnTo>
                  <a:pt x="0" y="6858000"/>
                </a:lnTo>
              </a:path>
            </a:pathLst>
          </a:custGeom>
          <a:noFill/>
          <a:ln w="4762">
            <a:solidFill>
              <a:srgbClr val="D7EAFF">
                <a:alpha val="22000"/>
              </a:srgbClr>
            </a:solidFill>
          </a:ln>
        </p:spPr>
      </p:sp>
      <p:sp>
        <p:nvSpPr>
          <p:cNvPr id="18" name="Line 18"/>
          <p:cNvSpPr/>
          <p:nvPr/>
        </p:nvSpPr>
        <p:spPr>
          <a:xfrm>
            <a:off x="5334000" y="0"/>
            <a:ext cx="9525" cy="6858000"/>
          </a:xfrm>
          <a:custGeom>
            <a:avLst/>
            <a:gdLst/>
            <a:ahLst/>
            <a:cxnLst/>
            <a:rect l="l" t="t" r="r" b="b"/>
            <a:pathLst>
              <a:path w="9525" h="6858000">
                <a:moveTo>
                  <a:pt x="0" y="0"/>
                </a:moveTo>
                <a:lnTo>
                  <a:pt x="0" y="6858000"/>
                </a:lnTo>
              </a:path>
            </a:pathLst>
          </a:custGeom>
          <a:noFill/>
          <a:ln w="4762">
            <a:solidFill>
              <a:srgbClr val="D7EAFF">
                <a:alpha val="22000"/>
              </a:srgbClr>
            </a:solidFill>
          </a:ln>
        </p:spPr>
      </p:sp>
      <p:sp>
        <p:nvSpPr>
          <p:cNvPr id="19" name="Line 19"/>
          <p:cNvSpPr/>
          <p:nvPr/>
        </p:nvSpPr>
        <p:spPr>
          <a:xfrm>
            <a:off x="6096000" y="0"/>
            <a:ext cx="9525" cy="6858000"/>
          </a:xfrm>
          <a:custGeom>
            <a:avLst/>
            <a:gdLst/>
            <a:ahLst/>
            <a:cxnLst/>
            <a:rect l="l" t="t" r="r" b="b"/>
            <a:pathLst>
              <a:path w="9525" h="6858000">
                <a:moveTo>
                  <a:pt x="0" y="0"/>
                </a:moveTo>
                <a:lnTo>
                  <a:pt x="0" y="6858000"/>
                </a:lnTo>
              </a:path>
            </a:pathLst>
          </a:custGeom>
          <a:noFill/>
          <a:ln w="4762">
            <a:solidFill>
              <a:srgbClr val="D7EAFF">
                <a:alpha val="22000"/>
              </a:srgbClr>
            </a:solidFill>
          </a:ln>
        </p:spPr>
      </p:sp>
      <p:sp>
        <p:nvSpPr>
          <p:cNvPr id="20" name="Line 20"/>
          <p:cNvSpPr/>
          <p:nvPr/>
        </p:nvSpPr>
        <p:spPr>
          <a:xfrm>
            <a:off x="6858000" y="0"/>
            <a:ext cx="9525" cy="6858000"/>
          </a:xfrm>
          <a:custGeom>
            <a:avLst/>
            <a:gdLst/>
            <a:ahLst/>
            <a:cxnLst/>
            <a:rect l="l" t="t" r="r" b="b"/>
            <a:pathLst>
              <a:path w="9525" h="6858000">
                <a:moveTo>
                  <a:pt x="0" y="0"/>
                </a:moveTo>
                <a:lnTo>
                  <a:pt x="0" y="6858000"/>
                </a:lnTo>
              </a:path>
            </a:pathLst>
          </a:custGeom>
          <a:noFill/>
          <a:ln w="4762">
            <a:solidFill>
              <a:srgbClr val="D7EAFF">
                <a:alpha val="22000"/>
              </a:srgbClr>
            </a:solidFill>
          </a:ln>
        </p:spPr>
      </p:sp>
      <p:sp>
        <p:nvSpPr>
          <p:cNvPr id="21" name="Line 21"/>
          <p:cNvSpPr/>
          <p:nvPr/>
        </p:nvSpPr>
        <p:spPr>
          <a:xfrm>
            <a:off x="7620000" y="0"/>
            <a:ext cx="9525" cy="6858000"/>
          </a:xfrm>
          <a:custGeom>
            <a:avLst/>
            <a:gdLst/>
            <a:ahLst/>
            <a:cxnLst/>
            <a:rect l="l" t="t" r="r" b="b"/>
            <a:pathLst>
              <a:path w="9525" h="6858000">
                <a:moveTo>
                  <a:pt x="0" y="0"/>
                </a:moveTo>
                <a:lnTo>
                  <a:pt x="0" y="6858000"/>
                </a:lnTo>
              </a:path>
            </a:pathLst>
          </a:custGeom>
          <a:noFill/>
          <a:ln w="4762">
            <a:solidFill>
              <a:srgbClr val="D7EAFF">
                <a:alpha val="22000"/>
              </a:srgbClr>
            </a:solidFill>
          </a:ln>
        </p:spPr>
      </p:sp>
      <p:sp>
        <p:nvSpPr>
          <p:cNvPr id="22" name="Line 22"/>
          <p:cNvSpPr/>
          <p:nvPr/>
        </p:nvSpPr>
        <p:spPr>
          <a:xfrm>
            <a:off x="8382000" y="0"/>
            <a:ext cx="9525" cy="6858000"/>
          </a:xfrm>
          <a:custGeom>
            <a:avLst/>
            <a:gdLst/>
            <a:ahLst/>
            <a:cxnLst/>
            <a:rect l="l" t="t" r="r" b="b"/>
            <a:pathLst>
              <a:path w="9525" h="6858000">
                <a:moveTo>
                  <a:pt x="0" y="0"/>
                </a:moveTo>
                <a:lnTo>
                  <a:pt x="0" y="6858000"/>
                </a:lnTo>
              </a:path>
            </a:pathLst>
          </a:custGeom>
          <a:noFill/>
          <a:ln w="4762">
            <a:solidFill>
              <a:srgbClr val="D7EAFF">
                <a:alpha val="22000"/>
              </a:srgbClr>
            </a:solidFill>
          </a:ln>
        </p:spPr>
      </p:sp>
      <p:sp>
        <p:nvSpPr>
          <p:cNvPr id="23" name="Line 23"/>
          <p:cNvSpPr/>
          <p:nvPr/>
        </p:nvSpPr>
        <p:spPr>
          <a:xfrm>
            <a:off x="9144000" y="0"/>
            <a:ext cx="9525" cy="6858000"/>
          </a:xfrm>
          <a:custGeom>
            <a:avLst/>
            <a:gdLst/>
            <a:ahLst/>
            <a:cxnLst/>
            <a:rect l="l" t="t" r="r" b="b"/>
            <a:pathLst>
              <a:path w="9525" h="6858000">
                <a:moveTo>
                  <a:pt x="0" y="0"/>
                </a:moveTo>
                <a:lnTo>
                  <a:pt x="0" y="6858000"/>
                </a:lnTo>
              </a:path>
            </a:pathLst>
          </a:custGeom>
          <a:noFill/>
          <a:ln w="4762">
            <a:solidFill>
              <a:srgbClr val="D7EAFF">
                <a:alpha val="22000"/>
              </a:srgbClr>
            </a:solidFill>
          </a:ln>
        </p:spPr>
      </p:sp>
      <p:sp>
        <p:nvSpPr>
          <p:cNvPr id="24" name="Line 24"/>
          <p:cNvSpPr/>
          <p:nvPr/>
        </p:nvSpPr>
        <p:spPr>
          <a:xfrm>
            <a:off x="9906000" y="0"/>
            <a:ext cx="9525" cy="6858000"/>
          </a:xfrm>
          <a:custGeom>
            <a:avLst/>
            <a:gdLst/>
            <a:ahLst/>
            <a:cxnLst/>
            <a:rect l="l" t="t" r="r" b="b"/>
            <a:pathLst>
              <a:path w="9525" h="6858000">
                <a:moveTo>
                  <a:pt x="0" y="0"/>
                </a:moveTo>
                <a:lnTo>
                  <a:pt x="0" y="6858000"/>
                </a:lnTo>
              </a:path>
            </a:pathLst>
          </a:custGeom>
          <a:noFill/>
          <a:ln w="4762">
            <a:solidFill>
              <a:srgbClr val="D7EAFF">
                <a:alpha val="22000"/>
              </a:srgbClr>
            </a:solidFill>
          </a:ln>
        </p:spPr>
      </p:sp>
      <p:sp>
        <p:nvSpPr>
          <p:cNvPr id="25" name="Line 25"/>
          <p:cNvSpPr/>
          <p:nvPr/>
        </p:nvSpPr>
        <p:spPr>
          <a:xfrm>
            <a:off x="10668000" y="0"/>
            <a:ext cx="9525" cy="6858000"/>
          </a:xfrm>
          <a:custGeom>
            <a:avLst/>
            <a:gdLst/>
            <a:ahLst/>
            <a:cxnLst/>
            <a:rect l="l" t="t" r="r" b="b"/>
            <a:pathLst>
              <a:path w="9525" h="6858000">
                <a:moveTo>
                  <a:pt x="0" y="0"/>
                </a:moveTo>
                <a:lnTo>
                  <a:pt x="0" y="6858000"/>
                </a:lnTo>
              </a:path>
            </a:pathLst>
          </a:custGeom>
          <a:noFill/>
          <a:ln w="4762">
            <a:solidFill>
              <a:srgbClr val="D7EAFF">
                <a:alpha val="22000"/>
              </a:srgbClr>
            </a:solidFill>
          </a:ln>
        </p:spPr>
      </p:sp>
      <p:sp>
        <p:nvSpPr>
          <p:cNvPr id="26" name="Line 26"/>
          <p:cNvSpPr/>
          <p:nvPr/>
        </p:nvSpPr>
        <p:spPr>
          <a:xfrm>
            <a:off x="11430000" y="0"/>
            <a:ext cx="9525" cy="6858000"/>
          </a:xfrm>
          <a:custGeom>
            <a:avLst/>
            <a:gdLst/>
            <a:ahLst/>
            <a:cxnLst/>
            <a:rect l="l" t="t" r="r" b="b"/>
            <a:pathLst>
              <a:path w="9525" h="6858000">
                <a:moveTo>
                  <a:pt x="0" y="0"/>
                </a:moveTo>
                <a:lnTo>
                  <a:pt x="0" y="6858000"/>
                </a:lnTo>
              </a:path>
            </a:pathLst>
          </a:custGeom>
          <a:noFill/>
          <a:ln w="4762">
            <a:solidFill>
              <a:srgbClr val="D7EAFF">
                <a:alpha val="22000"/>
              </a:srgbClr>
            </a:solidFill>
          </a:ln>
        </p:spPr>
      </p:sp>
      <p:sp>
        <p:nvSpPr>
          <p:cNvPr id="27" name="Line 27"/>
          <p:cNvSpPr/>
          <p:nvPr/>
        </p:nvSpPr>
        <p:spPr>
          <a:xfrm>
            <a:off x="0" y="762000"/>
            <a:ext cx="12192000" cy="9525"/>
          </a:xfrm>
          <a:custGeom>
            <a:avLst/>
            <a:gdLst/>
            <a:ahLst/>
            <a:cxnLst/>
            <a:rect l="l" t="t" r="r" b="b"/>
            <a:pathLst>
              <a:path w="12192000" h="9525">
                <a:moveTo>
                  <a:pt x="0" y="0"/>
                </a:moveTo>
                <a:lnTo>
                  <a:pt x="12192000" y="0"/>
                </a:lnTo>
              </a:path>
            </a:pathLst>
          </a:custGeom>
          <a:noFill/>
          <a:ln w="4762">
            <a:solidFill>
              <a:srgbClr val="D7EAFF">
                <a:alpha val="22000"/>
              </a:srgbClr>
            </a:solidFill>
          </a:ln>
        </p:spPr>
      </p:sp>
      <p:sp>
        <p:nvSpPr>
          <p:cNvPr id="28" name="Line 28"/>
          <p:cNvSpPr/>
          <p:nvPr/>
        </p:nvSpPr>
        <p:spPr>
          <a:xfrm>
            <a:off x="0" y="1524000"/>
            <a:ext cx="12192000" cy="9525"/>
          </a:xfrm>
          <a:custGeom>
            <a:avLst/>
            <a:gdLst/>
            <a:ahLst/>
            <a:cxnLst/>
            <a:rect l="l" t="t" r="r" b="b"/>
            <a:pathLst>
              <a:path w="12192000" h="9525">
                <a:moveTo>
                  <a:pt x="0" y="0"/>
                </a:moveTo>
                <a:lnTo>
                  <a:pt x="12192000" y="0"/>
                </a:lnTo>
              </a:path>
            </a:pathLst>
          </a:custGeom>
          <a:noFill/>
          <a:ln w="4762">
            <a:solidFill>
              <a:srgbClr val="D7EAFF">
                <a:alpha val="22000"/>
              </a:srgbClr>
            </a:solidFill>
          </a:ln>
        </p:spPr>
      </p:sp>
      <p:sp>
        <p:nvSpPr>
          <p:cNvPr id="29" name="Line 29"/>
          <p:cNvSpPr/>
          <p:nvPr/>
        </p:nvSpPr>
        <p:spPr>
          <a:xfrm>
            <a:off x="0" y="2286000"/>
            <a:ext cx="12192000" cy="9525"/>
          </a:xfrm>
          <a:custGeom>
            <a:avLst/>
            <a:gdLst/>
            <a:ahLst/>
            <a:cxnLst/>
            <a:rect l="l" t="t" r="r" b="b"/>
            <a:pathLst>
              <a:path w="12192000" h="9525">
                <a:moveTo>
                  <a:pt x="0" y="0"/>
                </a:moveTo>
                <a:lnTo>
                  <a:pt x="12192000" y="0"/>
                </a:lnTo>
              </a:path>
            </a:pathLst>
          </a:custGeom>
          <a:noFill/>
          <a:ln w="4762">
            <a:solidFill>
              <a:srgbClr val="D7EAFF">
                <a:alpha val="22000"/>
              </a:srgbClr>
            </a:solidFill>
          </a:ln>
        </p:spPr>
      </p:sp>
      <p:sp>
        <p:nvSpPr>
          <p:cNvPr id="30" name="Line 30"/>
          <p:cNvSpPr/>
          <p:nvPr/>
        </p:nvSpPr>
        <p:spPr>
          <a:xfrm>
            <a:off x="0" y="3048000"/>
            <a:ext cx="12192000" cy="9525"/>
          </a:xfrm>
          <a:custGeom>
            <a:avLst/>
            <a:gdLst/>
            <a:ahLst/>
            <a:cxnLst/>
            <a:rect l="l" t="t" r="r" b="b"/>
            <a:pathLst>
              <a:path w="12192000" h="9525">
                <a:moveTo>
                  <a:pt x="0" y="0"/>
                </a:moveTo>
                <a:lnTo>
                  <a:pt x="12192000" y="0"/>
                </a:lnTo>
              </a:path>
            </a:pathLst>
          </a:custGeom>
          <a:noFill/>
          <a:ln w="4762">
            <a:solidFill>
              <a:srgbClr val="D7EAFF">
                <a:alpha val="22000"/>
              </a:srgbClr>
            </a:solidFill>
          </a:ln>
        </p:spPr>
      </p:sp>
      <p:sp>
        <p:nvSpPr>
          <p:cNvPr id="31" name="Line 31"/>
          <p:cNvSpPr/>
          <p:nvPr/>
        </p:nvSpPr>
        <p:spPr>
          <a:xfrm>
            <a:off x="0" y="3810000"/>
            <a:ext cx="12192000" cy="9525"/>
          </a:xfrm>
          <a:custGeom>
            <a:avLst/>
            <a:gdLst/>
            <a:ahLst/>
            <a:cxnLst/>
            <a:rect l="l" t="t" r="r" b="b"/>
            <a:pathLst>
              <a:path w="12192000" h="9525">
                <a:moveTo>
                  <a:pt x="0" y="0"/>
                </a:moveTo>
                <a:lnTo>
                  <a:pt x="12192000" y="0"/>
                </a:lnTo>
              </a:path>
            </a:pathLst>
          </a:custGeom>
          <a:noFill/>
          <a:ln w="4762">
            <a:solidFill>
              <a:srgbClr val="D7EAFF">
                <a:alpha val="22000"/>
              </a:srgbClr>
            </a:solidFill>
          </a:ln>
        </p:spPr>
      </p:sp>
      <p:sp>
        <p:nvSpPr>
          <p:cNvPr id="32" name="Line 32"/>
          <p:cNvSpPr/>
          <p:nvPr/>
        </p:nvSpPr>
        <p:spPr>
          <a:xfrm>
            <a:off x="0" y="4572000"/>
            <a:ext cx="12192000" cy="9525"/>
          </a:xfrm>
          <a:custGeom>
            <a:avLst/>
            <a:gdLst/>
            <a:ahLst/>
            <a:cxnLst/>
            <a:rect l="l" t="t" r="r" b="b"/>
            <a:pathLst>
              <a:path w="12192000" h="9525">
                <a:moveTo>
                  <a:pt x="0" y="0"/>
                </a:moveTo>
                <a:lnTo>
                  <a:pt x="12192000" y="0"/>
                </a:lnTo>
              </a:path>
            </a:pathLst>
          </a:custGeom>
          <a:noFill/>
          <a:ln w="4762">
            <a:solidFill>
              <a:srgbClr val="D7EAFF">
                <a:alpha val="22000"/>
              </a:srgbClr>
            </a:solidFill>
          </a:ln>
        </p:spPr>
      </p:sp>
      <p:sp>
        <p:nvSpPr>
          <p:cNvPr id="33" name="Line 33"/>
          <p:cNvSpPr/>
          <p:nvPr/>
        </p:nvSpPr>
        <p:spPr>
          <a:xfrm>
            <a:off x="0" y="5334000"/>
            <a:ext cx="12192000" cy="9525"/>
          </a:xfrm>
          <a:custGeom>
            <a:avLst/>
            <a:gdLst/>
            <a:ahLst/>
            <a:cxnLst/>
            <a:rect l="l" t="t" r="r" b="b"/>
            <a:pathLst>
              <a:path w="12192000" h="9525">
                <a:moveTo>
                  <a:pt x="0" y="0"/>
                </a:moveTo>
                <a:lnTo>
                  <a:pt x="12192000" y="0"/>
                </a:lnTo>
              </a:path>
            </a:pathLst>
          </a:custGeom>
          <a:noFill/>
          <a:ln w="4762">
            <a:solidFill>
              <a:srgbClr val="D7EAFF">
                <a:alpha val="22000"/>
              </a:srgbClr>
            </a:solidFill>
          </a:ln>
        </p:spPr>
      </p:sp>
      <p:sp>
        <p:nvSpPr>
          <p:cNvPr id="34" name="Line 34"/>
          <p:cNvSpPr/>
          <p:nvPr/>
        </p:nvSpPr>
        <p:spPr>
          <a:xfrm>
            <a:off x="0" y="6096000"/>
            <a:ext cx="12192000" cy="9525"/>
          </a:xfrm>
          <a:custGeom>
            <a:avLst/>
            <a:gdLst/>
            <a:ahLst/>
            <a:cxnLst/>
            <a:rect l="l" t="t" r="r" b="b"/>
            <a:pathLst>
              <a:path w="12192000" h="9525">
                <a:moveTo>
                  <a:pt x="0" y="0"/>
                </a:moveTo>
                <a:lnTo>
                  <a:pt x="12192000" y="0"/>
                </a:lnTo>
              </a:path>
            </a:pathLst>
          </a:custGeom>
          <a:noFill/>
          <a:ln w="4762">
            <a:solidFill>
              <a:srgbClr val="D7EAFF">
                <a:alpha val="22000"/>
              </a:srgbClr>
            </a:solidFill>
          </a:ln>
        </p:spPr>
      </p:sp>
      <p:grpSp>
        <p:nvGrpSpPr>
          <p:cNvPr id="100" name="Group 100"/>
          <p:cNvGrpSpPr/>
          <p:nvPr/>
        </p:nvGrpSpPr>
        <p:grpSpPr>
          <a:xfrm>
            <a:off x="0" y="0"/>
            <a:ext cx="12192000" cy="6781800"/>
            <a:chOff x="0" y="0"/>
            <a:chExt cx="12192000" cy="6781800"/>
          </a:xfrm>
        </p:grpSpPr>
        <p:sp>
          <p:nvSpPr>
            <p:cNvPr id="35" name="Rectangle 35"/>
            <p:cNvSpPr/>
            <p:nvPr/>
          </p:nvSpPr>
          <p:spPr>
            <a:xfrm>
              <a:off x="0" y="0"/>
              <a:ext cx="12192000" cy="47625"/>
            </a:xfrm>
            <a:prstGeom prst="rect">
              <a:avLst/>
            </a:prstGeom>
            <a:gradFill>
              <a:gsLst>
                <a:gs pos="0">
                  <a:srgbClr val="0B57D0"/>
                </a:gs>
                <a:gs pos="52000">
                  <a:srgbClr val="26A7FF"/>
                </a:gs>
                <a:gs pos="100000">
                  <a:srgbClr val="00D4FF"/>
                </a:gs>
              </a:gsLst>
              <a:lin ang="0" scaled="1"/>
            </a:gradFill>
            <a:ln>
              <a:noFill/>
            </a:ln>
          </p:spPr>
        </p:sp>
        <p:sp>
          <p:nvSpPr>
            <p:cNvPr id="36" name="TextBox 36"/>
            <p:cNvSpPr txBox="1"/>
            <p:nvPr/>
          </p:nvSpPr>
          <p:spPr>
            <a:xfrm>
              <a:off x="504825" y="233362"/>
              <a:ext cx="4868545" cy="346075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2250" b="1" dirty="0">
                  <a:solidFill>
                    <a:srgbClr val="102033"/>
                  </a:solidFill>
                  <a:latin typeface="MiSans Heavy" panose="00000A00000000000000" charset="-122"/>
                  <a:ea typeface="MiSans Heavy" panose="00000A00000000000000" charset="-122"/>
                  <a:cs typeface="等线" panose="02010600030101010101" charset="-122"/>
                </a:rPr>
                <a:t>产品原型设计：核心交互与大模型应用</a:t>
              </a:r>
              <a:endParaRPr lang="zh-CN" sz="2250" b="1" dirty="0">
                <a:solidFill>
                  <a:srgbClr val="102033"/>
                </a:solidFill>
                <a:latin typeface="MiSans Heavy" panose="00000A00000000000000" charset="-122"/>
                <a:ea typeface="MiSans Heavy" panose="00000A00000000000000" charset="-122"/>
                <a:cs typeface="等线" panose="02010600030101010101" charset="-122"/>
              </a:endParaRPr>
            </a:p>
          </p:txBody>
        </p:sp>
        <p:sp>
          <p:nvSpPr>
            <p:cNvPr id="37" name="TextBox 37"/>
            <p:cNvSpPr txBox="1"/>
            <p:nvPr/>
          </p:nvSpPr>
          <p:spPr>
            <a:xfrm>
              <a:off x="521970" y="645795"/>
              <a:ext cx="979170" cy="13843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00" b="1" dirty="0">
                  <a:solidFill>
                    <a:srgbClr val="0B57D0"/>
                  </a:solidFill>
                  <a:latin typeface="金山云技术体" charset="-122"/>
                  <a:ea typeface="金山云技术体" charset="-122"/>
                  <a:cs typeface="等线" panose="02010600030101010101" charset="-122"/>
                </a:rPr>
                <a:t>FLOW AND MODEL</a:t>
              </a:r>
              <a:endParaRPr lang="zh-CN" sz="900" b="1" dirty="0">
                <a:solidFill>
                  <a:srgbClr val="0B57D0"/>
                </a:solidFill>
                <a:latin typeface="金山云技术体" charset="-122"/>
                <a:ea typeface="金山云技术体" charset="-122"/>
                <a:cs typeface="等线" panose="02010600030101010101" charset="-122"/>
              </a:endParaRPr>
            </a:p>
          </p:txBody>
        </p:sp>
        <p:sp>
          <p:nvSpPr>
            <p:cNvPr id="38" name="Line 38"/>
            <p:cNvSpPr/>
            <p:nvPr/>
          </p:nvSpPr>
          <p:spPr>
            <a:xfrm>
              <a:off x="533400" y="876300"/>
              <a:ext cx="11125200" cy="9525"/>
            </a:xfrm>
            <a:custGeom>
              <a:avLst/>
              <a:gdLst/>
              <a:ahLst/>
              <a:cxnLst/>
              <a:rect l="l" t="t" r="r" b="b"/>
              <a:pathLst>
                <a:path w="11125200" h="9525">
                  <a:moveTo>
                    <a:pt x="0" y="0"/>
                  </a:moveTo>
                  <a:lnTo>
                    <a:pt x="11125200" y="0"/>
                  </a:lnTo>
                </a:path>
              </a:pathLst>
            </a:custGeom>
            <a:noFill/>
            <a:ln w="11430">
              <a:solidFill>
                <a:srgbClr val="BFD9F4"/>
              </a:solidFill>
            </a:ln>
          </p:spPr>
        </p:sp>
        <p:sp>
          <p:nvSpPr>
            <p:cNvPr id="39" name="Rectangle 39"/>
            <p:cNvSpPr/>
            <p:nvPr/>
          </p:nvSpPr>
          <p:spPr>
            <a:xfrm>
              <a:off x="533400" y="1028700"/>
              <a:ext cx="95250" cy="95250"/>
            </a:xfrm>
            <a:prstGeom prst="roundRect">
              <a:avLst>
                <a:gd name="adj" fmla="val 50000"/>
              </a:avLst>
            </a:prstGeom>
            <a:solidFill>
              <a:srgbClr val="00D4FF"/>
            </a:solidFill>
            <a:ln>
              <a:noFill/>
            </a:ln>
          </p:spPr>
        </p:sp>
        <p:sp>
          <p:nvSpPr>
            <p:cNvPr id="40" name="TextBox 40"/>
            <p:cNvSpPr txBox="1"/>
            <p:nvPr/>
          </p:nvSpPr>
          <p:spPr>
            <a:xfrm>
              <a:off x="765810" y="1003935"/>
              <a:ext cx="4591050" cy="18415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00" b="1" dirty="0">
                  <a:solidFill>
                    <a:srgbClr val="51677F"/>
                  </a:solidFill>
                  <a:latin typeface="MiSans Normal" panose="00000500000000000000" charset="-122"/>
                  <a:ea typeface="MiSans Normal" panose="00000500000000000000" charset="-122"/>
                  <a:cs typeface="等线" panose="02010600030101010101" charset="-122"/>
                </a:rPr>
                <a:t>蓝心大模型贯穿理解、抽取、推理、表达和生成，是完整体验引擎。</a:t>
              </a:r>
              <a:endParaRPr lang="zh-CN" sz="1200" b="1" dirty="0">
                <a:solidFill>
                  <a:srgbClr val="51677F"/>
                </a:solidFill>
                <a:latin typeface="MiSans Normal" panose="00000500000000000000" charset="-122"/>
                <a:ea typeface="MiSans Normal" panose="00000500000000000000" charset="-122"/>
                <a:cs typeface="等线" panose="02010600030101010101" charset="-122"/>
              </a:endParaRPr>
            </a:p>
          </p:txBody>
        </p:sp>
        <p:sp>
          <p:nvSpPr>
            <p:cNvPr id="41" name="Rectangle 41"/>
            <p:cNvSpPr/>
            <p:nvPr/>
          </p:nvSpPr>
          <p:spPr>
            <a:xfrm>
              <a:off x="666750" y="1771650"/>
              <a:ext cx="1524000" cy="1009650"/>
            </a:xfrm>
            <a:prstGeom prst="roundRect">
              <a:avLst>
                <a:gd name="adj" fmla="val 16981"/>
              </a:avLst>
            </a:prstGeom>
            <a:solidFill>
              <a:srgbClr val="FFFFFF"/>
            </a:solidFill>
            <a:ln w="9525">
              <a:solidFill>
                <a:srgbClr val="BFD9F4"/>
              </a:solidFill>
            </a:ln>
          </p:spPr>
        </p:sp>
        <p:sp>
          <p:nvSpPr>
            <p:cNvPr id="42" name="Rectangle 42"/>
            <p:cNvSpPr/>
            <p:nvPr/>
          </p:nvSpPr>
          <p:spPr>
            <a:xfrm>
              <a:off x="2457450" y="1771650"/>
              <a:ext cx="1524000" cy="1009650"/>
            </a:xfrm>
            <a:prstGeom prst="roundRect">
              <a:avLst>
                <a:gd name="adj" fmla="val 16981"/>
              </a:avLst>
            </a:prstGeom>
            <a:solidFill>
              <a:srgbClr val="FFFFFF"/>
            </a:solidFill>
            <a:ln w="9525">
              <a:solidFill>
                <a:srgbClr val="BFD9F4"/>
              </a:solidFill>
            </a:ln>
          </p:spPr>
        </p:sp>
        <p:sp>
          <p:nvSpPr>
            <p:cNvPr id="43" name="Rectangle 43"/>
            <p:cNvSpPr/>
            <p:nvPr/>
          </p:nvSpPr>
          <p:spPr>
            <a:xfrm>
              <a:off x="4248150" y="1771650"/>
              <a:ext cx="1524000" cy="1009650"/>
            </a:xfrm>
            <a:prstGeom prst="roundRect">
              <a:avLst>
                <a:gd name="adj" fmla="val 16981"/>
              </a:avLst>
            </a:prstGeom>
            <a:solidFill>
              <a:srgbClr val="FFFFFF"/>
            </a:solidFill>
            <a:ln w="9525">
              <a:solidFill>
                <a:srgbClr val="BFD9F4"/>
              </a:solidFill>
            </a:ln>
          </p:spPr>
        </p:sp>
        <p:sp>
          <p:nvSpPr>
            <p:cNvPr id="44" name="Rectangle 44"/>
            <p:cNvSpPr/>
            <p:nvPr/>
          </p:nvSpPr>
          <p:spPr>
            <a:xfrm>
              <a:off x="6038850" y="1771650"/>
              <a:ext cx="1524000" cy="1009650"/>
            </a:xfrm>
            <a:prstGeom prst="roundRect">
              <a:avLst>
                <a:gd name="adj" fmla="val 16981"/>
              </a:avLst>
            </a:prstGeom>
            <a:solidFill>
              <a:srgbClr val="FFFFFF"/>
            </a:solidFill>
            <a:ln w="9525">
              <a:solidFill>
                <a:srgbClr val="BFD9F4"/>
              </a:solidFill>
            </a:ln>
          </p:spPr>
        </p:sp>
        <p:sp>
          <p:nvSpPr>
            <p:cNvPr id="45" name="Rectangle 45"/>
            <p:cNvSpPr/>
            <p:nvPr/>
          </p:nvSpPr>
          <p:spPr>
            <a:xfrm>
              <a:off x="7829550" y="1771650"/>
              <a:ext cx="1524000" cy="1009650"/>
            </a:xfrm>
            <a:prstGeom prst="roundRect">
              <a:avLst>
                <a:gd name="adj" fmla="val 16981"/>
              </a:avLst>
            </a:prstGeom>
            <a:solidFill>
              <a:srgbClr val="FFFFFF"/>
            </a:solidFill>
            <a:ln w="9525">
              <a:solidFill>
                <a:srgbClr val="BFD9F4"/>
              </a:solidFill>
            </a:ln>
          </p:spPr>
        </p:sp>
        <p:sp>
          <p:nvSpPr>
            <p:cNvPr id="46" name="Rectangle 46"/>
            <p:cNvSpPr/>
            <p:nvPr/>
          </p:nvSpPr>
          <p:spPr>
            <a:xfrm>
              <a:off x="9620250" y="1771650"/>
              <a:ext cx="1524000" cy="1009650"/>
            </a:xfrm>
            <a:prstGeom prst="roundRect">
              <a:avLst>
                <a:gd name="adj" fmla="val 16981"/>
              </a:avLst>
            </a:prstGeom>
            <a:solidFill>
              <a:srgbClr val="FFFFFF"/>
            </a:solidFill>
            <a:ln w="9525">
              <a:solidFill>
                <a:srgbClr val="BFD9F4"/>
              </a:solidFill>
            </a:ln>
          </p:spPr>
        </p:sp>
        <p:sp>
          <p:nvSpPr>
            <p:cNvPr id="47" name="Line 47"/>
            <p:cNvSpPr/>
            <p:nvPr/>
          </p:nvSpPr>
          <p:spPr>
            <a:xfrm>
              <a:off x="2190750" y="2276475"/>
              <a:ext cx="266700" cy="1"/>
            </a:xfrm>
            <a:prstGeom prst="line">
              <a:avLst/>
            </a:prstGeom>
            <a:noFill/>
            <a:ln w="28575">
              <a:solidFill>
                <a:srgbClr val="94A3B8"/>
              </a:solidFill>
              <a:tailEnd type="triangle" w="lg" len="lg"/>
            </a:ln>
          </p:spPr>
        </p:sp>
        <p:sp>
          <p:nvSpPr>
            <p:cNvPr id="48" name="Line 48"/>
            <p:cNvSpPr/>
            <p:nvPr/>
          </p:nvSpPr>
          <p:spPr>
            <a:xfrm>
              <a:off x="3981450" y="2276475"/>
              <a:ext cx="266700" cy="1"/>
            </a:xfrm>
            <a:prstGeom prst="line">
              <a:avLst/>
            </a:prstGeom>
            <a:noFill/>
            <a:ln w="28575">
              <a:solidFill>
                <a:srgbClr val="94A3B8"/>
              </a:solidFill>
              <a:tailEnd type="triangle" w="lg" len="lg"/>
            </a:ln>
          </p:spPr>
        </p:sp>
        <p:sp>
          <p:nvSpPr>
            <p:cNvPr id="49" name="Line 49"/>
            <p:cNvSpPr/>
            <p:nvPr/>
          </p:nvSpPr>
          <p:spPr>
            <a:xfrm>
              <a:off x="5772150" y="2276475"/>
              <a:ext cx="266700" cy="1"/>
            </a:xfrm>
            <a:prstGeom prst="line">
              <a:avLst/>
            </a:prstGeom>
            <a:noFill/>
            <a:ln w="28575">
              <a:solidFill>
                <a:srgbClr val="94A3B8"/>
              </a:solidFill>
              <a:tailEnd type="triangle" w="lg" len="lg"/>
            </a:ln>
          </p:spPr>
        </p:sp>
        <p:sp>
          <p:nvSpPr>
            <p:cNvPr id="50" name="Line 50"/>
            <p:cNvSpPr/>
            <p:nvPr/>
          </p:nvSpPr>
          <p:spPr>
            <a:xfrm>
              <a:off x="7562850" y="2276475"/>
              <a:ext cx="266700" cy="1"/>
            </a:xfrm>
            <a:prstGeom prst="line">
              <a:avLst/>
            </a:prstGeom>
            <a:noFill/>
            <a:ln w="28575">
              <a:solidFill>
                <a:srgbClr val="94A3B8"/>
              </a:solidFill>
              <a:tailEnd type="triangle" w="lg" len="lg"/>
            </a:ln>
          </p:spPr>
        </p:sp>
        <p:sp>
          <p:nvSpPr>
            <p:cNvPr id="51" name="Line 51"/>
            <p:cNvSpPr/>
            <p:nvPr/>
          </p:nvSpPr>
          <p:spPr>
            <a:xfrm>
              <a:off x="9353550" y="2276475"/>
              <a:ext cx="266700" cy="1"/>
            </a:xfrm>
            <a:prstGeom prst="line">
              <a:avLst/>
            </a:prstGeom>
            <a:noFill/>
            <a:ln w="28575">
              <a:solidFill>
                <a:srgbClr val="94A3B8"/>
              </a:solidFill>
              <a:tailEnd type="triangle" w="lg" len="lg"/>
            </a:ln>
          </p:spPr>
        </p:sp>
        <p:sp>
          <p:nvSpPr>
            <p:cNvPr id="52" name="TextBox 52"/>
            <p:cNvSpPr txBox="1"/>
            <p:nvPr/>
          </p:nvSpPr>
          <p:spPr>
            <a:xfrm>
              <a:off x="1288575" y="1958340"/>
              <a:ext cx="280349" cy="36576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800" b="1" dirty="0">
                  <a:solidFill>
                    <a:srgbClr val="0B57D0"/>
                  </a:solidFill>
                  <a:latin typeface="等线" panose="02010600030101010101" charset="-122"/>
                  <a:ea typeface="微软雅黑" panose="020B0503020204020204" charset="-122"/>
                  <a:cs typeface="等线" panose="02010600030101010101" charset="-122"/>
                </a:rPr>
                <a:t>01</a:t>
              </a:r>
              <a:endParaRPr lang="zh-CN" sz="1800" b="1" dirty="0">
                <a:solidFill>
                  <a:srgbClr val="0B57D0"/>
                </a:solidFill>
                <a:latin typeface="等线" panose="02010600030101010101" charset="-122"/>
                <a:ea typeface="微软雅黑" panose="020B0503020204020204" charset="-122"/>
                <a:cs typeface="等线" panose="02010600030101010101" charset="-122"/>
              </a:endParaRPr>
            </a:p>
          </p:txBody>
        </p:sp>
        <p:sp>
          <p:nvSpPr>
            <p:cNvPr id="53" name="TextBox 53"/>
            <p:cNvSpPr txBox="1"/>
            <p:nvPr/>
          </p:nvSpPr>
          <p:spPr>
            <a:xfrm>
              <a:off x="1021509" y="2281714"/>
              <a:ext cx="814483" cy="25908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275" b="1" dirty="0">
                  <a:solidFill>
                    <a:srgbClr val="102033"/>
                  </a:solidFill>
                  <a:latin typeface="等线" panose="02010600030101010101" charset="-122"/>
                  <a:ea typeface="微软雅黑" panose="020B0503020204020204" charset="-122"/>
                  <a:cs typeface="等线" panose="02010600030101010101" charset="-122"/>
                </a:rPr>
                <a:t>创建旅行</a:t>
              </a:r>
              <a:endParaRPr lang="zh-CN" sz="1275" b="1" dirty="0">
                <a:solidFill>
                  <a:srgbClr val="102033"/>
                </a:solidFill>
                <a:latin typeface="等线" panose="02010600030101010101" charset="-122"/>
                <a:ea typeface="微软雅黑" panose="020B0503020204020204" charset="-122"/>
                <a:cs typeface="等线" panose="02010600030101010101" charset="-122"/>
              </a:endParaRPr>
            </a:p>
          </p:txBody>
        </p:sp>
        <p:sp>
          <p:nvSpPr>
            <p:cNvPr id="54" name="TextBox 54"/>
            <p:cNvSpPr txBox="1"/>
            <p:nvPr/>
          </p:nvSpPr>
          <p:spPr>
            <a:xfrm>
              <a:off x="3044771" y="1958340"/>
              <a:ext cx="349358" cy="36576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800" b="1" dirty="0">
                  <a:solidFill>
                    <a:srgbClr val="0B57D0"/>
                  </a:solidFill>
                  <a:latin typeface="等线" panose="02010600030101010101" charset="-122"/>
                  <a:ea typeface="微软雅黑" panose="020B0503020204020204" charset="-122"/>
                  <a:cs typeface="等线" panose="02010600030101010101" charset="-122"/>
                </a:rPr>
                <a:t>02</a:t>
              </a:r>
              <a:endParaRPr lang="zh-CN" sz="1800" b="1" dirty="0">
                <a:solidFill>
                  <a:srgbClr val="0B57D0"/>
                </a:solidFill>
                <a:latin typeface="等线" panose="02010600030101010101" charset="-122"/>
                <a:ea typeface="微软雅黑" panose="020B0503020204020204" charset="-122"/>
                <a:cs typeface="等线" panose="02010600030101010101" charset="-122"/>
              </a:endParaRPr>
            </a:p>
          </p:txBody>
        </p:sp>
        <p:sp>
          <p:nvSpPr>
            <p:cNvPr id="55" name="TextBox 55"/>
            <p:cNvSpPr txBox="1"/>
            <p:nvPr/>
          </p:nvSpPr>
          <p:spPr>
            <a:xfrm>
              <a:off x="2812209" y="2281714"/>
              <a:ext cx="814483" cy="25908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275" b="1" dirty="0">
                  <a:solidFill>
                    <a:srgbClr val="102033"/>
                  </a:solidFill>
                  <a:latin typeface="等线" panose="02010600030101010101" charset="-122"/>
                  <a:ea typeface="微软雅黑" panose="020B0503020204020204" charset="-122"/>
                  <a:cs typeface="等线" panose="02010600030101010101" charset="-122"/>
                </a:rPr>
                <a:t>记忆确认</a:t>
              </a:r>
              <a:endParaRPr lang="zh-CN" sz="1275" b="1" dirty="0">
                <a:solidFill>
                  <a:srgbClr val="102033"/>
                </a:solidFill>
                <a:latin typeface="等线" panose="02010600030101010101" charset="-122"/>
                <a:ea typeface="微软雅黑" panose="020B0503020204020204" charset="-122"/>
                <a:cs typeface="等线" panose="02010600030101010101" charset="-122"/>
              </a:endParaRPr>
            </a:p>
          </p:txBody>
        </p:sp>
        <p:sp>
          <p:nvSpPr>
            <p:cNvPr id="56" name="TextBox 56"/>
            <p:cNvSpPr txBox="1"/>
            <p:nvPr/>
          </p:nvSpPr>
          <p:spPr>
            <a:xfrm>
              <a:off x="4835471" y="1958340"/>
              <a:ext cx="349358" cy="36576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800" b="1" dirty="0">
                  <a:solidFill>
                    <a:srgbClr val="0B57D0"/>
                  </a:solidFill>
                  <a:latin typeface="等线" panose="02010600030101010101" charset="-122"/>
                  <a:ea typeface="微软雅黑" panose="020B0503020204020204" charset="-122"/>
                  <a:cs typeface="等线" panose="02010600030101010101" charset="-122"/>
                </a:rPr>
                <a:t>03</a:t>
              </a:r>
              <a:endParaRPr lang="zh-CN" sz="1800" b="1" dirty="0">
                <a:solidFill>
                  <a:srgbClr val="0B57D0"/>
                </a:solidFill>
                <a:latin typeface="等线" panose="02010600030101010101" charset="-122"/>
                <a:ea typeface="微软雅黑" panose="020B0503020204020204" charset="-122"/>
                <a:cs typeface="等线" panose="02010600030101010101" charset="-122"/>
              </a:endParaRPr>
            </a:p>
          </p:txBody>
        </p:sp>
        <p:sp>
          <p:nvSpPr>
            <p:cNvPr id="57" name="TextBox 57"/>
            <p:cNvSpPr txBox="1"/>
            <p:nvPr/>
          </p:nvSpPr>
          <p:spPr>
            <a:xfrm>
              <a:off x="4505146" y="2281714"/>
              <a:ext cx="1010007" cy="25908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275" b="1" dirty="0">
                  <a:solidFill>
                    <a:srgbClr val="102033"/>
                  </a:solidFill>
                  <a:latin typeface="等线" panose="02010600030101010101" charset="-122"/>
                  <a:ea typeface="微软雅黑" panose="020B0503020204020204" charset="-122"/>
                  <a:cs typeface="等线" panose="02010600030101010101" charset="-122"/>
                </a:rPr>
                <a:t>个性化规划</a:t>
              </a:r>
              <a:endParaRPr lang="zh-CN" sz="1275" b="1" dirty="0">
                <a:solidFill>
                  <a:srgbClr val="102033"/>
                </a:solidFill>
                <a:latin typeface="等线" panose="02010600030101010101" charset="-122"/>
                <a:ea typeface="微软雅黑" panose="020B0503020204020204" charset="-122"/>
                <a:cs typeface="等线" panose="02010600030101010101" charset="-122"/>
              </a:endParaRPr>
            </a:p>
          </p:txBody>
        </p:sp>
        <p:sp>
          <p:nvSpPr>
            <p:cNvPr id="58" name="TextBox 58"/>
            <p:cNvSpPr txBox="1"/>
            <p:nvPr/>
          </p:nvSpPr>
          <p:spPr>
            <a:xfrm>
              <a:off x="6626171" y="1958340"/>
              <a:ext cx="349358" cy="36576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800" b="1" dirty="0">
                  <a:solidFill>
                    <a:srgbClr val="0B57D0"/>
                  </a:solidFill>
                  <a:latin typeface="等线" panose="02010600030101010101" charset="-122"/>
                  <a:ea typeface="微软雅黑" panose="020B0503020204020204" charset="-122"/>
                  <a:cs typeface="等线" panose="02010600030101010101" charset="-122"/>
                </a:rPr>
                <a:t>04</a:t>
              </a:r>
              <a:endParaRPr lang="zh-CN" sz="1800" b="1" dirty="0">
                <a:solidFill>
                  <a:srgbClr val="0B57D0"/>
                </a:solidFill>
                <a:latin typeface="等线" panose="02010600030101010101" charset="-122"/>
                <a:ea typeface="微软雅黑" panose="020B0503020204020204" charset="-122"/>
                <a:cs typeface="等线" panose="02010600030101010101" charset="-122"/>
              </a:endParaRPr>
            </a:p>
          </p:txBody>
        </p:sp>
        <p:sp>
          <p:nvSpPr>
            <p:cNvPr id="59" name="TextBox 59"/>
            <p:cNvSpPr txBox="1"/>
            <p:nvPr/>
          </p:nvSpPr>
          <p:spPr>
            <a:xfrm>
              <a:off x="6393609" y="2281714"/>
              <a:ext cx="814483" cy="25908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275" b="1" dirty="0">
                  <a:solidFill>
                    <a:srgbClr val="102033"/>
                  </a:solidFill>
                  <a:latin typeface="等线" panose="02010600030101010101" charset="-122"/>
                  <a:ea typeface="微软雅黑" panose="020B0503020204020204" charset="-122"/>
                  <a:cs typeface="等线" panose="02010600030101010101" charset="-122"/>
                </a:rPr>
                <a:t>主动提醒</a:t>
              </a:r>
              <a:endParaRPr lang="zh-CN" sz="1275" b="1" dirty="0">
                <a:solidFill>
                  <a:srgbClr val="102033"/>
                </a:solidFill>
                <a:latin typeface="等线" panose="02010600030101010101" charset="-122"/>
                <a:ea typeface="微软雅黑" panose="020B0503020204020204" charset="-122"/>
                <a:cs typeface="等线" panose="02010600030101010101" charset="-122"/>
              </a:endParaRPr>
            </a:p>
          </p:txBody>
        </p:sp>
        <p:sp>
          <p:nvSpPr>
            <p:cNvPr id="60" name="TextBox 60"/>
            <p:cNvSpPr txBox="1"/>
            <p:nvPr/>
          </p:nvSpPr>
          <p:spPr>
            <a:xfrm>
              <a:off x="8416871" y="1958340"/>
              <a:ext cx="349358" cy="36576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800" b="1" dirty="0">
                  <a:solidFill>
                    <a:srgbClr val="0B57D0"/>
                  </a:solidFill>
                  <a:latin typeface="等线" panose="02010600030101010101" charset="-122"/>
                  <a:ea typeface="微软雅黑" panose="020B0503020204020204" charset="-122"/>
                  <a:cs typeface="等线" panose="02010600030101010101" charset="-122"/>
                </a:rPr>
                <a:t>05</a:t>
              </a:r>
              <a:endParaRPr lang="zh-CN" sz="1800" b="1" dirty="0">
                <a:solidFill>
                  <a:srgbClr val="0B57D0"/>
                </a:solidFill>
                <a:latin typeface="等线" panose="02010600030101010101" charset="-122"/>
                <a:ea typeface="微软雅黑" panose="020B0503020204020204" charset="-122"/>
                <a:cs typeface="等线" panose="02010600030101010101" charset="-122"/>
              </a:endParaRPr>
            </a:p>
          </p:txBody>
        </p:sp>
        <p:sp>
          <p:nvSpPr>
            <p:cNvPr id="61" name="TextBox 61"/>
            <p:cNvSpPr txBox="1"/>
            <p:nvPr/>
          </p:nvSpPr>
          <p:spPr>
            <a:xfrm>
              <a:off x="8184309" y="2281714"/>
              <a:ext cx="814483" cy="25908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275" b="1" dirty="0">
                  <a:solidFill>
                    <a:srgbClr val="102033"/>
                  </a:solidFill>
                  <a:latin typeface="等线" panose="02010600030101010101" charset="-122"/>
                  <a:ea typeface="微软雅黑" panose="020B0503020204020204" charset="-122"/>
                  <a:cs typeface="等线" panose="02010600030101010101" charset="-122"/>
                </a:rPr>
                <a:t>旅拍互动</a:t>
              </a:r>
              <a:endParaRPr lang="zh-CN" sz="1275" b="1" dirty="0">
                <a:solidFill>
                  <a:srgbClr val="102033"/>
                </a:solidFill>
                <a:latin typeface="等线" panose="02010600030101010101" charset="-122"/>
                <a:ea typeface="微软雅黑" panose="020B0503020204020204" charset="-122"/>
                <a:cs typeface="等线" panose="02010600030101010101" charset="-122"/>
              </a:endParaRPr>
            </a:p>
          </p:txBody>
        </p:sp>
        <p:sp>
          <p:nvSpPr>
            <p:cNvPr id="62" name="TextBox 62"/>
            <p:cNvSpPr txBox="1"/>
            <p:nvPr/>
          </p:nvSpPr>
          <p:spPr>
            <a:xfrm>
              <a:off x="10207571" y="1958340"/>
              <a:ext cx="349358" cy="36576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800" b="1" dirty="0">
                  <a:solidFill>
                    <a:srgbClr val="0B57D0"/>
                  </a:solidFill>
                  <a:latin typeface="等线" panose="02010600030101010101" charset="-122"/>
                  <a:ea typeface="微软雅黑" panose="020B0503020204020204" charset="-122"/>
                  <a:cs typeface="等线" panose="02010600030101010101" charset="-122"/>
                </a:rPr>
                <a:t>06</a:t>
              </a:r>
              <a:endParaRPr lang="zh-CN" sz="1800" b="1" dirty="0">
                <a:solidFill>
                  <a:srgbClr val="0B57D0"/>
                </a:solidFill>
                <a:latin typeface="等线" panose="02010600030101010101" charset="-122"/>
                <a:ea typeface="微软雅黑" panose="020B0503020204020204" charset="-122"/>
                <a:cs typeface="等线" panose="02010600030101010101" charset="-122"/>
              </a:endParaRPr>
            </a:p>
          </p:txBody>
        </p:sp>
        <p:sp>
          <p:nvSpPr>
            <p:cNvPr id="63" name="TextBox 63"/>
            <p:cNvSpPr txBox="1"/>
            <p:nvPr/>
          </p:nvSpPr>
          <p:spPr>
            <a:xfrm>
              <a:off x="9975009" y="2281714"/>
              <a:ext cx="814483" cy="25908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275" b="1" dirty="0">
                  <a:solidFill>
                    <a:srgbClr val="102033"/>
                  </a:solidFill>
                  <a:latin typeface="等线" panose="02010600030101010101" charset="-122"/>
                  <a:ea typeface="微软雅黑" panose="020B0503020204020204" charset="-122"/>
                  <a:cs typeface="等线" panose="02010600030101010101" charset="-122"/>
                </a:rPr>
                <a:t>旅行复盘</a:t>
              </a:r>
              <a:endParaRPr lang="zh-CN" sz="1275" b="1" dirty="0">
                <a:solidFill>
                  <a:srgbClr val="102033"/>
                </a:solidFill>
                <a:latin typeface="等线" panose="02010600030101010101" charset="-122"/>
                <a:ea typeface="微软雅黑" panose="020B0503020204020204" charset="-122"/>
                <a:cs typeface="等线" panose="02010600030101010101" charset="-122"/>
              </a:endParaRPr>
            </a:p>
          </p:txBody>
        </p:sp>
        <p:sp>
          <p:nvSpPr>
            <p:cNvPr id="64" name="Rectangle 64"/>
            <p:cNvSpPr/>
            <p:nvPr/>
          </p:nvSpPr>
          <p:spPr>
            <a:xfrm>
              <a:off x="742950" y="3448050"/>
              <a:ext cx="3048000" cy="2286000"/>
            </a:xfrm>
            <a:prstGeom prst="roundRect">
              <a:avLst>
                <a:gd name="adj" fmla="val 5833"/>
              </a:avLst>
            </a:prstGeom>
            <a:solidFill>
              <a:srgbClr val="0B57D0">
                <a:alpha val="5000"/>
              </a:srgbClr>
            </a:solidFill>
            <a:ln>
              <a:noFill/>
            </a:ln>
          </p:spPr>
        </p:sp>
        <p:sp>
          <p:nvSpPr>
            <p:cNvPr id="65" name="Rectangle 65"/>
            <p:cNvSpPr/>
            <p:nvPr/>
          </p:nvSpPr>
          <p:spPr>
            <a:xfrm>
              <a:off x="666750" y="3352800"/>
              <a:ext cx="3048000" cy="2286000"/>
            </a:xfrm>
            <a:prstGeom prst="roundRect">
              <a:avLst>
                <a:gd name="adj" fmla="val 5833"/>
              </a:avLst>
            </a:prstGeom>
            <a:solidFill>
              <a:srgbClr val="FFFFFF"/>
            </a:solidFill>
            <a:ln w="11430">
              <a:solidFill>
                <a:srgbClr val="BFD9F4"/>
              </a:solidFill>
            </a:ln>
          </p:spPr>
        </p:sp>
        <p:sp>
          <p:nvSpPr>
            <p:cNvPr id="66" name="Line 66"/>
            <p:cNvSpPr/>
            <p:nvPr/>
          </p:nvSpPr>
          <p:spPr>
            <a:xfrm>
              <a:off x="838200" y="3362325"/>
              <a:ext cx="1238250" cy="9525"/>
            </a:xfrm>
            <a:custGeom>
              <a:avLst/>
              <a:gdLst/>
              <a:ahLst/>
              <a:cxnLst/>
              <a:rect l="l" t="t" r="r" b="b"/>
              <a:pathLst>
                <a:path w="1238250" h="9525">
                  <a:moveTo>
                    <a:pt x="0" y="0"/>
                  </a:moveTo>
                  <a:lnTo>
                    <a:pt x="1238250" y="0"/>
                  </a:lnTo>
                </a:path>
              </a:pathLst>
            </a:custGeom>
            <a:noFill/>
            <a:ln w="19050">
              <a:solidFill>
                <a:srgbClr val="26A7FF">
                  <a:alpha val="90000"/>
                </a:srgbClr>
              </a:solidFill>
            </a:ln>
          </p:spPr>
        </p:sp>
        <p:sp>
          <p:nvSpPr>
            <p:cNvPr id="67" name="Rectangle 67"/>
            <p:cNvSpPr/>
            <p:nvPr/>
          </p:nvSpPr>
          <p:spPr>
            <a:xfrm>
              <a:off x="838200" y="3524250"/>
              <a:ext cx="285750" cy="285750"/>
            </a:xfrm>
            <a:prstGeom prst="roundRect">
              <a:avLst>
                <a:gd name="adj" fmla="val 33333"/>
              </a:avLst>
            </a:prstGeom>
            <a:solidFill>
              <a:srgbClr val="E7F2FF"/>
            </a:solidFill>
            <a:ln>
              <a:noFill/>
            </a:ln>
          </p:spPr>
        </p:sp>
        <p:sp>
          <p:nvSpPr>
            <p:cNvPr id="68" name="Freeform 68"/>
            <p:cNvSpPr/>
            <p:nvPr/>
          </p:nvSpPr>
          <p:spPr>
            <a:xfrm>
              <a:off x="901700" y="3595688"/>
              <a:ext cx="158750" cy="151184"/>
            </a:xfrm>
            <a:custGeom>
              <a:avLst/>
              <a:gdLst/>
              <a:ahLst/>
              <a:cxnLst/>
              <a:rect l="l" t="t" r="r" b="b"/>
              <a:pathLst>
                <a:path w="158750" h="151184">
                  <a:moveTo>
                    <a:pt x="127000" y="0"/>
                  </a:moveTo>
                  <a:cubicBezTo>
                    <a:pt x="144535" y="0"/>
                    <a:pt x="158750" y="14215"/>
                    <a:pt x="158750" y="31750"/>
                  </a:cubicBezTo>
                  <a:lnTo>
                    <a:pt x="158750" y="95250"/>
                  </a:lnTo>
                  <a:cubicBezTo>
                    <a:pt x="158750" y="112785"/>
                    <a:pt x="144535" y="127000"/>
                    <a:pt x="127000" y="127000"/>
                  </a:cubicBezTo>
                  <a:lnTo>
                    <a:pt x="89503" y="127000"/>
                  </a:lnTo>
                  <a:lnTo>
                    <a:pt x="51705" y="149677"/>
                  </a:lnTo>
                  <a:cubicBezTo>
                    <a:pt x="49392" y="151066"/>
                    <a:pt x="46532" y="151184"/>
                    <a:pt x="44112" y="149992"/>
                  </a:cubicBezTo>
                  <a:cubicBezTo>
                    <a:pt x="41693" y="148799"/>
                    <a:pt x="40044" y="146460"/>
                    <a:pt x="39735" y="143780"/>
                  </a:cubicBezTo>
                  <a:lnTo>
                    <a:pt x="39687" y="142875"/>
                  </a:lnTo>
                  <a:lnTo>
                    <a:pt x="39687" y="127000"/>
                  </a:lnTo>
                  <a:lnTo>
                    <a:pt x="31750" y="127000"/>
                  </a:lnTo>
                  <a:cubicBezTo>
                    <a:pt x="14832" y="127000"/>
                    <a:pt x="886" y="113734"/>
                    <a:pt x="40" y="96838"/>
                  </a:cubicBezTo>
                  <a:lnTo>
                    <a:pt x="0" y="95250"/>
                  </a:lnTo>
                  <a:lnTo>
                    <a:pt x="0" y="31750"/>
                  </a:lnTo>
                  <a:cubicBezTo>
                    <a:pt x="0" y="14215"/>
                    <a:pt x="14215" y="0"/>
                    <a:pt x="31750" y="0"/>
                  </a:cubicBezTo>
                  <a:close/>
                  <a:moveTo>
                    <a:pt x="104775" y="73708"/>
                  </a:moveTo>
                  <a:cubicBezTo>
                    <a:pt x="101645" y="70639"/>
                    <a:pt x="96620" y="70689"/>
                    <a:pt x="93551" y="73819"/>
                  </a:cubicBezTo>
                  <a:cubicBezTo>
                    <a:pt x="89819" y="77630"/>
                    <a:pt x="84709" y="79777"/>
                    <a:pt x="79375" y="79777"/>
                  </a:cubicBezTo>
                  <a:cubicBezTo>
                    <a:pt x="74041" y="79777"/>
                    <a:pt x="68931" y="77630"/>
                    <a:pt x="65199" y="73819"/>
                  </a:cubicBezTo>
                  <a:cubicBezTo>
                    <a:pt x="62117" y="70764"/>
                    <a:pt x="57153" y="70750"/>
                    <a:pt x="54054" y="73788"/>
                  </a:cubicBezTo>
                  <a:cubicBezTo>
                    <a:pt x="50955" y="76826"/>
                    <a:pt x="50870" y="81789"/>
                    <a:pt x="53864" y="84931"/>
                  </a:cubicBezTo>
                  <a:cubicBezTo>
                    <a:pt x="60582" y="91787"/>
                    <a:pt x="69777" y="95650"/>
                    <a:pt x="79375" y="95650"/>
                  </a:cubicBezTo>
                  <a:cubicBezTo>
                    <a:pt x="88973" y="95650"/>
                    <a:pt x="98168" y="91787"/>
                    <a:pt x="104886" y="84931"/>
                  </a:cubicBezTo>
                  <a:cubicBezTo>
                    <a:pt x="107954" y="81801"/>
                    <a:pt x="107905" y="76776"/>
                    <a:pt x="104775" y="73708"/>
                  </a:cubicBezTo>
                  <a:moveTo>
                    <a:pt x="59611" y="39688"/>
                  </a:moveTo>
                  <a:lnTo>
                    <a:pt x="59531" y="39688"/>
                  </a:lnTo>
                  <a:cubicBezTo>
                    <a:pt x="55147" y="39688"/>
                    <a:pt x="51594" y="43241"/>
                    <a:pt x="51594" y="47625"/>
                  </a:cubicBezTo>
                  <a:cubicBezTo>
                    <a:pt x="51594" y="52009"/>
                    <a:pt x="55147" y="55562"/>
                    <a:pt x="59531" y="55562"/>
                  </a:cubicBezTo>
                  <a:lnTo>
                    <a:pt x="59611" y="55562"/>
                  </a:lnTo>
                  <a:cubicBezTo>
                    <a:pt x="63994" y="55562"/>
                    <a:pt x="67548" y="52009"/>
                    <a:pt x="67548" y="47625"/>
                  </a:cubicBezTo>
                  <a:cubicBezTo>
                    <a:pt x="67548" y="43241"/>
                    <a:pt x="63994" y="39688"/>
                    <a:pt x="59611" y="39688"/>
                  </a:cubicBezTo>
                  <a:moveTo>
                    <a:pt x="99298" y="39688"/>
                  </a:moveTo>
                  <a:lnTo>
                    <a:pt x="99219" y="39688"/>
                  </a:lnTo>
                  <a:cubicBezTo>
                    <a:pt x="94835" y="39688"/>
                    <a:pt x="91281" y="43241"/>
                    <a:pt x="91281" y="47625"/>
                  </a:cubicBezTo>
                  <a:cubicBezTo>
                    <a:pt x="91281" y="52009"/>
                    <a:pt x="94835" y="55562"/>
                    <a:pt x="99219" y="55562"/>
                  </a:cubicBezTo>
                  <a:lnTo>
                    <a:pt x="99298" y="55562"/>
                  </a:lnTo>
                  <a:cubicBezTo>
                    <a:pt x="103682" y="55562"/>
                    <a:pt x="107236" y="52009"/>
                    <a:pt x="107236" y="47625"/>
                  </a:cubicBezTo>
                  <a:cubicBezTo>
                    <a:pt x="107236" y="43241"/>
                    <a:pt x="103682" y="39688"/>
                    <a:pt x="99298" y="39688"/>
                  </a:cubicBezTo>
                </a:path>
              </a:pathLst>
            </a:custGeom>
            <a:solidFill>
              <a:srgbClr val="0B57D0"/>
            </a:solidFill>
            <a:ln>
              <a:noFill/>
            </a:ln>
          </p:spPr>
        </p:sp>
        <p:sp>
          <p:nvSpPr>
            <p:cNvPr id="69" name="TextBox 69"/>
            <p:cNvSpPr txBox="1"/>
            <p:nvPr/>
          </p:nvSpPr>
          <p:spPr>
            <a:xfrm>
              <a:off x="1220152" y="3564096"/>
              <a:ext cx="1158875" cy="245745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600" b="1" dirty="0">
                  <a:solidFill>
                    <a:srgbClr val="102033"/>
                  </a:solidFill>
                  <a:latin typeface="MiSans Normal" panose="00000500000000000000" charset="-122"/>
                  <a:ea typeface="MiSans Normal" panose="00000500000000000000" charset="-122"/>
                  <a:cs typeface="MiSans Normal" panose="00000500000000000000" charset="-122"/>
                </a:rPr>
                <a:t>大模型能力 1</a:t>
              </a:r>
              <a:endParaRPr lang="zh-CN" sz="1600" b="1" dirty="0">
                <a:solidFill>
                  <a:srgbClr val="102033"/>
                </a:solidFill>
                <a:latin typeface="MiSans Normal" panose="00000500000000000000" charset="-122"/>
                <a:ea typeface="MiSans Normal" panose="00000500000000000000" charset="-122"/>
                <a:cs typeface="MiSans Normal" panose="00000500000000000000" charset="-122"/>
              </a:endParaRPr>
            </a:p>
          </p:txBody>
        </p:sp>
        <p:sp>
          <p:nvSpPr>
            <p:cNvPr id="70" name="TextBox 70"/>
            <p:cNvSpPr txBox="1"/>
            <p:nvPr/>
          </p:nvSpPr>
          <p:spPr>
            <a:xfrm>
              <a:off x="881062" y="4120356"/>
              <a:ext cx="2439670" cy="173355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125" dirty="0">
                  <a:solidFill>
                    <a:srgbClr val="51677F"/>
                  </a:solidFill>
                  <a:latin typeface="MiSans Normal" panose="00000500000000000000" charset="-122"/>
                  <a:ea typeface="MiSans Normal" panose="00000500000000000000" charset="-122"/>
                  <a:cs typeface="等线" panose="02010600030101010101" charset="-122"/>
                </a:rPr>
                <a:t>意图理解：识别时间、地点和旅行目标</a:t>
              </a:r>
              <a:endParaRPr lang="zh-CN" sz="1125" dirty="0">
                <a:solidFill>
                  <a:srgbClr val="51677F"/>
                </a:solidFill>
                <a:latin typeface="MiSans Normal" panose="00000500000000000000" charset="-122"/>
                <a:ea typeface="MiSans Normal" panose="00000500000000000000" charset="-122"/>
                <a:cs typeface="等线" panose="02010600030101010101" charset="-122"/>
              </a:endParaRPr>
            </a:p>
          </p:txBody>
        </p:sp>
        <p:sp>
          <p:nvSpPr>
            <p:cNvPr id="71" name="TextBox 71"/>
            <p:cNvSpPr txBox="1"/>
            <p:nvPr/>
          </p:nvSpPr>
          <p:spPr>
            <a:xfrm>
              <a:off x="881062" y="4431506"/>
              <a:ext cx="2152650" cy="173355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125" dirty="0">
                  <a:solidFill>
                    <a:srgbClr val="51677F"/>
                  </a:solidFill>
                  <a:latin typeface="微软雅黑" panose="020B0503020204020204" charset="-122"/>
                  <a:ea typeface="微软雅黑" panose="020B0503020204020204" charset="-122"/>
                  <a:cs typeface="等线" panose="02010600030101010101" charset="-122"/>
                </a:rPr>
                <a:t>记忆抽取：发现偏好并组织成胶囊</a:t>
              </a:r>
              <a:endParaRPr lang="zh-CN" sz="1125" dirty="0">
                <a:solidFill>
                  <a:srgbClr val="51677F"/>
                </a:solidFill>
                <a:latin typeface="微软雅黑" panose="020B0503020204020204" charset="-122"/>
                <a:ea typeface="微软雅黑" panose="020B0503020204020204" charset="-122"/>
                <a:cs typeface="等线" panose="02010600030101010101" charset="-122"/>
              </a:endParaRPr>
            </a:p>
          </p:txBody>
        </p:sp>
        <p:sp>
          <p:nvSpPr>
            <p:cNvPr id="72" name="TextBox 72"/>
            <p:cNvSpPr txBox="1"/>
            <p:nvPr/>
          </p:nvSpPr>
          <p:spPr>
            <a:xfrm>
              <a:off x="881062" y="4742656"/>
              <a:ext cx="2296160" cy="173355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125" dirty="0">
                  <a:solidFill>
                    <a:srgbClr val="51677F"/>
                  </a:solidFill>
                  <a:latin typeface="MiSans Normal" panose="00000500000000000000" charset="-122"/>
                  <a:ea typeface="MiSans Normal" panose="00000500000000000000" charset="-122"/>
                  <a:cs typeface="等线" panose="02010600030101010101" charset="-122"/>
                </a:rPr>
                <a:t>规划推理：结合画像生成个性化路线</a:t>
              </a:r>
              <a:endParaRPr lang="zh-CN" sz="1125" dirty="0">
                <a:solidFill>
                  <a:srgbClr val="51677F"/>
                </a:solidFill>
                <a:latin typeface="MiSans Normal" panose="00000500000000000000" charset="-122"/>
                <a:ea typeface="MiSans Normal" panose="00000500000000000000" charset="-122"/>
                <a:cs typeface="等线" panose="02010600030101010101" charset="-122"/>
              </a:endParaRPr>
            </a:p>
          </p:txBody>
        </p:sp>
        <p:sp>
          <p:nvSpPr>
            <p:cNvPr id="73" name="Rectangle 73"/>
            <p:cNvSpPr/>
            <p:nvPr/>
          </p:nvSpPr>
          <p:spPr>
            <a:xfrm>
              <a:off x="4552950" y="3448050"/>
              <a:ext cx="3048000" cy="2286000"/>
            </a:xfrm>
            <a:prstGeom prst="roundRect">
              <a:avLst>
                <a:gd name="adj" fmla="val 5833"/>
              </a:avLst>
            </a:prstGeom>
            <a:solidFill>
              <a:srgbClr val="0B57D0">
                <a:alpha val="5000"/>
              </a:srgbClr>
            </a:solidFill>
            <a:ln>
              <a:noFill/>
            </a:ln>
          </p:spPr>
        </p:sp>
        <p:sp>
          <p:nvSpPr>
            <p:cNvPr id="74" name="Rectangle 74"/>
            <p:cNvSpPr/>
            <p:nvPr/>
          </p:nvSpPr>
          <p:spPr>
            <a:xfrm>
              <a:off x="4476750" y="3352800"/>
              <a:ext cx="3048000" cy="2286000"/>
            </a:xfrm>
            <a:prstGeom prst="roundRect">
              <a:avLst>
                <a:gd name="adj" fmla="val 5833"/>
              </a:avLst>
            </a:prstGeom>
            <a:solidFill>
              <a:srgbClr val="FFFFFF"/>
            </a:solidFill>
            <a:ln w="11430">
              <a:solidFill>
                <a:srgbClr val="BFD9F4"/>
              </a:solidFill>
            </a:ln>
          </p:spPr>
        </p:sp>
        <p:sp>
          <p:nvSpPr>
            <p:cNvPr id="75" name="Line 75"/>
            <p:cNvSpPr/>
            <p:nvPr/>
          </p:nvSpPr>
          <p:spPr>
            <a:xfrm>
              <a:off x="4648200" y="3362325"/>
              <a:ext cx="1238250" cy="9525"/>
            </a:xfrm>
            <a:custGeom>
              <a:avLst/>
              <a:gdLst/>
              <a:ahLst/>
              <a:cxnLst/>
              <a:rect l="l" t="t" r="r" b="b"/>
              <a:pathLst>
                <a:path w="1238250" h="9525">
                  <a:moveTo>
                    <a:pt x="0" y="0"/>
                  </a:moveTo>
                  <a:lnTo>
                    <a:pt x="1238250" y="0"/>
                  </a:lnTo>
                </a:path>
              </a:pathLst>
            </a:custGeom>
            <a:noFill/>
            <a:ln w="19050">
              <a:solidFill>
                <a:srgbClr val="26A7FF">
                  <a:alpha val="90000"/>
                </a:srgbClr>
              </a:solidFill>
            </a:ln>
          </p:spPr>
        </p:sp>
        <p:sp>
          <p:nvSpPr>
            <p:cNvPr id="76" name="Rectangle 76"/>
            <p:cNvSpPr/>
            <p:nvPr/>
          </p:nvSpPr>
          <p:spPr>
            <a:xfrm>
              <a:off x="4648200" y="3524250"/>
              <a:ext cx="285750" cy="285750"/>
            </a:xfrm>
            <a:prstGeom prst="roundRect">
              <a:avLst>
                <a:gd name="adj" fmla="val 33333"/>
              </a:avLst>
            </a:prstGeom>
            <a:solidFill>
              <a:srgbClr val="E7F2FF"/>
            </a:solidFill>
            <a:ln>
              <a:noFill/>
            </a:ln>
          </p:spPr>
        </p:sp>
        <p:grpSp>
          <p:nvGrpSpPr>
            <p:cNvPr id="80" name="Group 80"/>
            <p:cNvGrpSpPr/>
            <p:nvPr/>
          </p:nvGrpSpPr>
          <p:grpSpPr>
            <a:xfrm>
              <a:off x="4709057" y="3593044"/>
              <a:ext cx="156099" cy="148161"/>
              <a:chOff x="4709057" y="3593044"/>
              <a:chExt cx="156099" cy="148161"/>
            </a:xfrm>
          </p:grpSpPr>
          <p:sp>
            <p:nvSpPr>
              <p:cNvPr id="77" name="Freeform 77"/>
              <p:cNvSpPr/>
              <p:nvPr/>
            </p:nvSpPr>
            <p:spPr>
              <a:xfrm>
                <a:off x="4814888" y="3688294"/>
                <a:ext cx="50268" cy="52911"/>
              </a:xfrm>
              <a:custGeom>
                <a:avLst/>
                <a:gdLst/>
                <a:ahLst/>
                <a:cxnLst/>
                <a:rect l="l" t="t" r="r" b="b"/>
                <a:pathLst>
                  <a:path w="50268" h="52911">
                    <a:moveTo>
                      <a:pt x="7937" y="34393"/>
                    </a:moveTo>
                    <a:cubicBezTo>
                      <a:pt x="3554" y="34393"/>
                      <a:pt x="0" y="30839"/>
                      <a:pt x="0" y="26456"/>
                    </a:cubicBezTo>
                    <a:cubicBezTo>
                      <a:pt x="0" y="22072"/>
                      <a:pt x="3554" y="18518"/>
                      <a:pt x="7937" y="18518"/>
                    </a:cubicBezTo>
                    <a:cubicBezTo>
                      <a:pt x="12321" y="18518"/>
                      <a:pt x="15875" y="14964"/>
                      <a:pt x="15875" y="10581"/>
                    </a:cubicBezTo>
                    <a:cubicBezTo>
                      <a:pt x="15875" y="0"/>
                      <a:pt x="31750" y="0"/>
                      <a:pt x="31750" y="10581"/>
                    </a:cubicBezTo>
                    <a:cubicBezTo>
                      <a:pt x="31750" y="14964"/>
                      <a:pt x="35304" y="18518"/>
                      <a:pt x="39688" y="18518"/>
                    </a:cubicBezTo>
                    <a:cubicBezTo>
                      <a:pt x="50268" y="18518"/>
                      <a:pt x="50268" y="34393"/>
                      <a:pt x="39688" y="34393"/>
                    </a:cubicBezTo>
                    <a:cubicBezTo>
                      <a:pt x="35304" y="34393"/>
                      <a:pt x="31750" y="37947"/>
                      <a:pt x="31750" y="42331"/>
                    </a:cubicBezTo>
                    <a:cubicBezTo>
                      <a:pt x="31750" y="52911"/>
                      <a:pt x="15875" y="52911"/>
                      <a:pt x="15875" y="42331"/>
                    </a:cubicBezTo>
                    <a:cubicBezTo>
                      <a:pt x="15875" y="37947"/>
                      <a:pt x="12321" y="34393"/>
                      <a:pt x="7937" y="34393"/>
                    </a:cubicBezTo>
                  </a:path>
                </a:pathLst>
              </a:custGeom>
              <a:solidFill>
                <a:srgbClr val="0B57D0"/>
              </a:solidFill>
              <a:ln>
                <a:noFill/>
              </a:ln>
            </p:spPr>
          </p:sp>
          <p:sp>
            <p:nvSpPr>
              <p:cNvPr id="78" name="Freeform 78"/>
              <p:cNvSpPr/>
              <p:nvPr/>
            </p:nvSpPr>
            <p:spPr>
              <a:xfrm>
                <a:off x="4709057" y="3608919"/>
                <a:ext cx="116411" cy="113768"/>
              </a:xfrm>
              <a:custGeom>
                <a:avLst/>
                <a:gdLst/>
                <a:ahLst/>
                <a:cxnLst/>
                <a:rect l="l" t="t" r="r" b="b"/>
                <a:pathLst>
                  <a:path w="116411" h="113768">
                    <a:moveTo>
                      <a:pt x="10581" y="50268"/>
                    </a:moveTo>
                    <a:cubicBezTo>
                      <a:pt x="32499" y="50268"/>
                      <a:pt x="50268" y="32499"/>
                      <a:pt x="50268" y="10581"/>
                    </a:cubicBezTo>
                    <a:cubicBezTo>
                      <a:pt x="50268" y="0"/>
                      <a:pt x="66143" y="0"/>
                      <a:pt x="66143" y="10581"/>
                    </a:cubicBezTo>
                    <a:cubicBezTo>
                      <a:pt x="66143" y="32499"/>
                      <a:pt x="83912" y="50268"/>
                      <a:pt x="105831" y="50268"/>
                    </a:cubicBezTo>
                    <a:cubicBezTo>
                      <a:pt x="116411" y="50268"/>
                      <a:pt x="116411" y="66143"/>
                      <a:pt x="105831" y="66143"/>
                    </a:cubicBezTo>
                    <a:cubicBezTo>
                      <a:pt x="83912" y="66143"/>
                      <a:pt x="66143" y="83912"/>
                      <a:pt x="66143" y="105831"/>
                    </a:cubicBezTo>
                    <a:cubicBezTo>
                      <a:pt x="66143" y="110214"/>
                      <a:pt x="62589" y="113768"/>
                      <a:pt x="58206" y="113768"/>
                    </a:cubicBezTo>
                    <a:cubicBezTo>
                      <a:pt x="53822" y="113768"/>
                      <a:pt x="50268" y="110214"/>
                      <a:pt x="50268" y="105831"/>
                    </a:cubicBezTo>
                    <a:cubicBezTo>
                      <a:pt x="50268" y="83912"/>
                      <a:pt x="32499" y="66143"/>
                      <a:pt x="10581" y="66143"/>
                    </a:cubicBezTo>
                    <a:cubicBezTo>
                      <a:pt x="0" y="66143"/>
                      <a:pt x="0" y="50268"/>
                      <a:pt x="10581" y="50268"/>
                    </a:cubicBezTo>
                  </a:path>
                </a:pathLst>
              </a:custGeom>
              <a:solidFill>
                <a:srgbClr val="0B57D0"/>
              </a:solidFill>
              <a:ln>
                <a:noFill/>
              </a:ln>
            </p:spPr>
          </p:sp>
          <p:sp>
            <p:nvSpPr>
              <p:cNvPr id="79" name="Freeform 79"/>
              <p:cNvSpPr/>
              <p:nvPr/>
            </p:nvSpPr>
            <p:spPr>
              <a:xfrm>
                <a:off x="4814888" y="3593044"/>
                <a:ext cx="50268" cy="52911"/>
              </a:xfrm>
              <a:custGeom>
                <a:avLst/>
                <a:gdLst/>
                <a:ahLst/>
                <a:cxnLst/>
                <a:rect l="l" t="t" r="r" b="b"/>
                <a:pathLst>
                  <a:path w="50268" h="52911">
                    <a:moveTo>
                      <a:pt x="7937" y="34393"/>
                    </a:moveTo>
                    <a:cubicBezTo>
                      <a:pt x="3554" y="34393"/>
                      <a:pt x="0" y="30839"/>
                      <a:pt x="0" y="26456"/>
                    </a:cubicBezTo>
                    <a:cubicBezTo>
                      <a:pt x="0" y="22072"/>
                      <a:pt x="3554" y="18518"/>
                      <a:pt x="7937" y="18518"/>
                    </a:cubicBezTo>
                    <a:cubicBezTo>
                      <a:pt x="12321" y="18518"/>
                      <a:pt x="15875" y="14964"/>
                      <a:pt x="15875" y="10581"/>
                    </a:cubicBezTo>
                    <a:cubicBezTo>
                      <a:pt x="15875" y="0"/>
                      <a:pt x="31750" y="0"/>
                      <a:pt x="31750" y="10581"/>
                    </a:cubicBezTo>
                    <a:cubicBezTo>
                      <a:pt x="31750" y="14964"/>
                      <a:pt x="35304" y="18518"/>
                      <a:pt x="39688" y="18518"/>
                    </a:cubicBezTo>
                    <a:cubicBezTo>
                      <a:pt x="50268" y="18518"/>
                      <a:pt x="50268" y="34393"/>
                      <a:pt x="39688" y="34393"/>
                    </a:cubicBezTo>
                    <a:cubicBezTo>
                      <a:pt x="35304" y="34393"/>
                      <a:pt x="31750" y="37947"/>
                      <a:pt x="31750" y="42331"/>
                    </a:cubicBezTo>
                    <a:cubicBezTo>
                      <a:pt x="31750" y="52911"/>
                      <a:pt x="15875" y="52911"/>
                      <a:pt x="15875" y="42331"/>
                    </a:cubicBezTo>
                    <a:cubicBezTo>
                      <a:pt x="15875" y="37947"/>
                      <a:pt x="12321" y="34393"/>
                      <a:pt x="7937" y="34393"/>
                    </a:cubicBezTo>
                  </a:path>
                </a:pathLst>
              </a:custGeom>
              <a:solidFill>
                <a:srgbClr val="0B57D0"/>
              </a:solidFill>
              <a:ln>
                <a:noFill/>
              </a:ln>
            </p:spPr>
          </p:sp>
        </p:grpSp>
        <p:sp>
          <p:nvSpPr>
            <p:cNvPr id="81" name="TextBox 81"/>
            <p:cNvSpPr txBox="1"/>
            <p:nvPr/>
          </p:nvSpPr>
          <p:spPr>
            <a:xfrm>
              <a:off x="5030152" y="3564096"/>
              <a:ext cx="1193165" cy="245745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600" b="1" dirty="0">
                  <a:solidFill>
                    <a:srgbClr val="102033"/>
                  </a:solidFill>
                  <a:latin typeface="MiSans Normal" panose="00000500000000000000" charset="-122"/>
                  <a:ea typeface="MiSans Normal" panose="00000500000000000000" charset="-122"/>
                  <a:cs typeface="MiSans Normal" panose="00000500000000000000" charset="-122"/>
                </a:rPr>
                <a:t>大模型能力 2</a:t>
              </a:r>
              <a:endParaRPr lang="zh-CN" sz="1600" b="1" dirty="0">
                <a:solidFill>
                  <a:srgbClr val="102033"/>
                </a:solidFill>
                <a:latin typeface="MiSans Normal" panose="00000500000000000000" charset="-122"/>
                <a:ea typeface="MiSans Normal" panose="00000500000000000000" charset="-122"/>
                <a:cs typeface="MiSans Normal" panose="00000500000000000000" charset="-122"/>
              </a:endParaRPr>
            </a:p>
          </p:txBody>
        </p:sp>
        <p:sp>
          <p:nvSpPr>
            <p:cNvPr id="82" name="TextBox 82"/>
            <p:cNvSpPr txBox="1"/>
            <p:nvPr/>
          </p:nvSpPr>
          <p:spPr>
            <a:xfrm>
              <a:off x="4691062" y="4120356"/>
              <a:ext cx="2296160" cy="173355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125" dirty="0">
                  <a:solidFill>
                    <a:srgbClr val="51677F"/>
                  </a:solidFill>
                  <a:latin typeface="MiSans Normal" panose="00000500000000000000" charset="-122"/>
                  <a:ea typeface="MiSans Normal" panose="00000500000000000000" charset="-122"/>
                  <a:cs typeface="等线" panose="02010600030101010101" charset="-122"/>
                </a:rPr>
                <a:t>角色化对话：按蓝小心人格表达结果</a:t>
              </a:r>
              <a:endParaRPr lang="zh-CN" sz="1125" dirty="0">
                <a:solidFill>
                  <a:srgbClr val="51677F"/>
                </a:solidFill>
                <a:latin typeface="MiSans Normal" panose="00000500000000000000" charset="-122"/>
                <a:ea typeface="MiSans Normal" panose="00000500000000000000" charset="-122"/>
                <a:cs typeface="等线" panose="02010600030101010101" charset="-122"/>
              </a:endParaRPr>
            </a:p>
          </p:txBody>
        </p:sp>
        <p:sp>
          <p:nvSpPr>
            <p:cNvPr id="83" name="TextBox 83"/>
            <p:cNvSpPr txBox="1"/>
            <p:nvPr/>
          </p:nvSpPr>
          <p:spPr>
            <a:xfrm>
              <a:off x="4691062" y="4441666"/>
              <a:ext cx="2152650" cy="173355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125" dirty="0">
                  <a:solidFill>
                    <a:srgbClr val="51677F"/>
                  </a:solidFill>
                  <a:latin typeface="MiSans Normal" panose="00000500000000000000" charset="-122"/>
                  <a:ea typeface="MiSans Normal" panose="00000500000000000000" charset="-122"/>
                  <a:cs typeface="等线" panose="02010600030101010101" charset="-122"/>
                </a:rPr>
                <a:t>多模态理解：理解图片与旅拍候选</a:t>
              </a:r>
              <a:endParaRPr lang="zh-CN" sz="1125" dirty="0">
                <a:solidFill>
                  <a:srgbClr val="51677F"/>
                </a:solidFill>
                <a:latin typeface="MiSans Normal" panose="00000500000000000000" charset="-122"/>
                <a:ea typeface="MiSans Normal" panose="00000500000000000000" charset="-122"/>
                <a:cs typeface="等线" panose="02010600030101010101" charset="-122"/>
              </a:endParaRPr>
            </a:p>
          </p:txBody>
        </p:sp>
        <p:sp>
          <p:nvSpPr>
            <p:cNvPr id="84" name="TextBox 84"/>
            <p:cNvSpPr txBox="1"/>
            <p:nvPr/>
          </p:nvSpPr>
          <p:spPr>
            <a:xfrm>
              <a:off x="4691062" y="4742656"/>
              <a:ext cx="2296160" cy="173355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125" dirty="0">
                  <a:solidFill>
                    <a:srgbClr val="51677F"/>
                  </a:solidFill>
                  <a:latin typeface="MiSans Normal" panose="00000500000000000000" charset="-122"/>
                  <a:ea typeface="MiSans Normal" panose="00000500000000000000" charset="-122"/>
                  <a:cs typeface="等线" panose="02010600030101010101" charset="-122"/>
                </a:rPr>
                <a:t>内容生成：生成复盘和社交分享文案</a:t>
              </a:r>
              <a:endParaRPr lang="zh-CN" sz="1125" dirty="0">
                <a:solidFill>
                  <a:srgbClr val="51677F"/>
                </a:solidFill>
                <a:latin typeface="MiSans Normal" panose="00000500000000000000" charset="-122"/>
                <a:ea typeface="MiSans Normal" panose="00000500000000000000" charset="-122"/>
                <a:cs typeface="等线" panose="02010600030101010101" charset="-122"/>
              </a:endParaRPr>
            </a:p>
          </p:txBody>
        </p:sp>
        <p:sp>
          <p:nvSpPr>
            <p:cNvPr id="85" name="Rectangle 85"/>
            <p:cNvSpPr/>
            <p:nvPr/>
          </p:nvSpPr>
          <p:spPr>
            <a:xfrm>
              <a:off x="8362950" y="3448050"/>
              <a:ext cx="2857500" cy="2286000"/>
            </a:xfrm>
            <a:prstGeom prst="roundRect">
              <a:avLst>
                <a:gd name="adj" fmla="val 5833"/>
              </a:avLst>
            </a:prstGeom>
            <a:solidFill>
              <a:srgbClr val="0B57D0">
                <a:alpha val="5000"/>
              </a:srgbClr>
            </a:solidFill>
            <a:ln>
              <a:noFill/>
            </a:ln>
          </p:spPr>
        </p:sp>
        <p:sp>
          <p:nvSpPr>
            <p:cNvPr id="86" name="Rectangle 86"/>
            <p:cNvSpPr/>
            <p:nvPr/>
          </p:nvSpPr>
          <p:spPr>
            <a:xfrm>
              <a:off x="8286750" y="3352800"/>
              <a:ext cx="2857500" cy="2286000"/>
            </a:xfrm>
            <a:prstGeom prst="roundRect">
              <a:avLst>
                <a:gd name="adj" fmla="val 5833"/>
              </a:avLst>
            </a:prstGeom>
            <a:solidFill>
              <a:srgbClr val="FFFFFF"/>
            </a:solidFill>
            <a:ln w="11430">
              <a:solidFill>
                <a:srgbClr val="BFD9F4"/>
              </a:solidFill>
            </a:ln>
          </p:spPr>
        </p:sp>
        <p:sp>
          <p:nvSpPr>
            <p:cNvPr id="87" name="Line 87"/>
            <p:cNvSpPr/>
            <p:nvPr/>
          </p:nvSpPr>
          <p:spPr>
            <a:xfrm>
              <a:off x="8458200" y="3362325"/>
              <a:ext cx="1238250" cy="9525"/>
            </a:xfrm>
            <a:custGeom>
              <a:avLst/>
              <a:gdLst/>
              <a:ahLst/>
              <a:cxnLst/>
              <a:rect l="l" t="t" r="r" b="b"/>
              <a:pathLst>
                <a:path w="1238250" h="9525">
                  <a:moveTo>
                    <a:pt x="0" y="0"/>
                  </a:moveTo>
                  <a:lnTo>
                    <a:pt x="1238250" y="0"/>
                  </a:lnTo>
                </a:path>
              </a:pathLst>
            </a:custGeom>
            <a:noFill/>
            <a:ln w="19050">
              <a:solidFill>
                <a:srgbClr val="26A7FF">
                  <a:alpha val="90000"/>
                </a:srgbClr>
              </a:solidFill>
            </a:ln>
          </p:spPr>
        </p:sp>
        <p:sp>
          <p:nvSpPr>
            <p:cNvPr id="88" name="Rectangle 88"/>
            <p:cNvSpPr/>
            <p:nvPr/>
          </p:nvSpPr>
          <p:spPr>
            <a:xfrm>
              <a:off x="8458200" y="3524250"/>
              <a:ext cx="285750" cy="285750"/>
            </a:xfrm>
            <a:prstGeom prst="roundRect">
              <a:avLst>
                <a:gd name="adj" fmla="val 33333"/>
              </a:avLst>
            </a:prstGeom>
            <a:solidFill>
              <a:srgbClr val="E7F2FF"/>
            </a:solidFill>
            <a:ln>
              <a:noFill/>
            </a:ln>
          </p:spPr>
        </p:sp>
        <p:grpSp>
          <p:nvGrpSpPr>
            <p:cNvPr id="92" name="Group 92"/>
            <p:cNvGrpSpPr/>
            <p:nvPr/>
          </p:nvGrpSpPr>
          <p:grpSpPr>
            <a:xfrm>
              <a:off x="8529637" y="3587750"/>
              <a:ext cx="142876" cy="158750"/>
              <a:chOff x="8529637" y="3587750"/>
              <a:chExt cx="142876" cy="158750"/>
            </a:xfrm>
          </p:grpSpPr>
          <p:sp>
            <p:nvSpPr>
              <p:cNvPr id="89" name="Freeform 89"/>
              <p:cNvSpPr/>
              <p:nvPr/>
            </p:nvSpPr>
            <p:spPr>
              <a:xfrm>
                <a:off x="8529638" y="3696740"/>
                <a:ext cx="142875" cy="49760"/>
              </a:xfrm>
              <a:custGeom>
                <a:avLst/>
                <a:gdLst/>
                <a:ahLst/>
                <a:cxnLst/>
                <a:rect l="l" t="t" r="r" b="b"/>
                <a:pathLst>
                  <a:path w="142875" h="49760">
                    <a:moveTo>
                      <a:pt x="0" y="0"/>
                    </a:moveTo>
                    <a:cubicBezTo>
                      <a:pt x="15621" y="11962"/>
                      <a:pt x="41545" y="18010"/>
                      <a:pt x="71438" y="18010"/>
                    </a:cubicBezTo>
                    <a:cubicBezTo>
                      <a:pt x="101282" y="18010"/>
                      <a:pt x="127198" y="11978"/>
                      <a:pt x="142875" y="135"/>
                    </a:cubicBezTo>
                    <a:lnTo>
                      <a:pt x="142875" y="18010"/>
                    </a:lnTo>
                    <a:cubicBezTo>
                      <a:pt x="142875" y="37259"/>
                      <a:pt x="111958" y="49252"/>
                      <a:pt x="73874" y="49744"/>
                    </a:cubicBezTo>
                    <a:lnTo>
                      <a:pt x="71438" y="49760"/>
                    </a:lnTo>
                    <a:cubicBezTo>
                      <a:pt x="32242" y="49760"/>
                      <a:pt x="0" y="37671"/>
                      <a:pt x="0" y="18010"/>
                    </a:cubicBezTo>
                    <a:close/>
                  </a:path>
                </a:pathLst>
              </a:custGeom>
              <a:solidFill>
                <a:srgbClr val="0B57D0"/>
              </a:solidFill>
              <a:ln>
                <a:noFill/>
              </a:ln>
            </p:spPr>
          </p:sp>
          <p:sp>
            <p:nvSpPr>
              <p:cNvPr id="90" name="Freeform 90"/>
              <p:cNvSpPr/>
              <p:nvPr/>
            </p:nvSpPr>
            <p:spPr>
              <a:xfrm>
                <a:off x="8529638" y="3649115"/>
                <a:ext cx="142875" cy="49760"/>
              </a:xfrm>
              <a:custGeom>
                <a:avLst/>
                <a:gdLst/>
                <a:ahLst/>
                <a:cxnLst/>
                <a:rect l="l" t="t" r="r" b="b"/>
                <a:pathLst>
                  <a:path w="142875" h="49760">
                    <a:moveTo>
                      <a:pt x="0" y="0"/>
                    </a:moveTo>
                    <a:cubicBezTo>
                      <a:pt x="15621" y="11962"/>
                      <a:pt x="41545" y="18010"/>
                      <a:pt x="71438" y="18010"/>
                    </a:cubicBezTo>
                    <a:cubicBezTo>
                      <a:pt x="101282" y="18010"/>
                      <a:pt x="127198" y="11978"/>
                      <a:pt x="142875" y="135"/>
                    </a:cubicBezTo>
                    <a:lnTo>
                      <a:pt x="142875" y="18010"/>
                    </a:lnTo>
                    <a:cubicBezTo>
                      <a:pt x="142875" y="37671"/>
                      <a:pt x="110633" y="49760"/>
                      <a:pt x="71438" y="49760"/>
                    </a:cubicBezTo>
                    <a:cubicBezTo>
                      <a:pt x="33353" y="49760"/>
                      <a:pt x="1826" y="38346"/>
                      <a:pt x="167" y="19637"/>
                    </a:cubicBezTo>
                    <a:lnTo>
                      <a:pt x="40" y="18836"/>
                    </a:lnTo>
                    <a:lnTo>
                      <a:pt x="0" y="18010"/>
                    </a:lnTo>
                    <a:close/>
                  </a:path>
                </a:pathLst>
              </a:custGeom>
              <a:solidFill>
                <a:srgbClr val="0B57D0"/>
              </a:solidFill>
              <a:ln>
                <a:noFill/>
              </a:ln>
            </p:spPr>
          </p:sp>
          <p:sp>
            <p:nvSpPr>
              <p:cNvPr id="91" name="Freeform 91"/>
              <p:cNvSpPr/>
              <p:nvPr/>
            </p:nvSpPr>
            <p:spPr>
              <a:xfrm>
                <a:off x="8529637" y="3587750"/>
                <a:ext cx="142876" cy="63500"/>
              </a:xfrm>
              <a:custGeom>
                <a:avLst/>
                <a:gdLst/>
                <a:ahLst/>
                <a:cxnLst/>
                <a:rect l="l" t="t" r="r" b="b"/>
                <a:pathLst>
                  <a:path w="142876" h="63500">
                    <a:moveTo>
                      <a:pt x="71438" y="0"/>
                    </a:moveTo>
                    <a:cubicBezTo>
                      <a:pt x="79701" y="0"/>
                      <a:pt x="87662" y="540"/>
                      <a:pt x="95068" y="1572"/>
                    </a:cubicBezTo>
                    <a:lnTo>
                      <a:pt x="98791" y="2135"/>
                    </a:lnTo>
                    <a:cubicBezTo>
                      <a:pt x="103236" y="2876"/>
                      <a:pt x="107432" y="3797"/>
                      <a:pt x="111380" y="4897"/>
                    </a:cubicBezTo>
                    <a:lnTo>
                      <a:pt x="114872" y="5937"/>
                    </a:lnTo>
                    <a:lnTo>
                      <a:pt x="115467" y="6128"/>
                    </a:lnTo>
                    <a:cubicBezTo>
                      <a:pt x="117628" y="6838"/>
                      <a:pt x="119759" y="7632"/>
                      <a:pt x="121857" y="8509"/>
                    </a:cubicBezTo>
                    <a:lnTo>
                      <a:pt x="123437" y="9192"/>
                    </a:lnTo>
                    <a:cubicBezTo>
                      <a:pt x="126268" y="10472"/>
                      <a:pt x="128826" y="11875"/>
                      <a:pt x="131112" y="13398"/>
                    </a:cubicBezTo>
                    <a:cubicBezTo>
                      <a:pt x="131985" y="13981"/>
                      <a:pt x="132814" y="14576"/>
                      <a:pt x="133597" y="15184"/>
                    </a:cubicBezTo>
                    <a:cubicBezTo>
                      <a:pt x="135581" y="16724"/>
                      <a:pt x="137364" y="18505"/>
                      <a:pt x="138907" y="20487"/>
                    </a:cubicBezTo>
                    <a:lnTo>
                      <a:pt x="139629" y="21503"/>
                    </a:lnTo>
                    <a:cubicBezTo>
                      <a:pt x="140000" y="22058"/>
                      <a:pt x="140341" y="22617"/>
                      <a:pt x="140653" y="23178"/>
                    </a:cubicBezTo>
                    <a:lnTo>
                      <a:pt x="141209" y="24281"/>
                    </a:lnTo>
                    <a:cubicBezTo>
                      <a:pt x="142071" y="26133"/>
                      <a:pt x="142600" y="28064"/>
                      <a:pt x="142796" y="30075"/>
                    </a:cubicBezTo>
                    <a:lnTo>
                      <a:pt x="142876" y="31750"/>
                    </a:lnTo>
                    <a:cubicBezTo>
                      <a:pt x="142876" y="51411"/>
                      <a:pt x="110633" y="63500"/>
                      <a:pt x="71438" y="63500"/>
                    </a:cubicBezTo>
                    <a:cubicBezTo>
                      <a:pt x="33354" y="63500"/>
                      <a:pt x="1826" y="52086"/>
                      <a:pt x="167" y="33377"/>
                    </a:cubicBezTo>
                    <a:cubicBezTo>
                      <a:pt x="56" y="32842"/>
                      <a:pt x="0" y="32297"/>
                      <a:pt x="1" y="31750"/>
                    </a:cubicBezTo>
                    <a:lnTo>
                      <a:pt x="40" y="30925"/>
                    </a:lnTo>
                    <a:lnTo>
                      <a:pt x="167" y="30131"/>
                    </a:lnTo>
                    <a:cubicBezTo>
                      <a:pt x="1794" y="11827"/>
                      <a:pt x="31997" y="500"/>
                      <a:pt x="68962" y="16"/>
                    </a:cubicBezTo>
                    <a:close/>
                  </a:path>
                </a:pathLst>
              </a:custGeom>
              <a:solidFill>
                <a:srgbClr val="0B57D0"/>
              </a:solidFill>
              <a:ln>
                <a:noFill/>
              </a:ln>
            </p:spPr>
          </p:sp>
        </p:grpSp>
        <p:sp>
          <p:nvSpPr>
            <p:cNvPr id="93" name="TextBox 93"/>
            <p:cNvSpPr txBox="1"/>
            <p:nvPr/>
          </p:nvSpPr>
          <p:spPr>
            <a:xfrm>
              <a:off x="8805227" y="3573621"/>
              <a:ext cx="815340" cy="245745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600" b="1" dirty="0">
                  <a:solidFill>
                    <a:srgbClr val="102033"/>
                  </a:solidFill>
                  <a:latin typeface="MiSans Normal" panose="00000500000000000000" charset="-122"/>
                  <a:ea typeface="MiSans Normal" panose="00000500000000000000" charset="-122"/>
                  <a:cs typeface="等线" panose="02010600030101010101" charset="-122"/>
                </a:rPr>
                <a:t>关键判断</a:t>
              </a:r>
              <a:endParaRPr lang="zh-CN" sz="1600" b="1" dirty="0">
                <a:solidFill>
                  <a:srgbClr val="102033"/>
                </a:solidFill>
                <a:latin typeface="MiSans Normal" panose="00000500000000000000" charset="-122"/>
                <a:ea typeface="MiSans Normal" panose="00000500000000000000" charset="-122"/>
                <a:cs typeface="等线" panose="02010600030101010101" charset="-122"/>
              </a:endParaRPr>
            </a:p>
          </p:txBody>
        </p:sp>
        <p:sp>
          <p:nvSpPr>
            <p:cNvPr id="94" name="TextBox 94"/>
            <p:cNvSpPr txBox="1"/>
            <p:nvPr/>
          </p:nvSpPr>
          <p:spPr>
            <a:xfrm>
              <a:off x="8501062" y="3998436"/>
              <a:ext cx="1578610" cy="173355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125" dirty="0">
                  <a:solidFill>
                    <a:srgbClr val="51677F"/>
                  </a:solidFill>
                  <a:latin typeface="MiSans Normal" panose="00000500000000000000" charset="-122"/>
                  <a:ea typeface="MiSans Normal" panose="00000500000000000000" charset="-122"/>
                  <a:cs typeface="等线" panose="02010600030101010101" charset="-122"/>
                </a:rPr>
                <a:t>理解：识别真实旅行意图</a:t>
              </a:r>
              <a:endParaRPr lang="zh-CN" sz="1125" dirty="0">
                <a:solidFill>
                  <a:srgbClr val="51677F"/>
                </a:solidFill>
                <a:latin typeface="MiSans Normal" panose="00000500000000000000" charset="-122"/>
                <a:ea typeface="MiSans Normal" panose="00000500000000000000" charset="-122"/>
                <a:cs typeface="等线" panose="02010600030101010101" charset="-122"/>
              </a:endParaRPr>
            </a:p>
          </p:txBody>
        </p:sp>
        <p:sp>
          <p:nvSpPr>
            <p:cNvPr id="95" name="TextBox 95"/>
            <p:cNvSpPr txBox="1"/>
            <p:nvPr/>
          </p:nvSpPr>
          <p:spPr>
            <a:xfrm>
              <a:off x="8501062" y="4299426"/>
              <a:ext cx="1578610" cy="173355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125" dirty="0">
                  <a:solidFill>
                    <a:srgbClr val="51677F"/>
                  </a:solidFill>
                  <a:latin typeface="MiSans Normal" panose="00000500000000000000" charset="-122"/>
                  <a:ea typeface="MiSans Normal" panose="00000500000000000000" charset="-122"/>
                  <a:cs typeface="等线" panose="02010600030101010101" charset="-122"/>
                </a:rPr>
                <a:t>记忆：沉淀可控用户偏好</a:t>
              </a:r>
              <a:endParaRPr lang="zh-CN" sz="1125" dirty="0">
                <a:solidFill>
                  <a:srgbClr val="51677F"/>
                </a:solidFill>
                <a:latin typeface="MiSans Normal" panose="00000500000000000000" charset="-122"/>
                <a:ea typeface="MiSans Normal" panose="00000500000000000000" charset="-122"/>
                <a:cs typeface="等线" panose="02010600030101010101" charset="-122"/>
              </a:endParaRPr>
            </a:p>
          </p:txBody>
        </p:sp>
        <p:sp>
          <p:nvSpPr>
            <p:cNvPr id="96" name="TextBox 96"/>
            <p:cNvSpPr txBox="1"/>
            <p:nvPr/>
          </p:nvSpPr>
          <p:spPr>
            <a:xfrm>
              <a:off x="8501062" y="4590256"/>
              <a:ext cx="1722120" cy="173355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125" dirty="0">
                  <a:solidFill>
                    <a:srgbClr val="51677F"/>
                  </a:solidFill>
                  <a:latin typeface="MiSans Normal" panose="00000500000000000000" charset="-122"/>
                  <a:ea typeface="MiSans Normal" panose="00000500000000000000" charset="-122"/>
                  <a:cs typeface="等线" panose="02010600030101010101" charset="-122"/>
                </a:rPr>
                <a:t>推理：生成可执行路线方案</a:t>
              </a:r>
              <a:endParaRPr lang="zh-CN" sz="1125" dirty="0">
                <a:solidFill>
                  <a:srgbClr val="51677F"/>
                </a:solidFill>
                <a:latin typeface="MiSans Normal" panose="00000500000000000000" charset="-122"/>
                <a:ea typeface="MiSans Normal" panose="00000500000000000000" charset="-122"/>
                <a:cs typeface="等线" panose="02010600030101010101" charset="-122"/>
              </a:endParaRPr>
            </a:p>
          </p:txBody>
        </p:sp>
        <p:sp>
          <p:nvSpPr>
            <p:cNvPr id="97" name="TextBox 97"/>
            <p:cNvSpPr txBox="1"/>
            <p:nvPr/>
          </p:nvSpPr>
          <p:spPr>
            <a:xfrm>
              <a:off x="8501062" y="4850606"/>
              <a:ext cx="1865630" cy="173355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125" dirty="0">
                  <a:solidFill>
                    <a:srgbClr val="51677F"/>
                  </a:solidFill>
                  <a:latin typeface="MiSans Normal" panose="00000500000000000000" charset="-122"/>
                  <a:ea typeface="MiSans Normal" panose="00000500000000000000" charset="-122"/>
                  <a:cs typeface="等线" panose="02010600030101010101" charset="-122"/>
                </a:rPr>
                <a:t>表达：按蓝小心人格反馈结果</a:t>
              </a:r>
              <a:endParaRPr lang="zh-CN" sz="1125" dirty="0">
                <a:solidFill>
                  <a:srgbClr val="51677F"/>
                </a:solidFill>
                <a:latin typeface="MiSans Normal" panose="00000500000000000000" charset="-122"/>
                <a:ea typeface="MiSans Normal" panose="00000500000000000000" charset="-122"/>
                <a:cs typeface="等线" panose="02010600030101010101" charset="-122"/>
              </a:endParaRPr>
            </a:p>
          </p:txBody>
        </p:sp>
        <p:sp>
          <p:nvSpPr>
            <p:cNvPr id="98" name="TextBox 98"/>
            <p:cNvSpPr txBox="1"/>
            <p:nvPr/>
          </p:nvSpPr>
          <p:spPr>
            <a:xfrm>
              <a:off x="521970" y="6598920"/>
              <a:ext cx="2106263" cy="18288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00" dirty="0">
                  <a:solidFill>
                    <a:srgbClr val="8AA1B7"/>
                  </a:solidFill>
                  <a:latin typeface="等线" panose="02010600030101010101" charset="-122"/>
                  <a:ea typeface="微软雅黑" panose="020B0503020204020204" charset="-122"/>
                  <a:cs typeface="等线" panose="02010600030101010101" charset="-122"/>
                </a:rPr>
                <a:t>蓝心同行 | AIGC创新赛应用赛道初赛</a:t>
              </a:r>
              <a:endParaRPr lang="zh-CN" sz="900" dirty="0">
                <a:solidFill>
                  <a:srgbClr val="8AA1B7"/>
                </a:solidFill>
                <a:latin typeface="等线" panose="02010600030101010101" charset="-122"/>
                <a:ea typeface="微软雅黑" panose="020B0503020204020204" charset="-122"/>
                <a:cs typeface="等线" panose="02010600030101010101" charset="-122"/>
              </a:endParaRPr>
            </a:p>
          </p:txBody>
        </p:sp>
        <p:sp>
          <p:nvSpPr>
            <p:cNvPr id="99" name="TextBox 99"/>
            <p:cNvSpPr txBox="1"/>
            <p:nvPr/>
          </p:nvSpPr>
          <p:spPr>
            <a:xfrm>
              <a:off x="11464480" y="6598920"/>
              <a:ext cx="167449" cy="18288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r"/>
              <a:r>
                <a:rPr lang="zh-CN" sz="900" dirty="0">
                  <a:solidFill>
                    <a:srgbClr val="8AA1B7"/>
                  </a:solidFill>
                  <a:latin typeface="等线" panose="02010600030101010101" charset="-122"/>
                  <a:ea typeface="微软雅黑" panose="020B0503020204020204" charset="-122"/>
                  <a:cs typeface="等线" panose="02010600030101010101" charset="-122"/>
                </a:rPr>
                <a:t>06</a:t>
              </a:r>
              <a:endParaRPr lang="zh-CN" sz="900" dirty="0">
                <a:solidFill>
                  <a:srgbClr val="8AA1B7"/>
                </a:solidFill>
                <a:latin typeface="等线" panose="02010600030101010101" charset="-122"/>
                <a:ea typeface="微软雅黑" panose="020B0503020204020204" charset="-122"/>
                <a:cs typeface="等线" panose="02010600030101010101" charset="-122"/>
              </a:endParaRPr>
            </a:p>
          </p:txBody>
        </p:sp>
      </p:grp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p14:dur="400">
        <p:fade/>
      </p:transition>
    </mc:Choice>
    <mc:Fallback>
      <p:transition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400"/>
                                        <p:tgtEl>
                                          <p:spTgt spid="10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00" grpId="0"/>
    </p:bld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2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4F9FF"/>
          </a:solidFill>
          <a:ln>
            <a:noFill/>
          </a:ln>
        </p:spPr>
      </p:sp>
      <p:sp>
        <p:nvSpPr>
          <p:cNvPr id="3" name="Rectangle 3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gradFill>
            <a:gsLst>
              <a:gs pos="0">
                <a:srgbClr val="26A7FF">
                  <a:alpha val="12000"/>
                </a:srgbClr>
              </a:gs>
              <a:gs pos="100000">
                <a:srgbClr val="26A7FF">
                  <a:alpha val="0"/>
                </a:srgbClr>
              </a:gs>
            </a:gsLst>
            <a:path path="circle">
              <a:fillToRect l="50000" t="50000" r="50000" b="50000"/>
            </a:path>
          </a:gradFill>
          <a:ln>
            <a:noFill/>
          </a:ln>
        </p:spPr>
      </p:sp>
      <p:sp>
        <p:nvSpPr>
          <p:cNvPr id="4" name="Ellipse 4"/>
          <p:cNvSpPr/>
          <p:nvPr/>
        </p:nvSpPr>
        <p:spPr>
          <a:xfrm>
            <a:off x="9391650" y="-304800"/>
            <a:ext cx="2362200" cy="2362200"/>
          </a:xfrm>
          <a:prstGeom prst="ellipse">
            <a:avLst/>
          </a:prstGeom>
          <a:solidFill>
            <a:srgbClr val="26A7FF">
              <a:alpha val="8000"/>
            </a:srgbClr>
          </a:solidFill>
          <a:ln>
            <a:noFill/>
          </a:ln>
        </p:spPr>
      </p:sp>
      <p:sp>
        <p:nvSpPr>
          <p:cNvPr id="5" name="Ellipse 5"/>
          <p:cNvSpPr/>
          <p:nvPr/>
        </p:nvSpPr>
        <p:spPr>
          <a:xfrm>
            <a:off x="10553700" y="647700"/>
            <a:ext cx="1638300" cy="1638300"/>
          </a:xfrm>
          <a:prstGeom prst="ellipse">
            <a:avLst/>
          </a:prstGeom>
          <a:solidFill>
            <a:srgbClr val="00D4FF">
              <a:alpha val="7000"/>
            </a:srgbClr>
          </a:solidFill>
          <a:ln>
            <a:noFill/>
          </a:ln>
        </p:spPr>
      </p:sp>
      <p:sp>
        <p:nvSpPr>
          <p:cNvPr id="6" name="Freeform 6"/>
          <p:cNvSpPr/>
          <p:nvPr/>
        </p:nvSpPr>
        <p:spPr>
          <a:xfrm>
            <a:off x="8382000" y="781050"/>
            <a:ext cx="3390900" cy="438150"/>
          </a:xfrm>
          <a:custGeom>
            <a:avLst/>
            <a:gdLst/>
            <a:ahLst/>
            <a:cxnLst/>
            <a:rect l="l" t="t" r="r" b="b"/>
            <a:pathLst>
              <a:path w="3390900" h="438150">
                <a:moveTo>
                  <a:pt x="0" y="0"/>
                </a:moveTo>
                <a:lnTo>
                  <a:pt x="1600200" y="0"/>
                </a:lnTo>
                <a:lnTo>
                  <a:pt x="2038350" y="438150"/>
                </a:lnTo>
                <a:lnTo>
                  <a:pt x="3390900" y="438150"/>
                </a:lnTo>
              </a:path>
            </a:pathLst>
          </a:custGeom>
          <a:noFill/>
          <a:ln w="13335">
            <a:solidFill>
              <a:srgbClr val="BFD9F4">
                <a:alpha val="75000"/>
              </a:srgbClr>
            </a:solidFill>
          </a:ln>
        </p:spPr>
      </p:sp>
      <p:sp>
        <p:nvSpPr>
          <p:cNvPr id="7" name="Freeform 7"/>
          <p:cNvSpPr/>
          <p:nvPr/>
        </p:nvSpPr>
        <p:spPr>
          <a:xfrm>
            <a:off x="8705850" y="5638800"/>
            <a:ext cx="2990850" cy="457200"/>
          </a:xfrm>
          <a:custGeom>
            <a:avLst/>
            <a:gdLst/>
            <a:ahLst/>
            <a:cxnLst/>
            <a:rect l="l" t="t" r="r" b="b"/>
            <a:pathLst>
              <a:path w="2990850" h="457200">
                <a:moveTo>
                  <a:pt x="0" y="457200"/>
                </a:moveTo>
                <a:lnTo>
                  <a:pt x="1295400" y="457200"/>
                </a:lnTo>
                <a:lnTo>
                  <a:pt x="1752600" y="0"/>
                </a:lnTo>
                <a:lnTo>
                  <a:pt x="2990850" y="0"/>
                </a:lnTo>
              </a:path>
            </a:pathLst>
          </a:custGeom>
          <a:noFill/>
          <a:ln w="11430">
            <a:solidFill>
              <a:srgbClr val="BFD9F4">
                <a:alpha val="65000"/>
              </a:srgbClr>
            </a:solidFill>
          </a:ln>
        </p:spPr>
      </p:sp>
      <p:sp>
        <p:nvSpPr>
          <p:cNvPr id="8" name="Freeform 8"/>
          <p:cNvSpPr/>
          <p:nvPr/>
        </p:nvSpPr>
        <p:spPr>
          <a:xfrm>
            <a:off x="419100" y="5734050"/>
            <a:ext cx="2057400" cy="381000"/>
          </a:xfrm>
          <a:custGeom>
            <a:avLst/>
            <a:gdLst/>
            <a:ahLst/>
            <a:cxnLst/>
            <a:rect l="l" t="t" r="r" b="b"/>
            <a:pathLst>
              <a:path w="2057400" h="381000">
                <a:moveTo>
                  <a:pt x="0" y="381000"/>
                </a:moveTo>
                <a:lnTo>
                  <a:pt x="1676400" y="381000"/>
                </a:lnTo>
                <a:lnTo>
                  <a:pt x="2057400" y="0"/>
                </a:lnTo>
              </a:path>
            </a:pathLst>
          </a:custGeom>
          <a:noFill/>
          <a:ln w="11430">
            <a:solidFill>
              <a:srgbClr val="D7EAFF">
                <a:alpha val="90000"/>
              </a:srgbClr>
            </a:solidFill>
          </a:ln>
        </p:spPr>
      </p:sp>
      <p:sp>
        <p:nvSpPr>
          <p:cNvPr id="9" name="Ellipse 9"/>
          <p:cNvSpPr/>
          <p:nvPr/>
        </p:nvSpPr>
        <p:spPr>
          <a:xfrm>
            <a:off x="9944100" y="742950"/>
            <a:ext cx="76200" cy="76200"/>
          </a:xfrm>
          <a:prstGeom prst="ellipse">
            <a:avLst/>
          </a:prstGeom>
          <a:solidFill>
            <a:srgbClr val="26A7FF"/>
          </a:solidFill>
          <a:ln>
            <a:noFill/>
          </a:ln>
        </p:spPr>
      </p:sp>
      <p:sp>
        <p:nvSpPr>
          <p:cNvPr id="10" name="Ellipse 10"/>
          <p:cNvSpPr/>
          <p:nvPr/>
        </p:nvSpPr>
        <p:spPr>
          <a:xfrm>
            <a:off x="10382250" y="1181100"/>
            <a:ext cx="76200" cy="76200"/>
          </a:xfrm>
          <a:prstGeom prst="ellipse">
            <a:avLst/>
          </a:prstGeom>
          <a:solidFill>
            <a:srgbClr val="00D4FF"/>
          </a:solidFill>
          <a:ln>
            <a:noFill/>
          </a:ln>
        </p:spPr>
      </p:sp>
      <p:sp>
        <p:nvSpPr>
          <p:cNvPr id="11" name="Ellipse 11"/>
          <p:cNvSpPr/>
          <p:nvPr/>
        </p:nvSpPr>
        <p:spPr>
          <a:xfrm>
            <a:off x="2438400" y="5695950"/>
            <a:ext cx="76200" cy="76200"/>
          </a:xfrm>
          <a:prstGeom prst="ellipse">
            <a:avLst/>
          </a:prstGeom>
          <a:solidFill>
            <a:srgbClr val="26A7FF"/>
          </a:solidFill>
          <a:ln>
            <a:noFill/>
          </a:ln>
        </p:spPr>
      </p:sp>
      <p:sp>
        <p:nvSpPr>
          <p:cNvPr id="12" name="Line 12"/>
          <p:cNvSpPr/>
          <p:nvPr/>
        </p:nvSpPr>
        <p:spPr>
          <a:xfrm>
            <a:off x="762000" y="0"/>
            <a:ext cx="9525" cy="6858000"/>
          </a:xfrm>
          <a:custGeom>
            <a:avLst/>
            <a:gdLst/>
            <a:ahLst/>
            <a:cxnLst/>
            <a:rect l="l" t="t" r="r" b="b"/>
            <a:pathLst>
              <a:path w="9525" h="6858000">
                <a:moveTo>
                  <a:pt x="0" y="0"/>
                </a:moveTo>
                <a:lnTo>
                  <a:pt x="0" y="6858000"/>
                </a:lnTo>
              </a:path>
            </a:pathLst>
          </a:custGeom>
          <a:noFill/>
          <a:ln w="4762">
            <a:solidFill>
              <a:srgbClr val="D7EAFF">
                <a:alpha val="22000"/>
              </a:srgbClr>
            </a:solidFill>
          </a:ln>
        </p:spPr>
      </p:sp>
      <p:sp>
        <p:nvSpPr>
          <p:cNvPr id="13" name="Line 13"/>
          <p:cNvSpPr/>
          <p:nvPr/>
        </p:nvSpPr>
        <p:spPr>
          <a:xfrm>
            <a:off x="1524000" y="0"/>
            <a:ext cx="9525" cy="6858000"/>
          </a:xfrm>
          <a:custGeom>
            <a:avLst/>
            <a:gdLst/>
            <a:ahLst/>
            <a:cxnLst/>
            <a:rect l="l" t="t" r="r" b="b"/>
            <a:pathLst>
              <a:path w="9525" h="6858000">
                <a:moveTo>
                  <a:pt x="0" y="0"/>
                </a:moveTo>
                <a:lnTo>
                  <a:pt x="0" y="6858000"/>
                </a:lnTo>
              </a:path>
            </a:pathLst>
          </a:custGeom>
          <a:noFill/>
          <a:ln w="4762">
            <a:solidFill>
              <a:srgbClr val="D7EAFF">
                <a:alpha val="22000"/>
              </a:srgbClr>
            </a:solidFill>
          </a:ln>
        </p:spPr>
      </p:sp>
      <p:sp>
        <p:nvSpPr>
          <p:cNvPr id="14" name="Line 14"/>
          <p:cNvSpPr/>
          <p:nvPr/>
        </p:nvSpPr>
        <p:spPr>
          <a:xfrm>
            <a:off x="2286000" y="0"/>
            <a:ext cx="9525" cy="6858000"/>
          </a:xfrm>
          <a:custGeom>
            <a:avLst/>
            <a:gdLst/>
            <a:ahLst/>
            <a:cxnLst/>
            <a:rect l="l" t="t" r="r" b="b"/>
            <a:pathLst>
              <a:path w="9525" h="6858000">
                <a:moveTo>
                  <a:pt x="0" y="0"/>
                </a:moveTo>
                <a:lnTo>
                  <a:pt x="0" y="6858000"/>
                </a:lnTo>
              </a:path>
            </a:pathLst>
          </a:custGeom>
          <a:noFill/>
          <a:ln w="4762">
            <a:solidFill>
              <a:srgbClr val="D7EAFF">
                <a:alpha val="22000"/>
              </a:srgbClr>
            </a:solidFill>
          </a:ln>
        </p:spPr>
      </p:sp>
      <p:sp>
        <p:nvSpPr>
          <p:cNvPr id="15" name="Line 15"/>
          <p:cNvSpPr/>
          <p:nvPr/>
        </p:nvSpPr>
        <p:spPr>
          <a:xfrm>
            <a:off x="3048000" y="0"/>
            <a:ext cx="9525" cy="6858000"/>
          </a:xfrm>
          <a:custGeom>
            <a:avLst/>
            <a:gdLst/>
            <a:ahLst/>
            <a:cxnLst/>
            <a:rect l="l" t="t" r="r" b="b"/>
            <a:pathLst>
              <a:path w="9525" h="6858000">
                <a:moveTo>
                  <a:pt x="0" y="0"/>
                </a:moveTo>
                <a:lnTo>
                  <a:pt x="0" y="6858000"/>
                </a:lnTo>
              </a:path>
            </a:pathLst>
          </a:custGeom>
          <a:noFill/>
          <a:ln w="4762">
            <a:solidFill>
              <a:srgbClr val="D7EAFF">
                <a:alpha val="22000"/>
              </a:srgbClr>
            </a:solidFill>
          </a:ln>
        </p:spPr>
      </p:sp>
      <p:sp>
        <p:nvSpPr>
          <p:cNvPr id="16" name="Line 16"/>
          <p:cNvSpPr/>
          <p:nvPr/>
        </p:nvSpPr>
        <p:spPr>
          <a:xfrm>
            <a:off x="3810000" y="0"/>
            <a:ext cx="9525" cy="6858000"/>
          </a:xfrm>
          <a:custGeom>
            <a:avLst/>
            <a:gdLst/>
            <a:ahLst/>
            <a:cxnLst/>
            <a:rect l="l" t="t" r="r" b="b"/>
            <a:pathLst>
              <a:path w="9525" h="6858000">
                <a:moveTo>
                  <a:pt x="0" y="0"/>
                </a:moveTo>
                <a:lnTo>
                  <a:pt x="0" y="6858000"/>
                </a:lnTo>
              </a:path>
            </a:pathLst>
          </a:custGeom>
          <a:noFill/>
          <a:ln w="4762">
            <a:solidFill>
              <a:srgbClr val="D7EAFF">
                <a:alpha val="22000"/>
              </a:srgbClr>
            </a:solidFill>
          </a:ln>
        </p:spPr>
      </p:sp>
      <p:sp>
        <p:nvSpPr>
          <p:cNvPr id="17" name="Line 17"/>
          <p:cNvSpPr/>
          <p:nvPr/>
        </p:nvSpPr>
        <p:spPr>
          <a:xfrm>
            <a:off x="4572000" y="0"/>
            <a:ext cx="9525" cy="6858000"/>
          </a:xfrm>
          <a:custGeom>
            <a:avLst/>
            <a:gdLst/>
            <a:ahLst/>
            <a:cxnLst/>
            <a:rect l="l" t="t" r="r" b="b"/>
            <a:pathLst>
              <a:path w="9525" h="6858000">
                <a:moveTo>
                  <a:pt x="0" y="0"/>
                </a:moveTo>
                <a:lnTo>
                  <a:pt x="0" y="6858000"/>
                </a:lnTo>
              </a:path>
            </a:pathLst>
          </a:custGeom>
          <a:noFill/>
          <a:ln w="4762">
            <a:solidFill>
              <a:srgbClr val="D7EAFF">
                <a:alpha val="22000"/>
              </a:srgbClr>
            </a:solidFill>
          </a:ln>
        </p:spPr>
      </p:sp>
      <p:sp>
        <p:nvSpPr>
          <p:cNvPr id="18" name="Line 18"/>
          <p:cNvSpPr/>
          <p:nvPr/>
        </p:nvSpPr>
        <p:spPr>
          <a:xfrm>
            <a:off x="5334000" y="0"/>
            <a:ext cx="9525" cy="6858000"/>
          </a:xfrm>
          <a:custGeom>
            <a:avLst/>
            <a:gdLst/>
            <a:ahLst/>
            <a:cxnLst/>
            <a:rect l="l" t="t" r="r" b="b"/>
            <a:pathLst>
              <a:path w="9525" h="6858000">
                <a:moveTo>
                  <a:pt x="0" y="0"/>
                </a:moveTo>
                <a:lnTo>
                  <a:pt x="0" y="6858000"/>
                </a:lnTo>
              </a:path>
            </a:pathLst>
          </a:custGeom>
          <a:noFill/>
          <a:ln w="4762">
            <a:solidFill>
              <a:srgbClr val="D7EAFF">
                <a:alpha val="22000"/>
              </a:srgbClr>
            </a:solidFill>
          </a:ln>
        </p:spPr>
      </p:sp>
      <p:sp>
        <p:nvSpPr>
          <p:cNvPr id="19" name="Line 19"/>
          <p:cNvSpPr/>
          <p:nvPr/>
        </p:nvSpPr>
        <p:spPr>
          <a:xfrm>
            <a:off x="6096000" y="0"/>
            <a:ext cx="9525" cy="6858000"/>
          </a:xfrm>
          <a:custGeom>
            <a:avLst/>
            <a:gdLst/>
            <a:ahLst/>
            <a:cxnLst/>
            <a:rect l="l" t="t" r="r" b="b"/>
            <a:pathLst>
              <a:path w="9525" h="6858000">
                <a:moveTo>
                  <a:pt x="0" y="0"/>
                </a:moveTo>
                <a:lnTo>
                  <a:pt x="0" y="6858000"/>
                </a:lnTo>
              </a:path>
            </a:pathLst>
          </a:custGeom>
          <a:noFill/>
          <a:ln w="4762">
            <a:solidFill>
              <a:srgbClr val="D7EAFF">
                <a:alpha val="22000"/>
              </a:srgbClr>
            </a:solidFill>
          </a:ln>
        </p:spPr>
      </p:sp>
      <p:sp>
        <p:nvSpPr>
          <p:cNvPr id="20" name="Line 20"/>
          <p:cNvSpPr/>
          <p:nvPr/>
        </p:nvSpPr>
        <p:spPr>
          <a:xfrm>
            <a:off x="6858000" y="0"/>
            <a:ext cx="9525" cy="6858000"/>
          </a:xfrm>
          <a:custGeom>
            <a:avLst/>
            <a:gdLst/>
            <a:ahLst/>
            <a:cxnLst/>
            <a:rect l="l" t="t" r="r" b="b"/>
            <a:pathLst>
              <a:path w="9525" h="6858000">
                <a:moveTo>
                  <a:pt x="0" y="0"/>
                </a:moveTo>
                <a:lnTo>
                  <a:pt x="0" y="6858000"/>
                </a:lnTo>
              </a:path>
            </a:pathLst>
          </a:custGeom>
          <a:noFill/>
          <a:ln w="4762">
            <a:solidFill>
              <a:srgbClr val="D7EAFF">
                <a:alpha val="22000"/>
              </a:srgbClr>
            </a:solidFill>
          </a:ln>
        </p:spPr>
      </p:sp>
      <p:sp>
        <p:nvSpPr>
          <p:cNvPr id="21" name="Line 21"/>
          <p:cNvSpPr/>
          <p:nvPr/>
        </p:nvSpPr>
        <p:spPr>
          <a:xfrm>
            <a:off x="7620000" y="0"/>
            <a:ext cx="9525" cy="6858000"/>
          </a:xfrm>
          <a:custGeom>
            <a:avLst/>
            <a:gdLst/>
            <a:ahLst/>
            <a:cxnLst/>
            <a:rect l="l" t="t" r="r" b="b"/>
            <a:pathLst>
              <a:path w="9525" h="6858000">
                <a:moveTo>
                  <a:pt x="0" y="0"/>
                </a:moveTo>
                <a:lnTo>
                  <a:pt x="0" y="6858000"/>
                </a:lnTo>
              </a:path>
            </a:pathLst>
          </a:custGeom>
          <a:noFill/>
          <a:ln w="4762">
            <a:solidFill>
              <a:srgbClr val="D7EAFF">
                <a:alpha val="22000"/>
              </a:srgbClr>
            </a:solidFill>
          </a:ln>
        </p:spPr>
      </p:sp>
      <p:sp>
        <p:nvSpPr>
          <p:cNvPr id="22" name="Line 22"/>
          <p:cNvSpPr/>
          <p:nvPr/>
        </p:nvSpPr>
        <p:spPr>
          <a:xfrm>
            <a:off x="8382000" y="0"/>
            <a:ext cx="9525" cy="6858000"/>
          </a:xfrm>
          <a:custGeom>
            <a:avLst/>
            <a:gdLst/>
            <a:ahLst/>
            <a:cxnLst/>
            <a:rect l="l" t="t" r="r" b="b"/>
            <a:pathLst>
              <a:path w="9525" h="6858000">
                <a:moveTo>
                  <a:pt x="0" y="0"/>
                </a:moveTo>
                <a:lnTo>
                  <a:pt x="0" y="6858000"/>
                </a:lnTo>
              </a:path>
            </a:pathLst>
          </a:custGeom>
          <a:noFill/>
          <a:ln w="4762">
            <a:solidFill>
              <a:srgbClr val="D7EAFF">
                <a:alpha val="22000"/>
              </a:srgbClr>
            </a:solidFill>
          </a:ln>
        </p:spPr>
      </p:sp>
      <p:sp>
        <p:nvSpPr>
          <p:cNvPr id="23" name="Line 23"/>
          <p:cNvSpPr/>
          <p:nvPr/>
        </p:nvSpPr>
        <p:spPr>
          <a:xfrm>
            <a:off x="9144000" y="0"/>
            <a:ext cx="9525" cy="6858000"/>
          </a:xfrm>
          <a:custGeom>
            <a:avLst/>
            <a:gdLst/>
            <a:ahLst/>
            <a:cxnLst/>
            <a:rect l="l" t="t" r="r" b="b"/>
            <a:pathLst>
              <a:path w="9525" h="6858000">
                <a:moveTo>
                  <a:pt x="0" y="0"/>
                </a:moveTo>
                <a:lnTo>
                  <a:pt x="0" y="6858000"/>
                </a:lnTo>
              </a:path>
            </a:pathLst>
          </a:custGeom>
          <a:noFill/>
          <a:ln w="4762">
            <a:solidFill>
              <a:srgbClr val="D7EAFF">
                <a:alpha val="22000"/>
              </a:srgbClr>
            </a:solidFill>
          </a:ln>
        </p:spPr>
      </p:sp>
      <p:sp>
        <p:nvSpPr>
          <p:cNvPr id="24" name="Line 24"/>
          <p:cNvSpPr/>
          <p:nvPr/>
        </p:nvSpPr>
        <p:spPr>
          <a:xfrm>
            <a:off x="9906000" y="0"/>
            <a:ext cx="9525" cy="6858000"/>
          </a:xfrm>
          <a:custGeom>
            <a:avLst/>
            <a:gdLst/>
            <a:ahLst/>
            <a:cxnLst/>
            <a:rect l="l" t="t" r="r" b="b"/>
            <a:pathLst>
              <a:path w="9525" h="6858000">
                <a:moveTo>
                  <a:pt x="0" y="0"/>
                </a:moveTo>
                <a:lnTo>
                  <a:pt x="0" y="6858000"/>
                </a:lnTo>
              </a:path>
            </a:pathLst>
          </a:custGeom>
          <a:noFill/>
          <a:ln w="4762">
            <a:solidFill>
              <a:srgbClr val="D7EAFF">
                <a:alpha val="22000"/>
              </a:srgbClr>
            </a:solidFill>
          </a:ln>
        </p:spPr>
      </p:sp>
      <p:sp>
        <p:nvSpPr>
          <p:cNvPr id="25" name="Line 25"/>
          <p:cNvSpPr/>
          <p:nvPr/>
        </p:nvSpPr>
        <p:spPr>
          <a:xfrm>
            <a:off x="10668000" y="0"/>
            <a:ext cx="9525" cy="6858000"/>
          </a:xfrm>
          <a:custGeom>
            <a:avLst/>
            <a:gdLst/>
            <a:ahLst/>
            <a:cxnLst/>
            <a:rect l="l" t="t" r="r" b="b"/>
            <a:pathLst>
              <a:path w="9525" h="6858000">
                <a:moveTo>
                  <a:pt x="0" y="0"/>
                </a:moveTo>
                <a:lnTo>
                  <a:pt x="0" y="6858000"/>
                </a:lnTo>
              </a:path>
            </a:pathLst>
          </a:custGeom>
          <a:noFill/>
          <a:ln w="4762">
            <a:solidFill>
              <a:srgbClr val="D7EAFF">
                <a:alpha val="22000"/>
              </a:srgbClr>
            </a:solidFill>
          </a:ln>
        </p:spPr>
      </p:sp>
      <p:sp>
        <p:nvSpPr>
          <p:cNvPr id="26" name="Line 26"/>
          <p:cNvSpPr/>
          <p:nvPr/>
        </p:nvSpPr>
        <p:spPr>
          <a:xfrm>
            <a:off x="11430000" y="0"/>
            <a:ext cx="9525" cy="6858000"/>
          </a:xfrm>
          <a:custGeom>
            <a:avLst/>
            <a:gdLst/>
            <a:ahLst/>
            <a:cxnLst/>
            <a:rect l="l" t="t" r="r" b="b"/>
            <a:pathLst>
              <a:path w="9525" h="6858000">
                <a:moveTo>
                  <a:pt x="0" y="0"/>
                </a:moveTo>
                <a:lnTo>
                  <a:pt x="0" y="6858000"/>
                </a:lnTo>
              </a:path>
            </a:pathLst>
          </a:custGeom>
          <a:noFill/>
          <a:ln w="4762">
            <a:solidFill>
              <a:srgbClr val="D7EAFF">
                <a:alpha val="22000"/>
              </a:srgbClr>
            </a:solidFill>
          </a:ln>
        </p:spPr>
      </p:sp>
      <p:sp>
        <p:nvSpPr>
          <p:cNvPr id="27" name="Line 27"/>
          <p:cNvSpPr/>
          <p:nvPr/>
        </p:nvSpPr>
        <p:spPr>
          <a:xfrm>
            <a:off x="0" y="762000"/>
            <a:ext cx="12192000" cy="9525"/>
          </a:xfrm>
          <a:custGeom>
            <a:avLst/>
            <a:gdLst/>
            <a:ahLst/>
            <a:cxnLst/>
            <a:rect l="l" t="t" r="r" b="b"/>
            <a:pathLst>
              <a:path w="12192000" h="9525">
                <a:moveTo>
                  <a:pt x="0" y="0"/>
                </a:moveTo>
                <a:lnTo>
                  <a:pt x="12192000" y="0"/>
                </a:lnTo>
              </a:path>
            </a:pathLst>
          </a:custGeom>
          <a:noFill/>
          <a:ln w="4762">
            <a:solidFill>
              <a:srgbClr val="D7EAFF">
                <a:alpha val="22000"/>
              </a:srgbClr>
            </a:solidFill>
          </a:ln>
        </p:spPr>
      </p:sp>
      <p:sp>
        <p:nvSpPr>
          <p:cNvPr id="28" name="Line 28"/>
          <p:cNvSpPr/>
          <p:nvPr/>
        </p:nvSpPr>
        <p:spPr>
          <a:xfrm>
            <a:off x="0" y="1524000"/>
            <a:ext cx="12192000" cy="9525"/>
          </a:xfrm>
          <a:custGeom>
            <a:avLst/>
            <a:gdLst/>
            <a:ahLst/>
            <a:cxnLst/>
            <a:rect l="l" t="t" r="r" b="b"/>
            <a:pathLst>
              <a:path w="12192000" h="9525">
                <a:moveTo>
                  <a:pt x="0" y="0"/>
                </a:moveTo>
                <a:lnTo>
                  <a:pt x="12192000" y="0"/>
                </a:lnTo>
              </a:path>
            </a:pathLst>
          </a:custGeom>
          <a:noFill/>
          <a:ln w="4762">
            <a:solidFill>
              <a:srgbClr val="D7EAFF">
                <a:alpha val="22000"/>
              </a:srgbClr>
            </a:solidFill>
          </a:ln>
        </p:spPr>
      </p:sp>
      <p:sp>
        <p:nvSpPr>
          <p:cNvPr id="29" name="Line 29"/>
          <p:cNvSpPr/>
          <p:nvPr/>
        </p:nvSpPr>
        <p:spPr>
          <a:xfrm>
            <a:off x="0" y="2286000"/>
            <a:ext cx="12192000" cy="9525"/>
          </a:xfrm>
          <a:custGeom>
            <a:avLst/>
            <a:gdLst/>
            <a:ahLst/>
            <a:cxnLst/>
            <a:rect l="l" t="t" r="r" b="b"/>
            <a:pathLst>
              <a:path w="12192000" h="9525">
                <a:moveTo>
                  <a:pt x="0" y="0"/>
                </a:moveTo>
                <a:lnTo>
                  <a:pt x="12192000" y="0"/>
                </a:lnTo>
              </a:path>
            </a:pathLst>
          </a:custGeom>
          <a:noFill/>
          <a:ln w="4762">
            <a:solidFill>
              <a:srgbClr val="D7EAFF">
                <a:alpha val="22000"/>
              </a:srgbClr>
            </a:solidFill>
          </a:ln>
        </p:spPr>
      </p:sp>
      <p:sp>
        <p:nvSpPr>
          <p:cNvPr id="30" name="Line 30"/>
          <p:cNvSpPr/>
          <p:nvPr/>
        </p:nvSpPr>
        <p:spPr>
          <a:xfrm>
            <a:off x="0" y="3048000"/>
            <a:ext cx="12192000" cy="9525"/>
          </a:xfrm>
          <a:custGeom>
            <a:avLst/>
            <a:gdLst/>
            <a:ahLst/>
            <a:cxnLst/>
            <a:rect l="l" t="t" r="r" b="b"/>
            <a:pathLst>
              <a:path w="12192000" h="9525">
                <a:moveTo>
                  <a:pt x="0" y="0"/>
                </a:moveTo>
                <a:lnTo>
                  <a:pt x="12192000" y="0"/>
                </a:lnTo>
              </a:path>
            </a:pathLst>
          </a:custGeom>
          <a:noFill/>
          <a:ln w="4762">
            <a:solidFill>
              <a:srgbClr val="D7EAFF">
                <a:alpha val="22000"/>
              </a:srgbClr>
            </a:solidFill>
          </a:ln>
        </p:spPr>
      </p:sp>
      <p:sp>
        <p:nvSpPr>
          <p:cNvPr id="31" name="Line 31"/>
          <p:cNvSpPr/>
          <p:nvPr/>
        </p:nvSpPr>
        <p:spPr>
          <a:xfrm>
            <a:off x="0" y="3810000"/>
            <a:ext cx="12192000" cy="9525"/>
          </a:xfrm>
          <a:custGeom>
            <a:avLst/>
            <a:gdLst/>
            <a:ahLst/>
            <a:cxnLst/>
            <a:rect l="l" t="t" r="r" b="b"/>
            <a:pathLst>
              <a:path w="12192000" h="9525">
                <a:moveTo>
                  <a:pt x="0" y="0"/>
                </a:moveTo>
                <a:lnTo>
                  <a:pt x="12192000" y="0"/>
                </a:lnTo>
              </a:path>
            </a:pathLst>
          </a:custGeom>
          <a:noFill/>
          <a:ln w="4762">
            <a:solidFill>
              <a:srgbClr val="D7EAFF">
                <a:alpha val="22000"/>
              </a:srgbClr>
            </a:solidFill>
          </a:ln>
        </p:spPr>
      </p:sp>
      <p:sp>
        <p:nvSpPr>
          <p:cNvPr id="32" name="Line 32"/>
          <p:cNvSpPr/>
          <p:nvPr/>
        </p:nvSpPr>
        <p:spPr>
          <a:xfrm>
            <a:off x="0" y="4572000"/>
            <a:ext cx="12192000" cy="9525"/>
          </a:xfrm>
          <a:custGeom>
            <a:avLst/>
            <a:gdLst/>
            <a:ahLst/>
            <a:cxnLst/>
            <a:rect l="l" t="t" r="r" b="b"/>
            <a:pathLst>
              <a:path w="12192000" h="9525">
                <a:moveTo>
                  <a:pt x="0" y="0"/>
                </a:moveTo>
                <a:lnTo>
                  <a:pt x="12192000" y="0"/>
                </a:lnTo>
              </a:path>
            </a:pathLst>
          </a:custGeom>
          <a:noFill/>
          <a:ln w="4762">
            <a:solidFill>
              <a:srgbClr val="D7EAFF">
                <a:alpha val="22000"/>
              </a:srgbClr>
            </a:solidFill>
          </a:ln>
        </p:spPr>
      </p:sp>
      <p:sp>
        <p:nvSpPr>
          <p:cNvPr id="33" name="Line 33"/>
          <p:cNvSpPr/>
          <p:nvPr/>
        </p:nvSpPr>
        <p:spPr>
          <a:xfrm>
            <a:off x="0" y="5334000"/>
            <a:ext cx="12192000" cy="9525"/>
          </a:xfrm>
          <a:custGeom>
            <a:avLst/>
            <a:gdLst/>
            <a:ahLst/>
            <a:cxnLst/>
            <a:rect l="l" t="t" r="r" b="b"/>
            <a:pathLst>
              <a:path w="12192000" h="9525">
                <a:moveTo>
                  <a:pt x="0" y="0"/>
                </a:moveTo>
                <a:lnTo>
                  <a:pt x="12192000" y="0"/>
                </a:lnTo>
              </a:path>
            </a:pathLst>
          </a:custGeom>
          <a:noFill/>
          <a:ln w="4762">
            <a:solidFill>
              <a:srgbClr val="D7EAFF">
                <a:alpha val="22000"/>
              </a:srgbClr>
            </a:solidFill>
          </a:ln>
        </p:spPr>
      </p:sp>
      <p:sp>
        <p:nvSpPr>
          <p:cNvPr id="34" name="Line 34"/>
          <p:cNvSpPr/>
          <p:nvPr/>
        </p:nvSpPr>
        <p:spPr>
          <a:xfrm>
            <a:off x="0" y="6096000"/>
            <a:ext cx="12192000" cy="9525"/>
          </a:xfrm>
          <a:custGeom>
            <a:avLst/>
            <a:gdLst/>
            <a:ahLst/>
            <a:cxnLst/>
            <a:rect l="l" t="t" r="r" b="b"/>
            <a:pathLst>
              <a:path w="12192000" h="9525">
                <a:moveTo>
                  <a:pt x="0" y="0"/>
                </a:moveTo>
                <a:lnTo>
                  <a:pt x="12192000" y="0"/>
                </a:lnTo>
              </a:path>
            </a:pathLst>
          </a:custGeom>
          <a:noFill/>
          <a:ln w="4762">
            <a:solidFill>
              <a:srgbClr val="D7EAFF">
                <a:alpha val="22000"/>
              </a:srgbClr>
            </a:solidFill>
          </a:ln>
        </p:spPr>
      </p:sp>
      <p:sp>
        <p:nvSpPr>
          <p:cNvPr id="92" name="Rectangle 92"/>
          <p:cNvSpPr/>
          <p:nvPr/>
        </p:nvSpPr>
        <p:spPr>
          <a:xfrm>
            <a:off x="6534150" y="4343400"/>
            <a:ext cx="285750" cy="285750"/>
          </a:xfrm>
          <a:prstGeom prst="roundRect">
            <a:avLst>
              <a:gd name="adj" fmla="val 33333"/>
            </a:avLst>
          </a:prstGeom>
          <a:solidFill>
            <a:srgbClr val="E7F2FF"/>
          </a:solidFill>
          <a:ln>
            <a:noFill/>
          </a:ln>
        </p:spPr>
      </p:sp>
      <p:sp>
        <p:nvSpPr>
          <p:cNvPr id="35" name="Rectangle 35"/>
          <p:cNvSpPr/>
          <p:nvPr/>
        </p:nvSpPr>
        <p:spPr>
          <a:xfrm>
            <a:off x="0" y="0"/>
            <a:ext cx="12192000" cy="47625"/>
          </a:xfrm>
          <a:prstGeom prst="rect">
            <a:avLst/>
          </a:prstGeom>
          <a:gradFill>
            <a:gsLst>
              <a:gs pos="0">
                <a:srgbClr val="0B57D0"/>
              </a:gs>
              <a:gs pos="52000">
                <a:srgbClr val="26A7FF"/>
              </a:gs>
              <a:gs pos="100000">
                <a:srgbClr val="00D4FF"/>
              </a:gs>
            </a:gsLst>
            <a:lin ang="0" scaled="1"/>
          </a:gradFill>
          <a:ln>
            <a:noFill/>
          </a:ln>
        </p:spPr>
      </p:sp>
      <p:sp>
        <p:nvSpPr>
          <p:cNvPr id="36" name="TextBox 36"/>
          <p:cNvSpPr txBox="1"/>
          <p:nvPr/>
        </p:nvSpPr>
        <p:spPr>
          <a:xfrm>
            <a:off x="504825" y="233045"/>
            <a:ext cx="2863850" cy="346075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2250" b="1" dirty="0">
                <a:solidFill>
                  <a:srgbClr val="102033"/>
                </a:solidFill>
                <a:latin typeface="MiSans Heavy" panose="00000A00000000000000" charset="-122"/>
                <a:ea typeface="MiSans Heavy" panose="00000A00000000000000" charset="-122"/>
                <a:cs typeface="等线" panose="02010600030101010101" charset="-122"/>
              </a:rPr>
              <a:t>创新点说明：记忆胶囊</a:t>
            </a:r>
            <a:endParaRPr lang="zh-CN" sz="2250" b="1" dirty="0">
              <a:solidFill>
                <a:srgbClr val="102033"/>
              </a:solidFill>
              <a:latin typeface="MiSans Heavy" panose="00000A00000000000000" charset="-122"/>
              <a:ea typeface="MiSans Heavy" panose="00000A00000000000000" charset="-122"/>
              <a:cs typeface="等线" panose="02010600030101010101" charset="-122"/>
            </a:endParaRPr>
          </a:p>
        </p:txBody>
      </p:sp>
      <p:sp>
        <p:nvSpPr>
          <p:cNvPr id="37" name="TextBox 37"/>
          <p:cNvSpPr txBox="1"/>
          <p:nvPr/>
        </p:nvSpPr>
        <p:spPr>
          <a:xfrm>
            <a:off x="521970" y="645795"/>
            <a:ext cx="808990" cy="13843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900" b="1" dirty="0">
                <a:solidFill>
                  <a:srgbClr val="0B57D0"/>
                </a:solidFill>
                <a:latin typeface="金山云技术体" charset="-122"/>
                <a:ea typeface="金山云技术体" charset="-122"/>
                <a:cs typeface="等线" panose="02010600030101010101" charset="-122"/>
              </a:rPr>
              <a:t>INNOVATION I</a:t>
            </a:r>
            <a:endParaRPr lang="zh-CN" sz="900" b="1" dirty="0">
              <a:solidFill>
                <a:srgbClr val="0B57D0"/>
              </a:solidFill>
              <a:latin typeface="金山云技术体" charset="-122"/>
              <a:ea typeface="金山云技术体" charset="-122"/>
              <a:cs typeface="等线" panose="02010600030101010101" charset="-122"/>
            </a:endParaRPr>
          </a:p>
        </p:txBody>
      </p:sp>
      <p:sp>
        <p:nvSpPr>
          <p:cNvPr id="38" name="Line 38"/>
          <p:cNvSpPr/>
          <p:nvPr/>
        </p:nvSpPr>
        <p:spPr>
          <a:xfrm>
            <a:off x="533400" y="876300"/>
            <a:ext cx="11125200" cy="9525"/>
          </a:xfrm>
          <a:custGeom>
            <a:avLst/>
            <a:gdLst/>
            <a:ahLst/>
            <a:cxnLst/>
            <a:rect l="l" t="t" r="r" b="b"/>
            <a:pathLst>
              <a:path w="11125200" h="9525">
                <a:moveTo>
                  <a:pt x="0" y="0"/>
                </a:moveTo>
                <a:lnTo>
                  <a:pt x="11125200" y="0"/>
                </a:lnTo>
              </a:path>
            </a:pathLst>
          </a:custGeom>
          <a:noFill/>
          <a:ln w="11430">
            <a:solidFill>
              <a:srgbClr val="BFD9F4"/>
            </a:solidFill>
          </a:ln>
        </p:spPr>
      </p:sp>
      <p:sp>
        <p:nvSpPr>
          <p:cNvPr id="39" name="Rectangle 39"/>
          <p:cNvSpPr/>
          <p:nvPr/>
        </p:nvSpPr>
        <p:spPr>
          <a:xfrm>
            <a:off x="533400" y="1028700"/>
            <a:ext cx="95250" cy="95250"/>
          </a:xfrm>
          <a:prstGeom prst="roundRect">
            <a:avLst>
              <a:gd name="adj" fmla="val 50000"/>
            </a:avLst>
          </a:prstGeom>
          <a:solidFill>
            <a:srgbClr val="00D4FF"/>
          </a:solidFill>
          <a:ln>
            <a:noFill/>
          </a:ln>
        </p:spPr>
      </p:sp>
      <p:sp>
        <p:nvSpPr>
          <p:cNvPr id="40" name="TextBox 40"/>
          <p:cNvSpPr txBox="1"/>
          <p:nvPr/>
        </p:nvSpPr>
        <p:spPr>
          <a:xfrm>
            <a:off x="765810" y="1003935"/>
            <a:ext cx="3978910" cy="18415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200" b="1" dirty="0">
                <a:solidFill>
                  <a:srgbClr val="51677F"/>
                </a:solidFill>
                <a:latin typeface="MiSans Normal" panose="00000500000000000000" charset="-122"/>
                <a:ea typeface="MiSans Normal" panose="00000500000000000000" charset="-122"/>
                <a:cs typeface="等线" panose="02010600030101010101" charset="-122"/>
              </a:rPr>
              <a:t>记忆胶囊强调用户授权，只保存真正影响旅行体验的信息。</a:t>
            </a:r>
            <a:endParaRPr lang="zh-CN" sz="1200" b="1" dirty="0">
              <a:solidFill>
                <a:srgbClr val="51677F"/>
              </a:solidFill>
              <a:latin typeface="MiSans Normal" panose="00000500000000000000" charset="-122"/>
              <a:ea typeface="MiSans Normal" panose="00000500000000000000" charset="-122"/>
              <a:cs typeface="等线" panose="02010600030101010101" charset="-122"/>
            </a:endParaRPr>
          </a:p>
        </p:txBody>
      </p:sp>
      <p:sp>
        <p:nvSpPr>
          <p:cNvPr id="41" name="Rectangle 41"/>
          <p:cNvSpPr/>
          <p:nvPr/>
        </p:nvSpPr>
        <p:spPr>
          <a:xfrm>
            <a:off x="495300" y="1581150"/>
            <a:ext cx="5143500" cy="4724400"/>
          </a:xfrm>
          <a:prstGeom prst="roundRect">
            <a:avLst>
              <a:gd name="adj" fmla="val 4032"/>
            </a:avLst>
          </a:prstGeom>
          <a:solidFill>
            <a:srgbClr val="0B57D0">
              <a:alpha val="5000"/>
            </a:srgbClr>
          </a:solidFill>
          <a:ln>
            <a:noFill/>
          </a:ln>
        </p:spPr>
      </p:sp>
      <p:sp>
        <p:nvSpPr>
          <p:cNvPr id="42" name="Rectangle 42"/>
          <p:cNvSpPr/>
          <p:nvPr/>
        </p:nvSpPr>
        <p:spPr>
          <a:xfrm>
            <a:off x="419100" y="1485900"/>
            <a:ext cx="5143500" cy="4724400"/>
          </a:xfrm>
          <a:prstGeom prst="roundRect">
            <a:avLst>
              <a:gd name="adj" fmla="val 4032"/>
            </a:avLst>
          </a:prstGeom>
          <a:solidFill>
            <a:srgbClr val="FFFFFF"/>
          </a:solidFill>
          <a:ln w="11430">
            <a:solidFill>
              <a:srgbClr val="BFD9F4"/>
            </a:solidFill>
          </a:ln>
        </p:spPr>
      </p:sp>
      <p:sp>
        <p:nvSpPr>
          <p:cNvPr id="43" name="Line 43"/>
          <p:cNvSpPr/>
          <p:nvPr/>
        </p:nvSpPr>
        <p:spPr>
          <a:xfrm>
            <a:off x="590550" y="1495425"/>
            <a:ext cx="1238250" cy="9525"/>
          </a:xfrm>
          <a:custGeom>
            <a:avLst/>
            <a:gdLst/>
            <a:ahLst/>
            <a:cxnLst/>
            <a:rect l="l" t="t" r="r" b="b"/>
            <a:pathLst>
              <a:path w="1238250" h="9525">
                <a:moveTo>
                  <a:pt x="0" y="0"/>
                </a:moveTo>
                <a:lnTo>
                  <a:pt x="1238250" y="0"/>
                </a:lnTo>
              </a:path>
            </a:pathLst>
          </a:custGeom>
          <a:noFill/>
          <a:ln w="19050">
            <a:solidFill>
              <a:srgbClr val="26A7FF">
                <a:alpha val="90000"/>
              </a:srgbClr>
            </a:solidFill>
          </a:ln>
        </p:spPr>
      </p:sp>
      <p:sp>
        <p:nvSpPr>
          <p:cNvPr id="44" name="TextBox 44"/>
          <p:cNvSpPr txBox="1"/>
          <p:nvPr/>
        </p:nvSpPr>
        <p:spPr>
          <a:xfrm>
            <a:off x="662940" y="1672590"/>
            <a:ext cx="2063115" cy="27686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800" b="1" dirty="0">
                <a:solidFill>
                  <a:srgbClr val="102033"/>
                </a:solidFill>
                <a:latin typeface="MiSans Normal" panose="00000500000000000000" charset="-122"/>
                <a:ea typeface="MiSans Normal" panose="00000500000000000000" charset="-122"/>
                <a:cs typeface="等线" panose="02010600030101010101" charset="-122"/>
              </a:rPr>
              <a:t>创新点一：记忆胶囊</a:t>
            </a:r>
            <a:endParaRPr lang="zh-CN" sz="1800" b="1" dirty="0">
              <a:solidFill>
                <a:srgbClr val="102033"/>
              </a:solidFill>
              <a:latin typeface="MiSans Normal" panose="00000500000000000000" charset="-122"/>
              <a:ea typeface="MiSans Normal" panose="00000500000000000000" charset="-122"/>
              <a:cs typeface="等线" panose="02010600030101010101" charset="-122"/>
            </a:endParaRPr>
          </a:p>
        </p:txBody>
      </p:sp>
      <p:pic>
        <p:nvPicPr>
          <p:cNvPr id="45" name="Image 45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3924300" y="1676400"/>
            <a:ext cx="1200150" cy="1600200"/>
          </a:xfrm>
          <a:prstGeom prst="rect">
            <a:avLst/>
          </a:prstGeom>
        </p:spPr>
      </p:pic>
      <p:sp>
        <p:nvSpPr>
          <p:cNvPr id="46" name="Rectangle 46"/>
          <p:cNvSpPr/>
          <p:nvPr/>
        </p:nvSpPr>
        <p:spPr>
          <a:xfrm>
            <a:off x="857250" y="2400300"/>
            <a:ext cx="1714500" cy="590550"/>
          </a:xfrm>
          <a:prstGeom prst="roundRect">
            <a:avLst>
              <a:gd name="adj" fmla="val 25806"/>
            </a:avLst>
          </a:prstGeom>
          <a:solidFill>
            <a:srgbClr val="E7F2FF"/>
          </a:solidFill>
          <a:ln w="9525">
            <a:solidFill>
              <a:srgbClr val="C9E4FF"/>
            </a:solidFill>
          </a:ln>
        </p:spPr>
      </p:sp>
      <p:sp>
        <p:nvSpPr>
          <p:cNvPr id="47" name="Rectangle 47"/>
          <p:cNvSpPr/>
          <p:nvPr/>
        </p:nvSpPr>
        <p:spPr>
          <a:xfrm>
            <a:off x="857250" y="3238500"/>
            <a:ext cx="1714500" cy="590550"/>
          </a:xfrm>
          <a:prstGeom prst="roundRect">
            <a:avLst>
              <a:gd name="adj" fmla="val 25806"/>
            </a:avLst>
          </a:prstGeom>
          <a:solidFill>
            <a:srgbClr val="E7F2FF"/>
          </a:solidFill>
          <a:ln w="9525">
            <a:solidFill>
              <a:srgbClr val="C9E4FF"/>
            </a:solidFill>
          </a:ln>
        </p:spPr>
      </p:sp>
      <p:sp>
        <p:nvSpPr>
          <p:cNvPr id="48" name="Rectangle 48"/>
          <p:cNvSpPr/>
          <p:nvPr/>
        </p:nvSpPr>
        <p:spPr>
          <a:xfrm>
            <a:off x="857250" y="4076700"/>
            <a:ext cx="1714500" cy="590550"/>
          </a:xfrm>
          <a:prstGeom prst="roundRect">
            <a:avLst>
              <a:gd name="adj" fmla="val 25806"/>
            </a:avLst>
          </a:prstGeom>
          <a:solidFill>
            <a:srgbClr val="E7F2FF"/>
          </a:solidFill>
          <a:ln w="9525">
            <a:solidFill>
              <a:srgbClr val="C9E4FF"/>
            </a:solidFill>
          </a:ln>
        </p:spPr>
      </p:sp>
      <p:sp>
        <p:nvSpPr>
          <p:cNvPr id="49" name="Rectangle 49"/>
          <p:cNvSpPr/>
          <p:nvPr/>
        </p:nvSpPr>
        <p:spPr>
          <a:xfrm>
            <a:off x="857250" y="4914900"/>
            <a:ext cx="1714500" cy="590550"/>
          </a:xfrm>
          <a:prstGeom prst="roundRect">
            <a:avLst>
              <a:gd name="adj" fmla="val 25806"/>
            </a:avLst>
          </a:prstGeom>
          <a:solidFill>
            <a:srgbClr val="E7F2FF"/>
          </a:solidFill>
          <a:ln w="9525">
            <a:solidFill>
              <a:srgbClr val="C9E4FF"/>
            </a:solidFill>
          </a:ln>
        </p:spPr>
      </p:sp>
      <p:sp>
        <p:nvSpPr>
          <p:cNvPr id="50" name="Line 50"/>
          <p:cNvSpPr/>
          <p:nvPr/>
        </p:nvSpPr>
        <p:spPr>
          <a:xfrm>
            <a:off x="1714500" y="2990850"/>
            <a:ext cx="0" cy="247650"/>
          </a:xfrm>
          <a:prstGeom prst="line">
            <a:avLst/>
          </a:prstGeom>
          <a:noFill/>
          <a:ln w="19050">
            <a:solidFill>
              <a:srgbClr val="94A3B8"/>
            </a:solidFill>
            <a:tailEnd type="triangle" w="lg" len="lg"/>
          </a:ln>
        </p:spPr>
      </p:sp>
      <p:sp>
        <p:nvSpPr>
          <p:cNvPr id="51" name="Line 51"/>
          <p:cNvSpPr/>
          <p:nvPr/>
        </p:nvSpPr>
        <p:spPr>
          <a:xfrm>
            <a:off x="1714500" y="3829050"/>
            <a:ext cx="0" cy="247650"/>
          </a:xfrm>
          <a:prstGeom prst="line">
            <a:avLst/>
          </a:prstGeom>
          <a:noFill/>
          <a:ln w="19050">
            <a:solidFill>
              <a:srgbClr val="94A3B8"/>
            </a:solidFill>
            <a:tailEnd type="triangle" w="lg" len="lg"/>
          </a:ln>
        </p:spPr>
      </p:sp>
      <p:sp>
        <p:nvSpPr>
          <p:cNvPr id="52" name="Line 52"/>
          <p:cNvSpPr/>
          <p:nvPr/>
        </p:nvSpPr>
        <p:spPr>
          <a:xfrm>
            <a:off x="1714500" y="4667250"/>
            <a:ext cx="0" cy="247650"/>
          </a:xfrm>
          <a:prstGeom prst="line">
            <a:avLst/>
          </a:prstGeom>
          <a:noFill/>
          <a:ln w="19050">
            <a:solidFill>
              <a:srgbClr val="94A3B8"/>
            </a:solidFill>
            <a:tailEnd type="triangle" w="lg" len="lg"/>
          </a:ln>
        </p:spPr>
      </p:sp>
      <p:sp>
        <p:nvSpPr>
          <p:cNvPr id="53" name="TextBox 53"/>
          <p:cNvSpPr txBox="1"/>
          <p:nvPr/>
        </p:nvSpPr>
        <p:spPr>
          <a:xfrm>
            <a:off x="1283335" y="2616835"/>
            <a:ext cx="862330" cy="27432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1350" b="1" dirty="0">
                <a:solidFill>
                  <a:srgbClr val="102033"/>
                </a:solidFill>
                <a:latin typeface="等线" panose="02010600030101010101" charset="-122"/>
                <a:ea typeface="微软雅黑" panose="020B0503020204020204" charset="-122"/>
                <a:cs typeface="等线" panose="02010600030101010101" charset="-122"/>
              </a:rPr>
              <a:t>输入偏好</a:t>
            </a:r>
            <a:endParaRPr lang="zh-CN" sz="1350" b="1" dirty="0">
              <a:solidFill>
                <a:srgbClr val="102033"/>
              </a:solidFill>
              <a:latin typeface="等线" panose="02010600030101010101" charset="-122"/>
              <a:ea typeface="微软雅黑" panose="020B0503020204020204" charset="-122"/>
              <a:cs typeface="等线" panose="02010600030101010101" charset="-122"/>
            </a:endParaRPr>
          </a:p>
        </p:txBody>
      </p:sp>
      <p:sp>
        <p:nvSpPr>
          <p:cNvPr id="54" name="TextBox 54"/>
          <p:cNvSpPr txBox="1"/>
          <p:nvPr/>
        </p:nvSpPr>
        <p:spPr>
          <a:xfrm>
            <a:off x="1283335" y="3455035"/>
            <a:ext cx="862330" cy="27432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1350" b="1" dirty="0">
                <a:solidFill>
                  <a:srgbClr val="102033"/>
                </a:solidFill>
                <a:latin typeface="等线" panose="02010600030101010101" charset="-122"/>
                <a:ea typeface="微软雅黑" panose="020B0503020204020204" charset="-122"/>
                <a:cs typeface="等线" panose="02010600030101010101" charset="-122"/>
              </a:rPr>
              <a:t>抽取候选</a:t>
            </a:r>
            <a:endParaRPr lang="zh-CN" sz="1350" b="1" dirty="0">
              <a:solidFill>
                <a:srgbClr val="102033"/>
              </a:solidFill>
              <a:latin typeface="等线" panose="02010600030101010101" charset="-122"/>
              <a:ea typeface="微软雅黑" panose="020B0503020204020204" charset="-122"/>
              <a:cs typeface="等线" panose="02010600030101010101" charset="-122"/>
            </a:endParaRPr>
          </a:p>
        </p:txBody>
      </p:sp>
      <p:sp>
        <p:nvSpPr>
          <p:cNvPr id="55" name="TextBox 55"/>
          <p:cNvSpPr txBox="1"/>
          <p:nvPr/>
        </p:nvSpPr>
        <p:spPr>
          <a:xfrm>
            <a:off x="1283335" y="4293235"/>
            <a:ext cx="862330" cy="27432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1350" b="1" dirty="0">
                <a:solidFill>
                  <a:srgbClr val="102033"/>
                </a:solidFill>
                <a:latin typeface="等线" panose="02010600030101010101" charset="-122"/>
                <a:ea typeface="微软雅黑" panose="020B0503020204020204" charset="-122"/>
                <a:cs typeface="等线" panose="02010600030101010101" charset="-122"/>
              </a:rPr>
              <a:t>生成胶囊</a:t>
            </a:r>
            <a:endParaRPr lang="zh-CN" sz="1350" b="1" dirty="0">
              <a:solidFill>
                <a:srgbClr val="102033"/>
              </a:solidFill>
              <a:latin typeface="等线" panose="02010600030101010101" charset="-122"/>
              <a:ea typeface="微软雅黑" panose="020B0503020204020204" charset="-122"/>
              <a:cs typeface="等线" panose="02010600030101010101" charset="-122"/>
            </a:endParaRPr>
          </a:p>
        </p:txBody>
      </p:sp>
      <p:sp>
        <p:nvSpPr>
          <p:cNvPr id="56" name="TextBox 56"/>
          <p:cNvSpPr txBox="1"/>
          <p:nvPr/>
        </p:nvSpPr>
        <p:spPr>
          <a:xfrm>
            <a:off x="1076325" y="5131435"/>
            <a:ext cx="1276350" cy="27432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1350" b="1" dirty="0">
                <a:solidFill>
                  <a:srgbClr val="102033"/>
                </a:solidFill>
                <a:latin typeface="等线" panose="02010600030101010101" charset="-122"/>
                <a:ea typeface="微软雅黑" panose="020B0503020204020204" charset="-122"/>
                <a:cs typeface="等线" panose="02010600030101010101" charset="-122"/>
              </a:rPr>
              <a:t>用户决定范围</a:t>
            </a:r>
            <a:endParaRPr lang="zh-CN" sz="1350" b="1" dirty="0">
              <a:solidFill>
                <a:srgbClr val="102033"/>
              </a:solidFill>
              <a:latin typeface="等线" panose="02010600030101010101" charset="-122"/>
              <a:ea typeface="微软雅黑" panose="020B0503020204020204" charset="-122"/>
              <a:cs typeface="等线" panose="02010600030101010101" charset="-122"/>
            </a:endParaRPr>
          </a:p>
        </p:txBody>
      </p:sp>
      <p:sp>
        <p:nvSpPr>
          <p:cNvPr id="57" name="Rectangle 57"/>
          <p:cNvSpPr/>
          <p:nvPr/>
        </p:nvSpPr>
        <p:spPr>
          <a:xfrm>
            <a:off x="2952750" y="2495550"/>
            <a:ext cx="2247900" cy="1447800"/>
          </a:xfrm>
          <a:prstGeom prst="roundRect">
            <a:avLst>
              <a:gd name="adj" fmla="val 9211"/>
            </a:avLst>
          </a:prstGeom>
          <a:solidFill>
            <a:srgbClr val="0B57D0">
              <a:alpha val="5000"/>
            </a:srgbClr>
          </a:solidFill>
          <a:ln>
            <a:noFill/>
          </a:ln>
        </p:spPr>
      </p:sp>
      <p:sp>
        <p:nvSpPr>
          <p:cNvPr id="58" name="Rectangle 58"/>
          <p:cNvSpPr/>
          <p:nvPr/>
        </p:nvSpPr>
        <p:spPr>
          <a:xfrm>
            <a:off x="2876550" y="2400300"/>
            <a:ext cx="2247900" cy="1447800"/>
          </a:xfrm>
          <a:prstGeom prst="roundRect">
            <a:avLst>
              <a:gd name="adj" fmla="val 9211"/>
            </a:avLst>
          </a:prstGeom>
          <a:solidFill>
            <a:srgbClr val="FFFFFF"/>
          </a:solidFill>
          <a:ln w="11430">
            <a:solidFill>
              <a:srgbClr val="BFD9F4"/>
            </a:solidFill>
          </a:ln>
        </p:spPr>
      </p:sp>
      <p:sp>
        <p:nvSpPr>
          <p:cNvPr id="59" name="Line 59"/>
          <p:cNvSpPr/>
          <p:nvPr/>
        </p:nvSpPr>
        <p:spPr>
          <a:xfrm>
            <a:off x="3048000" y="2409825"/>
            <a:ext cx="1238250" cy="9525"/>
          </a:xfrm>
          <a:custGeom>
            <a:avLst/>
            <a:gdLst/>
            <a:ahLst/>
            <a:cxnLst/>
            <a:rect l="l" t="t" r="r" b="b"/>
            <a:pathLst>
              <a:path w="1238250" h="9525">
                <a:moveTo>
                  <a:pt x="0" y="0"/>
                </a:moveTo>
                <a:lnTo>
                  <a:pt x="1238250" y="0"/>
                </a:lnTo>
              </a:path>
            </a:pathLst>
          </a:custGeom>
          <a:noFill/>
          <a:ln w="19050">
            <a:solidFill>
              <a:srgbClr val="26A7FF">
                <a:alpha val="90000"/>
              </a:srgbClr>
            </a:solidFill>
          </a:ln>
        </p:spPr>
      </p:sp>
      <p:sp>
        <p:nvSpPr>
          <p:cNvPr id="60" name="Rectangle 60"/>
          <p:cNvSpPr/>
          <p:nvPr/>
        </p:nvSpPr>
        <p:spPr>
          <a:xfrm>
            <a:off x="3048000" y="2571750"/>
            <a:ext cx="285750" cy="285750"/>
          </a:xfrm>
          <a:prstGeom prst="roundRect">
            <a:avLst>
              <a:gd name="adj" fmla="val 33333"/>
            </a:avLst>
          </a:prstGeom>
          <a:solidFill>
            <a:srgbClr val="E7F2FF"/>
          </a:solidFill>
          <a:ln>
            <a:noFill/>
          </a:ln>
        </p:spPr>
      </p:sp>
      <p:sp>
        <p:nvSpPr>
          <p:cNvPr id="61" name="Freeform 61"/>
          <p:cNvSpPr/>
          <p:nvPr/>
        </p:nvSpPr>
        <p:spPr>
          <a:xfrm>
            <a:off x="3127375" y="2635250"/>
            <a:ext cx="127000" cy="158750"/>
          </a:xfrm>
          <a:custGeom>
            <a:avLst/>
            <a:gdLst/>
            <a:ahLst/>
            <a:cxnLst/>
            <a:rect l="l" t="t" r="r" b="b"/>
            <a:pathLst>
              <a:path w="127000" h="158750">
                <a:moveTo>
                  <a:pt x="63500" y="0"/>
                </a:moveTo>
                <a:cubicBezTo>
                  <a:pt x="85419" y="0"/>
                  <a:pt x="103188" y="17769"/>
                  <a:pt x="103188" y="39687"/>
                </a:cubicBezTo>
                <a:lnTo>
                  <a:pt x="103188" y="63500"/>
                </a:lnTo>
                <a:cubicBezTo>
                  <a:pt x="116339" y="63500"/>
                  <a:pt x="127000" y="74161"/>
                  <a:pt x="127000" y="87312"/>
                </a:cubicBezTo>
                <a:lnTo>
                  <a:pt x="127000" y="134937"/>
                </a:lnTo>
                <a:cubicBezTo>
                  <a:pt x="127000" y="148089"/>
                  <a:pt x="116339" y="158750"/>
                  <a:pt x="103188" y="158750"/>
                </a:cubicBezTo>
                <a:lnTo>
                  <a:pt x="23812" y="158750"/>
                </a:lnTo>
                <a:cubicBezTo>
                  <a:pt x="10661" y="158750"/>
                  <a:pt x="0" y="148089"/>
                  <a:pt x="0" y="134937"/>
                </a:cubicBezTo>
                <a:lnTo>
                  <a:pt x="0" y="87312"/>
                </a:lnTo>
                <a:cubicBezTo>
                  <a:pt x="0" y="74161"/>
                  <a:pt x="10661" y="63500"/>
                  <a:pt x="23812" y="63500"/>
                </a:cubicBezTo>
                <a:lnTo>
                  <a:pt x="23812" y="39687"/>
                </a:lnTo>
                <a:cubicBezTo>
                  <a:pt x="23812" y="17769"/>
                  <a:pt x="41581" y="0"/>
                  <a:pt x="63500" y="0"/>
                </a:cubicBezTo>
                <a:moveTo>
                  <a:pt x="63500" y="95250"/>
                </a:moveTo>
                <a:cubicBezTo>
                  <a:pt x="55192" y="95247"/>
                  <a:pt x="48288" y="101650"/>
                  <a:pt x="47665" y="109934"/>
                </a:cubicBezTo>
                <a:lnTo>
                  <a:pt x="47625" y="111125"/>
                </a:lnTo>
                <a:cubicBezTo>
                  <a:pt x="47625" y="119893"/>
                  <a:pt x="54732" y="127000"/>
                  <a:pt x="63500" y="127000"/>
                </a:cubicBezTo>
                <a:cubicBezTo>
                  <a:pt x="72268" y="127000"/>
                  <a:pt x="79375" y="119893"/>
                  <a:pt x="79375" y="111125"/>
                </a:cubicBezTo>
                <a:cubicBezTo>
                  <a:pt x="79375" y="102357"/>
                  <a:pt x="72268" y="95250"/>
                  <a:pt x="63500" y="95250"/>
                </a:cubicBezTo>
                <a:moveTo>
                  <a:pt x="63500" y="15875"/>
                </a:moveTo>
                <a:cubicBezTo>
                  <a:pt x="50349" y="15875"/>
                  <a:pt x="39688" y="26536"/>
                  <a:pt x="39688" y="39687"/>
                </a:cubicBezTo>
                <a:lnTo>
                  <a:pt x="39688" y="63500"/>
                </a:lnTo>
                <a:lnTo>
                  <a:pt x="87313" y="63500"/>
                </a:lnTo>
                <a:lnTo>
                  <a:pt x="87313" y="39687"/>
                </a:lnTo>
                <a:cubicBezTo>
                  <a:pt x="87313" y="26536"/>
                  <a:pt x="76651" y="15875"/>
                  <a:pt x="63500" y="15875"/>
                </a:cubicBezTo>
              </a:path>
            </a:pathLst>
          </a:custGeom>
          <a:solidFill>
            <a:srgbClr val="0B57D0"/>
          </a:solidFill>
          <a:ln>
            <a:noFill/>
          </a:ln>
        </p:spPr>
      </p:sp>
      <p:sp>
        <p:nvSpPr>
          <p:cNvPr id="62" name="TextBox 62"/>
          <p:cNvSpPr txBox="1"/>
          <p:nvPr/>
        </p:nvSpPr>
        <p:spPr>
          <a:xfrm>
            <a:off x="3430905" y="2611755"/>
            <a:ext cx="815340" cy="245745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600" b="1" dirty="0">
                <a:solidFill>
                  <a:srgbClr val="102033"/>
                </a:solidFill>
                <a:latin typeface="MiSans Normal" panose="00000500000000000000" charset="-122"/>
                <a:ea typeface="MiSans Normal" panose="00000500000000000000" charset="-122"/>
                <a:cs typeface="等线" panose="02010600030101010101" charset="-122"/>
              </a:rPr>
              <a:t>四类范围</a:t>
            </a:r>
            <a:endParaRPr lang="zh-CN" sz="1600" b="1" dirty="0">
              <a:solidFill>
                <a:srgbClr val="102033"/>
              </a:solidFill>
              <a:latin typeface="MiSans Normal" panose="00000500000000000000" charset="-122"/>
              <a:ea typeface="MiSans Normal" panose="00000500000000000000" charset="-122"/>
              <a:cs typeface="等线" panose="02010600030101010101" charset="-122"/>
            </a:endParaRPr>
          </a:p>
        </p:txBody>
      </p:sp>
      <p:sp>
        <p:nvSpPr>
          <p:cNvPr id="63" name="TextBox 63"/>
          <p:cNvSpPr txBox="1"/>
          <p:nvPr/>
        </p:nvSpPr>
        <p:spPr>
          <a:xfrm>
            <a:off x="3093085" y="3133090"/>
            <a:ext cx="1493520" cy="150495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975" dirty="0">
                <a:solidFill>
                  <a:srgbClr val="51677F"/>
                </a:solidFill>
                <a:latin typeface="MiSans Normal" panose="00000500000000000000" charset="-122"/>
                <a:ea typeface="MiSans Normal" panose="00000500000000000000" charset="-122"/>
                <a:cs typeface="等线" panose="02010600030101010101" charset="-122"/>
              </a:rPr>
              <a:t>长期：饮食忌口、夜景偏好</a:t>
            </a:r>
            <a:endParaRPr lang="zh-CN" sz="975" dirty="0">
              <a:solidFill>
                <a:srgbClr val="51677F"/>
              </a:solidFill>
              <a:latin typeface="MiSans Normal" panose="00000500000000000000" charset="-122"/>
              <a:ea typeface="MiSans Normal" panose="00000500000000000000" charset="-122"/>
              <a:cs typeface="等线" panose="02010600030101010101" charset="-122"/>
            </a:endParaRPr>
          </a:p>
        </p:txBody>
      </p:sp>
      <p:sp>
        <p:nvSpPr>
          <p:cNvPr id="64" name="TextBox 64"/>
          <p:cNvSpPr txBox="1"/>
          <p:nvPr/>
        </p:nvSpPr>
        <p:spPr>
          <a:xfrm>
            <a:off x="3093085" y="3444240"/>
            <a:ext cx="871220" cy="150495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975" dirty="0">
                <a:solidFill>
                  <a:srgbClr val="51677F"/>
                </a:solidFill>
                <a:latin typeface="MiSans Normal" panose="00000500000000000000" charset="-122"/>
                <a:ea typeface="MiSans Normal" panose="00000500000000000000" charset="-122"/>
                <a:cs typeface="等线" panose="02010600030101010101" charset="-122"/>
              </a:rPr>
              <a:t>本次：不想太累</a:t>
            </a:r>
            <a:endParaRPr lang="zh-CN" sz="975" dirty="0">
              <a:solidFill>
                <a:srgbClr val="51677F"/>
              </a:solidFill>
              <a:latin typeface="MiSans Normal" panose="00000500000000000000" charset="-122"/>
              <a:ea typeface="MiSans Normal" panose="00000500000000000000" charset="-122"/>
              <a:cs typeface="等线" panose="02010600030101010101" charset="-122"/>
            </a:endParaRPr>
          </a:p>
        </p:txBody>
      </p:sp>
      <p:sp>
        <p:nvSpPr>
          <p:cNvPr id="65" name="Rectangle 65"/>
          <p:cNvSpPr/>
          <p:nvPr/>
        </p:nvSpPr>
        <p:spPr>
          <a:xfrm>
            <a:off x="2952750" y="4171950"/>
            <a:ext cx="2247900" cy="1428750"/>
          </a:xfrm>
          <a:prstGeom prst="roundRect">
            <a:avLst>
              <a:gd name="adj" fmla="val 9333"/>
            </a:avLst>
          </a:prstGeom>
          <a:solidFill>
            <a:srgbClr val="0B57D0">
              <a:alpha val="5000"/>
            </a:srgbClr>
          </a:solidFill>
          <a:ln>
            <a:noFill/>
          </a:ln>
        </p:spPr>
      </p:sp>
      <p:sp>
        <p:nvSpPr>
          <p:cNvPr id="66" name="Rectangle 66"/>
          <p:cNvSpPr/>
          <p:nvPr/>
        </p:nvSpPr>
        <p:spPr>
          <a:xfrm>
            <a:off x="2876550" y="4076700"/>
            <a:ext cx="2247900" cy="1428750"/>
          </a:xfrm>
          <a:prstGeom prst="roundRect">
            <a:avLst>
              <a:gd name="adj" fmla="val 9333"/>
            </a:avLst>
          </a:prstGeom>
          <a:solidFill>
            <a:srgbClr val="FFFFFF"/>
          </a:solidFill>
          <a:ln w="11430">
            <a:solidFill>
              <a:srgbClr val="BFD9F4"/>
            </a:solidFill>
          </a:ln>
        </p:spPr>
      </p:sp>
      <p:sp>
        <p:nvSpPr>
          <p:cNvPr id="67" name="Line 67"/>
          <p:cNvSpPr/>
          <p:nvPr/>
        </p:nvSpPr>
        <p:spPr>
          <a:xfrm>
            <a:off x="3048000" y="4086225"/>
            <a:ext cx="1238250" cy="9525"/>
          </a:xfrm>
          <a:custGeom>
            <a:avLst/>
            <a:gdLst/>
            <a:ahLst/>
            <a:cxnLst/>
            <a:rect l="l" t="t" r="r" b="b"/>
            <a:pathLst>
              <a:path w="1238250" h="9525">
                <a:moveTo>
                  <a:pt x="0" y="0"/>
                </a:moveTo>
                <a:lnTo>
                  <a:pt x="1238250" y="0"/>
                </a:lnTo>
              </a:path>
            </a:pathLst>
          </a:custGeom>
          <a:noFill/>
          <a:ln w="19050">
            <a:solidFill>
              <a:srgbClr val="26A7FF">
                <a:alpha val="90000"/>
              </a:srgbClr>
            </a:solidFill>
          </a:ln>
        </p:spPr>
      </p:sp>
      <p:sp>
        <p:nvSpPr>
          <p:cNvPr id="68" name="Rectangle 68"/>
          <p:cNvSpPr/>
          <p:nvPr/>
        </p:nvSpPr>
        <p:spPr>
          <a:xfrm>
            <a:off x="3048000" y="4248150"/>
            <a:ext cx="285750" cy="285750"/>
          </a:xfrm>
          <a:prstGeom prst="roundRect">
            <a:avLst>
              <a:gd name="adj" fmla="val 33333"/>
            </a:avLst>
          </a:prstGeom>
          <a:solidFill>
            <a:srgbClr val="E7F2FF"/>
          </a:solidFill>
          <a:ln>
            <a:noFill/>
          </a:ln>
        </p:spPr>
      </p:sp>
      <p:grpSp>
        <p:nvGrpSpPr>
          <p:cNvPr id="72" name="Group 72"/>
          <p:cNvGrpSpPr/>
          <p:nvPr/>
        </p:nvGrpSpPr>
        <p:grpSpPr>
          <a:xfrm rot="0">
            <a:off x="3119120" y="4311650"/>
            <a:ext cx="142875" cy="158750"/>
            <a:chOff x="3119437" y="4311650"/>
            <a:chExt cx="142876" cy="158750"/>
          </a:xfrm>
        </p:grpSpPr>
        <p:sp>
          <p:nvSpPr>
            <p:cNvPr id="69" name="Freeform 69"/>
            <p:cNvSpPr/>
            <p:nvPr/>
          </p:nvSpPr>
          <p:spPr>
            <a:xfrm>
              <a:off x="3119438" y="4420640"/>
              <a:ext cx="142875" cy="49760"/>
            </a:xfrm>
            <a:custGeom>
              <a:avLst/>
              <a:gdLst/>
              <a:ahLst/>
              <a:cxnLst/>
              <a:rect l="l" t="t" r="r" b="b"/>
              <a:pathLst>
                <a:path w="142875" h="49760">
                  <a:moveTo>
                    <a:pt x="0" y="0"/>
                  </a:moveTo>
                  <a:cubicBezTo>
                    <a:pt x="15621" y="11962"/>
                    <a:pt x="41545" y="18010"/>
                    <a:pt x="71438" y="18010"/>
                  </a:cubicBezTo>
                  <a:cubicBezTo>
                    <a:pt x="101282" y="18010"/>
                    <a:pt x="127198" y="11978"/>
                    <a:pt x="142875" y="135"/>
                  </a:cubicBezTo>
                  <a:lnTo>
                    <a:pt x="142875" y="18010"/>
                  </a:lnTo>
                  <a:cubicBezTo>
                    <a:pt x="142875" y="37259"/>
                    <a:pt x="111958" y="49252"/>
                    <a:pt x="73874" y="49744"/>
                  </a:cubicBezTo>
                  <a:lnTo>
                    <a:pt x="71438" y="49760"/>
                  </a:lnTo>
                  <a:cubicBezTo>
                    <a:pt x="32242" y="49760"/>
                    <a:pt x="0" y="37671"/>
                    <a:pt x="0" y="18010"/>
                  </a:cubicBezTo>
                  <a:close/>
                </a:path>
              </a:pathLst>
            </a:custGeom>
            <a:solidFill>
              <a:srgbClr val="0B57D0"/>
            </a:solidFill>
            <a:ln>
              <a:noFill/>
            </a:ln>
          </p:spPr>
        </p:sp>
        <p:sp>
          <p:nvSpPr>
            <p:cNvPr id="70" name="Freeform 70"/>
            <p:cNvSpPr/>
            <p:nvPr/>
          </p:nvSpPr>
          <p:spPr>
            <a:xfrm>
              <a:off x="3119438" y="4373015"/>
              <a:ext cx="142875" cy="49760"/>
            </a:xfrm>
            <a:custGeom>
              <a:avLst/>
              <a:gdLst/>
              <a:ahLst/>
              <a:cxnLst/>
              <a:rect l="l" t="t" r="r" b="b"/>
              <a:pathLst>
                <a:path w="142875" h="49760">
                  <a:moveTo>
                    <a:pt x="0" y="0"/>
                  </a:moveTo>
                  <a:cubicBezTo>
                    <a:pt x="15621" y="11962"/>
                    <a:pt x="41545" y="18010"/>
                    <a:pt x="71438" y="18010"/>
                  </a:cubicBezTo>
                  <a:cubicBezTo>
                    <a:pt x="101282" y="18010"/>
                    <a:pt x="127198" y="11978"/>
                    <a:pt x="142875" y="135"/>
                  </a:cubicBezTo>
                  <a:lnTo>
                    <a:pt x="142875" y="18010"/>
                  </a:lnTo>
                  <a:cubicBezTo>
                    <a:pt x="142875" y="37671"/>
                    <a:pt x="110633" y="49760"/>
                    <a:pt x="71438" y="49760"/>
                  </a:cubicBezTo>
                  <a:cubicBezTo>
                    <a:pt x="33353" y="49760"/>
                    <a:pt x="1826" y="38346"/>
                    <a:pt x="167" y="19637"/>
                  </a:cubicBezTo>
                  <a:lnTo>
                    <a:pt x="40" y="18836"/>
                  </a:lnTo>
                  <a:lnTo>
                    <a:pt x="0" y="18010"/>
                  </a:lnTo>
                  <a:close/>
                </a:path>
              </a:pathLst>
            </a:custGeom>
            <a:solidFill>
              <a:srgbClr val="0B57D0"/>
            </a:solidFill>
            <a:ln>
              <a:noFill/>
            </a:ln>
          </p:spPr>
        </p:sp>
        <p:sp>
          <p:nvSpPr>
            <p:cNvPr id="71" name="Freeform 71"/>
            <p:cNvSpPr/>
            <p:nvPr/>
          </p:nvSpPr>
          <p:spPr>
            <a:xfrm>
              <a:off x="3119437" y="4311650"/>
              <a:ext cx="142876" cy="63500"/>
            </a:xfrm>
            <a:custGeom>
              <a:avLst/>
              <a:gdLst/>
              <a:ahLst/>
              <a:cxnLst/>
              <a:rect l="l" t="t" r="r" b="b"/>
              <a:pathLst>
                <a:path w="142876" h="63500">
                  <a:moveTo>
                    <a:pt x="71438" y="0"/>
                  </a:moveTo>
                  <a:cubicBezTo>
                    <a:pt x="79701" y="0"/>
                    <a:pt x="87662" y="540"/>
                    <a:pt x="95068" y="1572"/>
                  </a:cubicBezTo>
                  <a:lnTo>
                    <a:pt x="98791" y="2135"/>
                  </a:lnTo>
                  <a:cubicBezTo>
                    <a:pt x="103236" y="2876"/>
                    <a:pt x="107432" y="3797"/>
                    <a:pt x="111380" y="4897"/>
                  </a:cubicBezTo>
                  <a:lnTo>
                    <a:pt x="114872" y="5937"/>
                  </a:lnTo>
                  <a:lnTo>
                    <a:pt x="115467" y="6128"/>
                  </a:lnTo>
                  <a:cubicBezTo>
                    <a:pt x="117628" y="6838"/>
                    <a:pt x="119759" y="7632"/>
                    <a:pt x="121857" y="8509"/>
                  </a:cubicBezTo>
                  <a:lnTo>
                    <a:pt x="123437" y="9192"/>
                  </a:lnTo>
                  <a:cubicBezTo>
                    <a:pt x="126268" y="10472"/>
                    <a:pt x="128826" y="11875"/>
                    <a:pt x="131112" y="13398"/>
                  </a:cubicBezTo>
                  <a:cubicBezTo>
                    <a:pt x="131985" y="13981"/>
                    <a:pt x="132814" y="14576"/>
                    <a:pt x="133597" y="15184"/>
                  </a:cubicBezTo>
                  <a:cubicBezTo>
                    <a:pt x="135581" y="16724"/>
                    <a:pt x="137364" y="18505"/>
                    <a:pt x="138907" y="20487"/>
                  </a:cubicBezTo>
                  <a:lnTo>
                    <a:pt x="139629" y="21503"/>
                  </a:lnTo>
                  <a:cubicBezTo>
                    <a:pt x="140000" y="22058"/>
                    <a:pt x="140341" y="22617"/>
                    <a:pt x="140653" y="23178"/>
                  </a:cubicBezTo>
                  <a:lnTo>
                    <a:pt x="141209" y="24281"/>
                  </a:lnTo>
                  <a:cubicBezTo>
                    <a:pt x="142071" y="26133"/>
                    <a:pt x="142600" y="28064"/>
                    <a:pt x="142796" y="30075"/>
                  </a:cubicBezTo>
                  <a:lnTo>
                    <a:pt x="142876" y="31750"/>
                  </a:lnTo>
                  <a:cubicBezTo>
                    <a:pt x="142876" y="51411"/>
                    <a:pt x="110633" y="63500"/>
                    <a:pt x="71438" y="63500"/>
                  </a:cubicBezTo>
                  <a:cubicBezTo>
                    <a:pt x="33354" y="63500"/>
                    <a:pt x="1826" y="52086"/>
                    <a:pt x="167" y="33377"/>
                  </a:cubicBezTo>
                  <a:cubicBezTo>
                    <a:pt x="56" y="32842"/>
                    <a:pt x="0" y="32297"/>
                    <a:pt x="1" y="31750"/>
                  </a:cubicBezTo>
                  <a:lnTo>
                    <a:pt x="40" y="30925"/>
                  </a:lnTo>
                  <a:lnTo>
                    <a:pt x="167" y="30131"/>
                  </a:lnTo>
                  <a:cubicBezTo>
                    <a:pt x="1794" y="11827"/>
                    <a:pt x="31997" y="500"/>
                    <a:pt x="68962" y="16"/>
                  </a:cubicBezTo>
                  <a:close/>
                </a:path>
              </a:pathLst>
            </a:custGeom>
            <a:solidFill>
              <a:srgbClr val="0B57D0"/>
            </a:solidFill>
            <a:ln>
              <a:noFill/>
            </a:ln>
          </p:spPr>
        </p:sp>
      </p:grpSp>
      <p:sp>
        <p:nvSpPr>
          <p:cNvPr id="73" name="TextBox 73"/>
          <p:cNvSpPr txBox="1"/>
          <p:nvPr/>
        </p:nvSpPr>
        <p:spPr>
          <a:xfrm>
            <a:off x="3430905" y="4295775"/>
            <a:ext cx="815340" cy="245745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600" b="1" dirty="0">
                <a:solidFill>
                  <a:srgbClr val="102033"/>
                </a:solidFill>
                <a:latin typeface="MiSans Normal" panose="00000500000000000000" charset="-122"/>
                <a:ea typeface="MiSans Normal" panose="00000500000000000000" charset="-122"/>
                <a:cs typeface="等线" panose="02010600030101010101" charset="-122"/>
              </a:rPr>
              <a:t>关键价值</a:t>
            </a:r>
            <a:endParaRPr lang="zh-CN" sz="1600" b="1" dirty="0">
              <a:solidFill>
                <a:srgbClr val="102033"/>
              </a:solidFill>
              <a:latin typeface="MiSans Normal" panose="00000500000000000000" charset="-122"/>
              <a:ea typeface="MiSans Normal" panose="00000500000000000000" charset="-122"/>
              <a:cs typeface="等线" panose="02010600030101010101" charset="-122"/>
            </a:endParaRPr>
          </a:p>
        </p:txBody>
      </p:sp>
      <p:sp>
        <p:nvSpPr>
          <p:cNvPr id="74" name="TextBox 74"/>
          <p:cNvSpPr txBox="1"/>
          <p:nvPr/>
        </p:nvSpPr>
        <p:spPr>
          <a:xfrm>
            <a:off x="3093085" y="4809490"/>
            <a:ext cx="995680" cy="150495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975" dirty="0">
                <a:solidFill>
                  <a:srgbClr val="51677F"/>
                </a:solidFill>
                <a:latin typeface="MiSans Normal" panose="00000500000000000000" charset="-122"/>
                <a:ea typeface="MiSans Normal" panose="00000500000000000000" charset="-122"/>
                <a:cs typeface="等线" panose="02010600030101010101" charset="-122"/>
              </a:rPr>
              <a:t>不默认永久保存。</a:t>
            </a:r>
            <a:endParaRPr lang="zh-CN" sz="975" dirty="0">
              <a:solidFill>
                <a:srgbClr val="51677F"/>
              </a:solidFill>
              <a:latin typeface="MiSans Normal" panose="00000500000000000000" charset="-122"/>
              <a:ea typeface="MiSans Normal" panose="00000500000000000000" charset="-122"/>
              <a:cs typeface="等线" panose="02010600030101010101" charset="-122"/>
            </a:endParaRPr>
          </a:p>
        </p:txBody>
      </p:sp>
      <p:sp>
        <p:nvSpPr>
          <p:cNvPr id="75" name="TextBox 75"/>
          <p:cNvSpPr txBox="1"/>
          <p:nvPr/>
        </p:nvSpPr>
        <p:spPr>
          <a:xfrm>
            <a:off x="3093085" y="5120640"/>
            <a:ext cx="871220" cy="150495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975" dirty="0">
                <a:solidFill>
                  <a:srgbClr val="51677F"/>
                </a:solidFill>
                <a:latin typeface="MiSans Normal" panose="00000500000000000000" charset="-122"/>
                <a:ea typeface="MiSans Normal" panose="00000500000000000000" charset="-122"/>
                <a:cs typeface="等线" panose="02010600030101010101" charset="-122"/>
              </a:rPr>
              <a:t>保存前先确认。</a:t>
            </a:r>
            <a:endParaRPr lang="zh-CN" sz="975" dirty="0">
              <a:solidFill>
                <a:srgbClr val="51677F"/>
              </a:solidFill>
              <a:latin typeface="MiSans Normal" panose="00000500000000000000" charset="-122"/>
              <a:ea typeface="MiSans Normal" panose="00000500000000000000" charset="-122"/>
              <a:cs typeface="等线" panose="02010600030101010101" charset="-122"/>
            </a:endParaRPr>
          </a:p>
        </p:txBody>
      </p:sp>
      <p:sp>
        <p:nvSpPr>
          <p:cNvPr id="76" name="Rectangle 76"/>
          <p:cNvSpPr/>
          <p:nvPr/>
        </p:nvSpPr>
        <p:spPr>
          <a:xfrm>
            <a:off x="6019800" y="1581150"/>
            <a:ext cx="5829300" cy="4724400"/>
          </a:xfrm>
          <a:prstGeom prst="roundRect">
            <a:avLst>
              <a:gd name="adj" fmla="val 4032"/>
            </a:avLst>
          </a:prstGeom>
          <a:solidFill>
            <a:srgbClr val="0B57D0">
              <a:alpha val="5000"/>
            </a:srgbClr>
          </a:solidFill>
          <a:ln>
            <a:noFill/>
          </a:ln>
        </p:spPr>
      </p:sp>
      <p:sp>
        <p:nvSpPr>
          <p:cNvPr id="77" name="Rectangle 77"/>
          <p:cNvSpPr/>
          <p:nvPr/>
        </p:nvSpPr>
        <p:spPr>
          <a:xfrm>
            <a:off x="5943600" y="1485900"/>
            <a:ext cx="5829300" cy="4724400"/>
          </a:xfrm>
          <a:prstGeom prst="roundRect">
            <a:avLst>
              <a:gd name="adj" fmla="val 4032"/>
            </a:avLst>
          </a:prstGeom>
          <a:solidFill>
            <a:srgbClr val="F8FCFF"/>
          </a:solidFill>
          <a:ln w="11430">
            <a:solidFill>
              <a:srgbClr val="BFD9F4"/>
            </a:solidFill>
          </a:ln>
        </p:spPr>
      </p:sp>
      <p:sp>
        <p:nvSpPr>
          <p:cNvPr id="78" name="Line 78"/>
          <p:cNvSpPr/>
          <p:nvPr/>
        </p:nvSpPr>
        <p:spPr>
          <a:xfrm>
            <a:off x="6115050" y="1495425"/>
            <a:ext cx="1238250" cy="9525"/>
          </a:xfrm>
          <a:custGeom>
            <a:avLst/>
            <a:gdLst/>
            <a:ahLst/>
            <a:cxnLst/>
            <a:rect l="l" t="t" r="r" b="b"/>
            <a:pathLst>
              <a:path w="1238250" h="9525">
                <a:moveTo>
                  <a:pt x="0" y="0"/>
                </a:moveTo>
                <a:lnTo>
                  <a:pt x="1238250" y="0"/>
                </a:lnTo>
              </a:path>
            </a:pathLst>
          </a:custGeom>
          <a:noFill/>
          <a:ln w="19050">
            <a:solidFill>
              <a:srgbClr val="26A7FF">
                <a:alpha val="90000"/>
              </a:srgbClr>
            </a:solidFill>
          </a:ln>
        </p:spPr>
      </p:sp>
      <p:sp>
        <p:nvSpPr>
          <p:cNvPr id="80" name="Freeform 80"/>
          <p:cNvSpPr/>
          <p:nvPr/>
        </p:nvSpPr>
        <p:spPr>
          <a:xfrm>
            <a:off x="6305550" y="1885950"/>
            <a:ext cx="5105400" cy="3924300"/>
          </a:xfrm>
          <a:custGeom>
            <a:avLst/>
            <a:gdLst/>
            <a:ahLst/>
            <a:cxnLst/>
            <a:rect l="l" t="t" r="r" b="b"/>
            <a:pathLst>
              <a:path w="5105400" h="3924300">
                <a:moveTo>
                  <a:pt x="0" y="3924300"/>
                </a:moveTo>
                <a:lnTo>
                  <a:pt x="5105400" y="0"/>
                </a:lnTo>
              </a:path>
            </a:pathLst>
          </a:custGeom>
          <a:solidFill>
            <a:srgbClr val="000000"/>
          </a:solidFill>
          <a:ln w="13335">
            <a:solidFill>
              <a:srgbClr val="D7EAFF">
                <a:alpha val="85000"/>
              </a:srgbClr>
            </a:solidFill>
          </a:ln>
        </p:spPr>
      </p:sp>
      <p:sp>
        <p:nvSpPr>
          <p:cNvPr id="81" name="Freeform 81"/>
          <p:cNvSpPr/>
          <p:nvPr/>
        </p:nvSpPr>
        <p:spPr>
          <a:xfrm>
            <a:off x="6305550" y="1885950"/>
            <a:ext cx="5105400" cy="3924300"/>
          </a:xfrm>
          <a:custGeom>
            <a:avLst/>
            <a:gdLst/>
            <a:ahLst/>
            <a:cxnLst/>
            <a:rect l="l" t="t" r="r" b="b"/>
            <a:pathLst>
              <a:path w="5105400" h="3924300">
                <a:moveTo>
                  <a:pt x="0" y="0"/>
                </a:moveTo>
                <a:lnTo>
                  <a:pt x="5105400" y="3924300"/>
                </a:lnTo>
              </a:path>
            </a:pathLst>
          </a:custGeom>
          <a:solidFill>
            <a:srgbClr val="000000"/>
          </a:solidFill>
          <a:ln w="13335">
            <a:solidFill>
              <a:srgbClr val="D7EAFF">
                <a:alpha val="85000"/>
              </a:srgbClr>
            </a:solidFill>
          </a:ln>
        </p:spPr>
      </p:sp>
      <p:grpSp>
        <p:nvGrpSpPr>
          <p:cNvPr id="85" name="Group 85"/>
          <p:cNvGrpSpPr/>
          <p:nvPr/>
        </p:nvGrpSpPr>
        <p:grpSpPr>
          <a:xfrm rot="0">
            <a:off x="8736965" y="3488690"/>
            <a:ext cx="243205" cy="243205"/>
            <a:chOff x="8736806" y="3488531"/>
            <a:chExt cx="242888" cy="242888"/>
          </a:xfrm>
        </p:grpSpPr>
        <p:sp>
          <p:nvSpPr>
            <p:cNvPr id="82" name="Freeform 82"/>
            <p:cNvSpPr/>
            <p:nvPr/>
          </p:nvSpPr>
          <p:spPr>
            <a:xfrm>
              <a:off x="8736806" y="3488531"/>
              <a:ext cx="107950" cy="94456"/>
            </a:xfrm>
            <a:custGeom>
              <a:avLst/>
              <a:gdLst/>
              <a:ahLst/>
              <a:cxnLst/>
              <a:rect l="l" t="t" r="r" b="b"/>
              <a:pathLst>
                <a:path w="107950" h="94456">
                  <a:moveTo>
                    <a:pt x="67469" y="0"/>
                  </a:moveTo>
                  <a:cubicBezTo>
                    <a:pt x="89826" y="0"/>
                    <a:pt x="107950" y="18124"/>
                    <a:pt x="107950" y="40481"/>
                  </a:cubicBezTo>
                  <a:lnTo>
                    <a:pt x="107950" y="53975"/>
                  </a:lnTo>
                  <a:cubicBezTo>
                    <a:pt x="107950" y="76332"/>
                    <a:pt x="89826" y="94456"/>
                    <a:pt x="67469" y="94456"/>
                  </a:cubicBezTo>
                  <a:lnTo>
                    <a:pt x="40481" y="94456"/>
                  </a:lnTo>
                  <a:cubicBezTo>
                    <a:pt x="18124" y="94456"/>
                    <a:pt x="0" y="76332"/>
                    <a:pt x="0" y="53975"/>
                  </a:cubicBezTo>
                  <a:lnTo>
                    <a:pt x="0" y="40481"/>
                  </a:lnTo>
                  <a:cubicBezTo>
                    <a:pt x="0" y="18124"/>
                    <a:pt x="18124" y="0"/>
                    <a:pt x="40481" y="0"/>
                  </a:cubicBezTo>
                  <a:close/>
                </a:path>
              </a:pathLst>
            </a:custGeom>
            <a:solidFill>
              <a:srgbClr val="26A7FF"/>
            </a:solidFill>
            <a:ln>
              <a:noFill/>
            </a:ln>
          </p:spPr>
        </p:sp>
        <p:sp>
          <p:nvSpPr>
            <p:cNvPr id="83" name="Freeform 83"/>
            <p:cNvSpPr/>
            <p:nvPr/>
          </p:nvSpPr>
          <p:spPr>
            <a:xfrm>
              <a:off x="8736806" y="3609975"/>
              <a:ext cx="107950" cy="121444"/>
            </a:xfrm>
            <a:custGeom>
              <a:avLst/>
              <a:gdLst/>
              <a:ahLst/>
              <a:cxnLst/>
              <a:rect l="l" t="t" r="r" b="b"/>
              <a:pathLst>
                <a:path w="107950" h="121444">
                  <a:moveTo>
                    <a:pt x="67469" y="0"/>
                  </a:moveTo>
                  <a:cubicBezTo>
                    <a:pt x="89826" y="0"/>
                    <a:pt x="107950" y="18124"/>
                    <a:pt x="107950" y="40481"/>
                  </a:cubicBezTo>
                  <a:lnTo>
                    <a:pt x="107950" y="80962"/>
                  </a:lnTo>
                  <a:cubicBezTo>
                    <a:pt x="107950" y="103320"/>
                    <a:pt x="89826" y="121444"/>
                    <a:pt x="67469" y="121444"/>
                  </a:cubicBezTo>
                  <a:lnTo>
                    <a:pt x="40481" y="121444"/>
                  </a:lnTo>
                  <a:cubicBezTo>
                    <a:pt x="18124" y="121444"/>
                    <a:pt x="0" y="103320"/>
                    <a:pt x="0" y="80962"/>
                  </a:cubicBezTo>
                  <a:lnTo>
                    <a:pt x="0" y="40481"/>
                  </a:lnTo>
                  <a:cubicBezTo>
                    <a:pt x="0" y="18124"/>
                    <a:pt x="18124" y="0"/>
                    <a:pt x="40481" y="0"/>
                  </a:cubicBezTo>
                  <a:close/>
                </a:path>
              </a:pathLst>
            </a:custGeom>
            <a:solidFill>
              <a:srgbClr val="26A7FF"/>
            </a:solidFill>
            <a:ln>
              <a:noFill/>
            </a:ln>
          </p:spPr>
        </p:sp>
        <p:sp>
          <p:nvSpPr>
            <p:cNvPr id="84" name="Freeform 84"/>
            <p:cNvSpPr/>
            <p:nvPr/>
          </p:nvSpPr>
          <p:spPr>
            <a:xfrm>
              <a:off x="8871744" y="3488531"/>
              <a:ext cx="107950" cy="242888"/>
            </a:xfrm>
            <a:custGeom>
              <a:avLst/>
              <a:gdLst/>
              <a:ahLst/>
              <a:cxnLst/>
              <a:rect l="l" t="t" r="r" b="b"/>
              <a:pathLst>
                <a:path w="107950" h="242888">
                  <a:moveTo>
                    <a:pt x="67469" y="0"/>
                  </a:moveTo>
                  <a:cubicBezTo>
                    <a:pt x="89826" y="0"/>
                    <a:pt x="107950" y="18124"/>
                    <a:pt x="107950" y="40481"/>
                  </a:cubicBezTo>
                  <a:lnTo>
                    <a:pt x="107950" y="202406"/>
                  </a:lnTo>
                  <a:cubicBezTo>
                    <a:pt x="107950" y="224763"/>
                    <a:pt x="89826" y="242888"/>
                    <a:pt x="67469" y="242888"/>
                  </a:cubicBezTo>
                  <a:lnTo>
                    <a:pt x="40481" y="242888"/>
                  </a:lnTo>
                  <a:cubicBezTo>
                    <a:pt x="18124" y="242888"/>
                    <a:pt x="0" y="224763"/>
                    <a:pt x="0" y="202406"/>
                  </a:cubicBezTo>
                  <a:lnTo>
                    <a:pt x="0" y="40481"/>
                  </a:lnTo>
                  <a:cubicBezTo>
                    <a:pt x="0" y="18124"/>
                    <a:pt x="18124" y="0"/>
                    <a:pt x="40481" y="0"/>
                  </a:cubicBezTo>
                  <a:close/>
                </a:path>
              </a:pathLst>
            </a:custGeom>
            <a:solidFill>
              <a:srgbClr val="26A7FF"/>
            </a:solidFill>
            <a:ln>
              <a:noFill/>
            </a:ln>
          </p:spPr>
        </p:sp>
      </p:grpSp>
      <p:sp>
        <p:nvSpPr>
          <p:cNvPr id="87" name="TextBox 87"/>
          <p:cNvSpPr txBox="1"/>
          <p:nvPr/>
        </p:nvSpPr>
        <p:spPr>
          <a:xfrm>
            <a:off x="7778115" y="4123690"/>
            <a:ext cx="2160905" cy="19812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975" dirty="0">
                <a:solidFill>
                  <a:srgbClr val="8AA1B7"/>
                </a:solidFill>
                <a:latin typeface="等线" panose="02010600030101010101" charset="-122"/>
                <a:ea typeface="微软雅黑" panose="020B0503020204020204" charset="-122"/>
                <a:cs typeface="等线" panose="02010600030101010101" charset="-122"/>
              </a:rPr>
              <a:t>后续可替换为真实移动端页面截图</a:t>
            </a:r>
            <a:endParaRPr lang="zh-CN" sz="975" dirty="0">
              <a:solidFill>
                <a:srgbClr val="8AA1B7"/>
              </a:solidFill>
              <a:latin typeface="等线" panose="02010600030101010101" charset="-122"/>
              <a:ea typeface="微软雅黑" panose="020B0503020204020204" charset="-122"/>
              <a:cs typeface="等线" panose="02010600030101010101" charset="-122"/>
            </a:endParaRPr>
          </a:p>
        </p:txBody>
      </p:sp>
      <p:sp>
        <p:nvSpPr>
          <p:cNvPr id="89" name="Rectangle 89"/>
          <p:cNvSpPr/>
          <p:nvPr/>
        </p:nvSpPr>
        <p:spPr>
          <a:xfrm>
            <a:off x="6438900" y="4267200"/>
            <a:ext cx="2476500" cy="1104900"/>
          </a:xfrm>
          <a:prstGeom prst="roundRect">
            <a:avLst>
              <a:gd name="adj" fmla="val 12069"/>
            </a:avLst>
          </a:prstGeom>
          <a:solidFill>
            <a:srgbClr val="0B57D0">
              <a:alpha val="5000"/>
            </a:srgbClr>
          </a:solidFill>
          <a:ln>
            <a:noFill/>
          </a:ln>
        </p:spPr>
      </p:sp>
      <p:sp>
        <p:nvSpPr>
          <p:cNvPr id="90" name="Rectangle 90"/>
          <p:cNvSpPr/>
          <p:nvPr/>
        </p:nvSpPr>
        <p:spPr>
          <a:xfrm>
            <a:off x="6362700" y="4171950"/>
            <a:ext cx="2476500" cy="1104900"/>
          </a:xfrm>
          <a:prstGeom prst="roundRect">
            <a:avLst>
              <a:gd name="adj" fmla="val 12069"/>
            </a:avLst>
          </a:prstGeom>
          <a:solidFill>
            <a:srgbClr val="FFFFFF"/>
          </a:solidFill>
          <a:ln w="11430">
            <a:solidFill>
              <a:srgbClr val="BFD9F4"/>
            </a:solidFill>
          </a:ln>
        </p:spPr>
      </p:sp>
      <p:sp>
        <p:nvSpPr>
          <p:cNvPr id="91" name="Line 91"/>
          <p:cNvSpPr/>
          <p:nvPr/>
        </p:nvSpPr>
        <p:spPr>
          <a:xfrm>
            <a:off x="6534150" y="4181475"/>
            <a:ext cx="1238250" cy="9525"/>
          </a:xfrm>
          <a:custGeom>
            <a:avLst/>
            <a:gdLst/>
            <a:ahLst/>
            <a:cxnLst/>
            <a:rect l="l" t="t" r="r" b="b"/>
            <a:pathLst>
              <a:path w="1238250" h="9525">
                <a:moveTo>
                  <a:pt x="0" y="0"/>
                </a:moveTo>
                <a:lnTo>
                  <a:pt x="1238250" y="0"/>
                </a:lnTo>
              </a:path>
            </a:pathLst>
          </a:custGeom>
          <a:noFill/>
          <a:ln w="19050">
            <a:solidFill>
              <a:srgbClr val="26A7FF">
                <a:alpha val="90000"/>
              </a:srgbClr>
            </a:solidFill>
          </a:ln>
        </p:spPr>
      </p:sp>
      <p:sp>
        <p:nvSpPr>
          <p:cNvPr id="93" name="Freeform 93"/>
          <p:cNvSpPr/>
          <p:nvPr/>
        </p:nvSpPr>
        <p:spPr>
          <a:xfrm>
            <a:off x="6597650" y="4415155"/>
            <a:ext cx="158750" cy="151130"/>
          </a:xfrm>
          <a:custGeom>
            <a:avLst/>
            <a:gdLst/>
            <a:ahLst/>
            <a:cxnLst/>
            <a:rect l="l" t="t" r="r" b="b"/>
            <a:pathLst>
              <a:path w="158750" h="151184">
                <a:moveTo>
                  <a:pt x="127000" y="0"/>
                </a:moveTo>
                <a:cubicBezTo>
                  <a:pt x="144535" y="0"/>
                  <a:pt x="158750" y="14215"/>
                  <a:pt x="158750" y="31750"/>
                </a:cubicBezTo>
                <a:lnTo>
                  <a:pt x="158750" y="95250"/>
                </a:lnTo>
                <a:cubicBezTo>
                  <a:pt x="158750" y="112785"/>
                  <a:pt x="144535" y="127000"/>
                  <a:pt x="127000" y="127000"/>
                </a:cubicBezTo>
                <a:lnTo>
                  <a:pt x="89503" y="127000"/>
                </a:lnTo>
                <a:lnTo>
                  <a:pt x="51705" y="149677"/>
                </a:lnTo>
                <a:cubicBezTo>
                  <a:pt x="49392" y="151066"/>
                  <a:pt x="46532" y="151184"/>
                  <a:pt x="44112" y="149992"/>
                </a:cubicBezTo>
                <a:cubicBezTo>
                  <a:pt x="41693" y="148799"/>
                  <a:pt x="40044" y="146460"/>
                  <a:pt x="39735" y="143780"/>
                </a:cubicBezTo>
                <a:lnTo>
                  <a:pt x="39688" y="142875"/>
                </a:lnTo>
                <a:lnTo>
                  <a:pt x="39688" y="127000"/>
                </a:lnTo>
                <a:lnTo>
                  <a:pt x="31750" y="127000"/>
                </a:lnTo>
                <a:cubicBezTo>
                  <a:pt x="14832" y="127000"/>
                  <a:pt x="886" y="113734"/>
                  <a:pt x="40" y="96838"/>
                </a:cubicBezTo>
                <a:lnTo>
                  <a:pt x="0" y="95250"/>
                </a:lnTo>
                <a:lnTo>
                  <a:pt x="0" y="31750"/>
                </a:lnTo>
                <a:cubicBezTo>
                  <a:pt x="0" y="14215"/>
                  <a:pt x="14215" y="0"/>
                  <a:pt x="31750" y="0"/>
                </a:cubicBezTo>
                <a:close/>
                <a:moveTo>
                  <a:pt x="104775" y="73708"/>
                </a:moveTo>
                <a:cubicBezTo>
                  <a:pt x="101645" y="70639"/>
                  <a:pt x="96620" y="70689"/>
                  <a:pt x="93551" y="73819"/>
                </a:cubicBezTo>
                <a:cubicBezTo>
                  <a:pt x="89819" y="77630"/>
                  <a:pt x="84709" y="79777"/>
                  <a:pt x="79375" y="79777"/>
                </a:cubicBezTo>
                <a:cubicBezTo>
                  <a:pt x="74041" y="79777"/>
                  <a:pt x="68931" y="77630"/>
                  <a:pt x="65199" y="73819"/>
                </a:cubicBezTo>
                <a:cubicBezTo>
                  <a:pt x="62117" y="70764"/>
                  <a:pt x="57153" y="70750"/>
                  <a:pt x="54054" y="73788"/>
                </a:cubicBezTo>
                <a:cubicBezTo>
                  <a:pt x="50955" y="76826"/>
                  <a:pt x="50870" y="81789"/>
                  <a:pt x="53864" y="84931"/>
                </a:cubicBezTo>
                <a:cubicBezTo>
                  <a:pt x="60582" y="91787"/>
                  <a:pt x="69777" y="95650"/>
                  <a:pt x="79375" y="95650"/>
                </a:cubicBezTo>
                <a:cubicBezTo>
                  <a:pt x="88973" y="95650"/>
                  <a:pt x="98168" y="91787"/>
                  <a:pt x="104886" y="84931"/>
                </a:cubicBezTo>
                <a:cubicBezTo>
                  <a:pt x="107954" y="81801"/>
                  <a:pt x="107905" y="76776"/>
                  <a:pt x="104775" y="73708"/>
                </a:cubicBezTo>
                <a:moveTo>
                  <a:pt x="59611" y="39688"/>
                </a:moveTo>
                <a:lnTo>
                  <a:pt x="59531" y="39688"/>
                </a:lnTo>
                <a:cubicBezTo>
                  <a:pt x="55147" y="39688"/>
                  <a:pt x="51594" y="43241"/>
                  <a:pt x="51594" y="47625"/>
                </a:cubicBezTo>
                <a:cubicBezTo>
                  <a:pt x="51594" y="52009"/>
                  <a:pt x="55147" y="55562"/>
                  <a:pt x="59531" y="55562"/>
                </a:cubicBezTo>
                <a:lnTo>
                  <a:pt x="59611" y="55562"/>
                </a:lnTo>
                <a:cubicBezTo>
                  <a:pt x="63994" y="55562"/>
                  <a:pt x="67548" y="52009"/>
                  <a:pt x="67548" y="47625"/>
                </a:cubicBezTo>
                <a:cubicBezTo>
                  <a:pt x="67548" y="43241"/>
                  <a:pt x="63994" y="39688"/>
                  <a:pt x="59611" y="39688"/>
                </a:cubicBezTo>
                <a:moveTo>
                  <a:pt x="99298" y="39688"/>
                </a:moveTo>
                <a:lnTo>
                  <a:pt x="99219" y="39688"/>
                </a:lnTo>
                <a:cubicBezTo>
                  <a:pt x="94835" y="39688"/>
                  <a:pt x="91281" y="43241"/>
                  <a:pt x="91281" y="47625"/>
                </a:cubicBezTo>
                <a:cubicBezTo>
                  <a:pt x="91281" y="52009"/>
                  <a:pt x="94835" y="55562"/>
                  <a:pt x="99219" y="55562"/>
                </a:cubicBezTo>
                <a:lnTo>
                  <a:pt x="99298" y="55562"/>
                </a:lnTo>
                <a:cubicBezTo>
                  <a:pt x="103682" y="55562"/>
                  <a:pt x="107236" y="52009"/>
                  <a:pt x="107236" y="47625"/>
                </a:cubicBezTo>
                <a:cubicBezTo>
                  <a:pt x="107236" y="43241"/>
                  <a:pt x="103682" y="39688"/>
                  <a:pt x="99298" y="39688"/>
                </a:cubicBezTo>
              </a:path>
            </a:pathLst>
          </a:custGeom>
          <a:solidFill>
            <a:srgbClr val="0B57D0"/>
          </a:solidFill>
          <a:ln>
            <a:noFill/>
          </a:ln>
        </p:spPr>
      </p:sp>
      <p:sp>
        <p:nvSpPr>
          <p:cNvPr id="94" name="TextBox 94"/>
          <p:cNvSpPr txBox="1"/>
          <p:nvPr/>
        </p:nvSpPr>
        <p:spPr>
          <a:xfrm>
            <a:off x="6915785" y="4342130"/>
            <a:ext cx="910590" cy="28956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425" b="1" dirty="0">
                <a:solidFill>
                  <a:srgbClr val="102033"/>
                </a:solidFill>
                <a:latin typeface="等线" panose="02010600030101010101" charset="-122"/>
                <a:ea typeface="微软雅黑" panose="020B0503020204020204" charset="-122"/>
                <a:cs typeface="等线" panose="02010600030101010101" charset="-122"/>
              </a:rPr>
              <a:t>用户输入</a:t>
            </a:r>
            <a:endParaRPr lang="zh-CN" sz="1425" b="1" dirty="0">
              <a:solidFill>
                <a:srgbClr val="102033"/>
              </a:solidFill>
              <a:latin typeface="等线" panose="02010600030101010101" charset="-122"/>
              <a:ea typeface="微软雅黑" panose="020B0503020204020204" charset="-122"/>
              <a:cs typeface="等线" panose="02010600030101010101" charset="-122"/>
            </a:endParaRPr>
          </a:p>
        </p:txBody>
      </p:sp>
      <p:sp>
        <p:nvSpPr>
          <p:cNvPr id="95" name="TextBox 95"/>
          <p:cNvSpPr txBox="1"/>
          <p:nvPr/>
        </p:nvSpPr>
        <p:spPr>
          <a:xfrm>
            <a:off x="6579870" y="4760595"/>
            <a:ext cx="1600200" cy="27686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900" dirty="0">
                <a:solidFill>
                  <a:srgbClr val="51677F"/>
                </a:solidFill>
                <a:latin typeface="等线" panose="02010600030101010101" charset="-122"/>
                <a:ea typeface="微软雅黑" panose="020B0503020204020204" charset="-122"/>
                <a:cs typeface="等线" panose="02010600030101010101" charset="-122"/>
              </a:rPr>
              <a:t>周末想去重庆两天，不想太累，</a:t>
            </a:r>
            <a:endParaRPr lang="zh-CN" sz="900" dirty="0">
              <a:solidFill>
                <a:srgbClr val="51677F"/>
              </a:solidFill>
              <a:latin typeface="等线" panose="02010600030101010101" charset="-122"/>
              <a:ea typeface="微软雅黑" panose="020B0503020204020204" charset="-122"/>
              <a:cs typeface="等线" panose="02010600030101010101" charset="-122"/>
            </a:endParaRPr>
          </a:p>
          <a:p>
            <a:pPr algn="l"/>
            <a:r>
              <a:rPr lang="zh-CN" sz="900" dirty="0">
                <a:solidFill>
                  <a:srgbClr val="51677F"/>
                </a:solidFill>
                <a:latin typeface="等线" panose="02010600030101010101" charset="-122"/>
                <a:ea typeface="微软雅黑" panose="020B0503020204020204" charset="-122"/>
                <a:cs typeface="等线" panose="02010600030101010101" charset="-122"/>
              </a:rPr>
              <a:t>喜欢夜景，不吃香菜。</a:t>
            </a:r>
            <a:endParaRPr lang="zh-CN" sz="900" dirty="0">
              <a:solidFill>
                <a:srgbClr val="51677F"/>
              </a:solidFill>
              <a:latin typeface="等线" panose="02010600030101010101" charset="-122"/>
              <a:ea typeface="微软雅黑" panose="020B0503020204020204" charset="-122"/>
              <a:cs typeface="等线" panose="02010600030101010101" charset="-122"/>
            </a:endParaRPr>
          </a:p>
        </p:txBody>
      </p:sp>
      <p:sp>
        <p:nvSpPr>
          <p:cNvPr id="96" name="Rectangle 96"/>
          <p:cNvSpPr/>
          <p:nvPr/>
        </p:nvSpPr>
        <p:spPr>
          <a:xfrm>
            <a:off x="9144000" y="4267200"/>
            <a:ext cx="2324100" cy="1104900"/>
          </a:xfrm>
          <a:prstGeom prst="roundRect">
            <a:avLst>
              <a:gd name="adj" fmla="val 12069"/>
            </a:avLst>
          </a:prstGeom>
          <a:solidFill>
            <a:srgbClr val="0B57D0">
              <a:alpha val="5000"/>
            </a:srgbClr>
          </a:solidFill>
          <a:ln>
            <a:noFill/>
          </a:ln>
        </p:spPr>
      </p:sp>
      <p:sp>
        <p:nvSpPr>
          <p:cNvPr id="97" name="Rectangle 97"/>
          <p:cNvSpPr/>
          <p:nvPr/>
        </p:nvSpPr>
        <p:spPr>
          <a:xfrm>
            <a:off x="9067800" y="4171950"/>
            <a:ext cx="2324100" cy="1104900"/>
          </a:xfrm>
          <a:prstGeom prst="roundRect">
            <a:avLst>
              <a:gd name="adj" fmla="val 12069"/>
            </a:avLst>
          </a:prstGeom>
          <a:solidFill>
            <a:srgbClr val="FFFFFF"/>
          </a:solidFill>
          <a:ln w="11430">
            <a:solidFill>
              <a:srgbClr val="BFD9F4"/>
            </a:solidFill>
          </a:ln>
        </p:spPr>
      </p:sp>
      <p:sp>
        <p:nvSpPr>
          <p:cNvPr id="98" name="Line 98"/>
          <p:cNvSpPr/>
          <p:nvPr/>
        </p:nvSpPr>
        <p:spPr>
          <a:xfrm>
            <a:off x="9239250" y="4181475"/>
            <a:ext cx="1238250" cy="9525"/>
          </a:xfrm>
          <a:custGeom>
            <a:avLst/>
            <a:gdLst/>
            <a:ahLst/>
            <a:cxnLst/>
            <a:rect l="l" t="t" r="r" b="b"/>
            <a:pathLst>
              <a:path w="1238250" h="9525">
                <a:moveTo>
                  <a:pt x="0" y="0"/>
                </a:moveTo>
                <a:lnTo>
                  <a:pt x="1238250" y="0"/>
                </a:lnTo>
              </a:path>
            </a:pathLst>
          </a:custGeom>
          <a:noFill/>
          <a:ln w="19050">
            <a:solidFill>
              <a:srgbClr val="26A7FF">
                <a:alpha val="90000"/>
              </a:srgbClr>
            </a:solidFill>
          </a:ln>
        </p:spPr>
      </p:sp>
      <p:sp>
        <p:nvSpPr>
          <p:cNvPr id="99" name="Rectangle 99"/>
          <p:cNvSpPr/>
          <p:nvPr/>
        </p:nvSpPr>
        <p:spPr>
          <a:xfrm>
            <a:off x="9239250" y="4343400"/>
            <a:ext cx="285750" cy="285750"/>
          </a:xfrm>
          <a:prstGeom prst="roundRect">
            <a:avLst>
              <a:gd name="adj" fmla="val 33333"/>
            </a:avLst>
          </a:prstGeom>
          <a:solidFill>
            <a:srgbClr val="E7F2FF"/>
          </a:solidFill>
          <a:ln>
            <a:noFill/>
          </a:ln>
        </p:spPr>
      </p:sp>
      <p:grpSp>
        <p:nvGrpSpPr>
          <p:cNvPr id="103" name="Group 103"/>
          <p:cNvGrpSpPr/>
          <p:nvPr/>
        </p:nvGrpSpPr>
        <p:grpSpPr>
          <a:xfrm rot="0">
            <a:off x="9300210" y="4411980"/>
            <a:ext cx="156210" cy="147955"/>
            <a:chOff x="9300107" y="4412194"/>
            <a:chExt cx="156099" cy="148161"/>
          </a:xfrm>
        </p:grpSpPr>
        <p:sp>
          <p:nvSpPr>
            <p:cNvPr id="100" name="Freeform 100"/>
            <p:cNvSpPr/>
            <p:nvPr/>
          </p:nvSpPr>
          <p:spPr>
            <a:xfrm>
              <a:off x="9405938" y="4507444"/>
              <a:ext cx="50268" cy="52911"/>
            </a:xfrm>
            <a:custGeom>
              <a:avLst/>
              <a:gdLst/>
              <a:ahLst/>
              <a:cxnLst/>
              <a:rect l="l" t="t" r="r" b="b"/>
              <a:pathLst>
                <a:path w="50268" h="52911">
                  <a:moveTo>
                    <a:pt x="7938" y="34393"/>
                  </a:moveTo>
                  <a:cubicBezTo>
                    <a:pt x="3554" y="34393"/>
                    <a:pt x="0" y="30839"/>
                    <a:pt x="0" y="26456"/>
                  </a:cubicBezTo>
                  <a:cubicBezTo>
                    <a:pt x="0" y="22072"/>
                    <a:pt x="3554" y="18518"/>
                    <a:pt x="7938" y="18518"/>
                  </a:cubicBezTo>
                  <a:cubicBezTo>
                    <a:pt x="12321" y="18518"/>
                    <a:pt x="15875" y="14964"/>
                    <a:pt x="15875" y="10581"/>
                  </a:cubicBezTo>
                  <a:cubicBezTo>
                    <a:pt x="15875" y="0"/>
                    <a:pt x="31750" y="0"/>
                    <a:pt x="31750" y="10581"/>
                  </a:cubicBezTo>
                  <a:cubicBezTo>
                    <a:pt x="31750" y="14964"/>
                    <a:pt x="35304" y="18518"/>
                    <a:pt x="39687" y="18518"/>
                  </a:cubicBezTo>
                  <a:cubicBezTo>
                    <a:pt x="50268" y="18518"/>
                    <a:pt x="50268" y="34393"/>
                    <a:pt x="39687" y="34393"/>
                  </a:cubicBezTo>
                  <a:cubicBezTo>
                    <a:pt x="35304" y="34393"/>
                    <a:pt x="31750" y="37947"/>
                    <a:pt x="31750" y="42331"/>
                  </a:cubicBezTo>
                  <a:cubicBezTo>
                    <a:pt x="31750" y="52911"/>
                    <a:pt x="15875" y="52911"/>
                    <a:pt x="15875" y="42331"/>
                  </a:cubicBezTo>
                  <a:cubicBezTo>
                    <a:pt x="15875" y="37947"/>
                    <a:pt x="12321" y="34393"/>
                    <a:pt x="7938" y="34393"/>
                  </a:cubicBezTo>
                </a:path>
              </a:pathLst>
            </a:custGeom>
            <a:solidFill>
              <a:srgbClr val="0B57D0"/>
            </a:solidFill>
            <a:ln>
              <a:noFill/>
            </a:ln>
          </p:spPr>
        </p:sp>
        <p:sp>
          <p:nvSpPr>
            <p:cNvPr id="101" name="Freeform 101"/>
            <p:cNvSpPr/>
            <p:nvPr/>
          </p:nvSpPr>
          <p:spPr>
            <a:xfrm>
              <a:off x="9300107" y="4428069"/>
              <a:ext cx="116411" cy="113768"/>
            </a:xfrm>
            <a:custGeom>
              <a:avLst/>
              <a:gdLst/>
              <a:ahLst/>
              <a:cxnLst/>
              <a:rect l="l" t="t" r="r" b="b"/>
              <a:pathLst>
                <a:path w="116411" h="113768">
                  <a:moveTo>
                    <a:pt x="10581" y="50268"/>
                  </a:moveTo>
                  <a:cubicBezTo>
                    <a:pt x="32499" y="50268"/>
                    <a:pt x="50268" y="32499"/>
                    <a:pt x="50268" y="10581"/>
                  </a:cubicBezTo>
                  <a:cubicBezTo>
                    <a:pt x="50268" y="0"/>
                    <a:pt x="66143" y="0"/>
                    <a:pt x="66143" y="10581"/>
                  </a:cubicBezTo>
                  <a:cubicBezTo>
                    <a:pt x="66143" y="32499"/>
                    <a:pt x="83912" y="50268"/>
                    <a:pt x="105831" y="50268"/>
                  </a:cubicBezTo>
                  <a:cubicBezTo>
                    <a:pt x="116411" y="50268"/>
                    <a:pt x="116411" y="66143"/>
                    <a:pt x="105831" y="66143"/>
                  </a:cubicBezTo>
                  <a:cubicBezTo>
                    <a:pt x="83912" y="66143"/>
                    <a:pt x="66143" y="83912"/>
                    <a:pt x="66143" y="105831"/>
                  </a:cubicBezTo>
                  <a:cubicBezTo>
                    <a:pt x="66143" y="110214"/>
                    <a:pt x="62589" y="113768"/>
                    <a:pt x="58206" y="113768"/>
                  </a:cubicBezTo>
                  <a:cubicBezTo>
                    <a:pt x="53822" y="113768"/>
                    <a:pt x="50268" y="110214"/>
                    <a:pt x="50268" y="105831"/>
                  </a:cubicBezTo>
                  <a:cubicBezTo>
                    <a:pt x="50268" y="83912"/>
                    <a:pt x="32499" y="66143"/>
                    <a:pt x="10581" y="66143"/>
                  </a:cubicBezTo>
                  <a:cubicBezTo>
                    <a:pt x="0" y="66143"/>
                    <a:pt x="0" y="50268"/>
                    <a:pt x="10581" y="50268"/>
                  </a:cubicBezTo>
                </a:path>
              </a:pathLst>
            </a:custGeom>
            <a:solidFill>
              <a:srgbClr val="0B57D0"/>
            </a:solidFill>
            <a:ln>
              <a:noFill/>
            </a:ln>
          </p:spPr>
        </p:sp>
        <p:sp>
          <p:nvSpPr>
            <p:cNvPr id="102" name="Freeform 102"/>
            <p:cNvSpPr/>
            <p:nvPr/>
          </p:nvSpPr>
          <p:spPr>
            <a:xfrm>
              <a:off x="9405938" y="4412194"/>
              <a:ext cx="50268" cy="52911"/>
            </a:xfrm>
            <a:custGeom>
              <a:avLst/>
              <a:gdLst/>
              <a:ahLst/>
              <a:cxnLst/>
              <a:rect l="l" t="t" r="r" b="b"/>
              <a:pathLst>
                <a:path w="50268" h="52911">
                  <a:moveTo>
                    <a:pt x="7938" y="34393"/>
                  </a:moveTo>
                  <a:cubicBezTo>
                    <a:pt x="3554" y="34393"/>
                    <a:pt x="0" y="30839"/>
                    <a:pt x="0" y="26456"/>
                  </a:cubicBezTo>
                  <a:cubicBezTo>
                    <a:pt x="0" y="22072"/>
                    <a:pt x="3554" y="18518"/>
                    <a:pt x="7938" y="18518"/>
                  </a:cubicBezTo>
                  <a:cubicBezTo>
                    <a:pt x="12321" y="18518"/>
                    <a:pt x="15875" y="14964"/>
                    <a:pt x="15875" y="10581"/>
                  </a:cubicBezTo>
                  <a:cubicBezTo>
                    <a:pt x="15875" y="0"/>
                    <a:pt x="31750" y="0"/>
                    <a:pt x="31750" y="10581"/>
                  </a:cubicBezTo>
                  <a:cubicBezTo>
                    <a:pt x="31750" y="14964"/>
                    <a:pt x="35304" y="18518"/>
                    <a:pt x="39687" y="18518"/>
                  </a:cubicBezTo>
                  <a:cubicBezTo>
                    <a:pt x="50268" y="18518"/>
                    <a:pt x="50268" y="34393"/>
                    <a:pt x="39687" y="34393"/>
                  </a:cubicBezTo>
                  <a:cubicBezTo>
                    <a:pt x="35304" y="34393"/>
                    <a:pt x="31750" y="37947"/>
                    <a:pt x="31750" y="42331"/>
                  </a:cubicBezTo>
                  <a:cubicBezTo>
                    <a:pt x="31750" y="52911"/>
                    <a:pt x="15875" y="52911"/>
                    <a:pt x="15875" y="42331"/>
                  </a:cubicBezTo>
                  <a:cubicBezTo>
                    <a:pt x="15875" y="37947"/>
                    <a:pt x="12321" y="34393"/>
                    <a:pt x="7938" y="34393"/>
                  </a:cubicBezTo>
                </a:path>
              </a:pathLst>
            </a:custGeom>
            <a:solidFill>
              <a:srgbClr val="0B57D0"/>
            </a:solidFill>
            <a:ln>
              <a:noFill/>
            </a:ln>
          </p:spPr>
        </p:sp>
      </p:grpSp>
      <p:sp>
        <p:nvSpPr>
          <p:cNvPr id="104" name="TextBox 104"/>
          <p:cNvSpPr txBox="1"/>
          <p:nvPr/>
        </p:nvSpPr>
        <p:spPr>
          <a:xfrm>
            <a:off x="9620885" y="4342130"/>
            <a:ext cx="910590" cy="28956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425" b="1" dirty="0">
                <a:solidFill>
                  <a:srgbClr val="102033"/>
                </a:solidFill>
                <a:latin typeface="等线" panose="02010600030101010101" charset="-122"/>
                <a:ea typeface="微软雅黑" panose="020B0503020204020204" charset="-122"/>
                <a:cs typeface="等线" panose="02010600030101010101" charset="-122"/>
              </a:rPr>
              <a:t>确认弹窗</a:t>
            </a:r>
            <a:endParaRPr lang="zh-CN" sz="1425" b="1" dirty="0">
              <a:solidFill>
                <a:srgbClr val="102033"/>
              </a:solidFill>
              <a:latin typeface="等线" panose="02010600030101010101" charset="-122"/>
              <a:ea typeface="微软雅黑" panose="020B0503020204020204" charset="-122"/>
              <a:cs typeface="等线" panose="02010600030101010101" charset="-122"/>
            </a:endParaRPr>
          </a:p>
        </p:txBody>
      </p:sp>
      <p:sp>
        <p:nvSpPr>
          <p:cNvPr id="105" name="TextBox 105"/>
          <p:cNvSpPr txBox="1"/>
          <p:nvPr/>
        </p:nvSpPr>
        <p:spPr>
          <a:xfrm>
            <a:off x="9284970" y="4760595"/>
            <a:ext cx="1619885" cy="18288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900" dirty="0">
                <a:solidFill>
                  <a:srgbClr val="51677F"/>
                </a:solidFill>
                <a:latin typeface="等线" panose="02010600030101010101" charset="-122"/>
                <a:ea typeface="微软雅黑" panose="020B0503020204020204" charset="-122"/>
                <a:cs typeface="等线" panose="02010600030101010101" charset="-122"/>
              </a:rPr>
              <a:t>长期：不吃香菜 / 喜欢夜景</a:t>
            </a:r>
            <a:endParaRPr lang="zh-CN" sz="900" dirty="0">
              <a:solidFill>
                <a:srgbClr val="51677F"/>
              </a:solidFill>
              <a:latin typeface="等线" panose="02010600030101010101" charset="-122"/>
              <a:ea typeface="微软雅黑" panose="020B0503020204020204" charset="-122"/>
              <a:cs typeface="等线" panose="02010600030101010101" charset="-122"/>
            </a:endParaRPr>
          </a:p>
        </p:txBody>
      </p:sp>
      <p:sp>
        <p:nvSpPr>
          <p:cNvPr id="106" name="TextBox 106"/>
          <p:cNvSpPr txBox="1"/>
          <p:nvPr/>
        </p:nvSpPr>
        <p:spPr>
          <a:xfrm>
            <a:off x="521970" y="6598920"/>
            <a:ext cx="2106295" cy="18288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900" dirty="0">
                <a:solidFill>
                  <a:srgbClr val="8AA1B7"/>
                </a:solidFill>
                <a:latin typeface="等线" panose="02010600030101010101" charset="-122"/>
                <a:ea typeface="微软雅黑" panose="020B0503020204020204" charset="-122"/>
                <a:cs typeface="等线" panose="02010600030101010101" charset="-122"/>
              </a:rPr>
              <a:t>蓝心同行 | AIGC创新赛应用赛道初赛</a:t>
            </a:r>
            <a:endParaRPr lang="zh-CN" sz="900" dirty="0">
              <a:solidFill>
                <a:srgbClr val="8AA1B7"/>
              </a:solidFill>
              <a:latin typeface="等线" panose="02010600030101010101" charset="-122"/>
              <a:ea typeface="微软雅黑" panose="020B0503020204020204" charset="-122"/>
              <a:cs typeface="等线" panose="02010600030101010101" charset="-122"/>
            </a:endParaRPr>
          </a:p>
        </p:txBody>
      </p:sp>
      <p:sp>
        <p:nvSpPr>
          <p:cNvPr id="107" name="TextBox 107"/>
          <p:cNvSpPr txBox="1"/>
          <p:nvPr/>
        </p:nvSpPr>
        <p:spPr>
          <a:xfrm>
            <a:off x="11464290" y="6598920"/>
            <a:ext cx="167640" cy="18288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r"/>
            <a:r>
              <a:rPr lang="zh-CN" sz="900" dirty="0">
                <a:solidFill>
                  <a:srgbClr val="8AA1B7"/>
                </a:solidFill>
                <a:latin typeface="等线" panose="02010600030101010101" charset="-122"/>
                <a:ea typeface="微软雅黑" panose="020B0503020204020204" charset="-122"/>
                <a:cs typeface="等线" panose="02010600030101010101" charset="-122"/>
              </a:rPr>
              <a:t>07</a:t>
            </a:r>
            <a:endParaRPr lang="zh-CN" sz="900" dirty="0">
              <a:solidFill>
                <a:srgbClr val="8AA1B7"/>
              </a:solidFill>
              <a:latin typeface="等线" panose="02010600030101010101" charset="-122"/>
              <a:ea typeface="微软雅黑" panose="020B0503020204020204" charset="-122"/>
              <a:cs typeface="等线" panose="02010600030101010101" charset="-122"/>
            </a:endParaRPr>
          </a:p>
        </p:txBody>
      </p:sp>
      <p:grpSp>
        <p:nvGrpSpPr>
          <p:cNvPr id="111" name="组合 110"/>
          <p:cNvGrpSpPr/>
          <p:nvPr/>
        </p:nvGrpSpPr>
        <p:grpSpPr>
          <a:xfrm>
            <a:off x="6115050" y="1657350"/>
            <a:ext cx="5486400" cy="4381500"/>
            <a:chOff x="9630" y="2610"/>
            <a:chExt cx="8640" cy="6900"/>
          </a:xfrm>
        </p:grpSpPr>
        <p:sp>
          <p:nvSpPr>
            <p:cNvPr id="79" name="Rectangle 79"/>
            <p:cNvSpPr/>
            <p:nvPr/>
          </p:nvSpPr>
          <p:spPr>
            <a:xfrm>
              <a:off x="9630" y="2610"/>
              <a:ext cx="8640" cy="6900"/>
            </a:xfrm>
            <a:prstGeom prst="roundRect">
              <a:avLst>
                <a:gd name="adj" fmla="val 3478"/>
              </a:avLst>
            </a:prstGeom>
            <a:solidFill>
              <a:srgbClr val="FFFFFF"/>
            </a:solidFill>
            <a:ln w="9525">
              <a:solidFill>
                <a:srgbClr val="C9E4FF"/>
              </a:solidFill>
              <a:custDash>
                <a:ds d="800000" sp="800000"/>
              </a:custDash>
            </a:ln>
          </p:spPr>
        </p:sp>
        <p:pic>
          <p:nvPicPr>
            <p:cNvPr id="109" name="图片 108"/>
            <p:cNvPicPr>
              <a:picLocks noChangeAspect="1"/>
            </p:cNvPicPr>
            <p:nvPr/>
          </p:nvPicPr>
          <p:blipFill>
            <a:blip r:embed="rId2"/>
            <a:stretch>
              <a:fillRect/>
            </a:stretch>
          </p:blipFill>
          <p:spPr>
            <a:xfrm>
              <a:off x="10424" y="2610"/>
              <a:ext cx="6749" cy="6876"/>
            </a:xfrm>
            <a:prstGeom prst="roundRect">
              <a:avLst/>
            </a:prstGeom>
          </p:spPr>
        </p:pic>
      </p:grp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p14:dur="400">
        <p:fade/>
      </p:transition>
    </mc:Choice>
    <mc:Fallback>
      <p:transition>
        <p:fade/>
      </p:transition>
    </mc:Fallback>
  </mc:AlternateContent>
  <p:timing>
    <p:tnLst>
      <p:par>
        <p:cTn id="1" dur="indefinite" restart="never" nodeType="tmRoot"/>
      </p:par>
    </p:tn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2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4F9FF"/>
          </a:solidFill>
          <a:ln>
            <a:noFill/>
          </a:ln>
        </p:spPr>
      </p:sp>
      <p:sp>
        <p:nvSpPr>
          <p:cNvPr id="3" name="Rectangle 3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gradFill>
            <a:gsLst>
              <a:gs pos="0">
                <a:srgbClr val="26A7FF">
                  <a:alpha val="12000"/>
                </a:srgbClr>
              </a:gs>
              <a:gs pos="100000">
                <a:srgbClr val="26A7FF">
                  <a:alpha val="0"/>
                </a:srgbClr>
              </a:gs>
            </a:gsLst>
            <a:path path="circle">
              <a:fillToRect l="50000" t="50000" r="50000" b="50000"/>
            </a:path>
          </a:gradFill>
          <a:ln>
            <a:noFill/>
          </a:ln>
        </p:spPr>
      </p:sp>
      <p:sp>
        <p:nvSpPr>
          <p:cNvPr id="4" name="Ellipse 4"/>
          <p:cNvSpPr/>
          <p:nvPr/>
        </p:nvSpPr>
        <p:spPr>
          <a:xfrm>
            <a:off x="9391650" y="-304800"/>
            <a:ext cx="2362200" cy="2362200"/>
          </a:xfrm>
          <a:prstGeom prst="ellipse">
            <a:avLst/>
          </a:prstGeom>
          <a:solidFill>
            <a:srgbClr val="26A7FF">
              <a:alpha val="8000"/>
            </a:srgbClr>
          </a:solidFill>
          <a:ln>
            <a:noFill/>
          </a:ln>
        </p:spPr>
      </p:sp>
      <p:sp>
        <p:nvSpPr>
          <p:cNvPr id="5" name="Ellipse 5"/>
          <p:cNvSpPr/>
          <p:nvPr/>
        </p:nvSpPr>
        <p:spPr>
          <a:xfrm>
            <a:off x="10553700" y="647700"/>
            <a:ext cx="1638300" cy="1638300"/>
          </a:xfrm>
          <a:prstGeom prst="ellipse">
            <a:avLst/>
          </a:prstGeom>
          <a:solidFill>
            <a:srgbClr val="00D4FF">
              <a:alpha val="7000"/>
            </a:srgbClr>
          </a:solidFill>
          <a:ln>
            <a:noFill/>
          </a:ln>
        </p:spPr>
      </p:sp>
      <p:sp>
        <p:nvSpPr>
          <p:cNvPr id="6" name="Freeform 6"/>
          <p:cNvSpPr/>
          <p:nvPr/>
        </p:nvSpPr>
        <p:spPr>
          <a:xfrm>
            <a:off x="8382000" y="781050"/>
            <a:ext cx="3390900" cy="438150"/>
          </a:xfrm>
          <a:custGeom>
            <a:avLst/>
            <a:gdLst/>
            <a:ahLst/>
            <a:cxnLst/>
            <a:rect l="l" t="t" r="r" b="b"/>
            <a:pathLst>
              <a:path w="3390900" h="438150">
                <a:moveTo>
                  <a:pt x="0" y="0"/>
                </a:moveTo>
                <a:lnTo>
                  <a:pt x="1600200" y="0"/>
                </a:lnTo>
                <a:lnTo>
                  <a:pt x="2038350" y="438150"/>
                </a:lnTo>
                <a:lnTo>
                  <a:pt x="3390900" y="438150"/>
                </a:lnTo>
              </a:path>
            </a:pathLst>
          </a:custGeom>
          <a:noFill/>
          <a:ln w="13335">
            <a:solidFill>
              <a:srgbClr val="BFD9F4">
                <a:alpha val="75000"/>
              </a:srgbClr>
            </a:solidFill>
          </a:ln>
        </p:spPr>
      </p:sp>
      <p:sp>
        <p:nvSpPr>
          <p:cNvPr id="7" name="Freeform 7"/>
          <p:cNvSpPr/>
          <p:nvPr/>
        </p:nvSpPr>
        <p:spPr>
          <a:xfrm>
            <a:off x="8705850" y="5638800"/>
            <a:ext cx="2990850" cy="457200"/>
          </a:xfrm>
          <a:custGeom>
            <a:avLst/>
            <a:gdLst/>
            <a:ahLst/>
            <a:cxnLst/>
            <a:rect l="l" t="t" r="r" b="b"/>
            <a:pathLst>
              <a:path w="2990850" h="457200">
                <a:moveTo>
                  <a:pt x="0" y="457200"/>
                </a:moveTo>
                <a:lnTo>
                  <a:pt x="1295400" y="457200"/>
                </a:lnTo>
                <a:lnTo>
                  <a:pt x="1752600" y="0"/>
                </a:lnTo>
                <a:lnTo>
                  <a:pt x="2990850" y="0"/>
                </a:lnTo>
              </a:path>
            </a:pathLst>
          </a:custGeom>
          <a:noFill/>
          <a:ln w="11430">
            <a:solidFill>
              <a:srgbClr val="BFD9F4">
                <a:alpha val="65000"/>
              </a:srgbClr>
            </a:solidFill>
          </a:ln>
        </p:spPr>
      </p:sp>
      <p:sp>
        <p:nvSpPr>
          <p:cNvPr id="8" name="Freeform 8"/>
          <p:cNvSpPr/>
          <p:nvPr/>
        </p:nvSpPr>
        <p:spPr>
          <a:xfrm>
            <a:off x="419100" y="5734050"/>
            <a:ext cx="2057400" cy="381000"/>
          </a:xfrm>
          <a:custGeom>
            <a:avLst/>
            <a:gdLst/>
            <a:ahLst/>
            <a:cxnLst/>
            <a:rect l="l" t="t" r="r" b="b"/>
            <a:pathLst>
              <a:path w="2057400" h="381000">
                <a:moveTo>
                  <a:pt x="0" y="381000"/>
                </a:moveTo>
                <a:lnTo>
                  <a:pt x="1676400" y="381000"/>
                </a:lnTo>
                <a:lnTo>
                  <a:pt x="2057400" y="0"/>
                </a:lnTo>
              </a:path>
            </a:pathLst>
          </a:custGeom>
          <a:noFill/>
          <a:ln w="11430">
            <a:solidFill>
              <a:srgbClr val="D7EAFF">
                <a:alpha val="90000"/>
              </a:srgbClr>
            </a:solidFill>
          </a:ln>
        </p:spPr>
      </p:sp>
      <p:sp>
        <p:nvSpPr>
          <p:cNvPr id="9" name="Ellipse 9"/>
          <p:cNvSpPr/>
          <p:nvPr/>
        </p:nvSpPr>
        <p:spPr>
          <a:xfrm>
            <a:off x="9944100" y="742950"/>
            <a:ext cx="76200" cy="76200"/>
          </a:xfrm>
          <a:prstGeom prst="ellipse">
            <a:avLst/>
          </a:prstGeom>
          <a:solidFill>
            <a:srgbClr val="26A7FF"/>
          </a:solidFill>
          <a:ln>
            <a:noFill/>
          </a:ln>
        </p:spPr>
      </p:sp>
      <p:sp>
        <p:nvSpPr>
          <p:cNvPr id="10" name="Ellipse 10"/>
          <p:cNvSpPr/>
          <p:nvPr/>
        </p:nvSpPr>
        <p:spPr>
          <a:xfrm>
            <a:off x="10382250" y="1181100"/>
            <a:ext cx="76200" cy="76200"/>
          </a:xfrm>
          <a:prstGeom prst="ellipse">
            <a:avLst/>
          </a:prstGeom>
          <a:solidFill>
            <a:srgbClr val="00D4FF"/>
          </a:solidFill>
          <a:ln>
            <a:noFill/>
          </a:ln>
        </p:spPr>
      </p:sp>
      <p:sp>
        <p:nvSpPr>
          <p:cNvPr id="11" name="Ellipse 11"/>
          <p:cNvSpPr/>
          <p:nvPr/>
        </p:nvSpPr>
        <p:spPr>
          <a:xfrm>
            <a:off x="2438400" y="5695950"/>
            <a:ext cx="76200" cy="76200"/>
          </a:xfrm>
          <a:prstGeom prst="ellipse">
            <a:avLst/>
          </a:prstGeom>
          <a:solidFill>
            <a:srgbClr val="26A7FF"/>
          </a:solidFill>
          <a:ln>
            <a:noFill/>
          </a:ln>
        </p:spPr>
      </p:sp>
      <p:sp>
        <p:nvSpPr>
          <p:cNvPr id="12" name="Line 12"/>
          <p:cNvSpPr/>
          <p:nvPr/>
        </p:nvSpPr>
        <p:spPr>
          <a:xfrm>
            <a:off x="762000" y="0"/>
            <a:ext cx="9525" cy="6858000"/>
          </a:xfrm>
          <a:custGeom>
            <a:avLst/>
            <a:gdLst/>
            <a:ahLst/>
            <a:cxnLst/>
            <a:rect l="l" t="t" r="r" b="b"/>
            <a:pathLst>
              <a:path w="9525" h="6858000">
                <a:moveTo>
                  <a:pt x="0" y="0"/>
                </a:moveTo>
                <a:lnTo>
                  <a:pt x="0" y="6858000"/>
                </a:lnTo>
              </a:path>
            </a:pathLst>
          </a:custGeom>
          <a:noFill/>
          <a:ln w="4762">
            <a:solidFill>
              <a:srgbClr val="D7EAFF">
                <a:alpha val="22000"/>
              </a:srgbClr>
            </a:solidFill>
          </a:ln>
        </p:spPr>
      </p:sp>
      <p:sp>
        <p:nvSpPr>
          <p:cNvPr id="13" name="Line 13"/>
          <p:cNvSpPr/>
          <p:nvPr/>
        </p:nvSpPr>
        <p:spPr>
          <a:xfrm>
            <a:off x="1524000" y="0"/>
            <a:ext cx="9525" cy="6858000"/>
          </a:xfrm>
          <a:custGeom>
            <a:avLst/>
            <a:gdLst/>
            <a:ahLst/>
            <a:cxnLst/>
            <a:rect l="l" t="t" r="r" b="b"/>
            <a:pathLst>
              <a:path w="9525" h="6858000">
                <a:moveTo>
                  <a:pt x="0" y="0"/>
                </a:moveTo>
                <a:lnTo>
                  <a:pt x="0" y="6858000"/>
                </a:lnTo>
              </a:path>
            </a:pathLst>
          </a:custGeom>
          <a:noFill/>
          <a:ln w="4762">
            <a:solidFill>
              <a:srgbClr val="D7EAFF">
                <a:alpha val="22000"/>
              </a:srgbClr>
            </a:solidFill>
          </a:ln>
        </p:spPr>
      </p:sp>
      <p:sp>
        <p:nvSpPr>
          <p:cNvPr id="14" name="Line 14"/>
          <p:cNvSpPr/>
          <p:nvPr/>
        </p:nvSpPr>
        <p:spPr>
          <a:xfrm>
            <a:off x="2286000" y="0"/>
            <a:ext cx="9525" cy="6858000"/>
          </a:xfrm>
          <a:custGeom>
            <a:avLst/>
            <a:gdLst/>
            <a:ahLst/>
            <a:cxnLst/>
            <a:rect l="l" t="t" r="r" b="b"/>
            <a:pathLst>
              <a:path w="9525" h="6858000">
                <a:moveTo>
                  <a:pt x="0" y="0"/>
                </a:moveTo>
                <a:lnTo>
                  <a:pt x="0" y="6858000"/>
                </a:lnTo>
              </a:path>
            </a:pathLst>
          </a:custGeom>
          <a:noFill/>
          <a:ln w="4762">
            <a:solidFill>
              <a:srgbClr val="D7EAFF">
                <a:alpha val="22000"/>
              </a:srgbClr>
            </a:solidFill>
          </a:ln>
        </p:spPr>
      </p:sp>
      <p:sp>
        <p:nvSpPr>
          <p:cNvPr id="15" name="Line 15"/>
          <p:cNvSpPr/>
          <p:nvPr/>
        </p:nvSpPr>
        <p:spPr>
          <a:xfrm>
            <a:off x="3048000" y="0"/>
            <a:ext cx="9525" cy="6858000"/>
          </a:xfrm>
          <a:custGeom>
            <a:avLst/>
            <a:gdLst/>
            <a:ahLst/>
            <a:cxnLst/>
            <a:rect l="l" t="t" r="r" b="b"/>
            <a:pathLst>
              <a:path w="9525" h="6858000">
                <a:moveTo>
                  <a:pt x="0" y="0"/>
                </a:moveTo>
                <a:lnTo>
                  <a:pt x="0" y="6858000"/>
                </a:lnTo>
              </a:path>
            </a:pathLst>
          </a:custGeom>
          <a:noFill/>
          <a:ln w="4762">
            <a:solidFill>
              <a:srgbClr val="D7EAFF">
                <a:alpha val="22000"/>
              </a:srgbClr>
            </a:solidFill>
          </a:ln>
        </p:spPr>
      </p:sp>
      <p:sp>
        <p:nvSpPr>
          <p:cNvPr id="16" name="Line 16"/>
          <p:cNvSpPr/>
          <p:nvPr/>
        </p:nvSpPr>
        <p:spPr>
          <a:xfrm>
            <a:off x="3810000" y="0"/>
            <a:ext cx="9525" cy="6858000"/>
          </a:xfrm>
          <a:custGeom>
            <a:avLst/>
            <a:gdLst/>
            <a:ahLst/>
            <a:cxnLst/>
            <a:rect l="l" t="t" r="r" b="b"/>
            <a:pathLst>
              <a:path w="9525" h="6858000">
                <a:moveTo>
                  <a:pt x="0" y="0"/>
                </a:moveTo>
                <a:lnTo>
                  <a:pt x="0" y="6858000"/>
                </a:lnTo>
              </a:path>
            </a:pathLst>
          </a:custGeom>
          <a:noFill/>
          <a:ln w="4762">
            <a:solidFill>
              <a:srgbClr val="D7EAFF">
                <a:alpha val="22000"/>
              </a:srgbClr>
            </a:solidFill>
          </a:ln>
        </p:spPr>
      </p:sp>
      <p:sp>
        <p:nvSpPr>
          <p:cNvPr id="17" name="Line 17"/>
          <p:cNvSpPr/>
          <p:nvPr/>
        </p:nvSpPr>
        <p:spPr>
          <a:xfrm>
            <a:off x="4572000" y="0"/>
            <a:ext cx="9525" cy="6858000"/>
          </a:xfrm>
          <a:custGeom>
            <a:avLst/>
            <a:gdLst/>
            <a:ahLst/>
            <a:cxnLst/>
            <a:rect l="l" t="t" r="r" b="b"/>
            <a:pathLst>
              <a:path w="9525" h="6858000">
                <a:moveTo>
                  <a:pt x="0" y="0"/>
                </a:moveTo>
                <a:lnTo>
                  <a:pt x="0" y="6858000"/>
                </a:lnTo>
              </a:path>
            </a:pathLst>
          </a:custGeom>
          <a:noFill/>
          <a:ln w="4762">
            <a:solidFill>
              <a:srgbClr val="D7EAFF">
                <a:alpha val="22000"/>
              </a:srgbClr>
            </a:solidFill>
          </a:ln>
        </p:spPr>
      </p:sp>
      <p:sp>
        <p:nvSpPr>
          <p:cNvPr id="18" name="Line 18"/>
          <p:cNvSpPr/>
          <p:nvPr/>
        </p:nvSpPr>
        <p:spPr>
          <a:xfrm>
            <a:off x="5334000" y="0"/>
            <a:ext cx="9525" cy="6858000"/>
          </a:xfrm>
          <a:custGeom>
            <a:avLst/>
            <a:gdLst/>
            <a:ahLst/>
            <a:cxnLst/>
            <a:rect l="l" t="t" r="r" b="b"/>
            <a:pathLst>
              <a:path w="9525" h="6858000">
                <a:moveTo>
                  <a:pt x="0" y="0"/>
                </a:moveTo>
                <a:lnTo>
                  <a:pt x="0" y="6858000"/>
                </a:lnTo>
              </a:path>
            </a:pathLst>
          </a:custGeom>
          <a:noFill/>
          <a:ln w="4762">
            <a:solidFill>
              <a:srgbClr val="D7EAFF">
                <a:alpha val="22000"/>
              </a:srgbClr>
            </a:solidFill>
          </a:ln>
        </p:spPr>
      </p:sp>
      <p:sp>
        <p:nvSpPr>
          <p:cNvPr id="19" name="Line 19"/>
          <p:cNvSpPr/>
          <p:nvPr/>
        </p:nvSpPr>
        <p:spPr>
          <a:xfrm>
            <a:off x="6096000" y="0"/>
            <a:ext cx="9525" cy="6858000"/>
          </a:xfrm>
          <a:custGeom>
            <a:avLst/>
            <a:gdLst/>
            <a:ahLst/>
            <a:cxnLst/>
            <a:rect l="l" t="t" r="r" b="b"/>
            <a:pathLst>
              <a:path w="9525" h="6858000">
                <a:moveTo>
                  <a:pt x="0" y="0"/>
                </a:moveTo>
                <a:lnTo>
                  <a:pt x="0" y="6858000"/>
                </a:lnTo>
              </a:path>
            </a:pathLst>
          </a:custGeom>
          <a:noFill/>
          <a:ln w="4762">
            <a:solidFill>
              <a:srgbClr val="D7EAFF">
                <a:alpha val="22000"/>
              </a:srgbClr>
            </a:solidFill>
          </a:ln>
        </p:spPr>
      </p:sp>
      <p:sp>
        <p:nvSpPr>
          <p:cNvPr id="20" name="Line 20"/>
          <p:cNvSpPr/>
          <p:nvPr/>
        </p:nvSpPr>
        <p:spPr>
          <a:xfrm>
            <a:off x="6858000" y="0"/>
            <a:ext cx="9525" cy="6858000"/>
          </a:xfrm>
          <a:custGeom>
            <a:avLst/>
            <a:gdLst/>
            <a:ahLst/>
            <a:cxnLst/>
            <a:rect l="l" t="t" r="r" b="b"/>
            <a:pathLst>
              <a:path w="9525" h="6858000">
                <a:moveTo>
                  <a:pt x="0" y="0"/>
                </a:moveTo>
                <a:lnTo>
                  <a:pt x="0" y="6858000"/>
                </a:lnTo>
              </a:path>
            </a:pathLst>
          </a:custGeom>
          <a:noFill/>
          <a:ln w="4762">
            <a:solidFill>
              <a:srgbClr val="D7EAFF">
                <a:alpha val="22000"/>
              </a:srgbClr>
            </a:solidFill>
          </a:ln>
        </p:spPr>
      </p:sp>
      <p:sp>
        <p:nvSpPr>
          <p:cNvPr id="21" name="Line 21"/>
          <p:cNvSpPr/>
          <p:nvPr/>
        </p:nvSpPr>
        <p:spPr>
          <a:xfrm>
            <a:off x="7620000" y="0"/>
            <a:ext cx="9525" cy="6858000"/>
          </a:xfrm>
          <a:custGeom>
            <a:avLst/>
            <a:gdLst/>
            <a:ahLst/>
            <a:cxnLst/>
            <a:rect l="l" t="t" r="r" b="b"/>
            <a:pathLst>
              <a:path w="9525" h="6858000">
                <a:moveTo>
                  <a:pt x="0" y="0"/>
                </a:moveTo>
                <a:lnTo>
                  <a:pt x="0" y="6858000"/>
                </a:lnTo>
              </a:path>
            </a:pathLst>
          </a:custGeom>
          <a:noFill/>
          <a:ln w="4762">
            <a:solidFill>
              <a:srgbClr val="D7EAFF">
                <a:alpha val="22000"/>
              </a:srgbClr>
            </a:solidFill>
          </a:ln>
        </p:spPr>
      </p:sp>
      <p:sp>
        <p:nvSpPr>
          <p:cNvPr id="22" name="Line 22"/>
          <p:cNvSpPr/>
          <p:nvPr/>
        </p:nvSpPr>
        <p:spPr>
          <a:xfrm>
            <a:off x="8382000" y="0"/>
            <a:ext cx="9525" cy="6858000"/>
          </a:xfrm>
          <a:custGeom>
            <a:avLst/>
            <a:gdLst/>
            <a:ahLst/>
            <a:cxnLst/>
            <a:rect l="l" t="t" r="r" b="b"/>
            <a:pathLst>
              <a:path w="9525" h="6858000">
                <a:moveTo>
                  <a:pt x="0" y="0"/>
                </a:moveTo>
                <a:lnTo>
                  <a:pt x="0" y="6858000"/>
                </a:lnTo>
              </a:path>
            </a:pathLst>
          </a:custGeom>
          <a:noFill/>
          <a:ln w="4762">
            <a:solidFill>
              <a:srgbClr val="D7EAFF">
                <a:alpha val="22000"/>
              </a:srgbClr>
            </a:solidFill>
          </a:ln>
        </p:spPr>
      </p:sp>
      <p:sp>
        <p:nvSpPr>
          <p:cNvPr id="23" name="Line 23"/>
          <p:cNvSpPr/>
          <p:nvPr/>
        </p:nvSpPr>
        <p:spPr>
          <a:xfrm>
            <a:off x="9144000" y="0"/>
            <a:ext cx="9525" cy="6858000"/>
          </a:xfrm>
          <a:custGeom>
            <a:avLst/>
            <a:gdLst/>
            <a:ahLst/>
            <a:cxnLst/>
            <a:rect l="l" t="t" r="r" b="b"/>
            <a:pathLst>
              <a:path w="9525" h="6858000">
                <a:moveTo>
                  <a:pt x="0" y="0"/>
                </a:moveTo>
                <a:lnTo>
                  <a:pt x="0" y="6858000"/>
                </a:lnTo>
              </a:path>
            </a:pathLst>
          </a:custGeom>
          <a:noFill/>
          <a:ln w="4762">
            <a:solidFill>
              <a:srgbClr val="D7EAFF">
                <a:alpha val="22000"/>
              </a:srgbClr>
            </a:solidFill>
          </a:ln>
        </p:spPr>
      </p:sp>
      <p:sp>
        <p:nvSpPr>
          <p:cNvPr id="24" name="Line 24"/>
          <p:cNvSpPr/>
          <p:nvPr/>
        </p:nvSpPr>
        <p:spPr>
          <a:xfrm>
            <a:off x="9906000" y="0"/>
            <a:ext cx="9525" cy="6858000"/>
          </a:xfrm>
          <a:custGeom>
            <a:avLst/>
            <a:gdLst/>
            <a:ahLst/>
            <a:cxnLst/>
            <a:rect l="l" t="t" r="r" b="b"/>
            <a:pathLst>
              <a:path w="9525" h="6858000">
                <a:moveTo>
                  <a:pt x="0" y="0"/>
                </a:moveTo>
                <a:lnTo>
                  <a:pt x="0" y="6858000"/>
                </a:lnTo>
              </a:path>
            </a:pathLst>
          </a:custGeom>
          <a:noFill/>
          <a:ln w="4762">
            <a:solidFill>
              <a:srgbClr val="D7EAFF">
                <a:alpha val="22000"/>
              </a:srgbClr>
            </a:solidFill>
          </a:ln>
        </p:spPr>
      </p:sp>
      <p:sp>
        <p:nvSpPr>
          <p:cNvPr id="25" name="Line 25"/>
          <p:cNvSpPr/>
          <p:nvPr/>
        </p:nvSpPr>
        <p:spPr>
          <a:xfrm>
            <a:off x="10668000" y="0"/>
            <a:ext cx="9525" cy="6858000"/>
          </a:xfrm>
          <a:custGeom>
            <a:avLst/>
            <a:gdLst/>
            <a:ahLst/>
            <a:cxnLst/>
            <a:rect l="l" t="t" r="r" b="b"/>
            <a:pathLst>
              <a:path w="9525" h="6858000">
                <a:moveTo>
                  <a:pt x="0" y="0"/>
                </a:moveTo>
                <a:lnTo>
                  <a:pt x="0" y="6858000"/>
                </a:lnTo>
              </a:path>
            </a:pathLst>
          </a:custGeom>
          <a:noFill/>
          <a:ln w="4762">
            <a:solidFill>
              <a:srgbClr val="D7EAFF">
                <a:alpha val="22000"/>
              </a:srgbClr>
            </a:solidFill>
          </a:ln>
        </p:spPr>
      </p:sp>
      <p:sp>
        <p:nvSpPr>
          <p:cNvPr id="26" name="Line 26"/>
          <p:cNvSpPr/>
          <p:nvPr/>
        </p:nvSpPr>
        <p:spPr>
          <a:xfrm>
            <a:off x="11430000" y="0"/>
            <a:ext cx="9525" cy="6858000"/>
          </a:xfrm>
          <a:custGeom>
            <a:avLst/>
            <a:gdLst/>
            <a:ahLst/>
            <a:cxnLst/>
            <a:rect l="l" t="t" r="r" b="b"/>
            <a:pathLst>
              <a:path w="9525" h="6858000">
                <a:moveTo>
                  <a:pt x="0" y="0"/>
                </a:moveTo>
                <a:lnTo>
                  <a:pt x="0" y="6858000"/>
                </a:lnTo>
              </a:path>
            </a:pathLst>
          </a:custGeom>
          <a:noFill/>
          <a:ln w="4762">
            <a:solidFill>
              <a:srgbClr val="D7EAFF">
                <a:alpha val="22000"/>
              </a:srgbClr>
            </a:solidFill>
          </a:ln>
        </p:spPr>
      </p:sp>
      <p:sp>
        <p:nvSpPr>
          <p:cNvPr id="27" name="Line 27"/>
          <p:cNvSpPr/>
          <p:nvPr/>
        </p:nvSpPr>
        <p:spPr>
          <a:xfrm>
            <a:off x="0" y="762000"/>
            <a:ext cx="12192000" cy="9525"/>
          </a:xfrm>
          <a:custGeom>
            <a:avLst/>
            <a:gdLst/>
            <a:ahLst/>
            <a:cxnLst/>
            <a:rect l="l" t="t" r="r" b="b"/>
            <a:pathLst>
              <a:path w="12192000" h="9525">
                <a:moveTo>
                  <a:pt x="0" y="0"/>
                </a:moveTo>
                <a:lnTo>
                  <a:pt x="12192000" y="0"/>
                </a:lnTo>
              </a:path>
            </a:pathLst>
          </a:custGeom>
          <a:noFill/>
          <a:ln w="4762">
            <a:solidFill>
              <a:srgbClr val="D7EAFF">
                <a:alpha val="22000"/>
              </a:srgbClr>
            </a:solidFill>
          </a:ln>
        </p:spPr>
      </p:sp>
      <p:sp>
        <p:nvSpPr>
          <p:cNvPr id="28" name="Line 28"/>
          <p:cNvSpPr/>
          <p:nvPr/>
        </p:nvSpPr>
        <p:spPr>
          <a:xfrm>
            <a:off x="0" y="1524000"/>
            <a:ext cx="12192000" cy="9525"/>
          </a:xfrm>
          <a:custGeom>
            <a:avLst/>
            <a:gdLst/>
            <a:ahLst/>
            <a:cxnLst/>
            <a:rect l="l" t="t" r="r" b="b"/>
            <a:pathLst>
              <a:path w="12192000" h="9525">
                <a:moveTo>
                  <a:pt x="0" y="0"/>
                </a:moveTo>
                <a:lnTo>
                  <a:pt x="12192000" y="0"/>
                </a:lnTo>
              </a:path>
            </a:pathLst>
          </a:custGeom>
          <a:noFill/>
          <a:ln w="4762">
            <a:solidFill>
              <a:srgbClr val="D7EAFF">
                <a:alpha val="22000"/>
              </a:srgbClr>
            </a:solidFill>
          </a:ln>
        </p:spPr>
      </p:sp>
      <p:sp>
        <p:nvSpPr>
          <p:cNvPr id="29" name="Line 29"/>
          <p:cNvSpPr/>
          <p:nvPr/>
        </p:nvSpPr>
        <p:spPr>
          <a:xfrm>
            <a:off x="0" y="2286000"/>
            <a:ext cx="12192000" cy="9525"/>
          </a:xfrm>
          <a:custGeom>
            <a:avLst/>
            <a:gdLst/>
            <a:ahLst/>
            <a:cxnLst/>
            <a:rect l="l" t="t" r="r" b="b"/>
            <a:pathLst>
              <a:path w="12192000" h="9525">
                <a:moveTo>
                  <a:pt x="0" y="0"/>
                </a:moveTo>
                <a:lnTo>
                  <a:pt x="12192000" y="0"/>
                </a:lnTo>
              </a:path>
            </a:pathLst>
          </a:custGeom>
          <a:noFill/>
          <a:ln w="4762">
            <a:solidFill>
              <a:srgbClr val="D7EAFF">
                <a:alpha val="22000"/>
              </a:srgbClr>
            </a:solidFill>
          </a:ln>
        </p:spPr>
      </p:sp>
      <p:sp>
        <p:nvSpPr>
          <p:cNvPr id="30" name="Line 30"/>
          <p:cNvSpPr/>
          <p:nvPr/>
        </p:nvSpPr>
        <p:spPr>
          <a:xfrm>
            <a:off x="0" y="3048000"/>
            <a:ext cx="12192000" cy="9525"/>
          </a:xfrm>
          <a:custGeom>
            <a:avLst/>
            <a:gdLst/>
            <a:ahLst/>
            <a:cxnLst/>
            <a:rect l="l" t="t" r="r" b="b"/>
            <a:pathLst>
              <a:path w="12192000" h="9525">
                <a:moveTo>
                  <a:pt x="0" y="0"/>
                </a:moveTo>
                <a:lnTo>
                  <a:pt x="12192000" y="0"/>
                </a:lnTo>
              </a:path>
            </a:pathLst>
          </a:custGeom>
          <a:noFill/>
          <a:ln w="4762">
            <a:solidFill>
              <a:srgbClr val="D7EAFF">
                <a:alpha val="22000"/>
              </a:srgbClr>
            </a:solidFill>
          </a:ln>
        </p:spPr>
      </p:sp>
      <p:sp>
        <p:nvSpPr>
          <p:cNvPr id="31" name="Line 31"/>
          <p:cNvSpPr/>
          <p:nvPr/>
        </p:nvSpPr>
        <p:spPr>
          <a:xfrm>
            <a:off x="0" y="3810000"/>
            <a:ext cx="12192000" cy="9525"/>
          </a:xfrm>
          <a:custGeom>
            <a:avLst/>
            <a:gdLst/>
            <a:ahLst/>
            <a:cxnLst/>
            <a:rect l="l" t="t" r="r" b="b"/>
            <a:pathLst>
              <a:path w="12192000" h="9525">
                <a:moveTo>
                  <a:pt x="0" y="0"/>
                </a:moveTo>
                <a:lnTo>
                  <a:pt x="12192000" y="0"/>
                </a:lnTo>
              </a:path>
            </a:pathLst>
          </a:custGeom>
          <a:noFill/>
          <a:ln w="4762">
            <a:solidFill>
              <a:srgbClr val="D7EAFF">
                <a:alpha val="22000"/>
              </a:srgbClr>
            </a:solidFill>
          </a:ln>
        </p:spPr>
      </p:sp>
      <p:sp>
        <p:nvSpPr>
          <p:cNvPr id="32" name="Line 32"/>
          <p:cNvSpPr/>
          <p:nvPr/>
        </p:nvSpPr>
        <p:spPr>
          <a:xfrm>
            <a:off x="0" y="4572000"/>
            <a:ext cx="12192000" cy="9525"/>
          </a:xfrm>
          <a:custGeom>
            <a:avLst/>
            <a:gdLst/>
            <a:ahLst/>
            <a:cxnLst/>
            <a:rect l="l" t="t" r="r" b="b"/>
            <a:pathLst>
              <a:path w="12192000" h="9525">
                <a:moveTo>
                  <a:pt x="0" y="0"/>
                </a:moveTo>
                <a:lnTo>
                  <a:pt x="12192000" y="0"/>
                </a:lnTo>
              </a:path>
            </a:pathLst>
          </a:custGeom>
          <a:noFill/>
          <a:ln w="4762">
            <a:solidFill>
              <a:srgbClr val="D7EAFF">
                <a:alpha val="22000"/>
              </a:srgbClr>
            </a:solidFill>
          </a:ln>
        </p:spPr>
      </p:sp>
      <p:sp>
        <p:nvSpPr>
          <p:cNvPr id="33" name="Line 33"/>
          <p:cNvSpPr/>
          <p:nvPr/>
        </p:nvSpPr>
        <p:spPr>
          <a:xfrm>
            <a:off x="0" y="5334000"/>
            <a:ext cx="12192000" cy="9525"/>
          </a:xfrm>
          <a:custGeom>
            <a:avLst/>
            <a:gdLst/>
            <a:ahLst/>
            <a:cxnLst/>
            <a:rect l="l" t="t" r="r" b="b"/>
            <a:pathLst>
              <a:path w="12192000" h="9525">
                <a:moveTo>
                  <a:pt x="0" y="0"/>
                </a:moveTo>
                <a:lnTo>
                  <a:pt x="12192000" y="0"/>
                </a:lnTo>
              </a:path>
            </a:pathLst>
          </a:custGeom>
          <a:noFill/>
          <a:ln w="4762">
            <a:solidFill>
              <a:srgbClr val="D7EAFF">
                <a:alpha val="22000"/>
              </a:srgbClr>
            </a:solidFill>
          </a:ln>
        </p:spPr>
      </p:sp>
      <p:sp>
        <p:nvSpPr>
          <p:cNvPr id="34" name="Line 34"/>
          <p:cNvSpPr/>
          <p:nvPr/>
        </p:nvSpPr>
        <p:spPr>
          <a:xfrm>
            <a:off x="0" y="6096000"/>
            <a:ext cx="12192000" cy="9525"/>
          </a:xfrm>
          <a:custGeom>
            <a:avLst/>
            <a:gdLst/>
            <a:ahLst/>
            <a:cxnLst/>
            <a:rect l="l" t="t" r="r" b="b"/>
            <a:pathLst>
              <a:path w="12192000" h="9525">
                <a:moveTo>
                  <a:pt x="0" y="0"/>
                </a:moveTo>
                <a:lnTo>
                  <a:pt x="12192000" y="0"/>
                </a:lnTo>
              </a:path>
            </a:pathLst>
          </a:custGeom>
          <a:noFill/>
          <a:ln w="4762">
            <a:solidFill>
              <a:srgbClr val="D7EAFF">
                <a:alpha val="22000"/>
              </a:srgbClr>
            </a:solidFill>
          </a:ln>
        </p:spPr>
      </p:sp>
      <p:grpSp>
        <p:nvGrpSpPr>
          <p:cNvPr id="124" name="Group 124"/>
          <p:cNvGrpSpPr/>
          <p:nvPr/>
        </p:nvGrpSpPr>
        <p:grpSpPr>
          <a:xfrm>
            <a:off x="0" y="0"/>
            <a:ext cx="12192000" cy="6781800"/>
            <a:chOff x="0" y="0"/>
            <a:chExt cx="12192000" cy="6781800"/>
          </a:xfrm>
        </p:grpSpPr>
        <p:sp>
          <p:nvSpPr>
            <p:cNvPr id="35" name="Rectangle 35"/>
            <p:cNvSpPr/>
            <p:nvPr/>
          </p:nvSpPr>
          <p:spPr>
            <a:xfrm>
              <a:off x="0" y="0"/>
              <a:ext cx="12192000" cy="47625"/>
            </a:xfrm>
            <a:prstGeom prst="rect">
              <a:avLst/>
            </a:prstGeom>
            <a:gradFill>
              <a:gsLst>
                <a:gs pos="0">
                  <a:srgbClr val="0B57D0"/>
                </a:gs>
                <a:gs pos="52000">
                  <a:srgbClr val="26A7FF"/>
                </a:gs>
                <a:gs pos="100000">
                  <a:srgbClr val="00D4FF"/>
                </a:gs>
              </a:gsLst>
              <a:lin ang="0" scaled="1"/>
            </a:gradFill>
            <a:ln>
              <a:noFill/>
            </a:ln>
          </p:spPr>
        </p:sp>
        <p:sp>
          <p:nvSpPr>
            <p:cNvPr id="36" name="TextBox 36"/>
            <p:cNvSpPr txBox="1"/>
            <p:nvPr/>
          </p:nvSpPr>
          <p:spPr>
            <a:xfrm>
              <a:off x="504825" y="233362"/>
              <a:ext cx="4084955" cy="346075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2250" b="1" dirty="0">
                  <a:solidFill>
                    <a:srgbClr val="102033"/>
                  </a:solidFill>
                  <a:latin typeface="MiSans Heavy" panose="00000A00000000000000" charset="-122"/>
                  <a:ea typeface="MiSans Heavy" panose="00000A00000000000000" charset="-122"/>
                  <a:cs typeface="MiSans Heavy" panose="00000A00000000000000" charset="-122"/>
                </a:rPr>
                <a:t>创新点说明：主动陪伴 + 蓝小心</a:t>
              </a:r>
              <a:endParaRPr lang="zh-CN" sz="2250" b="1" dirty="0">
                <a:solidFill>
                  <a:srgbClr val="102033"/>
                </a:solidFill>
                <a:latin typeface="MiSans Heavy" panose="00000A00000000000000" charset="-122"/>
                <a:ea typeface="MiSans Heavy" panose="00000A00000000000000" charset="-122"/>
                <a:cs typeface="MiSans Heavy" panose="00000A00000000000000" charset="-122"/>
              </a:endParaRPr>
            </a:p>
          </p:txBody>
        </p:sp>
        <p:sp>
          <p:nvSpPr>
            <p:cNvPr id="37" name="TextBox 37"/>
            <p:cNvSpPr txBox="1"/>
            <p:nvPr/>
          </p:nvSpPr>
          <p:spPr>
            <a:xfrm>
              <a:off x="521970" y="645795"/>
              <a:ext cx="866775" cy="13843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00" b="1" dirty="0">
                  <a:solidFill>
                    <a:srgbClr val="0B57D0"/>
                  </a:solidFill>
                  <a:latin typeface="金山云技术体" charset="-122"/>
                  <a:ea typeface="金山云技术体" charset="-122"/>
                  <a:cs typeface="等线" panose="02010600030101010101" charset="-122"/>
                </a:rPr>
                <a:t>INNOVATION II</a:t>
              </a:r>
              <a:endParaRPr lang="zh-CN" sz="900" b="1" dirty="0">
                <a:solidFill>
                  <a:srgbClr val="0B57D0"/>
                </a:solidFill>
                <a:latin typeface="金山云技术体" charset="-122"/>
                <a:ea typeface="金山云技术体" charset="-122"/>
                <a:cs typeface="等线" panose="02010600030101010101" charset="-122"/>
              </a:endParaRPr>
            </a:p>
          </p:txBody>
        </p:sp>
        <p:sp>
          <p:nvSpPr>
            <p:cNvPr id="38" name="Line 38"/>
            <p:cNvSpPr/>
            <p:nvPr/>
          </p:nvSpPr>
          <p:spPr>
            <a:xfrm>
              <a:off x="533400" y="876300"/>
              <a:ext cx="11125200" cy="9525"/>
            </a:xfrm>
            <a:custGeom>
              <a:avLst/>
              <a:gdLst/>
              <a:ahLst/>
              <a:cxnLst/>
              <a:rect l="l" t="t" r="r" b="b"/>
              <a:pathLst>
                <a:path w="11125200" h="9525">
                  <a:moveTo>
                    <a:pt x="0" y="0"/>
                  </a:moveTo>
                  <a:lnTo>
                    <a:pt x="11125200" y="0"/>
                  </a:lnTo>
                </a:path>
              </a:pathLst>
            </a:custGeom>
            <a:noFill/>
            <a:ln w="11430">
              <a:solidFill>
                <a:srgbClr val="BFD9F4"/>
              </a:solidFill>
            </a:ln>
          </p:spPr>
        </p:sp>
        <p:sp>
          <p:nvSpPr>
            <p:cNvPr id="39" name="Rectangle 39"/>
            <p:cNvSpPr/>
            <p:nvPr/>
          </p:nvSpPr>
          <p:spPr>
            <a:xfrm>
              <a:off x="533400" y="1028700"/>
              <a:ext cx="95250" cy="95250"/>
            </a:xfrm>
            <a:prstGeom prst="roundRect">
              <a:avLst>
                <a:gd name="adj" fmla="val 50000"/>
              </a:avLst>
            </a:prstGeom>
            <a:solidFill>
              <a:srgbClr val="00D4FF"/>
            </a:solidFill>
            <a:ln>
              <a:noFill/>
            </a:ln>
          </p:spPr>
        </p:sp>
        <p:sp>
          <p:nvSpPr>
            <p:cNvPr id="40" name="TextBox 40"/>
            <p:cNvSpPr txBox="1"/>
            <p:nvPr/>
          </p:nvSpPr>
          <p:spPr>
            <a:xfrm>
              <a:off x="765810" y="1003935"/>
              <a:ext cx="3978910" cy="18415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00" b="1" dirty="0">
                  <a:solidFill>
                    <a:srgbClr val="51677F"/>
                  </a:solidFill>
                  <a:latin typeface="MiSans Normal" panose="00000500000000000000" charset="-122"/>
                  <a:ea typeface="MiSans Normal" panose="00000500000000000000" charset="-122"/>
                  <a:cs typeface="等线" panose="02010600030101010101" charset="-122"/>
                </a:rPr>
                <a:t>主动陪伴负责临场决策，蓝小心负责把能力变成陪伴体验。</a:t>
              </a:r>
              <a:endParaRPr lang="zh-CN" sz="1200" b="1" dirty="0">
                <a:solidFill>
                  <a:srgbClr val="51677F"/>
                </a:solidFill>
                <a:latin typeface="MiSans Normal" panose="00000500000000000000" charset="-122"/>
                <a:ea typeface="MiSans Normal" panose="00000500000000000000" charset="-122"/>
                <a:cs typeface="等线" panose="02010600030101010101" charset="-122"/>
              </a:endParaRPr>
            </a:p>
          </p:txBody>
        </p:sp>
        <p:sp>
          <p:nvSpPr>
            <p:cNvPr id="41" name="Rectangle 41"/>
            <p:cNvSpPr/>
            <p:nvPr/>
          </p:nvSpPr>
          <p:spPr>
            <a:xfrm>
              <a:off x="495300" y="1581150"/>
              <a:ext cx="5524500" cy="4724400"/>
            </a:xfrm>
            <a:prstGeom prst="roundRect">
              <a:avLst>
                <a:gd name="adj" fmla="val 4032"/>
              </a:avLst>
            </a:prstGeom>
            <a:solidFill>
              <a:srgbClr val="0B57D0">
                <a:alpha val="5000"/>
              </a:srgbClr>
            </a:solidFill>
            <a:ln>
              <a:noFill/>
            </a:ln>
          </p:spPr>
        </p:sp>
        <p:sp>
          <p:nvSpPr>
            <p:cNvPr id="42" name="Rectangle 42"/>
            <p:cNvSpPr/>
            <p:nvPr/>
          </p:nvSpPr>
          <p:spPr>
            <a:xfrm>
              <a:off x="419100" y="1485900"/>
              <a:ext cx="5524500" cy="4724400"/>
            </a:xfrm>
            <a:prstGeom prst="roundRect">
              <a:avLst>
                <a:gd name="adj" fmla="val 4032"/>
              </a:avLst>
            </a:prstGeom>
            <a:solidFill>
              <a:srgbClr val="FFFFFF"/>
            </a:solidFill>
            <a:ln w="11430">
              <a:solidFill>
                <a:srgbClr val="BFD9F4"/>
              </a:solidFill>
            </a:ln>
          </p:spPr>
        </p:sp>
        <p:sp>
          <p:nvSpPr>
            <p:cNvPr id="43" name="Line 43"/>
            <p:cNvSpPr/>
            <p:nvPr/>
          </p:nvSpPr>
          <p:spPr>
            <a:xfrm>
              <a:off x="590550" y="1495425"/>
              <a:ext cx="1238250" cy="9525"/>
            </a:xfrm>
            <a:custGeom>
              <a:avLst/>
              <a:gdLst/>
              <a:ahLst/>
              <a:cxnLst/>
              <a:rect l="l" t="t" r="r" b="b"/>
              <a:pathLst>
                <a:path w="1238250" h="9525">
                  <a:moveTo>
                    <a:pt x="0" y="0"/>
                  </a:moveTo>
                  <a:lnTo>
                    <a:pt x="1238250" y="0"/>
                  </a:lnTo>
                </a:path>
              </a:pathLst>
            </a:custGeom>
            <a:noFill/>
            <a:ln w="19050">
              <a:solidFill>
                <a:srgbClr val="26A7FF">
                  <a:alpha val="90000"/>
                </a:srgbClr>
              </a:solidFill>
            </a:ln>
          </p:spPr>
        </p:sp>
        <p:sp>
          <p:nvSpPr>
            <p:cNvPr id="44" name="TextBox 44"/>
            <p:cNvSpPr txBox="1"/>
            <p:nvPr/>
          </p:nvSpPr>
          <p:spPr>
            <a:xfrm>
              <a:off x="662940" y="1672590"/>
              <a:ext cx="2063115" cy="27686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800" b="1" dirty="0">
                  <a:solidFill>
                    <a:srgbClr val="102033"/>
                  </a:solidFill>
                  <a:latin typeface="MiSans Normal" panose="00000500000000000000" charset="-122"/>
                  <a:ea typeface="MiSans Normal" panose="00000500000000000000" charset="-122"/>
                  <a:cs typeface="等线" panose="02010600030101010101" charset="-122"/>
                </a:rPr>
                <a:t>创新点二：主动陪伴</a:t>
              </a:r>
              <a:endParaRPr lang="zh-CN" sz="1800" b="1" dirty="0">
                <a:solidFill>
                  <a:srgbClr val="102033"/>
                </a:solidFill>
                <a:latin typeface="MiSans Normal" panose="00000500000000000000" charset="-122"/>
                <a:ea typeface="MiSans Normal" panose="00000500000000000000" charset="-122"/>
                <a:cs typeface="等线" panose="02010600030101010101" charset="-122"/>
              </a:endParaRPr>
            </a:p>
          </p:txBody>
        </p:sp>
        <p:pic>
          <p:nvPicPr>
            <p:cNvPr id="45" name="Image 45"/>
            <p:cNvPicPr>
              <a:picLocks noChangeAspect="1"/>
            </p:cNvPicPr>
            <p:nvPr/>
          </p:nvPicPr>
          <p:blipFill>
            <a:blip r:embed="rId1"/>
            <a:stretch>
              <a:fillRect/>
            </a:stretch>
          </p:blipFill>
          <p:spPr>
            <a:xfrm>
              <a:off x="4362450" y="1676400"/>
              <a:ext cx="1200150" cy="1600200"/>
            </a:xfrm>
            <a:prstGeom prst="rect">
              <a:avLst/>
            </a:prstGeom>
          </p:spPr>
        </p:pic>
        <p:sp>
          <p:nvSpPr>
            <p:cNvPr id="46" name="Rectangle 46"/>
            <p:cNvSpPr/>
            <p:nvPr/>
          </p:nvSpPr>
          <p:spPr>
            <a:xfrm>
              <a:off x="762000" y="2476500"/>
              <a:ext cx="4991100" cy="971550"/>
            </a:xfrm>
            <a:prstGeom prst="roundRect">
              <a:avLst>
                <a:gd name="adj" fmla="val 13725"/>
              </a:avLst>
            </a:prstGeom>
            <a:solidFill>
              <a:srgbClr val="0B57D0">
                <a:alpha val="5000"/>
              </a:srgbClr>
            </a:solidFill>
            <a:ln>
              <a:noFill/>
            </a:ln>
          </p:spPr>
        </p:sp>
        <p:sp>
          <p:nvSpPr>
            <p:cNvPr id="47" name="Rectangle 47"/>
            <p:cNvSpPr/>
            <p:nvPr/>
          </p:nvSpPr>
          <p:spPr>
            <a:xfrm>
              <a:off x="685800" y="2381250"/>
              <a:ext cx="4991100" cy="971550"/>
            </a:xfrm>
            <a:prstGeom prst="roundRect">
              <a:avLst>
                <a:gd name="adj" fmla="val 13725"/>
              </a:avLst>
            </a:prstGeom>
            <a:solidFill>
              <a:srgbClr val="FFFFFF"/>
            </a:solidFill>
            <a:ln w="11430">
              <a:solidFill>
                <a:srgbClr val="BFD9F4"/>
              </a:solidFill>
            </a:ln>
          </p:spPr>
        </p:sp>
        <p:sp>
          <p:nvSpPr>
            <p:cNvPr id="48" name="Line 48"/>
            <p:cNvSpPr/>
            <p:nvPr/>
          </p:nvSpPr>
          <p:spPr>
            <a:xfrm>
              <a:off x="857250" y="2390775"/>
              <a:ext cx="1238250" cy="9525"/>
            </a:xfrm>
            <a:custGeom>
              <a:avLst/>
              <a:gdLst/>
              <a:ahLst/>
              <a:cxnLst/>
              <a:rect l="l" t="t" r="r" b="b"/>
              <a:pathLst>
                <a:path w="1238250" h="9525">
                  <a:moveTo>
                    <a:pt x="0" y="0"/>
                  </a:moveTo>
                  <a:lnTo>
                    <a:pt x="1238250" y="0"/>
                  </a:lnTo>
                </a:path>
              </a:pathLst>
            </a:custGeom>
            <a:noFill/>
            <a:ln w="19050">
              <a:solidFill>
                <a:srgbClr val="26A7FF">
                  <a:alpha val="90000"/>
                </a:srgbClr>
              </a:solidFill>
            </a:ln>
          </p:spPr>
        </p:sp>
        <p:sp>
          <p:nvSpPr>
            <p:cNvPr id="49" name="Rectangle 49"/>
            <p:cNvSpPr/>
            <p:nvPr/>
          </p:nvSpPr>
          <p:spPr>
            <a:xfrm>
              <a:off x="857250" y="2552700"/>
              <a:ext cx="285750" cy="285750"/>
            </a:xfrm>
            <a:prstGeom prst="roundRect">
              <a:avLst>
                <a:gd name="adj" fmla="val 33333"/>
              </a:avLst>
            </a:prstGeom>
            <a:solidFill>
              <a:srgbClr val="E7F2FF"/>
            </a:solidFill>
            <a:ln>
              <a:noFill/>
            </a:ln>
          </p:spPr>
        </p:sp>
        <p:sp>
          <p:nvSpPr>
            <p:cNvPr id="50" name="Freeform 50"/>
            <p:cNvSpPr/>
            <p:nvPr/>
          </p:nvSpPr>
          <p:spPr>
            <a:xfrm>
              <a:off x="920750" y="2612644"/>
              <a:ext cx="166926" cy="167199"/>
            </a:xfrm>
            <a:custGeom>
              <a:avLst/>
              <a:gdLst/>
              <a:ahLst/>
              <a:cxnLst/>
              <a:rect l="l" t="t" r="r" b="b"/>
              <a:pathLst>
                <a:path w="166926" h="167199">
                  <a:moveTo>
                    <a:pt x="119062" y="14192"/>
                  </a:moveTo>
                  <a:cubicBezTo>
                    <a:pt x="152141" y="33291"/>
                    <a:pt x="166926" y="73242"/>
                    <a:pt x="154249" y="109274"/>
                  </a:cubicBezTo>
                  <a:cubicBezTo>
                    <a:pt x="141573" y="145306"/>
                    <a:pt x="105031" y="167199"/>
                    <a:pt x="67280" y="161380"/>
                  </a:cubicBezTo>
                  <a:cubicBezTo>
                    <a:pt x="29529" y="155561"/>
                    <a:pt x="1277" y="123679"/>
                    <a:pt x="40" y="85502"/>
                  </a:cubicBezTo>
                  <a:lnTo>
                    <a:pt x="0" y="82931"/>
                  </a:lnTo>
                  <a:lnTo>
                    <a:pt x="40" y="80359"/>
                  </a:lnTo>
                  <a:cubicBezTo>
                    <a:pt x="944" y="52474"/>
                    <a:pt x="16421" y="27112"/>
                    <a:pt x="40806" y="13556"/>
                  </a:cubicBezTo>
                  <a:cubicBezTo>
                    <a:pt x="65190" y="0"/>
                    <a:pt x="94901" y="241"/>
                    <a:pt x="119062" y="14192"/>
                  </a:cubicBezTo>
                  <a:close/>
                  <a:moveTo>
                    <a:pt x="79375" y="35306"/>
                  </a:moveTo>
                  <a:cubicBezTo>
                    <a:pt x="75351" y="35306"/>
                    <a:pt x="71964" y="38318"/>
                    <a:pt x="71493" y="42314"/>
                  </a:cubicBezTo>
                  <a:lnTo>
                    <a:pt x="71438" y="43243"/>
                  </a:lnTo>
                  <a:lnTo>
                    <a:pt x="71438" y="82931"/>
                  </a:lnTo>
                  <a:lnTo>
                    <a:pt x="71509" y="83970"/>
                  </a:lnTo>
                  <a:cubicBezTo>
                    <a:pt x="71690" y="85347"/>
                    <a:pt x="72229" y="86653"/>
                    <a:pt x="73073" y="87757"/>
                  </a:cubicBezTo>
                  <a:lnTo>
                    <a:pt x="73763" y="88550"/>
                  </a:lnTo>
                  <a:lnTo>
                    <a:pt x="97576" y="112363"/>
                  </a:lnTo>
                  <a:lnTo>
                    <a:pt x="98322" y="113014"/>
                  </a:lnTo>
                  <a:cubicBezTo>
                    <a:pt x="101185" y="115235"/>
                    <a:pt x="105190" y="115235"/>
                    <a:pt x="108053" y="113014"/>
                  </a:cubicBezTo>
                  <a:lnTo>
                    <a:pt x="108799" y="112355"/>
                  </a:lnTo>
                  <a:lnTo>
                    <a:pt x="109458" y="111609"/>
                  </a:lnTo>
                  <a:cubicBezTo>
                    <a:pt x="111680" y="108745"/>
                    <a:pt x="111680" y="104741"/>
                    <a:pt x="109458" y="101877"/>
                  </a:cubicBezTo>
                  <a:lnTo>
                    <a:pt x="108799" y="101131"/>
                  </a:lnTo>
                  <a:lnTo>
                    <a:pt x="87312" y="79636"/>
                  </a:lnTo>
                  <a:lnTo>
                    <a:pt x="87312" y="43243"/>
                  </a:lnTo>
                  <a:lnTo>
                    <a:pt x="87257" y="42314"/>
                  </a:lnTo>
                  <a:cubicBezTo>
                    <a:pt x="86786" y="38318"/>
                    <a:pt x="83399" y="35306"/>
                    <a:pt x="79375" y="35306"/>
                  </a:cubicBezTo>
                  <a:close/>
                </a:path>
              </a:pathLst>
            </a:custGeom>
            <a:solidFill>
              <a:srgbClr val="0B57D0"/>
            </a:solidFill>
            <a:ln>
              <a:noFill/>
            </a:ln>
          </p:spPr>
        </p:sp>
        <p:sp>
          <p:nvSpPr>
            <p:cNvPr id="51" name="TextBox 51"/>
            <p:cNvSpPr txBox="1"/>
            <p:nvPr/>
          </p:nvSpPr>
          <p:spPr>
            <a:xfrm>
              <a:off x="1253807" y="2592546"/>
              <a:ext cx="1223010" cy="245745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600" b="1" dirty="0">
                  <a:solidFill>
                    <a:srgbClr val="102033"/>
                  </a:solidFill>
                  <a:latin typeface="MiSans Normal" panose="00000500000000000000" charset="-122"/>
                  <a:ea typeface="MiSans Normal" panose="00000500000000000000" charset="-122"/>
                  <a:cs typeface="等线" panose="02010600030101010101" charset="-122"/>
                </a:rPr>
                <a:t>为什么它成立</a:t>
              </a:r>
              <a:endParaRPr lang="zh-CN" sz="1600" b="1" dirty="0">
                <a:solidFill>
                  <a:srgbClr val="102033"/>
                </a:solidFill>
                <a:latin typeface="MiSans Normal" panose="00000500000000000000" charset="-122"/>
                <a:ea typeface="MiSans Normal" panose="00000500000000000000" charset="-122"/>
                <a:cs typeface="等线" panose="02010600030101010101" charset="-122"/>
              </a:endParaRPr>
            </a:p>
          </p:txBody>
        </p:sp>
        <p:sp>
          <p:nvSpPr>
            <p:cNvPr id="52" name="TextBox 52"/>
            <p:cNvSpPr txBox="1"/>
            <p:nvPr/>
          </p:nvSpPr>
          <p:spPr>
            <a:xfrm>
              <a:off x="900112" y="2996406"/>
              <a:ext cx="3731260" cy="173355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125" dirty="0">
                  <a:solidFill>
                    <a:srgbClr val="51677F"/>
                  </a:solidFill>
                  <a:latin typeface="MiSans Normal" panose="00000500000000000000" charset="-122"/>
                  <a:ea typeface="MiSans Normal" panose="00000500000000000000" charset="-122"/>
                  <a:cs typeface="等线" panose="02010600030101010101" charset="-122"/>
                </a:rPr>
                <a:t>基于排队、天气、体力和时间节点触发，不做无意义打扰。</a:t>
              </a:r>
              <a:endParaRPr lang="zh-CN" sz="1125" dirty="0">
                <a:solidFill>
                  <a:srgbClr val="51677F"/>
                </a:solidFill>
                <a:latin typeface="MiSans Normal" panose="00000500000000000000" charset="-122"/>
                <a:ea typeface="MiSans Normal" panose="00000500000000000000" charset="-122"/>
                <a:cs typeface="等线" panose="02010600030101010101" charset="-122"/>
              </a:endParaRPr>
            </a:p>
          </p:txBody>
        </p:sp>
        <p:sp>
          <p:nvSpPr>
            <p:cNvPr id="53" name="Rectangle 53"/>
            <p:cNvSpPr/>
            <p:nvPr/>
          </p:nvSpPr>
          <p:spPr>
            <a:xfrm>
              <a:off x="762000" y="3638550"/>
              <a:ext cx="2381250" cy="1143000"/>
            </a:xfrm>
            <a:prstGeom prst="roundRect">
              <a:avLst>
                <a:gd name="adj" fmla="val 11667"/>
              </a:avLst>
            </a:prstGeom>
            <a:solidFill>
              <a:srgbClr val="0B57D0">
                <a:alpha val="5000"/>
              </a:srgbClr>
            </a:solidFill>
            <a:ln>
              <a:noFill/>
            </a:ln>
          </p:spPr>
        </p:sp>
        <p:sp>
          <p:nvSpPr>
            <p:cNvPr id="54" name="Rectangle 54"/>
            <p:cNvSpPr/>
            <p:nvPr/>
          </p:nvSpPr>
          <p:spPr>
            <a:xfrm>
              <a:off x="685800" y="3543300"/>
              <a:ext cx="2381250" cy="1143000"/>
            </a:xfrm>
            <a:prstGeom prst="roundRect">
              <a:avLst>
                <a:gd name="adj" fmla="val 11667"/>
              </a:avLst>
            </a:prstGeom>
            <a:solidFill>
              <a:srgbClr val="FFFFFF"/>
            </a:solidFill>
            <a:ln w="11430">
              <a:solidFill>
                <a:srgbClr val="BFD9F4"/>
              </a:solidFill>
            </a:ln>
          </p:spPr>
        </p:sp>
        <p:sp>
          <p:nvSpPr>
            <p:cNvPr id="55" name="Line 55"/>
            <p:cNvSpPr/>
            <p:nvPr/>
          </p:nvSpPr>
          <p:spPr>
            <a:xfrm>
              <a:off x="857250" y="3552825"/>
              <a:ext cx="1238250" cy="9525"/>
            </a:xfrm>
            <a:custGeom>
              <a:avLst/>
              <a:gdLst/>
              <a:ahLst/>
              <a:cxnLst/>
              <a:rect l="l" t="t" r="r" b="b"/>
              <a:pathLst>
                <a:path w="1238250" h="9525">
                  <a:moveTo>
                    <a:pt x="0" y="0"/>
                  </a:moveTo>
                  <a:lnTo>
                    <a:pt x="1238250" y="0"/>
                  </a:lnTo>
                </a:path>
              </a:pathLst>
            </a:custGeom>
            <a:noFill/>
            <a:ln w="19050">
              <a:solidFill>
                <a:srgbClr val="26A7FF">
                  <a:alpha val="90000"/>
                </a:srgbClr>
              </a:solidFill>
            </a:ln>
          </p:spPr>
        </p:sp>
        <p:sp>
          <p:nvSpPr>
            <p:cNvPr id="56" name="Rectangle 56"/>
            <p:cNvSpPr/>
            <p:nvPr/>
          </p:nvSpPr>
          <p:spPr>
            <a:xfrm>
              <a:off x="857250" y="3714750"/>
              <a:ext cx="285750" cy="285750"/>
            </a:xfrm>
            <a:prstGeom prst="roundRect">
              <a:avLst>
                <a:gd name="adj" fmla="val 33333"/>
              </a:avLst>
            </a:prstGeom>
            <a:solidFill>
              <a:srgbClr val="E7F2FF"/>
            </a:solidFill>
            <a:ln>
              <a:noFill/>
            </a:ln>
          </p:spPr>
        </p:sp>
        <p:sp>
          <p:nvSpPr>
            <p:cNvPr id="57" name="Freeform 57"/>
            <p:cNvSpPr/>
            <p:nvPr/>
          </p:nvSpPr>
          <p:spPr>
            <a:xfrm>
              <a:off x="920750" y="3774694"/>
              <a:ext cx="166926" cy="167199"/>
            </a:xfrm>
            <a:custGeom>
              <a:avLst/>
              <a:gdLst/>
              <a:ahLst/>
              <a:cxnLst/>
              <a:rect l="l" t="t" r="r" b="b"/>
              <a:pathLst>
                <a:path w="166926" h="167199">
                  <a:moveTo>
                    <a:pt x="119062" y="14192"/>
                  </a:moveTo>
                  <a:cubicBezTo>
                    <a:pt x="152141" y="33291"/>
                    <a:pt x="166926" y="73242"/>
                    <a:pt x="154249" y="109274"/>
                  </a:cubicBezTo>
                  <a:cubicBezTo>
                    <a:pt x="141573" y="145306"/>
                    <a:pt x="105031" y="167199"/>
                    <a:pt x="67280" y="161380"/>
                  </a:cubicBezTo>
                  <a:cubicBezTo>
                    <a:pt x="29529" y="155561"/>
                    <a:pt x="1277" y="123679"/>
                    <a:pt x="40" y="85502"/>
                  </a:cubicBezTo>
                  <a:lnTo>
                    <a:pt x="0" y="82931"/>
                  </a:lnTo>
                  <a:lnTo>
                    <a:pt x="40" y="80359"/>
                  </a:lnTo>
                  <a:cubicBezTo>
                    <a:pt x="944" y="52474"/>
                    <a:pt x="16421" y="27112"/>
                    <a:pt x="40806" y="13556"/>
                  </a:cubicBezTo>
                  <a:cubicBezTo>
                    <a:pt x="65190" y="0"/>
                    <a:pt x="94901" y="241"/>
                    <a:pt x="119062" y="14192"/>
                  </a:cubicBezTo>
                  <a:close/>
                  <a:moveTo>
                    <a:pt x="79375" y="35306"/>
                  </a:moveTo>
                  <a:cubicBezTo>
                    <a:pt x="75351" y="35306"/>
                    <a:pt x="71964" y="38318"/>
                    <a:pt x="71493" y="42314"/>
                  </a:cubicBezTo>
                  <a:lnTo>
                    <a:pt x="71438" y="43243"/>
                  </a:lnTo>
                  <a:lnTo>
                    <a:pt x="71438" y="82931"/>
                  </a:lnTo>
                  <a:lnTo>
                    <a:pt x="71509" y="83970"/>
                  </a:lnTo>
                  <a:cubicBezTo>
                    <a:pt x="71690" y="85347"/>
                    <a:pt x="72229" y="86653"/>
                    <a:pt x="73073" y="87757"/>
                  </a:cubicBezTo>
                  <a:lnTo>
                    <a:pt x="73763" y="88550"/>
                  </a:lnTo>
                  <a:lnTo>
                    <a:pt x="97576" y="112363"/>
                  </a:lnTo>
                  <a:lnTo>
                    <a:pt x="98322" y="113014"/>
                  </a:lnTo>
                  <a:cubicBezTo>
                    <a:pt x="101185" y="115235"/>
                    <a:pt x="105190" y="115235"/>
                    <a:pt x="108053" y="113014"/>
                  </a:cubicBezTo>
                  <a:lnTo>
                    <a:pt x="108799" y="112355"/>
                  </a:lnTo>
                  <a:lnTo>
                    <a:pt x="109458" y="111609"/>
                  </a:lnTo>
                  <a:cubicBezTo>
                    <a:pt x="111680" y="108745"/>
                    <a:pt x="111680" y="104741"/>
                    <a:pt x="109458" y="101877"/>
                  </a:cubicBezTo>
                  <a:lnTo>
                    <a:pt x="108799" y="101131"/>
                  </a:lnTo>
                  <a:lnTo>
                    <a:pt x="87312" y="79636"/>
                  </a:lnTo>
                  <a:lnTo>
                    <a:pt x="87312" y="43243"/>
                  </a:lnTo>
                  <a:lnTo>
                    <a:pt x="87257" y="42314"/>
                  </a:lnTo>
                  <a:cubicBezTo>
                    <a:pt x="86786" y="38318"/>
                    <a:pt x="83399" y="35306"/>
                    <a:pt x="79375" y="35306"/>
                  </a:cubicBezTo>
                  <a:close/>
                </a:path>
              </a:pathLst>
            </a:custGeom>
            <a:solidFill>
              <a:srgbClr val="0B57D0"/>
            </a:solidFill>
            <a:ln>
              <a:noFill/>
            </a:ln>
          </p:spPr>
        </p:sp>
        <p:sp>
          <p:nvSpPr>
            <p:cNvPr id="58" name="TextBox 58"/>
            <p:cNvSpPr txBox="1"/>
            <p:nvPr/>
          </p:nvSpPr>
          <p:spPr>
            <a:xfrm>
              <a:off x="1253807" y="3753326"/>
              <a:ext cx="547370" cy="245745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600" b="1" dirty="0">
                  <a:solidFill>
                    <a:srgbClr val="102033"/>
                  </a:solidFill>
                  <a:latin typeface="MiSans Normal" panose="00000500000000000000" charset="-122"/>
                  <a:ea typeface="MiSans Normal" panose="00000500000000000000" charset="-122"/>
                  <a:cs typeface="MiSans Normal" panose="00000500000000000000" charset="-122"/>
                </a:rPr>
                <a:t>场景 1</a:t>
              </a:r>
              <a:endParaRPr lang="zh-CN" sz="1600" b="1" dirty="0">
                <a:solidFill>
                  <a:srgbClr val="102033"/>
                </a:solidFill>
                <a:latin typeface="MiSans Normal" panose="00000500000000000000" charset="-122"/>
                <a:ea typeface="MiSans Normal" panose="00000500000000000000" charset="-122"/>
                <a:cs typeface="MiSans Normal" panose="00000500000000000000" charset="-122"/>
              </a:endParaRPr>
            </a:p>
          </p:txBody>
        </p:sp>
        <p:sp>
          <p:nvSpPr>
            <p:cNvPr id="59" name="TextBox 59"/>
            <p:cNvSpPr txBox="1"/>
            <p:nvPr/>
          </p:nvSpPr>
          <p:spPr>
            <a:xfrm>
              <a:off x="902018" y="4225449"/>
              <a:ext cx="2152650" cy="173355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130" dirty="0">
                  <a:solidFill>
                    <a:srgbClr val="51677F"/>
                  </a:solidFill>
                  <a:latin typeface="MiSans Normal" panose="00000500000000000000" charset="-122"/>
                  <a:ea typeface="MiSans Normal" panose="00000500000000000000" charset="-122"/>
                  <a:cs typeface="等线" panose="02010600030101010101" charset="-122"/>
                </a:rPr>
                <a:t>快到饭点：推荐符合忌口的餐厅。</a:t>
              </a:r>
              <a:endParaRPr lang="zh-CN" sz="1130" dirty="0">
                <a:solidFill>
                  <a:srgbClr val="51677F"/>
                </a:solidFill>
                <a:latin typeface="MiSans Normal" panose="00000500000000000000" charset="-122"/>
                <a:ea typeface="MiSans Normal" panose="00000500000000000000" charset="-122"/>
                <a:cs typeface="等线" panose="02010600030101010101" charset="-122"/>
              </a:endParaRPr>
            </a:p>
          </p:txBody>
        </p:sp>
        <p:sp>
          <p:nvSpPr>
            <p:cNvPr id="60" name="Rectangle 60"/>
            <p:cNvSpPr/>
            <p:nvPr/>
          </p:nvSpPr>
          <p:spPr>
            <a:xfrm>
              <a:off x="3371850" y="3638550"/>
              <a:ext cx="2381250" cy="1143000"/>
            </a:xfrm>
            <a:prstGeom prst="roundRect">
              <a:avLst>
                <a:gd name="adj" fmla="val 11667"/>
              </a:avLst>
            </a:prstGeom>
            <a:solidFill>
              <a:srgbClr val="0B57D0">
                <a:alpha val="5000"/>
              </a:srgbClr>
            </a:solidFill>
            <a:ln>
              <a:noFill/>
            </a:ln>
          </p:spPr>
        </p:sp>
        <p:sp>
          <p:nvSpPr>
            <p:cNvPr id="61" name="Rectangle 61"/>
            <p:cNvSpPr/>
            <p:nvPr/>
          </p:nvSpPr>
          <p:spPr>
            <a:xfrm>
              <a:off x="3295650" y="3543300"/>
              <a:ext cx="2381250" cy="1143000"/>
            </a:xfrm>
            <a:prstGeom prst="roundRect">
              <a:avLst>
                <a:gd name="adj" fmla="val 11667"/>
              </a:avLst>
            </a:prstGeom>
            <a:solidFill>
              <a:srgbClr val="FFFFFF"/>
            </a:solidFill>
            <a:ln w="11430">
              <a:solidFill>
                <a:srgbClr val="BFD9F4"/>
              </a:solidFill>
            </a:ln>
          </p:spPr>
        </p:sp>
        <p:sp>
          <p:nvSpPr>
            <p:cNvPr id="62" name="Line 62"/>
            <p:cNvSpPr/>
            <p:nvPr/>
          </p:nvSpPr>
          <p:spPr>
            <a:xfrm>
              <a:off x="3467100" y="3552825"/>
              <a:ext cx="1238250" cy="9525"/>
            </a:xfrm>
            <a:custGeom>
              <a:avLst/>
              <a:gdLst/>
              <a:ahLst/>
              <a:cxnLst/>
              <a:rect l="l" t="t" r="r" b="b"/>
              <a:pathLst>
                <a:path w="1238250" h="9525">
                  <a:moveTo>
                    <a:pt x="0" y="0"/>
                  </a:moveTo>
                  <a:lnTo>
                    <a:pt x="1238250" y="0"/>
                  </a:lnTo>
                </a:path>
              </a:pathLst>
            </a:custGeom>
            <a:noFill/>
            <a:ln w="19050">
              <a:solidFill>
                <a:srgbClr val="26A7FF">
                  <a:alpha val="90000"/>
                </a:srgbClr>
              </a:solidFill>
            </a:ln>
          </p:spPr>
        </p:sp>
        <p:sp>
          <p:nvSpPr>
            <p:cNvPr id="63" name="Rectangle 63"/>
            <p:cNvSpPr/>
            <p:nvPr/>
          </p:nvSpPr>
          <p:spPr>
            <a:xfrm>
              <a:off x="3467100" y="3714750"/>
              <a:ext cx="285750" cy="285750"/>
            </a:xfrm>
            <a:prstGeom prst="roundRect">
              <a:avLst>
                <a:gd name="adj" fmla="val 33333"/>
              </a:avLst>
            </a:prstGeom>
            <a:solidFill>
              <a:srgbClr val="E7F2FF"/>
            </a:solidFill>
            <a:ln>
              <a:noFill/>
            </a:ln>
          </p:spPr>
        </p:sp>
        <p:sp>
          <p:nvSpPr>
            <p:cNvPr id="64" name="Freeform 64"/>
            <p:cNvSpPr/>
            <p:nvPr/>
          </p:nvSpPr>
          <p:spPr>
            <a:xfrm>
              <a:off x="3530600" y="3774694"/>
              <a:ext cx="166926" cy="167199"/>
            </a:xfrm>
            <a:custGeom>
              <a:avLst/>
              <a:gdLst/>
              <a:ahLst/>
              <a:cxnLst/>
              <a:rect l="l" t="t" r="r" b="b"/>
              <a:pathLst>
                <a:path w="166926" h="167199">
                  <a:moveTo>
                    <a:pt x="119062" y="14192"/>
                  </a:moveTo>
                  <a:cubicBezTo>
                    <a:pt x="152141" y="33291"/>
                    <a:pt x="166926" y="73242"/>
                    <a:pt x="154249" y="109274"/>
                  </a:cubicBezTo>
                  <a:cubicBezTo>
                    <a:pt x="141573" y="145306"/>
                    <a:pt x="105031" y="167199"/>
                    <a:pt x="67280" y="161380"/>
                  </a:cubicBezTo>
                  <a:cubicBezTo>
                    <a:pt x="29529" y="155561"/>
                    <a:pt x="1277" y="123679"/>
                    <a:pt x="40" y="85502"/>
                  </a:cubicBezTo>
                  <a:lnTo>
                    <a:pt x="0" y="82931"/>
                  </a:lnTo>
                  <a:lnTo>
                    <a:pt x="40" y="80359"/>
                  </a:lnTo>
                  <a:cubicBezTo>
                    <a:pt x="944" y="52474"/>
                    <a:pt x="16421" y="27112"/>
                    <a:pt x="40806" y="13556"/>
                  </a:cubicBezTo>
                  <a:cubicBezTo>
                    <a:pt x="65190" y="0"/>
                    <a:pt x="94901" y="241"/>
                    <a:pt x="119062" y="14192"/>
                  </a:cubicBezTo>
                  <a:close/>
                  <a:moveTo>
                    <a:pt x="79375" y="35306"/>
                  </a:moveTo>
                  <a:cubicBezTo>
                    <a:pt x="75351" y="35306"/>
                    <a:pt x="71964" y="38318"/>
                    <a:pt x="71493" y="42314"/>
                  </a:cubicBezTo>
                  <a:lnTo>
                    <a:pt x="71438" y="43243"/>
                  </a:lnTo>
                  <a:lnTo>
                    <a:pt x="71438" y="82931"/>
                  </a:lnTo>
                  <a:lnTo>
                    <a:pt x="71509" y="83970"/>
                  </a:lnTo>
                  <a:cubicBezTo>
                    <a:pt x="71690" y="85347"/>
                    <a:pt x="72229" y="86653"/>
                    <a:pt x="73073" y="87757"/>
                  </a:cubicBezTo>
                  <a:lnTo>
                    <a:pt x="73763" y="88550"/>
                  </a:lnTo>
                  <a:lnTo>
                    <a:pt x="97576" y="112363"/>
                  </a:lnTo>
                  <a:lnTo>
                    <a:pt x="98322" y="113014"/>
                  </a:lnTo>
                  <a:cubicBezTo>
                    <a:pt x="101185" y="115235"/>
                    <a:pt x="105190" y="115235"/>
                    <a:pt x="108053" y="113014"/>
                  </a:cubicBezTo>
                  <a:lnTo>
                    <a:pt x="108799" y="112355"/>
                  </a:lnTo>
                  <a:lnTo>
                    <a:pt x="109458" y="111609"/>
                  </a:lnTo>
                  <a:cubicBezTo>
                    <a:pt x="111680" y="108745"/>
                    <a:pt x="111680" y="104741"/>
                    <a:pt x="109458" y="101877"/>
                  </a:cubicBezTo>
                  <a:lnTo>
                    <a:pt x="108799" y="101131"/>
                  </a:lnTo>
                  <a:lnTo>
                    <a:pt x="87312" y="79636"/>
                  </a:lnTo>
                  <a:lnTo>
                    <a:pt x="87312" y="43243"/>
                  </a:lnTo>
                  <a:lnTo>
                    <a:pt x="87257" y="42314"/>
                  </a:lnTo>
                  <a:cubicBezTo>
                    <a:pt x="86786" y="38318"/>
                    <a:pt x="83399" y="35306"/>
                    <a:pt x="79375" y="35306"/>
                  </a:cubicBezTo>
                  <a:close/>
                </a:path>
              </a:pathLst>
            </a:custGeom>
            <a:solidFill>
              <a:srgbClr val="0B57D0"/>
            </a:solidFill>
            <a:ln>
              <a:noFill/>
            </a:ln>
          </p:spPr>
        </p:sp>
        <p:sp>
          <p:nvSpPr>
            <p:cNvPr id="65" name="TextBox 65"/>
            <p:cNvSpPr txBox="1"/>
            <p:nvPr/>
          </p:nvSpPr>
          <p:spPr>
            <a:xfrm>
              <a:off x="3849052" y="3753326"/>
              <a:ext cx="581660" cy="245745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600" b="1" dirty="0">
                  <a:solidFill>
                    <a:srgbClr val="102033"/>
                  </a:solidFill>
                  <a:latin typeface="MiSans Normal" panose="00000500000000000000" charset="-122"/>
                  <a:ea typeface="MiSans Normal" panose="00000500000000000000" charset="-122"/>
                  <a:cs typeface="MiSans Normal" panose="00000500000000000000" charset="-122"/>
                </a:rPr>
                <a:t>场景 2</a:t>
              </a:r>
              <a:endParaRPr lang="zh-CN" sz="1600" b="1" dirty="0">
                <a:solidFill>
                  <a:srgbClr val="102033"/>
                </a:solidFill>
                <a:latin typeface="MiSans Normal" panose="00000500000000000000" charset="-122"/>
                <a:ea typeface="MiSans Normal" panose="00000500000000000000" charset="-122"/>
                <a:cs typeface="MiSans Normal" panose="00000500000000000000" charset="-122"/>
              </a:endParaRPr>
            </a:p>
          </p:txBody>
        </p:sp>
        <p:sp>
          <p:nvSpPr>
            <p:cNvPr id="66" name="TextBox 66"/>
            <p:cNvSpPr txBox="1"/>
            <p:nvPr/>
          </p:nvSpPr>
          <p:spPr>
            <a:xfrm>
              <a:off x="3511868" y="4225449"/>
              <a:ext cx="2009140" cy="173355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130" dirty="0">
                  <a:solidFill>
                    <a:srgbClr val="51677F"/>
                  </a:solidFill>
                  <a:latin typeface="MiSans Normal" panose="00000500000000000000" charset="-122"/>
                  <a:ea typeface="MiSans Normal" panose="00000500000000000000" charset="-122"/>
                  <a:cs typeface="等线" panose="02010600030101010101" charset="-122"/>
                </a:rPr>
                <a:t>排队过长：建议轻量替代路线。</a:t>
              </a:r>
              <a:endParaRPr lang="zh-CN" sz="1130" dirty="0">
                <a:solidFill>
                  <a:srgbClr val="51677F"/>
                </a:solidFill>
                <a:latin typeface="MiSans Normal" panose="00000500000000000000" charset="-122"/>
                <a:ea typeface="MiSans Normal" panose="00000500000000000000" charset="-122"/>
                <a:cs typeface="等线" panose="02010600030101010101" charset="-122"/>
              </a:endParaRPr>
            </a:p>
          </p:txBody>
        </p:sp>
        <p:sp>
          <p:nvSpPr>
            <p:cNvPr id="67" name="Rectangle 67"/>
            <p:cNvSpPr/>
            <p:nvPr/>
          </p:nvSpPr>
          <p:spPr>
            <a:xfrm>
              <a:off x="762000" y="4972050"/>
              <a:ext cx="2381250" cy="1143000"/>
            </a:xfrm>
            <a:prstGeom prst="roundRect">
              <a:avLst>
                <a:gd name="adj" fmla="val 11667"/>
              </a:avLst>
            </a:prstGeom>
            <a:solidFill>
              <a:srgbClr val="0B57D0">
                <a:alpha val="5000"/>
              </a:srgbClr>
            </a:solidFill>
            <a:ln>
              <a:noFill/>
            </a:ln>
          </p:spPr>
        </p:sp>
        <p:sp>
          <p:nvSpPr>
            <p:cNvPr id="68" name="Rectangle 68"/>
            <p:cNvSpPr/>
            <p:nvPr/>
          </p:nvSpPr>
          <p:spPr>
            <a:xfrm>
              <a:off x="685800" y="4876800"/>
              <a:ext cx="2381250" cy="1143000"/>
            </a:xfrm>
            <a:prstGeom prst="roundRect">
              <a:avLst>
                <a:gd name="adj" fmla="val 11667"/>
              </a:avLst>
            </a:prstGeom>
            <a:solidFill>
              <a:srgbClr val="FFFFFF"/>
            </a:solidFill>
            <a:ln w="11430">
              <a:solidFill>
                <a:srgbClr val="BFD9F4"/>
              </a:solidFill>
            </a:ln>
          </p:spPr>
        </p:sp>
        <p:sp>
          <p:nvSpPr>
            <p:cNvPr id="69" name="Line 69"/>
            <p:cNvSpPr/>
            <p:nvPr/>
          </p:nvSpPr>
          <p:spPr>
            <a:xfrm>
              <a:off x="857250" y="4886325"/>
              <a:ext cx="1238250" cy="9525"/>
            </a:xfrm>
            <a:custGeom>
              <a:avLst/>
              <a:gdLst/>
              <a:ahLst/>
              <a:cxnLst/>
              <a:rect l="l" t="t" r="r" b="b"/>
              <a:pathLst>
                <a:path w="1238250" h="9525">
                  <a:moveTo>
                    <a:pt x="0" y="0"/>
                  </a:moveTo>
                  <a:lnTo>
                    <a:pt x="1238250" y="0"/>
                  </a:lnTo>
                </a:path>
              </a:pathLst>
            </a:custGeom>
            <a:noFill/>
            <a:ln w="19050">
              <a:solidFill>
                <a:srgbClr val="26A7FF">
                  <a:alpha val="90000"/>
                </a:srgbClr>
              </a:solidFill>
            </a:ln>
          </p:spPr>
        </p:sp>
        <p:sp>
          <p:nvSpPr>
            <p:cNvPr id="70" name="Rectangle 70"/>
            <p:cNvSpPr/>
            <p:nvPr/>
          </p:nvSpPr>
          <p:spPr>
            <a:xfrm>
              <a:off x="857250" y="5048250"/>
              <a:ext cx="285750" cy="285750"/>
            </a:xfrm>
            <a:prstGeom prst="roundRect">
              <a:avLst>
                <a:gd name="adj" fmla="val 33333"/>
              </a:avLst>
            </a:prstGeom>
            <a:solidFill>
              <a:srgbClr val="E7F2FF"/>
            </a:solidFill>
            <a:ln>
              <a:noFill/>
            </a:ln>
          </p:spPr>
        </p:sp>
        <p:sp>
          <p:nvSpPr>
            <p:cNvPr id="71" name="Freeform 71"/>
            <p:cNvSpPr/>
            <p:nvPr/>
          </p:nvSpPr>
          <p:spPr>
            <a:xfrm>
              <a:off x="920750" y="5108194"/>
              <a:ext cx="166926" cy="167199"/>
            </a:xfrm>
            <a:custGeom>
              <a:avLst/>
              <a:gdLst/>
              <a:ahLst/>
              <a:cxnLst/>
              <a:rect l="l" t="t" r="r" b="b"/>
              <a:pathLst>
                <a:path w="166926" h="167199">
                  <a:moveTo>
                    <a:pt x="119062" y="14192"/>
                  </a:moveTo>
                  <a:cubicBezTo>
                    <a:pt x="152141" y="33291"/>
                    <a:pt x="166926" y="73242"/>
                    <a:pt x="154249" y="109274"/>
                  </a:cubicBezTo>
                  <a:cubicBezTo>
                    <a:pt x="141573" y="145306"/>
                    <a:pt x="105031" y="167199"/>
                    <a:pt x="67280" y="161380"/>
                  </a:cubicBezTo>
                  <a:cubicBezTo>
                    <a:pt x="29529" y="155561"/>
                    <a:pt x="1277" y="123679"/>
                    <a:pt x="40" y="85502"/>
                  </a:cubicBezTo>
                  <a:lnTo>
                    <a:pt x="0" y="82931"/>
                  </a:lnTo>
                  <a:lnTo>
                    <a:pt x="40" y="80359"/>
                  </a:lnTo>
                  <a:cubicBezTo>
                    <a:pt x="944" y="52474"/>
                    <a:pt x="16421" y="27112"/>
                    <a:pt x="40806" y="13556"/>
                  </a:cubicBezTo>
                  <a:cubicBezTo>
                    <a:pt x="65190" y="0"/>
                    <a:pt x="94901" y="241"/>
                    <a:pt x="119062" y="14192"/>
                  </a:cubicBezTo>
                  <a:close/>
                  <a:moveTo>
                    <a:pt x="79375" y="35306"/>
                  </a:moveTo>
                  <a:cubicBezTo>
                    <a:pt x="75351" y="35306"/>
                    <a:pt x="71964" y="38318"/>
                    <a:pt x="71493" y="42314"/>
                  </a:cubicBezTo>
                  <a:lnTo>
                    <a:pt x="71438" y="43243"/>
                  </a:lnTo>
                  <a:lnTo>
                    <a:pt x="71438" y="82931"/>
                  </a:lnTo>
                  <a:lnTo>
                    <a:pt x="71509" y="83970"/>
                  </a:lnTo>
                  <a:cubicBezTo>
                    <a:pt x="71690" y="85347"/>
                    <a:pt x="72229" y="86653"/>
                    <a:pt x="73073" y="87757"/>
                  </a:cubicBezTo>
                  <a:lnTo>
                    <a:pt x="73763" y="88550"/>
                  </a:lnTo>
                  <a:lnTo>
                    <a:pt x="97576" y="112363"/>
                  </a:lnTo>
                  <a:lnTo>
                    <a:pt x="98322" y="113014"/>
                  </a:lnTo>
                  <a:cubicBezTo>
                    <a:pt x="101185" y="115235"/>
                    <a:pt x="105190" y="115235"/>
                    <a:pt x="108053" y="113014"/>
                  </a:cubicBezTo>
                  <a:lnTo>
                    <a:pt x="108799" y="112355"/>
                  </a:lnTo>
                  <a:lnTo>
                    <a:pt x="109458" y="111609"/>
                  </a:lnTo>
                  <a:cubicBezTo>
                    <a:pt x="111680" y="108745"/>
                    <a:pt x="111680" y="104741"/>
                    <a:pt x="109458" y="101877"/>
                  </a:cubicBezTo>
                  <a:lnTo>
                    <a:pt x="108799" y="101131"/>
                  </a:lnTo>
                  <a:lnTo>
                    <a:pt x="87312" y="79636"/>
                  </a:lnTo>
                  <a:lnTo>
                    <a:pt x="87312" y="43243"/>
                  </a:lnTo>
                  <a:lnTo>
                    <a:pt x="87257" y="42314"/>
                  </a:lnTo>
                  <a:cubicBezTo>
                    <a:pt x="86786" y="38318"/>
                    <a:pt x="83399" y="35306"/>
                    <a:pt x="79375" y="35306"/>
                  </a:cubicBezTo>
                  <a:close/>
                </a:path>
              </a:pathLst>
            </a:custGeom>
            <a:solidFill>
              <a:srgbClr val="0B57D0"/>
            </a:solidFill>
            <a:ln>
              <a:noFill/>
            </a:ln>
          </p:spPr>
        </p:sp>
        <p:sp>
          <p:nvSpPr>
            <p:cNvPr id="72" name="TextBox 72"/>
            <p:cNvSpPr txBox="1"/>
            <p:nvPr/>
          </p:nvSpPr>
          <p:spPr>
            <a:xfrm>
              <a:off x="1253807" y="5097621"/>
              <a:ext cx="586740" cy="245745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600" b="1" dirty="0">
                  <a:solidFill>
                    <a:srgbClr val="102033"/>
                  </a:solidFill>
                  <a:latin typeface="MiSans Normal" panose="00000500000000000000" charset="-122"/>
                  <a:ea typeface="MiSans Normal" panose="00000500000000000000" charset="-122"/>
                  <a:cs typeface="MiSans Normal" panose="00000500000000000000" charset="-122"/>
                </a:rPr>
                <a:t>场景 3</a:t>
              </a:r>
              <a:endParaRPr lang="zh-CN" sz="1600" b="1" dirty="0">
                <a:solidFill>
                  <a:srgbClr val="102033"/>
                </a:solidFill>
                <a:latin typeface="MiSans Normal" panose="00000500000000000000" charset="-122"/>
                <a:ea typeface="MiSans Normal" panose="00000500000000000000" charset="-122"/>
                <a:cs typeface="MiSans Normal" panose="00000500000000000000" charset="-122"/>
              </a:endParaRPr>
            </a:p>
          </p:txBody>
        </p:sp>
        <p:sp>
          <p:nvSpPr>
            <p:cNvPr id="73" name="TextBox 73"/>
            <p:cNvSpPr txBox="1"/>
            <p:nvPr/>
          </p:nvSpPr>
          <p:spPr>
            <a:xfrm>
              <a:off x="902018" y="5548789"/>
              <a:ext cx="2009140" cy="173355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130" dirty="0">
                  <a:solidFill>
                    <a:srgbClr val="51677F"/>
                  </a:solidFill>
                  <a:latin typeface="MiSans Normal" panose="00000500000000000000" charset="-122"/>
                  <a:ea typeface="MiSans Normal" panose="00000500000000000000" charset="-122"/>
                  <a:cs typeface="等线" panose="02010600030101010101" charset="-122"/>
                </a:rPr>
                <a:t>天气变化：提醒带伞或改室内。</a:t>
              </a:r>
              <a:endParaRPr lang="zh-CN" sz="1130" dirty="0">
                <a:solidFill>
                  <a:srgbClr val="51677F"/>
                </a:solidFill>
                <a:latin typeface="MiSans Normal" panose="00000500000000000000" charset="-122"/>
                <a:ea typeface="MiSans Normal" panose="00000500000000000000" charset="-122"/>
                <a:cs typeface="等线" panose="02010600030101010101" charset="-122"/>
              </a:endParaRPr>
            </a:p>
          </p:txBody>
        </p:sp>
        <p:sp>
          <p:nvSpPr>
            <p:cNvPr id="74" name="Rectangle 74"/>
            <p:cNvSpPr/>
            <p:nvPr/>
          </p:nvSpPr>
          <p:spPr>
            <a:xfrm>
              <a:off x="3371850" y="4972050"/>
              <a:ext cx="2381250" cy="1143000"/>
            </a:xfrm>
            <a:prstGeom prst="roundRect">
              <a:avLst>
                <a:gd name="adj" fmla="val 11667"/>
              </a:avLst>
            </a:prstGeom>
            <a:solidFill>
              <a:srgbClr val="0B57D0">
                <a:alpha val="5000"/>
              </a:srgbClr>
            </a:solidFill>
            <a:ln>
              <a:noFill/>
            </a:ln>
          </p:spPr>
        </p:sp>
        <p:sp>
          <p:nvSpPr>
            <p:cNvPr id="75" name="Rectangle 75"/>
            <p:cNvSpPr/>
            <p:nvPr/>
          </p:nvSpPr>
          <p:spPr>
            <a:xfrm>
              <a:off x="3295650" y="4876800"/>
              <a:ext cx="2381250" cy="1143000"/>
            </a:xfrm>
            <a:prstGeom prst="roundRect">
              <a:avLst>
                <a:gd name="adj" fmla="val 11667"/>
              </a:avLst>
            </a:prstGeom>
            <a:solidFill>
              <a:srgbClr val="FFFFFF"/>
            </a:solidFill>
            <a:ln w="11430">
              <a:solidFill>
                <a:srgbClr val="BFD9F4"/>
              </a:solidFill>
            </a:ln>
          </p:spPr>
        </p:sp>
        <p:sp>
          <p:nvSpPr>
            <p:cNvPr id="76" name="Line 76"/>
            <p:cNvSpPr/>
            <p:nvPr/>
          </p:nvSpPr>
          <p:spPr>
            <a:xfrm>
              <a:off x="3467100" y="4886325"/>
              <a:ext cx="1238250" cy="9525"/>
            </a:xfrm>
            <a:custGeom>
              <a:avLst/>
              <a:gdLst/>
              <a:ahLst/>
              <a:cxnLst/>
              <a:rect l="l" t="t" r="r" b="b"/>
              <a:pathLst>
                <a:path w="1238250" h="9525">
                  <a:moveTo>
                    <a:pt x="0" y="0"/>
                  </a:moveTo>
                  <a:lnTo>
                    <a:pt x="1238250" y="0"/>
                  </a:lnTo>
                </a:path>
              </a:pathLst>
            </a:custGeom>
            <a:noFill/>
            <a:ln w="19050">
              <a:solidFill>
                <a:srgbClr val="26A7FF">
                  <a:alpha val="90000"/>
                </a:srgbClr>
              </a:solidFill>
            </a:ln>
          </p:spPr>
        </p:sp>
        <p:sp>
          <p:nvSpPr>
            <p:cNvPr id="77" name="Rectangle 77"/>
            <p:cNvSpPr/>
            <p:nvPr/>
          </p:nvSpPr>
          <p:spPr>
            <a:xfrm>
              <a:off x="3467100" y="5048250"/>
              <a:ext cx="285750" cy="285750"/>
            </a:xfrm>
            <a:prstGeom prst="roundRect">
              <a:avLst>
                <a:gd name="adj" fmla="val 33333"/>
              </a:avLst>
            </a:prstGeom>
            <a:solidFill>
              <a:srgbClr val="E7F2FF"/>
            </a:solidFill>
            <a:ln>
              <a:noFill/>
            </a:ln>
          </p:spPr>
        </p:sp>
        <p:sp>
          <p:nvSpPr>
            <p:cNvPr id="78" name="Freeform 78"/>
            <p:cNvSpPr/>
            <p:nvPr/>
          </p:nvSpPr>
          <p:spPr>
            <a:xfrm>
              <a:off x="3530600" y="5108194"/>
              <a:ext cx="166926" cy="167199"/>
            </a:xfrm>
            <a:custGeom>
              <a:avLst/>
              <a:gdLst/>
              <a:ahLst/>
              <a:cxnLst/>
              <a:rect l="l" t="t" r="r" b="b"/>
              <a:pathLst>
                <a:path w="166926" h="167199">
                  <a:moveTo>
                    <a:pt x="119062" y="14192"/>
                  </a:moveTo>
                  <a:cubicBezTo>
                    <a:pt x="152141" y="33291"/>
                    <a:pt x="166926" y="73242"/>
                    <a:pt x="154249" y="109274"/>
                  </a:cubicBezTo>
                  <a:cubicBezTo>
                    <a:pt x="141573" y="145306"/>
                    <a:pt x="105031" y="167199"/>
                    <a:pt x="67280" y="161380"/>
                  </a:cubicBezTo>
                  <a:cubicBezTo>
                    <a:pt x="29529" y="155561"/>
                    <a:pt x="1277" y="123679"/>
                    <a:pt x="40" y="85502"/>
                  </a:cubicBezTo>
                  <a:lnTo>
                    <a:pt x="0" y="82931"/>
                  </a:lnTo>
                  <a:lnTo>
                    <a:pt x="40" y="80359"/>
                  </a:lnTo>
                  <a:cubicBezTo>
                    <a:pt x="944" y="52474"/>
                    <a:pt x="16421" y="27112"/>
                    <a:pt x="40806" y="13556"/>
                  </a:cubicBezTo>
                  <a:cubicBezTo>
                    <a:pt x="65190" y="0"/>
                    <a:pt x="94901" y="241"/>
                    <a:pt x="119062" y="14192"/>
                  </a:cubicBezTo>
                  <a:close/>
                  <a:moveTo>
                    <a:pt x="79375" y="35306"/>
                  </a:moveTo>
                  <a:cubicBezTo>
                    <a:pt x="75351" y="35306"/>
                    <a:pt x="71964" y="38318"/>
                    <a:pt x="71493" y="42314"/>
                  </a:cubicBezTo>
                  <a:lnTo>
                    <a:pt x="71438" y="43243"/>
                  </a:lnTo>
                  <a:lnTo>
                    <a:pt x="71438" y="82931"/>
                  </a:lnTo>
                  <a:lnTo>
                    <a:pt x="71509" y="83970"/>
                  </a:lnTo>
                  <a:cubicBezTo>
                    <a:pt x="71690" y="85347"/>
                    <a:pt x="72229" y="86653"/>
                    <a:pt x="73073" y="87757"/>
                  </a:cubicBezTo>
                  <a:lnTo>
                    <a:pt x="73763" y="88550"/>
                  </a:lnTo>
                  <a:lnTo>
                    <a:pt x="97576" y="112363"/>
                  </a:lnTo>
                  <a:lnTo>
                    <a:pt x="98322" y="113014"/>
                  </a:lnTo>
                  <a:cubicBezTo>
                    <a:pt x="101185" y="115235"/>
                    <a:pt x="105190" y="115235"/>
                    <a:pt x="108053" y="113014"/>
                  </a:cubicBezTo>
                  <a:lnTo>
                    <a:pt x="108799" y="112355"/>
                  </a:lnTo>
                  <a:lnTo>
                    <a:pt x="109458" y="111609"/>
                  </a:lnTo>
                  <a:cubicBezTo>
                    <a:pt x="111680" y="108745"/>
                    <a:pt x="111680" y="104741"/>
                    <a:pt x="109458" y="101877"/>
                  </a:cubicBezTo>
                  <a:lnTo>
                    <a:pt x="108799" y="101131"/>
                  </a:lnTo>
                  <a:lnTo>
                    <a:pt x="87312" y="79636"/>
                  </a:lnTo>
                  <a:lnTo>
                    <a:pt x="87312" y="43243"/>
                  </a:lnTo>
                  <a:lnTo>
                    <a:pt x="87257" y="42314"/>
                  </a:lnTo>
                  <a:cubicBezTo>
                    <a:pt x="86786" y="38318"/>
                    <a:pt x="83399" y="35306"/>
                    <a:pt x="79375" y="35306"/>
                  </a:cubicBezTo>
                  <a:close/>
                </a:path>
              </a:pathLst>
            </a:custGeom>
            <a:solidFill>
              <a:srgbClr val="0B57D0"/>
            </a:solidFill>
            <a:ln>
              <a:noFill/>
            </a:ln>
          </p:spPr>
        </p:sp>
        <p:sp>
          <p:nvSpPr>
            <p:cNvPr id="79" name="TextBox 79"/>
            <p:cNvSpPr txBox="1"/>
            <p:nvPr/>
          </p:nvSpPr>
          <p:spPr>
            <a:xfrm>
              <a:off x="3849052" y="5088096"/>
              <a:ext cx="586740" cy="245745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600" b="1" dirty="0">
                  <a:solidFill>
                    <a:srgbClr val="102033"/>
                  </a:solidFill>
                  <a:latin typeface="MiSans Normal" panose="00000500000000000000" charset="-122"/>
                  <a:ea typeface="MiSans Normal" panose="00000500000000000000" charset="-122"/>
                  <a:cs typeface="MiSans Normal" panose="00000500000000000000" charset="-122"/>
                </a:rPr>
                <a:t>场景 4</a:t>
              </a:r>
              <a:endParaRPr lang="zh-CN" sz="1600" b="1" dirty="0">
                <a:solidFill>
                  <a:srgbClr val="102033"/>
                </a:solidFill>
                <a:latin typeface="MiSans Normal" panose="00000500000000000000" charset="-122"/>
                <a:ea typeface="MiSans Normal" panose="00000500000000000000" charset="-122"/>
                <a:cs typeface="MiSans Normal" panose="00000500000000000000" charset="-122"/>
              </a:endParaRPr>
            </a:p>
          </p:txBody>
        </p:sp>
        <p:sp>
          <p:nvSpPr>
            <p:cNvPr id="80" name="TextBox 80"/>
            <p:cNvSpPr txBox="1"/>
            <p:nvPr/>
          </p:nvSpPr>
          <p:spPr>
            <a:xfrm>
              <a:off x="3511868" y="5558949"/>
              <a:ext cx="1722120" cy="173355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130" dirty="0">
                  <a:solidFill>
                    <a:srgbClr val="51677F"/>
                  </a:solidFill>
                  <a:latin typeface="MiSans Normal" panose="00000500000000000000" charset="-122"/>
                  <a:ea typeface="MiSans Normal" panose="00000500000000000000" charset="-122"/>
                  <a:cs typeface="等线" panose="02010600030101010101" charset="-122"/>
                </a:rPr>
                <a:t>体力预警：建议放慢节奏。</a:t>
              </a:r>
              <a:endParaRPr lang="zh-CN" sz="1130" dirty="0">
                <a:solidFill>
                  <a:srgbClr val="51677F"/>
                </a:solidFill>
                <a:latin typeface="MiSans Normal" panose="00000500000000000000" charset="-122"/>
                <a:ea typeface="MiSans Normal" panose="00000500000000000000" charset="-122"/>
                <a:cs typeface="等线" panose="02010600030101010101" charset="-122"/>
              </a:endParaRPr>
            </a:p>
          </p:txBody>
        </p:sp>
        <p:sp>
          <p:nvSpPr>
            <p:cNvPr id="81" name="Rectangle 81"/>
            <p:cNvSpPr/>
            <p:nvPr/>
          </p:nvSpPr>
          <p:spPr>
            <a:xfrm>
              <a:off x="6400800" y="1581150"/>
              <a:ext cx="5448300" cy="4724400"/>
            </a:xfrm>
            <a:prstGeom prst="roundRect">
              <a:avLst>
                <a:gd name="adj" fmla="val 4032"/>
              </a:avLst>
            </a:prstGeom>
            <a:solidFill>
              <a:srgbClr val="0B57D0">
                <a:alpha val="5000"/>
              </a:srgbClr>
            </a:solidFill>
            <a:ln>
              <a:noFill/>
            </a:ln>
          </p:spPr>
        </p:sp>
        <p:sp>
          <p:nvSpPr>
            <p:cNvPr id="82" name="Rectangle 82"/>
            <p:cNvSpPr/>
            <p:nvPr/>
          </p:nvSpPr>
          <p:spPr>
            <a:xfrm>
              <a:off x="6324600" y="1485900"/>
              <a:ext cx="5448300" cy="4724400"/>
            </a:xfrm>
            <a:prstGeom prst="roundRect">
              <a:avLst>
                <a:gd name="adj" fmla="val 4032"/>
              </a:avLst>
            </a:prstGeom>
            <a:solidFill>
              <a:srgbClr val="FFFFFF"/>
            </a:solidFill>
            <a:ln w="11430">
              <a:solidFill>
                <a:srgbClr val="BFD9F4"/>
              </a:solidFill>
            </a:ln>
          </p:spPr>
        </p:sp>
        <p:sp>
          <p:nvSpPr>
            <p:cNvPr id="83" name="Line 83"/>
            <p:cNvSpPr/>
            <p:nvPr/>
          </p:nvSpPr>
          <p:spPr>
            <a:xfrm>
              <a:off x="6496050" y="1495425"/>
              <a:ext cx="1238250" cy="9525"/>
            </a:xfrm>
            <a:custGeom>
              <a:avLst/>
              <a:gdLst/>
              <a:ahLst/>
              <a:cxnLst/>
              <a:rect l="l" t="t" r="r" b="b"/>
              <a:pathLst>
                <a:path w="1238250" h="9525">
                  <a:moveTo>
                    <a:pt x="0" y="0"/>
                  </a:moveTo>
                  <a:lnTo>
                    <a:pt x="1238250" y="0"/>
                  </a:lnTo>
                </a:path>
              </a:pathLst>
            </a:custGeom>
            <a:noFill/>
            <a:ln w="19050">
              <a:solidFill>
                <a:srgbClr val="26A7FF">
                  <a:alpha val="90000"/>
                </a:srgbClr>
              </a:solidFill>
            </a:ln>
          </p:spPr>
        </p:sp>
        <p:sp>
          <p:nvSpPr>
            <p:cNvPr id="84" name="TextBox 84"/>
            <p:cNvSpPr txBox="1"/>
            <p:nvPr/>
          </p:nvSpPr>
          <p:spPr>
            <a:xfrm>
              <a:off x="6568440" y="1672590"/>
              <a:ext cx="2980055" cy="27686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800" b="1" dirty="0">
                  <a:solidFill>
                    <a:srgbClr val="102033"/>
                  </a:solidFill>
                  <a:latin typeface="MiSans Normal" panose="00000500000000000000" charset="-122"/>
                  <a:ea typeface="MiSans Normal" panose="00000500000000000000" charset="-122"/>
                  <a:cs typeface="等线" panose="02010600030101010101" charset="-122"/>
                </a:rPr>
                <a:t>蓝小心：把能力变成陪伴体验</a:t>
              </a:r>
              <a:endParaRPr lang="zh-CN" sz="1800" b="1" dirty="0">
                <a:solidFill>
                  <a:srgbClr val="102033"/>
                </a:solidFill>
                <a:latin typeface="MiSans Normal" panose="00000500000000000000" charset="-122"/>
                <a:ea typeface="MiSans Normal" panose="00000500000000000000" charset="-122"/>
                <a:cs typeface="等线" panose="02010600030101010101" charset="-122"/>
              </a:endParaRPr>
            </a:p>
          </p:txBody>
        </p:sp>
        <p:sp>
          <p:nvSpPr>
            <p:cNvPr id="85" name="Rectangle 85"/>
            <p:cNvSpPr/>
            <p:nvPr/>
          </p:nvSpPr>
          <p:spPr>
            <a:xfrm>
              <a:off x="6667500" y="2305050"/>
              <a:ext cx="1752600" cy="3600450"/>
            </a:xfrm>
            <a:prstGeom prst="roundRect">
              <a:avLst>
                <a:gd name="adj" fmla="val 9783"/>
              </a:avLst>
            </a:prstGeom>
            <a:solidFill>
              <a:srgbClr val="0B57D0">
                <a:alpha val="5000"/>
              </a:srgbClr>
            </a:solidFill>
            <a:ln>
              <a:noFill/>
            </a:ln>
          </p:spPr>
        </p:sp>
        <p:sp>
          <p:nvSpPr>
            <p:cNvPr id="86" name="Rectangle 86"/>
            <p:cNvSpPr/>
            <p:nvPr/>
          </p:nvSpPr>
          <p:spPr>
            <a:xfrm>
              <a:off x="6591300" y="2209800"/>
              <a:ext cx="1752600" cy="3600450"/>
            </a:xfrm>
            <a:prstGeom prst="roundRect">
              <a:avLst>
                <a:gd name="adj" fmla="val 9783"/>
              </a:avLst>
            </a:prstGeom>
            <a:solidFill>
              <a:srgbClr val="E7F2FF"/>
            </a:solidFill>
            <a:ln w="11430">
              <a:solidFill>
                <a:srgbClr val="BFD9F4"/>
              </a:solidFill>
            </a:ln>
          </p:spPr>
        </p:sp>
        <p:sp>
          <p:nvSpPr>
            <p:cNvPr id="87" name="Line 87"/>
            <p:cNvSpPr/>
            <p:nvPr/>
          </p:nvSpPr>
          <p:spPr>
            <a:xfrm>
              <a:off x="6762750" y="2219325"/>
              <a:ext cx="1238250" cy="9525"/>
            </a:xfrm>
            <a:custGeom>
              <a:avLst/>
              <a:gdLst/>
              <a:ahLst/>
              <a:cxnLst/>
              <a:rect l="l" t="t" r="r" b="b"/>
              <a:pathLst>
                <a:path w="1238250" h="9525">
                  <a:moveTo>
                    <a:pt x="0" y="0"/>
                  </a:moveTo>
                  <a:lnTo>
                    <a:pt x="1238250" y="0"/>
                  </a:lnTo>
                </a:path>
              </a:pathLst>
            </a:custGeom>
            <a:noFill/>
            <a:ln w="19050">
              <a:solidFill>
                <a:srgbClr val="26A7FF">
                  <a:alpha val="90000"/>
                </a:srgbClr>
              </a:solidFill>
            </a:ln>
          </p:spPr>
        </p:sp>
        <p:pic>
          <p:nvPicPr>
            <p:cNvPr id="88" name="Image 88"/>
            <p:cNvPicPr>
              <a:picLocks noChangeAspect="1"/>
            </p:cNvPicPr>
            <p:nvPr/>
          </p:nvPicPr>
          <p:blipFill>
            <a:blip r:embed="rId2"/>
            <a:stretch>
              <a:fillRect/>
            </a:stretch>
          </p:blipFill>
          <p:spPr>
            <a:xfrm>
              <a:off x="6858000" y="2343150"/>
              <a:ext cx="1219200" cy="1628775"/>
            </a:xfrm>
            <a:prstGeom prst="rect">
              <a:avLst/>
            </a:prstGeom>
          </p:spPr>
        </p:pic>
        <p:sp>
          <p:nvSpPr>
            <p:cNvPr id="89" name="Rectangle 89"/>
            <p:cNvSpPr/>
            <p:nvPr/>
          </p:nvSpPr>
          <p:spPr>
            <a:xfrm>
              <a:off x="7124700" y="4187190"/>
              <a:ext cx="666750" cy="285750"/>
            </a:xfrm>
            <a:prstGeom prst="roundRect">
              <a:avLst>
                <a:gd name="adj" fmla="val 50000"/>
              </a:avLst>
            </a:prstGeom>
            <a:solidFill>
              <a:srgbClr val="EEF8F1"/>
            </a:solidFill>
            <a:ln>
              <a:noFill/>
            </a:ln>
          </p:spPr>
        </p:sp>
        <p:sp>
          <p:nvSpPr>
            <p:cNvPr id="90" name="TextBox 90"/>
            <p:cNvSpPr txBox="1"/>
            <p:nvPr/>
          </p:nvSpPr>
          <p:spPr>
            <a:xfrm>
              <a:off x="7324090" y="4243388"/>
              <a:ext cx="267970" cy="1612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050" b="1" dirty="0">
                  <a:solidFill>
                    <a:srgbClr val="2E7D32"/>
                  </a:solidFill>
                  <a:latin typeface="MiSans Normal" panose="00000500000000000000" charset="-122"/>
                  <a:ea typeface="MiSans Normal" panose="00000500000000000000" charset="-122"/>
                  <a:cs typeface="等线" panose="02010600030101010101" charset="-122"/>
                </a:rPr>
                <a:t>开心</a:t>
              </a:r>
              <a:endParaRPr lang="zh-CN" sz="1050" b="1" dirty="0">
                <a:solidFill>
                  <a:srgbClr val="2E7D32"/>
                </a:solidFill>
                <a:latin typeface="MiSans Normal" panose="00000500000000000000" charset="-122"/>
                <a:ea typeface="MiSans Normal" panose="00000500000000000000" charset="-122"/>
                <a:cs typeface="等线" panose="02010600030101010101" charset="-122"/>
              </a:endParaRPr>
            </a:p>
          </p:txBody>
        </p:sp>
        <p:sp>
          <p:nvSpPr>
            <p:cNvPr id="91" name="Rectangle 91"/>
            <p:cNvSpPr/>
            <p:nvPr/>
          </p:nvSpPr>
          <p:spPr>
            <a:xfrm>
              <a:off x="7124700" y="4762500"/>
              <a:ext cx="666750" cy="285750"/>
            </a:xfrm>
            <a:prstGeom prst="roundRect">
              <a:avLst>
                <a:gd name="adj" fmla="val 50000"/>
              </a:avLst>
            </a:prstGeom>
            <a:solidFill>
              <a:srgbClr val="FFFFFF"/>
            </a:solidFill>
            <a:ln w="13335">
              <a:solidFill>
                <a:srgbClr val="26A7FF"/>
              </a:solidFill>
            </a:ln>
          </p:spPr>
        </p:sp>
        <p:sp>
          <p:nvSpPr>
            <p:cNvPr id="92" name="TextBox 92"/>
            <p:cNvSpPr txBox="1"/>
            <p:nvPr/>
          </p:nvSpPr>
          <p:spPr>
            <a:xfrm>
              <a:off x="7324090" y="4808538"/>
              <a:ext cx="267970" cy="1612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050" b="1" dirty="0">
                  <a:solidFill>
                    <a:srgbClr val="0B57D0"/>
                  </a:solidFill>
                  <a:latin typeface="MiSans Normal" panose="00000500000000000000" charset="-122"/>
                  <a:ea typeface="MiSans Normal" panose="00000500000000000000" charset="-122"/>
                  <a:cs typeface="等线" panose="02010600030101010101" charset="-122"/>
                </a:rPr>
                <a:t>思考</a:t>
              </a:r>
              <a:endParaRPr lang="zh-CN" sz="1050" b="1" dirty="0">
                <a:solidFill>
                  <a:srgbClr val="0B57D0"/>
                </a:solidFill>
                <a:latin typeface="MiSans Normal" panose="00000500000000000000" charset="-122"/>
                <a:ea typeface="MiSans Normal" panose="00000500000000000000" charset="-122"/>
                <a:cs typeface="等线" panose="02010600030101010101" charset="-122"/>
              </a:endParaRPr>
            </a:p>
          </p:txBody>
        </p:sp>
        <p:sp>
          <p:nvSpPr>
            <p:cNvPr id="93" name="Rectangle 93"/>
            <p:cNvSpPr/>
            <p:nvPr/>
          </p:nvSpPr>
          <p:spPr>
            <a:xfrm>
              <a:off x="7124700" y="5317490"/>
              <a:ext cx="666750" cy="285750"/>
            </a:xfrm>
            <a:prstGeom prst="roundRect">
              <a:avLst>
                <a:gd name="adj" fmla="val 50000"/>
              </a:avLst>
            </a:prstGeom>
            <a:solidFill>
              <a:srgbClr val="FFF2EC"/>
            </a:solidFill>
            <a:ln>
              <a:noFill/>
            </a:ln>
          </p:spPr>
        </p:sp>
        <p:sp>
          <p:nvSpPr>
            <p:cNvPr id="94" name="TextBox 94"/>
            <p:cNvSpPr txBox="1"/>
            <p:nvPr/>
          </p:nvSpPr>
          <p:spPr>
            <a:xfrm>
              <a:off x="7324090" y="5353368"/>
              <a:ext cx="267970" cy="1612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050" b="1" dirty="0">
                  <a:solidFill>
                    <a:srgbClr val="C2410C"/>
                  </a:solidFill>
                  <a:latin typeface="MiSans Normal" panose="00000500000000000000" charset="-122"/>
                  <a:ea typeface="MiSans Normal" panose="00000500000000000000" charset="-122"/>
                  <a:cs typeface="等线" panose="02010600030101010101" charset="-122"/>
                </a:rPr>
                <a:t>担心</a:t>
              </a:r>
              <a:endParaRPr lang="zh-CN" sz="1050" b="1" dirty="0">
                <a:solidFill>
                  <a:srgbClr val="C2410C"/>
                </a:solidFill>
                <a:latin typeface="MiSans Normal" panose="00000500000000000000" charset="-122"/>
                <a:ea typeface="MiSans Normal" panose="00000500000000000000" charset="-122"/>
                <a:cs typeface="等线" panose="02010600030101010101" charset="-122"/>
              </a:endParaRPr>
            </a:p>
          </p:txBody>
        </p:sp>
        <p:sp>
          <p:nvSpPr>
            <p:cNvPr id="95" name="Rectangle 95"/>
            <p:cNvSpPr/>
            <p:nvPr/>
          </p:nvSpPr>
          <p:spPr>
            <a:xfrm>
              <a:off x="8648700" y="2305050"/>
              <a:ext cx="2933700" cy="1409700"/>
            </a:xfrm>
            <a:prstGeom prst="roundRect">
              <a:avLst>
                <a:gd name="adj" fmla="val 9459"/>
              </a:avLst>
            </a:prstGeom>
            <a:solidFill>
              <a:srgbClr val="0B57D0">
                <a:alpha val="5000"/>
              </a:srgbClr>
            </a:solidFill>
            <a:ln>
              <a:noFill/>
            </a:ln>
          </p:spPr>
        </p:sp>
        <p:sp>
          <p:nvSpPr>
            <p:cNvPr id="96" name="Rectangle 96"/>
            <p:cNvSpPr/>
            <p:nvPr/>
          </p:nvSpPr>
          <p:spPr>
            <a:xfrm>
              <a:off x="8572500" y="2209800"/>
              <a:ext cx="2933700" cy="1409700"/>
            </a:xfrm>
            <a:prstGeom prst="roundRect">
              <a:avLst>
                <a:gd name="adj" fmla="val 9459"/>
              </a:avLst>
            </a:prstGeom>
            <a:solidFill>
              <a:srgbClr val="FFFFFF"/>
            </a:solidFill>
            <a:ln w="11430">
              <a:solidFill>
                <a:srgbClr val="BFD9F4"/>
              </a:solidFill>
            </a:ln>
          </p:spPr>
        </p:sp>
        <p:sp>
          <p:nvSpPr>
            <p:cNvPr id="97" name="Line 97"/>
            <p:cNvSpPr/>
            <p:nvPr/>
          </p:nvSpPr>
          <p:spPr>
            <a:xfrm>
              <a:off x="8743950" y="2219325"/>
              <a:ext cx="1238250" cy="9525"/>
            </a:xfrm>
            <a:custGeom>
              <a:avLst/>
              <a:gdLst/>
              <a:ahLst/>
              <a:cxnLst/>
              <a:rect l="l" t="t" r="r" b="b"/>
              <a:pathLst>
                <a:path w="1238250" h="9525">
                  <a:moveTo>
                    <a:pt x="0" y="0"/>
                  </a:moveTo>
                  <a:lnTo>
                    <a:pt x="1238250" y="0"/>
                  </a:lnTo>
                </a:path>
              </a:pathLst>
            </a:custGeom>
            <a:noFill/>
            <a:ln w="19050">
              <a:solidFill>
                <a:srgbClr val="26A7FF">
                  <a:alpha val="90000"/>
                </a:srgbClr>
              </a:solidFill>
            </a:ln>
          </p:spPr>
        </p:sp>
        <p:sp>
          <p:nvSpPr>
            <p:cNvPr id="98" name="Rectangle 98"/>
            <p:cNvSpPr/>
            <p:nvPr/>
          </p:nvSpPr>
          <p:spPr>
            <a:xfrm>
              <a:off x="8743950" y="2381250"/>
              <a:ext cx="285750" cy="285750"/>
            </a:xfrm>
            <a:prstGeom prst="roundRect">
              <a:avLst>
                <a:gd name="adj" fmla="val 33333"/>
              </a:avLst>
            </a:prstGeom>
            <a:solidFill>
              <a:srgbClr val="E7F2FF"/>
            </a:solidFill>
            <a:ln>
              <a:noFill/>
            </a:ln>
          </p:spPr>
        </p:sp>
        <p:grpSp>
          <p:nvGrpSpPr>
            <p:cNvPr id="102" name="Group 102"/>
            <p:cNvGrpSpPr/>
            <p:nvPr/>
          </p:nvGrpSpPr>
          <p:grpSpPr>
            <a:xfrm>
              <a:off x="8804807" y="2450044"/>
              <a:ext cx="156099" cy="148161"/>
              <a:chOff x="8804807" y="2450044"/>
              <a:chExt cx="156099" cy="148161"/>
            </a:xfrm>
          </p:grpSpPr>
          <p:sp>
            <p:nvSpPr>
              <p:cNvPr id="99" name="Freeform 99"/>
              <p:cNvSpPr/>
              <p:nvPr/>
            </p:nvSpPr>
            <p:spPr>
              <a:xfrm>
                <a:off x="8910638" y="2545294"/>
                <a:ext cx="50268" cy="52911"/>
              </a:xfrm>
              <a:custGeom>
                <a:avLst/>
                <a:gdLst/>
                <a:ahLst/>
                <a:cxnLst/>
                <a:rect l="l" t="t" r="r" b="b"/>
                <a:pathLst>
                  <a:path w="50268" h="52911">
                    <a:moveTo>
                      <a:pt x="7938" y="34393"/>
                    </a:moveTo>
                    <a:cubicBezTo>
                      <a:pt x="3554" y="34393"/>
                      <a:pt x="0" y="30839"/>
                      <a:pt x="0" y="26456"/>
                    </a:cubicBezTo>
                    <a:cubicBezTo>
                      <a:pt x="0" y="22072"/>
                      <a:pt x="3554" y="18518"/>
                      <a:pt x="7938" y="18518"/>
                    </a:cubicBezTo>
                    <a:cubicBezTo>
                      <a:pt x="12321" y="18518"/>
                      <a:pt x="15875" y="14964"/>
                      <a:pt x="15875" y="10581"/>
                    </a:cubicBezTo>
                    <a:cubicBezTo>
                      <a:pt x="15875" y="0"/>
                      <a:pt x="31750" y="0"/>
                      <a:pt x="31750" y="10581"/>
                    </a:cubicBezTo>
                    <a:cubicBezTo>
                      <a:pt x="31750" y="14964"/>
                      <a:pt x="35304" y="18518"/>
                      <a:pt x="39687" y="18518"/>
                    </a:cubicBezTo>
                    <a:cubicBezTo>
                      <a:pt x="50268" y="18518"/>
                      <a:pt x="50268" y="34393"/>
                      <a:pt x="39687" y="34393"/>
                    </a:cubicBezTo>
                    <a:cubicBezTo>
                      <a:pt x="35304" y="34393"/>
                      <a:pt x="31750" y="37947"/>
                      <a:pt x="31750" y="42331"/>
                    </a:cubicBezTo>
                    <a:cubicBezTo>
                      <a:pt x="31750" y="52911"/>
                      <a:pt x="15875" y="52911"/>
                      <a:pt x="15875" y="42331"/>
                    </a:cubicBezTo>
                    <a:cubicBezTo>
                      <a:pt x="15875" y="37947"/>
                      <a:pt x="12321" y="34393"/>
                      <a:pt x="7938" y="34393"/>
                    </a:cubicBezTo>
                  </a:path>
                </a:pathLst>
              </a:custGeom>
              <a:solidFill>
                <a:srgbClr val="0B57D0"/>
              </a:solidFill>
              <a:ln>
                <a:noFill/>
              </a:ln>
            </p:spPr>
          </p:sp>
          <p:sp>
            <p:nvSpPr>
              <p:cNvPr id="100" name="Freeform 100"/>
              <p:cNvSpPr/>
              <p:nvPr/>
            </p:nvSpPr>
            <p:spPr>
              <a:xfrm>
                <a:off x="8804807" y="2465919"/>
                <a:ext cx="116411" cy="113768"/>
              </a:xfrm>
              <a:custGeom>
                <a:avLst/>
                <a:gdLst/>
                <a:ahLst/>
                <a:cxnLst/>
                <a:rect l="l" t="t" r="r" b="b"/>
                <a:pathLst>
                  <a:path w="116411" h="113768">
                    <a:moveTo>
                      <a:pt x="10581" y="50268"/>
                    </a:moveTo>
                    <a:cubicBezTo>
                      <a:pt x="32499" y="50268"/>
                      <a:pt x="50268" y="32499"/>
                      <a:pt x="50268" y="10581"/>
                    </a:cubicBezTo>
                    <a:cubicBezTo>
                      <a:pt x="50268" y="0"/>
                      <a:pt x="66143" y="0"/>
                      <a:pt x="66143" y="10581"/>
                    </a:cubicBezTo>
                    <a:cubicBezTo>
                      <a:pt x="66143" y="32499"/>
                      <a:pt x="83912" y="50268"/>
                      <a:pt x="105831" y="50268"/>
                    </a:cubicBezTo>
                    <a:cubicBezTo>
                      <a:pt x="116411" y="50268"/>
                      <a:pt x="116411" y="66143"/>
                      <a:pt x="105831" y="66143"/>
                    </a:cubicBezTo>
                    <a:cubicBezTo>
                      <a:pt x="83912" y="66143"/>
                      <a:pt x="66143" y="83912"/>
                      <a:pt x="66143" y="105831"/>
                    </a:cubicBezTo>
                    <a:cubicBezTo>
                      <a:pt x="66143" y="110214"/>
                      <a:pt x="62589" y="113768"/>
                      <a:pt x="58206" y="113768"/>
                    </a:cubicBezTo>
                    <a:cubicBezTo>
                      <a:pt x="53822" y="113768"/>
                      <a:pt x="50268" y="110214"/>
                      <a:pt x="50268" y="105831"/>
                    </a:cubicBezTo>
                    <a:cubicBezTo>
                      <a:pt x="50268" y="83912"/>
                      <a:pt x="32499" y="66143"/>
                      <a:pt x="10581" y="66143"/>
                    </a:cubicBezTo>
                    <a:cubicBezTo>
                      <a:pt x="0" y="66143"/>
                      <a:pt x="0" y="50268"/>
                      <a:pt x="10581" y="50268"/>
                    </a:cubicBezTo>
                  </a:path>
                </a:pathLst>
              </a:custGeom>
              <a:solidFill>
                <a:srgbClr val="0B57D0"/>
              </a:solidFill>
              <a:ln>
                <a:noFill/>
              </a:ln>
            </p:spPr>
          </p:sp>
          <p:sp>
            <p:nvSpPr>
              <p:cNvPr id="101" name="Freeform 101"/>
              <p:cNvSpPr/>
              <p:nvPr/>
            </p:nvSpPr>
            <p:spPr>
              <a:xfrm>
                <a:off x="8910638" y="2450044"/>
                <a:ext cx="50268" cy="52911"/>
              </a:xfrm>
              <a:custGeom>
                <a:avLst/>
                <a:gdLst/>
                <a:ahLst/>
                <a:cxnLst/>
                <a:rect l="l" t="t" r="r" b="b"/>
                <a:pathLst>
                  <a:path w="50268" h="52911">
                    <a:moveTo>
                      <a:pt x="7938" y="34393"/>
                    </a:moveTo>
                    <a:cubicBezTo>
                      <a:pt x="3554" y="34393"/>
                      <a:pt x="0" y="30839"/>
                      <a:pt x="0" y="26456"/>
                    </a:cubicBezTo>
                    <a:cubicBezTo>
                      <a:pt x="0" y="22072"/>
                      <a:pt x="3554" y="18518"/>
                      <a:pt x="7938" y="18518"/>
                    </a:cubicBezTo>
                    <a:cubicBezTo>
                      <a:pt x="12321" y="18518"/>
                      <a:pt x="15875" y="14964"/>
                      <a:pt x="15875" y="10581"/>
                    </a:cubicBezTo>
                    <a:cubicBezTo>
                      <a:pt x="15875" y="0"/>
                      <a:pt x="31750" y="0"/>
                      <a:pt x="31750" y="10581"/>
                    </a:cubicBezTo>
                    <a:cubicBezTo>
                      <a:pt x="31750" y="14964"/>
                      <a:pt x="35304" y="18518"/>
                      <a:pt x="39687" y="18518"/>
                    </a:cubicBezTo>
                    <a:cubicBezTo>
                      <a:pt x="50268" y="18518"/>
                      <a:pt x="50268" y="34393"/>
                      <a:pt x="39687" y="34393"/>
                    </a:cubicBezTo>
                    <a:cubicBezTo>
                      <a:pt x="35304" y="34393"/>
                      <a:pt x="31750" y="37947"/>
                      <a:pt x="31750" y="42331"/>
                    </a:cubicBezTo>
                    <a:cubicBezTo>
                      <a:pt x="31750" y="52911"/>
                      <a:pt x="15875" y="52911"/>
                      <a:pt x="15875" y="42331"/>
                    </a:cubicBezTo>
                    <a:cubicBezTo>
                      <a:pt x="15875" y="37947"/>
                      <a:pt x="12321" y="34393"/>
                      <a:pt x="7938" y="34393"/>
                    </a:cubicBezTo>
                  </a:path>
                </a:pathLst>
              </a:custGeom>
              <a:solidFill>
                <a:srgbClr val="0B57D0"/>
              </a:solidFill>
              <a:ln>
                <a:noFill/>
              </a:ln>
            </p:spPr>
          </p:sp>
        </p:grpSp>
        <p:sp>
          <p:nvSpPr>
            <p:cNvPr id="103" name="TextBox 103"/>
            <p:cNvSpPr txBox="1"/>
            <p:nvPr/>
          </p:nvSpPr>
          <p:spPr>
            <a:xfrm>
              <a:off x="9167177" y="2421096"/>
              <a:ext cx="815340" cy="245745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600" b="1" dirty="0">
                  <a:solidFill>
                    <a:srgbClr val="102033"/>
                  </a:solidFill>
                  <a:latin typeface="MiSans Normal" panose="00000500000000000000" charset="-122"/>
                  <a:ea typeface="MiSans Normal" panose="00000500000000000000" charset="-122"/>
                  <a:cs typeface="等线" panose="02010600030101010101" charset="-122"/>
                </a:rPr>
                <a:t>角色能力</a:t>
              </a:r>
              <a:endParaRPr lang="zh-CN" sz="1600" b="1" dirty="0">
                <a:solidFill>
                  <a:srgbClr val="102033"/>
                </a:solidFill>
                <a:latin typeface="MiSans Normal" panose="00000500000000000000" charset="-122"/>
                <a:ea typeface="MiSans Normal" panose="00000500000000000000" charset="-122"/>
                <a:cs typeface="等线" panose="02010600030101010101" charset="-122"/>
              </a:endParaRPr>
            </a:p>
          </p:txBody>
        </p:sp>
        <p:sp>
          <p:nvSpPr>
            <p:cNvPr id="104" name="TextBox 104"/>
            <p:cNvSpPr txBox="1"/>
            <p:nvPr/>
          </p:nvSpPr>
          <p:spPr>
            <a:xfrm>
              <a:off x="8786812" y="2753201"/>
              <a:ext cx="2089785" cy="694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altLang="en-US" sz="1125" dirty="0">
                  <a:solidFill>
                    <a:srgbClr val="51677F"/>
                  </a:solidFill>
                  <a:latin typeface="MiSans Normal" panose="00000500000000000000" charset="-122"/>
                  <a:ea typeface="MiSans Normal" panose="00000500000000000000" charset="-122"/>
                  <a:cs typeface="等线" panose="02010600030101010101" charset="-122"/>
                </a:rPr>
                <a:t>蓝小心是产品的具身化表达层</a:t>
              </a:r>
              <a:endParaRPr lang="zh-CN" altLang="en-US" sz="1125" dirty="0">
                <a:solidFill>
                  <a:srgbClr val="51677F"/>
                </a:solidFill>
                <a:latin typeface="MiSans Normal" panose="00000500000000000000" charset="-122"/>
                <a:ea typeface="MiSans Normal" panose="00000500000000000000" charset="-122"/>
                <a:cs typeface="等线" panose="02010600030101010101" charset="-122"/>
              </a:endParaRPr>
            </a:p>
            <a:p>
              <a:pPr algn="l"/>
              <a:r>
                <a:rPr lang="zh-CN" altLang="en-US" sz="1125" dirty="0">
                  <a:solidFill>
                    <a:srgbClr val="51677F"/>
                  </a:solidFill>
                  <a:latin typeface="MiSans Normal" panose="00000500000000000000" charset="-122"/>
                  <a:ea typeface="MiSans Normal" panose="00000500000000000000" charset="-122"/>
                  <a:cs typeface="等线" panose="02010600030101010101" charset="-122"/>
                </a:rPr>
                <a:t>人格决定对话风格与主动频率</a:t>
              </a:r>
              <a:endParaRPr lang="zh-CN" altLang="en-US" sz="1125" dirty="0">
                <a:solidFill>
                  <a:srgbClr val="51677F"/>
                </a:solidFill>
                <a:latin typeface="MiSans Normal" panose="00000500000000000000" charset="-122"/>
                <a:ea typeface="MiSans Normal" panose="00000500000000000000" charset="-122"/>
                <a:cs typeface="等线" panose="02010600030101010101" charset="-122"/>
              </a:endParaRPr>
            </a:p>
            <a:p>
              <a:pPr algn="l"/>
              <a:r>
                <a:rPr lang="zh-CN" altLang="en-US" sz="1125" dirty="0">
                  <a:solidFill>
                    <a:srgbClr val="51677F"/>
                  </a:solidFill>
                  <a:latin typeface="MiSans Normal" panose="00000500000000000000" charset="-122"/>
                  <a:ea typeface="MiSans Normal" panose="00000500000000000000" charset="-122"/>
                  <a:cs typeface="等线" panose="02010600030101010101" charset="-122"/>
                </a:rPr>
                <a:t>状态随旅程实时变化</a:t>
              </a:r>
              <a:endParaRPr lang="zh-CN" altLang="en-US" sz="1125" dirty="0">
                <a:solidFill>
                  <a:srgbClr val="51677F"/>
                </a:solidFill>
                <a:latin typeface="MiSans Normal" panose="00000500000000000000" charset="-122"/>
                <a:ea typeface="MiSans Normal" panose="00000500000000000000" charset="-122"/>
                <a:cs typeface="等线" panose="02010600030101010101" charset="-122"/>
              </a:endParaRPr>
            </a:p>
            <a:p>
              <a:pPr algn="l"/>
              <a:r>
                <a:rPr lang="zh-CN" altLang="en-US" sz="1125" dirty="0">
                  <a:solidFill>
                    <a:srgbClr val="51677F"/>
                  </a:solidFill>
                  <a:latin typeface="MiSans Normal" panose="00000500000000000000" charset="-122"/>
                  <a:ea typeface="MiSans Normal" panose="00000500000000000000" charset="-122"/>
                  <a:cs typeface="等线" panose="02010600030101010101" charset="-122"/>
                </a:rPr>
                <a:t>表情与动作让用户</a:t>
              </a:r>
              <a:r>
                <a:rPr lang="en-US" altLang="zh-CN" sz="1125" dirty="0">
                  <a:solidFill>
                    <a:srgbClr val="51677F"/>
                  </a:solidFill>
                  <a:latin typeface="MiSans Normal" panose="00000500000000000000" charset="-122"/>
                  <a:ea typeface="MiSans Normal" panose="00000500000000000000" charset="-122"/>
                  <a:cs typeface="等线" panose="02010600030101010101" charset="-122"/>
                </a:rPr>
                <a:t>"</a:t>
              </a:r>
              <a:r>
                <a:rPr lang="zh-CN" altLang="en-US" sz="1125" dirty="0">
                  <a:solidFill>
                    <a:srgbClr val="51677F"/>
                  </a:solidFill>
                  <a:latin typeface="MiSans Normal" panose="00000500000000000000" charset="-122"/>
                  <a:ea typeface="MiSans Normal" panose="00000500000000000000" charset="-122"/>
                  <a:cs typeface="等线" panose="02010600030101010101" charset="-122"/>
                </a:rPr>
                <a:t>看到</a:t>
              </a:r>
              <a:r>
                <a:rPr lang="en-US" altLang="zh-CN" sz="1125" dirty="0">
                  <a:solidFill>
                    <a:srgbClr val="51677F"/>
                  </a:solidFill>
                  <a:latin typeface="MiSans Normal" panose="00000500000000000000" charset="-122"/>
                  <a:ea typeface="MiSans Normal" panose="00000500000000000000" charset="-122"/>
                  <a:cs typeface="等线" panose="02010600030101010101" charset="-122"/>
                </a:rPr>
                <a:t>"AI</a:t>
              </a:r>
              <a:r>
                <a:rPr lang="zh-CN" altLang="en-US" sz="1125" dirty="0">
                  <a:solidFill>
                    <a:srgbClr val="51677F"/>
                  </a:solidFill>
                  <a:latin typeface="MiSans Normal" panose="00000500000000000000" charset="-122"/>
                  <a:ea typeface="MiSans Normal" panose="00000500000000000000" charset="-122"/>
                  <a:cs typeface="等线" panose="02010600030101010101" charset="-122"/>
                </a:rPr>
                <a:t>的反馈</a:t>
              </a:r>
              <a:endParaRPr lang="zh-CN" altLang="en-US" sz="1125" dirty="0">
                <a:solidFill>
                  <a:srgbClr val="51677F"/>
                </a:solidFill>
                <a:latin typeface="MiSans Normal" panose="00000500000000000000" charset="-122"/>
                <a:ea typeface="MiSans Normal" panose="00000500000000000000" charset="-122"/>
                <a:cs typeface="等线" panose="02010600030101010101" charset="-122"/>
              </a:endParaRPr>
            </a:p>
          </p:txBody>
        </p:sp>
        <p:sp>
          <p:nvSpPr>
            <p:cNvPr id="105" name="Rectangle 105"/>
            <p:cNvSpPr/>
            <p:nvPr/>
          </p:nvSpPr>
          <p:spPr>
            <a:xfrm>
              <a:off x="8648700" y="3924300"/>
              <a:ext cx="2933700" cy="914400"/>
            </a:xfrm>
            <a:prstGeom prst="roundRect">
              <a:avLst>
                <a:gd name="adj" fmla="val 14583"/>
              </a:avLst>
            </a:prstGeom>
            <a:solidFill>
              <a:srgbClr val="0B57D0">
                <a:alpha val="5000"/>
              </a:srgbClr>
            </a:solidFill>
            <a:ln>
              <a:noFill/>
            </a:ln>
          </p:spPr>
        </p:sp>
        <p:sp>
          <p:nvSpPr>
            <p:cNvPr id="106" name="Rectangle 106"/>
            <p:cNvSpPr/>
            <p:nvPr/>
          </p:nvSpPr>
          <p:spPr>
            <a:xfrm>
              <a:off x="8572500" y="3829050"/>
              <a:ext cx="2933700" cy="914400"/>
            </a:xfrm>
            <a:prstGeom prst="roundRect">
              <a:avLst>
                <a:gd name="adj" fmla="val 14583"/>
              </a:avLst>
            </a:prstGeom>
            <a:solidFill>
              <a:srgbClr val="FFFFFF"/>
            </a:solidFill>
            <a:ln w="11430">
              <a:solidFill>
                <a:srgbClr val="BFD9F4"/>
              </a:solidFill>
            </a:ln>
          </p:spPr>
        </p:sp>
        <p:sp>
          <p:nvSpPr>
            <p:cNvPr id="107" name="Line 107"/>
            <p:cNvSpPr/>
            <p:nvPr/>
          </p:nvSpPr>
          <p:spPr>
            <a:xfrm>
              <a:off x="8743950" y="3838575"/>
              <a:ext cx="1238250" cy="9525"/>
            </a:xfrm>
            <a:custGeom>
              <a:avLst/>
              <a:gdLst/>
              <a:ahLst/>
              <a:cxnLst/>
              <a:rect l="l" t="t" r="r" b="b"/>
              <a:pathLst>
                <a:path w="1238250" h="9525">
                  <a:moveTo>
                    <a:pt x="0" y="0"/>
                  </a:moveTo>
                  <a:lnTo>
                    <a:pt x="1238250" y="0"/>
                  </a:lnTo>
                </a:path>
              </a:pathLst>
            </a:custGeom>
            <a:noFill/>
            <a:ln w="19050">
              <a:solidFill>
                <a:srgbClr val="26A7FF">
                  <a:alpha val="90000"/>
                </a:srgbClr>
              </a:solidFill>
            </a:ln>
          </p:spPr>
        </p:sp>
        <p:sp>
          <p:nvSpPr>
            <p:cNvPr id="108" name="Rectangle 108"/>
            <p:cNvSpPr/>
            <p:nvPr/>
          </p:nvSpPr>
          <p:spPr>
            <a:xfrm>
              <a:off x="8743950" y="4000500"/>
              <a:ext cx="285750" cy="285750"/>
            </a:xfrm>
            <a:prstGeom prst="roundRect">
              <a:avLst>
                <a:gd name="adj" fmla="val 33333"/>
              </a:avLst>
            </a:prstGeom>
            <a:solidFill>
              <a:srgbClr val="E7F2FF"/>
            </a:solidFill>
            <a:ln>
              <a:noFill/>
            </a:ln>
          </p:spPr>
        </p:sp>
        <p:sp>
          <p:nvSpPr>
            <p:cNvPr id="109" name="Freeform 109"/>
            <p:cNvSpPr/>
            <p:nvPr/>
          </p:nvSpPr>
          <p:spPr>
            <a:xfrm>
              <a:off x="8807449" y="4071935"/>
              <a:ext cx="158751" cy="142878"/>
            </a:xfrm>
            <a:custGeom>
              <a:avLst/>
              <a:gdLst/>
              <a:ahLst/>
              <a:cxnLst/>
              <a:rect l="l" t="t" r="r" b="b"/>
              <a:pathLst>
                <a:path w="158751" h="142878">
                  <a:moveTo>
                    <a:pt x="103188" y="3"/>
                  </a:moveTo>
                  <a:cubicBezTo>
                    <a:pt x="111496" y="0"/>
                    <a:pt x="118400" y="6403"/>
                    <a:pt x="119024" y="14687"/>
                  </a:cubicBezTo>
                  <a:lnTo>
                    <a:pt x="119063" y="15878"/>
                  </a:lnTo>
                  <a:cubicBezTo>
                    <a:pt x="119064" y="19902"/>
                    <a:pt x="122076" y="23289"/>
                    <a:pt x="126072" y="23760"/>
                  </a:cubicBezTo>
                  <a:lnTo>
                    <a:pt x="127001" y="23815"/>
                  </a:lnTo>
                  <a:lnTo>
                    <a:pt x="134938" y="23815"/>
                  </a:lnTo>
                  <a:cubicBezTo>
                    <a:pt x="147547" y="23814"/>
                    <a:pt x="157971" y="33643"/>
                    <a:pt x="158711" y="46231"/>
                  </a:cubicBezTo>
                  <a:lnTo>
                    <a:pt x="158751" y="47628"/>
                  </a:lnTo>
                  <a:lnTo>
                    <a:pt x="158751" y="119065"/>
                  </a:lnTo>
                  <a:cubicBezTo>
                    <a:pt x="158751" y="131674"/>
                    <a:pt x="148923" y="142098"/>
                    <a:pt x="136335" y="142838"/>
                  </a:cubicBezTo>
                  <a:lnTo>
                    <a:pt x="134938" y="142878"/>
                  </a:lnTo>
                  <a:lnTo>
                    <a:pt x="23813" y="142878"/>
                  </a:lnTo>
                  <a:cubicBezTo>
                    <a:pt x="11204" y="142878"/>
                    <a:pt x="780" y="133050"/>
                    <a:pt x="40" y="120462"/>
                  </a:cubicBezTo>
                  <a:lnTo>
                    <a:pt x="1" y="119065"/>
                  </a:lnTo>
                  <a:lnTo>
                    <a:pt x="1" y="47628"/>
                  </a:lnTo>
                  <a:cubicBezTo>
                    <a:pt x="0" y="35018"/>
                    <a:pt x="9829" y="24595"/>
                    <a:pt x="22416" y="23855"/>
                  </a:cubicBezTo>
                  <a:lnTo>
                    <a:pt x="23813" y="23815"/>
                  </a:lnTo>
                  <a:lnTo>
                    <a:pt x="31751" y="23815"/>
                  </a:lnTo>
                  <a:cubicBezTo>
                    <a:pt x="36134" y="23815"/>
                    <a:pt x="39688" y="20261"/>
                    <a:pt x="39688" y="15878"/>
                  </a:cubicBezTo>
                  <a:cubicBezTo>
                    <a:pt x="39686" y="7570"/>
                    <a:pt x="46088" y="665"/>
                    <a:pt x="54373" y="42"/>
                  </a:cubicBezTo>
                  <a:lnTo>
                    <a:pt x="55563" y="3"/>
                  </a:lnTo>
                  <a:lnTo>
                    <a:pt x="103188" y="3"/>
                  </a:lnTo>
                  <a:close/>
                  <a:moveTo>
                    <a:pt x="79376" y="55565"/>
                  </a:moveTo>
                  <a:cubicBezTo>
                    <a:pt x="67152" y="55564"/>
                    <a:pt x="56913" y="64819"/>
                    <a:pt x="55682" y="76981"/>
                  </a:cubicBezTo>
                  <a:lnTo>
                    <a:pt x="55595" y="78187"/>
                  </a:lnTo>
                  <a:lnTo>
                    <a:pt x="55563" y="79378"/>
                  </a:lnTo>
                  <a:lnTo>
                    <a:pt x="55595" y="80568"/>
                  </a:lnTo>
                  <a:cubicBezTo>
                    <a:pt x="56245" y="93549"/>
                    <a:pt x="67183" y="103611"/>
                    <a:pt x="80172" y="103177"/>
                  </a:cubicBezTo>
                  <a:cubicBezTo>
                    <a:pt x="93162" y="102743"/>
                    <a:pt x="103404" y="91974"/>
                    <a:pt x="103187" y="78979"/>
                  </a:cubicBezTo>
                  <a:cubicBezTo>
                    <a:pt x="102969" y="65984"/>
                    <a:pt x="92372" y="55564"/>
                    <a:pt x="79376" y="55565"/>
                  </a:cubicBezTo>
                  <a:close/>
                </a:path>
              </a:pathLst>
            </a:custGeom>
            <a:solidFill>
              <a:srgbClr val="0B57D0"/>
            </a:solidFill>
            <a:ln>
              <a:noFill/>
            </a:ln>
          </p:spPr>
        </p:sp>
        <p:sp>
          <p:nvSpPr>
            <p:cNvPr id="110" name="TextBox 110"/>
            <p:cNvSpPr txBox="1"/>
            <p:nvPr/>
          </p:nvSpPr>
          <p:spPr>
            <a:xfrm>
              <a:off x="9167177" y="4028281"/>
              <a:ext cx="815340" cy="245745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600" b="1" dirty="0">
                  <a:solidFill>
                    <a:srgbClr val="102033"/>
                  </a:solidFill>
                  <a:latin typeface="MiSans Normal" panose="00000500000000000000" charset="-122"/>
                  <a:ea typeface="MiSans Normal" panose="00000500000000000000" charset="-122"/>
                  <a:cs typeface="等线" panose="02010600030101010101" charset="-122"/>
                </a:rPr>
                <a:t>关系成长</a:t>
              </a:r>
              <a:endParaRPr lang="zh-CN" sz="1600" b="1" dirty="0">
                <a:solidFill>
                  <a:srgbClr val="102033"/>
                </a:solidFill>
                <a:latin typeface="MiSans Normal" panose="00000500000000000000" charset="-122"/>
                <a:ea typeface="MiSans Normal" panose="00000500000000000000" charset="-122"/>
                <a:cs typeface="等线" panose="02010600030101010101" charset="-122"/>
              </a:endParaRPr>
            </a:p>
          </p:txBody>
        </p:sp>
        <p:sp>
          <p:nvSpPr>
            <p:cNvPr id="111" name="TextBox 111"/>
            <p:cNvSpPr txBox="1"/>
            <p:nvPr/>
          </p:nvSpPr>
          <p:spPr>
            <a:xfrm>
              <a:off x="8788718" y="4409599"/>
              <a:ext cx="2439670" cy="173355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130" dirty="0">
                  <a:solidFill>
                    <a:srgbClr val="51677F"/>
                  </a:solidFill>
                  <a:latin typeface="MiSans Normal" panose="00000500000000000000" charset="-122"/>
                  <a:ea typeface="MiSans Normal" panose="00000500000000000000" charset="-122"/>
                  <a:cs typeface="等线" panose="02010600030101010101" charset="-122"/>
                </a:rPr>
                <a:t>复盘展示新增记忆、高光和下次建议。</a:t>
              </a:r>
              <a:endParaRPr lang="zh-CN" sz="1130" dirty="0">
                <a:solidFill>
                  <a:srgbClr val="51677F"/>
                </a:solidFill>
                <a:latin typeface="MiSans Normal" panose="00000500000000000000" charset="-122"/>
                <a:ea typeface="MiSans Normal" panose="00000500000000000000" charset="-122"/>
                <a:cs typeface="等线" panose="02010600030101010101" charset="-122"/>
              </a:endParaRPr>
            </a:p>
          </p:txBody>
        </p:sp>
        <p:sp>
          <p:nvSpPr>
            <p:cNvPr id="112" name="Rectangle 112"/>
            <p:cNvSpPr/>
            <p:nvPr/>
          </p:nvSpPr>
          <p:spPr>
            <a:xfrm>
              <a:off x="8648700" y="4914900"/>
              <a:ext cx="2933700" cy="990600"/>
            </a:xfrm>
            <a:prstGeom prst="roundRect">
              <a:avLst>
                <a:gd name="adj" fmla="val 13462"/>
              </a:avLst>
            </a:prstGeom>
            <a:solidFill>
              <a:srgbClr val="0B57D0">
                <a:alpha val="5000"/>
              </a:srgbClr>
            </a:solidFill>
            <a:ln>
              <a:noFill/>
            </a:ln>
          </p:spPr>
        </p:sp>
        <p:sp>
          <p:nvSpPr>
            <p:cNvPr id="113" name="Rectangle 113"/>
            <p:cNvSpPr/>
            <p:nvPr/>
          </p:nvSpPr>
          <p:spPr>
            <a:xfrm>
              <a:off x="8572500" y="4819650"/>
              <a:ext cx="2933700" cy="990600"/>
            </a:xfrm>
            <a:prstGeom prst="roundRect">
              <a:avLst>
                <a:gd name="adj" fmla="val 13462"/>
              </a:avLst>
            </a:prstGeom>
            <a:solidFill>
              <a:srgbClr val="FFFFFF"/>
            </a:solidFill>
            <a:ln w="11430">
              <a:solidFill>
                <a:srgbClr val="BFD9F4"/>
              </a:solidFill>
            </a:ln>
          </p:spPr>
        </p:sp>
        <p:sp>
          <p:nvSpPr>
            <p:cNvPr id="114" name="Line 114"/>
            <p:cNvSpPr/>
            <p:nvPr/>
          </p:nvSpPr>
          <p:spPr>
            <a:xfrm>
              <a:off x="8743950" y="4829175"/>
              <a:ext cx="1238250" cy="9525"/>
            </a:xfrm>
            <a:custGeom>
              <a:avLst/>
              <a:gdLst/>
              <a:ahLst/>
              <a:cxnLst/>
              <a:rect l="l" t="t" r="r" b="b"/>
              <a:pathLst>
                <a:path w="1238250" h="9525">
                  <a:moveTo>
                    <a:pt x="0" y="0"/>
                  </a:moveTo>
                  <a:lnTo>
                    <a:pt x="1238250" y="0"/>
                  </a:lnTo>
                </a:path>
              </a:pathLst>
            </a:custGeom>
            <a:noFill/>
            <a:ln w="19050">
              <a:solidFill>
                <a:srgbClr val="26A7FF">
                  <a:alpha val="90000"/>
                </a:srgbClr>
              </a:solidFill>
            </a:ln>
          </p:spPr>
        </p:sp>
        <p:sp>
          <p:nvSpPr>
            <p:cNvPr id="115" name="Rectangle 115"/>
            <p:cNvSpPr/>
            <p:nvPr/>
          </p:nvSpPr>
          <p:spPr>
            <a:xfrm>
              <a:off x="8743950" y="4991100"/>
              <a:ext cx="285750" cy="285750"/>
            </a:xfrm>
            <a:prstGeom prst="roundRect">
              <a:avLst>
                <a:gd name="adj" fmla="val 33333"/>
              </a:avLst>
            </a:prstGeom>
            <a:solidFill>
              <a:srgbClr val="E7F2FF"/>
            </a:solidFill>
            <a:ln>
              <a:noFill/>
            </a:ln>
          </p:spPr>
        </p:sp>
        <p:grpSp>
          <p:nvGrpSpPr>
            <p:cNvPr id="119" name="Group 119"/>
            <p:cNvGrpSpPr/>
            <p:nvPr/>
          </p:nvGrpSpPr>
          <p:grpSpPr>
            <a:xfrm>
              <a:off x="8815388" y="5062538"/>
              <a:ext cx="142874" cy="142875"/>
              <a:chOff x="8815388" y="5062538"/>
              <a:chExt cx="142874" cy="142875"/>
            </a:xfrm>
          </p:grpSpPr>
          <p:sp>
            <p:nvSpPr>
              <p:cNvPr id="116" name="Freeform 116"/>
              <p:cNvSpPr/>
              <p:nvPr/>
            </p:nvSpPr>
            <p:spPr>
              <a:xfrm>
                <a:off x="8815388" y="5062538"/>
                <a:ext cx="63500" cy="55563"/>
              </a:xfrm>
              <a:custGeom>
                <a:avLst/>
                <a:gdLst/>
                <a:ahLst/>
                <a:cxnLst/>
                <a:rect l="l" t="t" r="r" b="b"/>
                <a:pathLst>
                  <a:path w="63500" h="55563">
                    <a:moveTo>
                      <a:pt x="39687" y="0"/>
                    </a:moveTo>
                    <a:cubicBezTo>
                      <a:pt x="52839" y="0"/>
                      <a:pt x="63500" y="10661"/>
                      <a:pt x="63500" y="23812"/>
                    </a:cubicBezTo>
                    <a:lnTo>
                      <a:pt x="63500" y="31750"/>
                    </a:lnTo>
                    <a:cubicBezTo>
                      <a:pt x="63500" y="44901"/>
                      <a:pt x="52839" y="55563"/>
                      <a:pt x="39687" y="55563"/>
                    </a:cubicBezTo>
                    <a:lnTo>
                      <a:pt x="23812" y="55563"/>
                    </a:lnTo>
                    <a:cubicBezTo>
                      <a:pt x="10661" y="55563"/>
                      <a:pt x="0" y="44901"/>
                      <a:pt x="0" y="31750"/>
                    </a:cubicBezTo>
                    <a:lnTo>
                      <a:pt x="0" y="23812"/>
                    </a:lnTo>
                    <a:cubicBezTo>
                      <a:pt x="0" y="10661"/>
                      <a:pt x="10661" y="0"/>
                      <a:pt x="23812" y="0"/>
                    </a:cubicBezTo>
                    <a:close/>
                  </a:path>
                </a:pathLst>
              </a:custGeom>
              <a:solidFill>
                <a:srgbClr val="0B57D0"/>
              </a:solidFill>
              <a:ln>
                <a:noFill/>
              </a:ln>
            </p:spPr>
          </p:sp>
          <p:sp>
            <p:nvSpPr>
              <p:cNvPr id="117" name="Freeform 117"/>
              <p:cNvSpPr/>
              <p:nvPr/>
            </p:nvSpPr>
            <p:spPr>
              <a:xfrm>
                <a:off x="8815388" y="5133975"/>
                <a:ext cx="63500" cy="71438"/>
              </a:xfrm>
              <a:custGeom>
                <a:avLst/>
                <a:gdLst/>
                <a:ahLst/>
                <a:cxnLst/>
                <a:rect l="l" t="t" r="r" b="b"/>
                <a:pathLst>
                  <a:path w="63500" h="71438">
                    <a:moveTo>
                      <a:pt x="39687" y="0"/>
                    </a:moveTo>
                    <a:cubicBezTo>
                      <a:pt x="52839" y="0"/>
                      <a:pt x="63500" y="10661"/>
                      <a:pt x="63500" y="23812"/>
                    </a:cubicBezTo>
                    <a:lnTo>
                      <a:pt x="63500" y="47625"/>
                    </a:lnTo>
                    <a:cubicBezTo>
                      <a:pt x="63500" y="60776"/>
                      <a:pt x="52839" y="71438"/>
                      <a:pt x="39687" y="71438"/>
                    </a:cubicBezTo>
                    <a:lnTo>
                      <a:pt x="23812" y="71438"/>
                    </a:lnTo>
                    <a:cubicBezTo>
                      <a:pt x="10661" y="71438"/>
                      <a:pt x="0" y="60776"/>
                      <a:pt x="0" y="47625"/>
                    </a:cubicBezTo>
                    <a:lnTo>
                      <a:pt x="0" y="23812"/>
                    </a:lnTo>
                    <a:cubicBezTo>
                      <a:pt x="0" y="10661"/>
                      <a:pt x="10661" y="0"/>
                      <a:pt x="23812" y="0"/>
                    </a:cubicBezTo>
                    <a:close/>
                  </a:path>
                </a:pathLst>
              </a:custGeom>
              <a:solidFill>
                <a:srgbClr val="0B57D0"/>
              </a:solidFill>
              <a:ln>
                <a:noFill/>
              </a:ln>
            </p:spPr>
          </p:sp>
          <p:sp>
            <p:nvSpPr>
              <p:cNvPr id="118" name="Freeform 118"/>
              <p:cNvSpPr/>
              <p:nvPr/>
            </p:nvSpPr>
            <p:spPr>
              <a:xfrm>
                <a:off x="8894762" y="5062538"/>
                <a:ext cx="63500" cy="142875"/>
              </a:xfrm>
              <a:custGeom>
                <a:avLst/>
                <a:gdLst/>
                <a:ahLst/>
                <a:cxnLst/>
                <a:rect l="l" t="t" r="r" b="b"/>
                <a:pathLst>
                  <a:path w="63500" h="142875">
                    <a:moveTo>
                      <a:pt x="39687" y="0"/>
                    </a:moveTo>
                    <a:cubicBezTo>
                      <a:pt x="52839" y="0"/>
                      <a:pt x="63500" y="10661"/>
                      <a:pt x="63500" y="23812"/>
                    </a:cubicBezTo>
                    <a:lnTo>
                      <a:pt x="63500" y="119062"/>
                    </a:lnTo>
                    <a:cubicBezTo>
                      <a:pt x="63500" y="132214"/>
                      <a:pt x="52839" y="142875"/>
                      <a:pt x="39687" y="142875"/>
                    </a:cubicBezTo>
                    <a:lnTo>
                      <a:pt x="23812" y="142875"/>
                    </a:lnTo>
                    <a:cubicBezTo>
                      <a:pt x="10661" y="142875"/>
                      <a:pt x="0" y="132214"/>
                      <a:pt x="0" y="119062"/>
                    </a:cubicBezTo>
                    <a:lnTo>
                      <a:pt x="0" y="23812"/>
                    </a:lnTo>
                    <a:cubicBezTo>
                      <a:pt x="0" y="10661"/>
                      <a:pt x="10661" y="0"/>
                      <a:pt x="23812" y="0"/>
                    </a:cubicBezTo>
                    <a:close/>
                  </a:path>
                </a:pathLst>
              </a:custGeom>
              <a:solidFill>
                <a:srgbClr val="0B57D0"/>
              </a:solidFill>
              <a:ln>
                <a:noFill/>
              </a:ln>
            </p:spPr>
          </p:sp>
        </p:grpSp>
        <p:sp>
          <p:nvSpPr>
            <p:cNvPr id="120" name="TextBox 120"/>
            <p:cNvSpPr txBox="1"/>
            <p:nvPr/>
          </p:nvSpPr>
          <p:spPr>
            <a:xfrm>
              <a:off x="9167177" y="5029676"/>
              <a:ext cx="815340" cy="245745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600" b="1" dirty="0">
                  <a:solidFill>
                    <a:srgbClr val="102033"/>
                  </a:solidFill>
                  <a:latin typeface="MiSans Normal" panose="00000500000000000000" charset="-122"/>
                  <a:ea typeface="MiSans Normal" panose="00000500000000000000" charset="-122"/>
                  <a:cs typeface="等线" panose="02010600030101010101" charset="-122"/>
                </a:rPr>
                <a:t>演进路径</a:t>
              </a:r>
              <a:endParaRPr lang="zh-CN" sz="1600" b="1" dirty="0">
                <a:solidFill>
                  <a:srgbClr val="102033"/>
                </a:solidFill>
                <a:latin typeface="MiSans Normal" panose="00000500000000000000" charset="-122"/>
                <a:ea typeface="MiSans Normal" panose="00000500000000000000" charset="-122"/>
                <a:cs typeface="等线" panose="02010600030101010101" charset="-122"/>
              </a:endParaRPr>
            </a:p>
          </p:txBody>
        </p:sp>
        <p:sp>
          <p:nvSpPr>
            <p:cNvPr id="121" name="TextBox 121"/>
            <p:cNvSpPr txBox="1"/>
            <p:nvPr/>
          </p:nvSpPr>
          <p:spPr>
            <a:xfrm>
              <a:off x="8788718" y="5400199"/>
              <a:ext cx="2054225" cy="173355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130" dirty="0">
                  <a:solidFill>
                    <a:srgbClr val="51677F"/>
                  </a:solidFill>
                  <a:latin typeface="MiSans Normal" panose="00000500000000000000" charset="-122"/>
                  <a:ea typeface="MiSans Normal" panose="00000500000000000000" charset="-122"/>
                  <a:cs typeface="MiSans Normal" panose="00000500000000000000" charset="-122"/>
                </a:rPr>
                <a:t>静态立绘 → 预设动画 → Live2D</a:t>
              </a:r>
              <a:endParaRPr lang="zh-CN" sz="1130" dirty="0">
                <a:solidFill>
                  <a:srgbClr val="51677F"/>
                </a:solidFill>
                <a:latin typeface="MiSans Normal" panose="00000500000000000000" charset="-122"/>
                <a:ea typeface="MiSans Normal" panose="00000500000000000000" charset="-122"/>
                <a:cs typeface="MiSans Normal" panose="00000500000000000000" charset="-122"/>
              </a:endParaRPr>
            </a:p>
          </p:txBody>
        </p:sp>
        <p:sp>
          <p:nvSpPr>
            <p:cNvPr id="122" name="TextBox 122"/>
            <p:cNvSpPr txBox="1"/>
            <p:nvPr/>
          </p:nvSpPr>
          <p:spPr>
            <a:xfrm>
              <a:off x="521970" y="6598920"/>
              <a:ext cx="2106263" cy="18288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00" dirty="0">
                  <a:solidFill>
                    <a:srgbClr val="8AA1B7"/>
                  </a:solidFill>
                  <a:latin typeface="等线" panose="02010600030101010101" charset="-122"/>
                  <a:ea typeface="微软雅黑" panose="020B0503020204020204" charset="-122"/>
                  <a:cs typeface="等线" panose="02010600030101010101" charset="-122"/>
                </a:rPr>
                <a:t>蓝心同行 | AIGC创新赛应用赛道初赛</a:t>
              </a:r>
              <a:endParaRPr lang="zh-CN" sz="900" dirty="0">
                <a:solidFill>
                  <a:srgbClr val="8AA1B7"/>
                </a:solidFill>
                <a:latin typeface="等线" panose="02010600030101010101" charset="-122"/>
                <a:ea typeface="微软雅黑" panose="020B0503020204020204" charset="-122"/>
                <a:cs typeface="等线" panose="02010600030101010101" charset="-122"/>
              </a:endParaRPr>
            </a:p>
          </p:txBody>
        </p:sp>
        <p:sp>
          <p:nvSpPr>
            <p:cNvPr id="123" name="TextBox 123"/>
            <p:cNvSpPr txBox="1"/>
            <p:nvPr/>
          </p:nvSpPr>
          <p:spPr>
            <a:xfrm>
              <a:off x="11464480" y="6598920"/>
              <a:ext cx="167449" cy="18288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r"/>
              <a:r>
                <a:rPr lang="zh-CN" sz="900" dirty="0">
                  <a:solidFill>
                    <a:srgbClr val="8AA1B7"/>
                  </a:solidFill>
                  <a:latin typeface="等线" panose="02010600030101010101" charset="-122"/>
                  <a:ea typeface="微软雅黑" panose="020B0503020204020204" charset="-122"/>
                  <a:cs typeface="等线" panose="02010600030101010101" charset="-122"/>
                </a:rPr>
                <a:t>08</a:t>
              </a:r>
              <a:endParaRPr lang="zh-CN" sz="900" dirty="0">
                <a:solidFill>
                  <a:srgbClr val="8AA1B7"/>
                </a:solidFill>
                <a:latin typeface="等线" panose="02010600030101010101" charset="-122"/>
                <a:ea typeface="微软雅黑" panose="020B0503020204020204" charset="-122"/>
                <a:cs typeface="等线" panose="02010600030101010101" charset="-122"/>
              </a:endParaRPr>
            </a:p>
          </p:txBody>
        </p:sp>
      </p:grpSp>
      <p:pic>
        <p:nvPicPr>
          <p:cNvPr id="125" name="图片 124" descr="lanxiaoxin_thinki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846570" y="2343150"/>
            <a:ext cx="1230630" cy="1628775"/>
          </a:xfrm>
          <a:prstGeom prst="rect">
            <a:avLst/>
          </a:prstGeom>
        </p:spPr>
      </p:pic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p14:dur="400">
        <p:fade/>
      </p:transition>
    </mc:Choice>
    <mc:Fallback>
      <p:transition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400"/>
                                        <p:tgtEl>
                                          <p:spTgt spid="1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24" grpId="0"/>
    </p:bld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2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4F9FF"/>
          </a:solidFill>
          <a:ln>
            <a:noFill/>
          </a:ln>
        </p:spPr>
      </p:sp>
      <p:sp>
        <p:nvSpPr>
          <p:cNvPr id="3" name="Rectangle 3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gradFill>
            <a:gsLst>
              <a:gs pos="0">
                <a:srgbClr val="26A7FF">
                  <a:alpha val="12000"/>
                </a:srgbClr>
              </a:gs>
              <a:gs pos="100000">
                <a:srgbClr val="26A7FF">
                  <a:alpha val="0"/>
                </a:srgbClr>
              </a:gs>
            </a:gsLst>
            <a:path path="circle">
              <a:fillToRect l="50000" t="50000" r="50000" b="50000"/>
            </a:path>
          </a:gradFill>
          <a:ln>
            <a:noFill/>
          </a:ln>
        </p:spPr>
      </p:sp>
      <p:sp>
        <p:nvSpPr>
          <p:cNvPr id="4" name="Ellipse 4"/>
          <p:cNvSpPr/>
          <p:nvPr/>
        </p:nvSpPr>
        <p:spPr>
          <a:xfrm>
            <a:off x="9391650" y="-304800"/>
            <a:ext cx="2362200" cy="2362200"/>
          </a:xfrm>
          <a:prstGeom prst="ellipse">
            <a:avLst/>
          </a:prstGeom>
          <a:solidFill>
            <a:srgbClr val="26A7FF">
              <a:alpha val="8000"/>
            </a:srgbClr>
          </a:solidFill>
          <a:ln>
            <a:noFill/>
          </a:ln>
        </p:spPr>
      </p:sp>
      <p:sp>
        <p:nvSpPr>
          <p:cNvPr id="5" name="Ellipse 5"/>
          <p:cNvSpPr/>
          <p:nvPr/>
        </p:nvSpPr>
        <p:spPr>
          <a:xfrm>
            <a:off x="10553700" y="647700"/>
            <a:ext cx="1638300" cy="1638300"/>
          </a:xfrm>
          <a:prstGeom prst="ellipse">
            <a:avLst/>
          </a:prstGeom>
          <a:solidFill>
            <a:srgbClr val="00D4FF">
              <a:alpha val="7000"/>
            </a:srgbClr>
          </a:solidFill>
          <a:ln>
            <a:noFill/>
          </a:ln>
        </p:spPr>
      </p:sp>
      <p:sp>
        <p:nvSpPr>
          <p:cNvPr id="6" name="Freeform 6"/>
          <p:cNvSpPr/>
          <p:nvPr/>
        </p:nvSpPr>
        <p:spPr>
          <a:xfrm>
            <a:off x="8382000" y="781050"/>
            <a:ext cx="3390900" cy="438150"/>
          </a:xfrm>
          <a:custGeom>
            <a:avLst/>
            <a:gdLst/>
            <a:ahLst/>
            <a:cxnLst/>
            <a:rect l="l" t="t" r="r" b="b"/>
            <a:pathLst>
              <a:path w="3390900" h="438150">
                <a:moveTo>
                  <a:pt x="0" y="0"/>
                </a:moveTo>
                <a:lnTo>
                  <a:pt x="1600200" y="0"/>
                </a:lnTo>
                <a:lnTo>
                  <a:pt x="2038350" y="438150"/>
                </a:lnTo>
                <a:lnTo>
                  <a:pt x="3390900" y="438150"/>
                </a:lnTo>
              </a:path>
            </a:pathLst>
          </a:custGeom>
          <a:noFill/>
          <a:ln w="13335">
            <a:solidFill>
              <a:srgbClr val="BFD9F4">
                <a:alpha val="75000"/>
              </a:srgbClr>
            </a:solidFill>
          </a:ln>
        </p:spPr>
      </p:sp>
      <p:sp>
        <p:nvSpPr>
          <p:cNvPr id="7" name="Freeform 7"/>
          <p:cNvSpPr/>
          <p:nvPr/>
        </p:nvSpPr>
        <p:spPr>
          <a:xfrm>
            <a:off x="8705850" y="5638800"/>
            <a:ext cx="2990850" cy="457200"/>
          </a:xfrm>
          <a:custGeom>
            <a:avLst/>
            <a:gdLst/>
            <a:ahLst/>
            <a:cxnLst/>
            <a:rect l="l" t="t" r="r" b="b"/>
            <a:pathLst>
              <a:path w="2990850" h="457200">
                <a:moveTo>
                  <a:pt x="0" y="457200"/>
                </a:moveTo>
                <a:lnTo>
                  <a:pt x="1295400" y="457200"/>
                </a:lnTo>
                <a:lnTo>
                  <a:pt x="1752600" y="0"/>
                </a:lnTo>
                <a:lnTo>
                  <a:pt x="2990850" y="0"/>
                </a:lnTo>
              </a:path>
            </a:pathLst>
          </a:custGeom>
          <a:noFill/>
          <a:ln w="11430">
            <a:solidFill>
              <a:srgbClr val="BFD9F4">
                <a:alpha val="65000"/>
              </a:srgbClr>
            </a:solidFill>
          </a:ln>
        </p:spPr>
      </p:sp>
      <p:sp>
        <p:nvSpPr>
          <p:cNvPr id="8" name="Freeform 8"/>
          <p:cNvSpPr/>
          <p:nvPr/>
        </p:nvSpPr>
        <p:spPr>
          <a:xfrm>
            <a:off x="419100" y="5734050"/>
            <a:ext cx="2057400" cy="381000"/>
          </a:xfrm>
          <a:custGeom>
            <a:avLst/>
            <a:gdLst/>
            <a:ahLst/>
            <a:cxnLst/>
            <a:rect l="l" t="t" r="r" b="b"/>
            <a:pathLst>
              <a:path w="2057400" h="381000">
                <a:moveTo>
                  <a:pt x="0" y="381000"/>
                </a:moveTo>
                <a:lnTo>
                  <a:pt x="1676400" y="381000"/>
                </a:lnTo>
                <a:lnTo>
                  <a:pt x="2057400" y="0"/>
                </a:lnTo>
              </a:path>
            </a:pathLst>
          </a:custGeom>
          <a:noFill/>
          <a:ln w="11430">
            <a:solidFill>
              <a:srgbClr val="D7EAFF">
                <a:alpha val="90000"/>
              </a:srgbClr>
            </a:solidFill>
          </a:ln>
        </p:spPr>
      </p:sp>
      <p:sp>
        <p:nvSpPr>
          <p:cNvPr id="9" name="Ellipse 9"/>
          <p:cNvSpPr/>
          <p:nvPr/>
        </p:nvSpPr>
        <p:spPr>
          <a:xfrm>
            <a:off x="9944100" y="742950"/>
            <a:ext cx="76200" cy="76200"/>
          </a:xfrm>
          <a:prstGeom prst="ellipse">
            <a:avLst/>
          </a:prstGeom>
          <a:solidFill>
            <a:srgbClr val="26A7FF"/>
          </a:solidFill>
          <a:ln>
            <a:noFill/>
          </a:ln>
        </p:spPr>
      </p:sp>
      <p:sp>
        <p:nvSpPr>
          <p:cNvPr id="10" name="Ellipse 10"/>
          <p:cNvSpPr/>
          <p:nvPr/>
        </p:nvSpPr>
        <p:spPr>
          <a:xfrm>
            <a:off x="10382250" y="1181100"/>
            <a:ext cx="76200" cy="76200"/>
          </a:xfrm>
          <a:prstGeom prst="ellipse">
            <a:avLst/>
          </a:prstGeom>
          <a:solidFill>
            <a:srgbClr val="00D4FF"/>
          </a:solidFill>
          <a:ln>
            <a:noFill/>
          </a:ln>
        </p:spPr>
      </p:sp>
      <p:sp>
        <p:nvSpPr>
          <p:cNvPr id="11" name="Ellipse 11"/>
          <p:cNvSpPr/>
          <p:nvPr/>
        </p:nvSpPr>
        <p:spPr>
          <a:xfrm>
            <a:off x="2438400" y="5695950"/>
            <a:ext cx="76200" cy="76200"/>
          </a:xfrm>
          <a:prstGeom prst="ellipse">
            <a:avLst/>
          </a:prstGeom>
          <a:solidFill>
            <a:srgbClr val="26A7FF"/>
          </a:solidFill>
          <a:ln>
            <a:noFill/>
          </a:ln>
        </p:spPr>
      </p:sp>
      <p:sp>
        <p:nvSpPr>
          <p:cNvPr id="12" name="Line 12"/>
          <p:cNvSpPr/>
          <p:nvPr/>
        </p:nvSpPr>
        <p:spPr>
          <a:xfrm>
            <a:off x="762000" y="0"/>
            <a:ext cx="9525" cy="6858000"/>
          </a:xfrm>
          <a:custGeom>
            <a:avLst/>
            <a:gdLst/>
            <a:ahLst/>
            <a:cxnLst/>
            <a:rect l="l" t="t" r="r" b="b"/>
            <a:pathLst>
              <a:path w="9525" h="6858000">
                <a:moveTo>
                  <a:pt x="0" y="0"/>
                </a:moveTo>
                <a:lnTo>
                  <a:pt x="0" y="6858000"/>
                </a:lnTo>
              </a:path>
            </a:pathLst>
          </a:custGeom>
          <a:noFill/>
          <a:ln w="4762">
            <a:solidFill>
              <a:srgbClr val="D7EAFF">
                <a:alpha val="22000"/>
              </a:srgbClr>
            </a:solidFill>
          </a:ln>
        </p:spPr>
      </p:sp>
      <p:sp>
        <p:nvSpPr>
          <p:cNvPr id="13" name="Line 13"/>
          <p:cNvSpPr/>
          <p:nvPr/>
        </p:nvSpPr>
        <p:spPr>
          <a:xfrm>
            <a:off x="1524000" y="0"/>
            <a:ext cx="9525" cy="6858000"/>
          </a:xfrm>
          <a:custGeom>
            <a:avLst/>
            <a:gdLst/>
            <a:ahLst/>
            <a:cxnLst/>
            <a:rect l="l" t="t" r="r" b="b"/>
            <a:pathLst>
              <a:path w="9525" h="6858000">
                <a:moveTo>
                  <a:pt x="0" y="0"/>
                </a:moveTo>
                <a:lnTo>
                  <a:pt x="0" y="6858000"/>
                </a:lnTo>
              </a:path>
            </a:pathLst>
          </a:custGeom>
          <a:noFill/>
          <a:ln w="4762">
            <a:solidFill>
              <a:srgbClr val="D7EAFF">
                <a:alpha val="22000"/>
              </a:srgbClr>
            </a:solidFill>
          </a:ln>
        </p:spPr>
      </p:sp>
      <p:sp>
        <p:nvSpPr>
          <p:cNvPr id="14" name="Line 14"/>
          <p:cNvSpPr/>
          <p:nvPr/>
        </p:nvSpPr>
        <p:spPr>
          <a:xfrm>
            <a:off x="2286000" y="0"/>
            <a:ext cx="9525" cy="6858000"/>
          </a:xfrm>
          <a:custGeom>
            <a:avLst/>
            <a:gdLst/>
            <a:ahLst/>
            <a:cxnLst/>
            <a:rect l="l" t="t" r="r" b="b"/>
            <a:pathLst>
              <a:path w="9525" h="6858000">
                <a:moveTo>
                  <a:pt x="0" y="0"/>
                </a:moveTo>
                <a:lnTo>
                  <a:pt x="0" y="6858000"/>
                </a:lnTo>
              </a:path>
            </a:pathLst>
          </a:custGeom>
          <a:noFill/>
          <a:ln w="4762">
            <a:solidFill>
              <a:srgbClr val="D7EAFF">
                <a:alpha val="22000"/>
              </a:srgbClr>
            </a:solidFill>
          </a:ln>
        </p:spPr>
      </p:sp>
      <p:sp>
        <p:nvSpPr>
          <p:cNvPr id="15" name="Line 15"/>
          <p:cNvSpPr/>
          <p:nvPr/>
        </p:nvSpPr>
        <p:spPr>
          <a:xfrm>
            <a:off x="3048000" y="0"/>
            <a:ext cx="9525" cy="6858000"/>
          </a:xfrm>
          <a:custGeom>
            <a:avLst/>
            <a:gdLst/>
            <a:ahLst/>
            <a:cxnLst/>
            <a:rect l="l" t="t" r="r" b="b"/>
            <a:pathLst>
              <a:path w="9525" h="6858000">
                <a:moveTo>
                  <a:pt x="0" y="0"/>
                </a:moveTo>
                <a:lnTo>
                  <a:pt x="0" y="6858000"/>
                </a:lnTo>
              </a:path>
            </a:pathLst>
          </a:custGeom>
          <a:noFill/>
          <a:ln w="4762">
            <a:solidFill>
              <a:srgbClr val="D7EAFF">
                <a:alpha val="22000"/>
              </a:srgbClr>
            </a:solidFill>
          </a:ln>
        </p:spPr>
      </p:sp>
      <p:sp>
        <p:nvSpPr>
          <p:cNvPr id="16" name="Line 16"/>
          <p:cNvSpPr/>
          <p:nvPr/>
        </p:nvSpPr>
        <p:spPr>
          <a:xfrm>
            <a:off x="3810000" y="0"/>
            <a:ext cx="9525" cy="6858000"/>
          </a:xfrm>
          <a:custGeom>
            <a:avLst/>
            <a:gdLst/>
            <a:ahLst/>
            <a:cxnLst/>
            <a:rect l="l" t="t" r="r" b="b"/>
            <a:pathLst>
              <a:path w="9525" h="6858000">
                <a:moveTo>
                  <a:pt x="0" y="0"/>
                </a:moveTo>
                <a:lnTo>
                  <a:pt x="0" y="6858000"/>
                </a:lnTo>
              </a:path>
            </a:pathLst>
          </a:custGeom>
          <a:noFill/>
          <a:ln w="4762">
            <a:solidFill>
              <a:srgbClr val="D7EAFF">
                <a:alpha val="22000"/>
              </a:srgbClr>
            </a:solidFill>
          </a:ln>
        </p:spPr>
      </p:sp>
      <p:sp>
        <p:nvSpPr>
          <p:cNvPr id="17" name="Line 17"/>
          <p:cNvSpPr/>
          <p:nvPr/>
        </p:nvSpPr>
        <p:spPr>
          <a:xfrm>
            <a:off x="4572000" y="0"/>
            <a:ext cx="9525" cy="6858000"/>
          </a:xfrm>
          <a:custGeom>
            <a:avLst/>
            <a:gdLst/>
            <a:ahLst/>
            <a:cxnLst/>
            <a:rect l="l" t="t" r="r" b="b"/>
            <a:pathLst>
              <a:path w="9525" h="6858000">
                <a:moveTo>
                  <a:pt x="0" y="0"/>
                </a:moveTo>
                <a:lnTo>
                  <a:pt x="0" y="6858000"/>
                </a:lnTo>
              </a:path>
            </a:pathLst>
          </a:custGeom>
          <a:noFill/>
          <a:ln w="4762">
            <a:solidFill>
              <a:srgbClr val="D7EAFF">
                <a:alpha val="22000"/>
              </a:srgbClr>
            </a:solidFill>
          </a:ln>
        </p:spPr>
      </p:sp>
      <p:sp>
        <p:nvSpPr>
          <p:cNvPr id="18" name="Line 18"/>
          <p:cNvSpPr/>
          <p:nvPr/>
        </p:nvSpPr>
        <p:spPr>
          <a:xfrm>
            <a:off x="5334000" y="0"/>
            <a:ext cx="9525" cy="6858000"/>
          </a:xfrm>
          <a:custGeom>
            <a:avLst/>
            <a:gdLst/>
            <a:ahLst/>
            <a:cxnLst/>
            <a:rect l="l" t="t" r="r" b="b"/>
            <a:pathLst>
              <a:path w="9525" h="6858000">
                <a:moveTo>
                  <a:pt x="0" y="0"/>
                </a:moveTo>
                <a:lnTo>
                  <a:pt x="0" y="6858000"/>
                </a:lnTo>
              </a:path>
            </a:pathLst>
          </a:custGeom>
          <a:noFill/>
          <a:ln w="4762">
            <a:solidFill>
              <a:srgbClr val="D7EAFF">
                <a:alpha val="22000"/>
              </a:srgbClr>
            </a:solidFill>
          </a:ln>
        </p:spPr>
      </p:sp>
      <p:sp>
        <p:nvSpPr>
          <p:cNvPr id="19" name="Line 19"/>
          <p:cNvSpPr/>
          <p:nvPr/>
        </p:nvSpPr>
        <p:spPr>
          <a:xfrm>
            <a:off x="6096000" y="0"/>
            <a:ext cx="9525" cy="6858000"/>
          </a:xfrm>
          <a:custGeom>
            <a:avLst/>
            <a:gdLst/>
            <a:ahLst/>
            <a:cxnLst/>
            <a:rect l="l" t="t" r="r" b="b"/>
            <a:pathLst>
              <a:path w="9525" h="6858000">
                <a:moveTo>
                  <a:pt x="0" y="0"/>
                </a:moveTo>
                <a:lnTo>
                  <a:pt x="0" y="6858000"/>
                </a:lnTo>
              </a:path>
            </a:pathLst>
          </a:custGeom>
          <a:noFill/>
          <a:ln w="4762">
            <a:solidFill>
              <a:srgbClr val="D7EAFF">
                <a:alpha val="22000"/>
              </a:srgbClr>
            </a:solidFill>
          </a:ln>
        </p:spPr>
      </p:sp>
      <p:sp>
        <p:nvSpPr>
          <p:cNvPr id="20" name="Line 20"/>
          <p:cNvSpPr/>
          <p:nvPr/>
        </p:nvSpPr>
        <p:spPr>
          <a:xfrm>
            <a:off x="6858000" y="0"/>
            <a:ext cx="9525" cy="6858000"/>
          </a:xfrm>
          <a:custGeom>
            <a:avLst/>
            <a:gdLst/>
            <a:ahLst/>
            <a:cxnLst/>
            <a:rect l="l" t="t" r="r" b="b"/>
            <a:pathLst>
              <a:path w="9525" h="6858000">
                <a:moveTo>
                  <a:pt x="0" y="0"/>
                </a:moveTo>
                <a:lnTo>
                  <a:pt x="0" y="6858000"/>
                </a:lnTo>
              </a:path>
            </a:pathLst>
          </a:custGeom>
          <a:noFill/>
          <a:ln w="4762">
            <a:solidFill>
              <a:srgbClr val="D7EAFF">
                <a:alpha val="22000"/>
              </a:srgbClr>
            </a:solidFill>
          </a:ln>
        </p:spPr>
      </p:sp>
      <p:sp>
        <p:nvSpPr>
          <p:cNvPr id="21" name="Line 21"/>
          <p:cNvSpPr/>
          <p:nvPr/>
        </p:nvSpPr>
        <p:spPr>
          <a:xfrm>
            <a:off x="7620000" y="0"/>
            <a:ext cx="9525" cy="6858000"/>
          </a:xfrm>
          <a:custGeom>
            <a:avLst/>
            <a:gdLst/>
            <a:ahLst/>
            <a:cxnLst/>
            <a:rect l="l" t="t" r="r" b="b"/>
            <a:pathLst>
              <a:path w="9525" h="6858000">
                <a:moveTo>
                  <a:pt x="0" y="0"/>
                </a:moveTo>
                <a:lnTo>
                  <a:pt x="0" y="6858000"/>
                </a:lnTo>
              </a:path>
            </a:pathLst>
          </a:custGeom>
          <a:noFill/>
          <a:ln w="4762">
            <a:solidFill>
              <a:srgbClr val="D7EAFF">
                <a:alpha val="22000"/>
              </a:srgbClr>
            </a:solidFill>
          </a:ln>
        </p:spPr>
      </p:sp>
      <p:sp>
        <p:nvSpPr>
          <p:cNvPr id="22" name="Line 22"/>
          <p:cNvSpPr/>
          <p:nvPr/>
        </p:nvSpPr>
        <p:spPr>
          <a:xfrm>
            <a:off x="8382000" y="0"/>
            <a:ext cx="9525" cy="6858000"/>
          </a:xfrm>
          <a:custGeom>
            <a:avLst/>
            <a:gdLst/>
            <a:ahLst/>
            <a:cxnLst/>
            <a:rect l="l" t="t" r="r" b="b"/>
            <a:pathLst>
              <a:path w="9525" h="6858000">
                <a:moveTo>
                  <a:pt x="0" y="0"/>
                </a:moveTo>
                <a:lnTo>
                  <a:pt x="0" y="6858000"/>
                </a:lnTo>
              </a:path>
            </a:pathLst>
          </a:custGeom>
          <a:noFill/>
          <a:ln w="4762">
            <a:solidFill>
              <a:srgbClr val="D7EAFF">
                <a:alpha val="22000"/>
              </a:srgbClr>
            </a:solidFill>
          </a:ln>
        </p:spPr>
      </p:sp>
      <p:sp>
        <p:nvSpPr>
          <p:cNvPr id="23" name="Line 23"/>
          <p:cNvSpPr/>
          <p:nvPr/>
        </p:nvSpPr>
        <p:spPr>
          <a:xfrm>
            <a:off x="9144000" y="0"/>
            <a:ext cx="9525" cy="6858000"/>
          </a:xfrm>
          <a:custGeom>
            <a:avLst/>
            <a:gdLst/>
            <a:ahLst/>
            <a:cxnLst/>
            <a:rect l="l" t="t" r="r" b="b"/>
            <a:pathLst>
              <a:path w="9525" h="6858000">
                <a:moveTo>
                  <a:pt x="0" y="0"/>
                </a:moveTo>
                <a:lnTo>
                  <a:pt x="0" y="6858000"/>
                </a:lnTo>
              </a:path>
            </a:pathLst>
          </a:custGeom>
          <a:noFill/>
          <a:ln w="4762">
            <a:solidFill>
              <a:srgbClr val="D7EAFF">
                <a:alpha val="22000"/>
              </a:srgbClr>
            </a:solidFill>
          </a:ln>
        </p:spPr>
      </p:sp>
      <p:sp>
        <p:nvSpPr>
          <p:cNvPr id="24" name="Line 24"/>
          <p:cNvSpPr/>
          <p:nvPr/>
        </p:nvSpPr>
        <p:spPr>
          <a:xfrm>
            <a:off x="9906000" y="0"/>
            <a:ext cx="9525" cy="6858000"/>
          </a:xfrm>
          <a:custGeom>
            <a:avLst/>
            <a:gdLst/>
            <a:ahLst/>
            <a:cxnLst/>
            <a:rect l="l" t="t" r="r" b="b"/>
            <a:pathLst>
              <a:path w="9525" h="6858000">
                <a:moveTo>
                  <a:pt x="0" y="0"/>
                </a:moveTo>
                <a:lnTo>
                  <a:pt x="0" y="6858000"/>
                </a:lnTo>
              </a:path>
            </a:pathLst>
          </a:custGeom>
          <a:noFill/>
          <a:ln w="4762">
            <a:solidFill>
              <a:srgbClr val="D7EAFF">
                <a:alpha val="22000"/>
              </a:srgbClr>
            </a:solidFill>
          </a:ln>
        </p:spPr>
      </p:sp>
      <p:sp>
        <p:nvSpPr>
          <p:cNvPr id="25" name="Line 25"/>
          <p:cNvSpPr/>
          <p:nvPr/>
        </p:nvSpPr>
        <p:spPr>
          <a:xfrm>
            <a:off x="10668000" y="0"/>
            <a:ext cx="9525" cy="6858000"/>
          </a:xfrm>
          <a:custGeom>
            <a:avLst/>
            <a:gdLst/>
            <a:ahLst/>
            <a:cxnLst/>
            <a:rect l="l" t="t" r="r" b="b"/>
            <a:pathLst>
              <a:path w="9525" h="6858000">
                <a:moveTo>
                  <a:pt x="0" y="0"/>
                </a:moveTo>
                <a:lnTo>
                  <a:pt x="0" y="6858000"/>
                </a:lnTo>
              </a:path>
            </a:pathLst>
          </a:custGeom>
          <a:noFill/>
          <a:ln w="4762">
            <a:solidFill>
              <a:srgbClr val="D7EAFF">
                <a:alpha val="22000"/>
              </a:srgbClr>
            </a:solidFill>
          </a:ln>
        </p:spPr>
      </p:sp>
      <p:sp>
        <p:nvSpPr>
          <p:cNvPr id="26" name="Line 26"/>
          <p:cNvSpPr/>
          <p:nvPr/>
        </p:nvSpPr>
        <p:spPr>
          <a:xfrm>
            <a:off x="11430000" y="0"/>
            <a:ext cx="9525" cy="6858000"/>
          </a:xfrm>
          <a:custGeom>
            <a:avLst/>
            <a:gdLst/>
            <a:ahLst/>
            <a:cxnLst/>
            <a:rect l="l" t="t" r="r" b="b"/>
            <a:pathLst>
              <a:path w="9525" h="6858000">
                <a:moveTo>
                  <a:pt x="0" y="0"/>
                </a:moveTo>
                <a:lnTo>
                  <a:pt x="0" y="6858000"/>
                </a:lnTo>
              </a:path>
            </a:pathLst>
          </a:custGeom>
          <a:noFill/>
          <a:ln w="4762">
            <a:solidFill>
              <a:srgbClr val="D7EAFF">
                <a:alpha val="22000"/>
              </a:srgbClr>
            </a:solidFill>
          </a:ln>
        </p:spPr>
      </p:sp>
      <p:sp>
        <p:nvSpPr>
          <p:cNvPr id="27" name="Line 27"/>
          <p:cNvSpPr/>
          <p:nvPr/>
        </p:nvSpPr>
        <p:spPr>
          <a:xfrm>
            <a:off x="0" y="762000"/>
            <a:ext cx="12192000" cy="9525"/>
          </a:xfrm>
          <a:custGeom>
            <a:avLst/>
            <a:gdLst/>
            <a:ahLst/>
            <a:cxnLst/>
            <a:rect l="l" t="t" r="r" b="b"/>
            <a:pathLst>
              <a:path w="12192000" h="9525">
                <a:moveTo>
                  <a:pt x="0" y="0"/>
                </a:moveTo>
                <a:lnTo>
                  <a:pt x="12192000" y="0"/>
                </a:lnTo>
              </a:path>
            </a:pathLst>
          </a:custGeom>
          <a:noFill/>
          <a:ln w="4762">
            <a:solidFill>
              <a:srgbClr val="D7EAFF">
                <a:alpha val="22000"/>
              </a:srgbClr>
            </a:solidFill>
          </a:ln>
        </p:spPr>
      </p:sp>
      <p:sp>
        <p:nvSpPr>
          <p:cNvPr id="28" name="Line 28"/>
          <p:cNvSpPr/>
          <p:nvPr/>
        </p:nvSpPr>
        <p:spPr>
          <a:xfrm>
            <a:off x="0" y="1524000"/>
            <a:ext cx="12192000" cy="9525"/>
          </a:xfrm>
          <a:custGeom>
            <a:avLst/>
            <a:gdLst/>
            <a:ahLst/>
            <a:cxnLst/>
            <a:rect l="l" t="t" r="r" b="b"/>
            <a:pathLst>
              <a:path w="12192000" h="9525">
                <a:moveTo>
                  <a:pt x="0" y="0"/>
                </a:moveTo>
                <a:lnTo>
                  <a:pt x="12192000" y="0"/>
                </a:lnTo>
              </a:path>
            </a:pathLst>
          </a:custGeom>
          <a:noFill/>
          <a:ln w="4762">
            <a:solidFill>
              <a:srgbClr val="D7EAFF">
                <a:alpha val="22000"/>
              </a:srgbClr>
            </a:solidFill>
          </a:ln>
        </p:spPr>
      </p:sp>
      <p:sp>
        <p:nvSpPr>
          <p:cNvPr id="29" name="Line 29"/>
          <p:cNvSpPr/>
          <p:nvPr/>
        </p:nvSpPr>
        <p:spPr>
          <a:xfrm>
            <a:off x="0" y="2286000"/>
            <a:ext cx="12192000" cy="9525"/>
          </a:xfrm>
          <a:custGeom>
            <a:avLst/>
            <a:gdLst/>
            <a:ahLst/>
            <a:cxnLst/>
            <a:rect l="l" t="t" r="r" b="b"/>
            <a:pathLst>
              <a:path w="12192000" h="9525">
                <a:moveTo>
                  <a:pt x="0" y="0"/>
                </a:moveTo>
                <a:lnTo>
                  <a:pt x="12192000" y="0"/>
                </a:lnTo>
              </a:path>
            </a:pathLst>
          </a:custGeom>
          <a:noFill/>
          <a:ln w="4762">
            <a:solidFill>
              <a:srgbClr val="D7EAFF">
                <a:alpha val="22000"/>
              </a:srgbClr>
            </a:solidFill>
          </a:ln>
        </p:spPr>
      </p:sp>
      <p:sp>
        <p:nvSpPr>
          <p:cNvPr id="30" name="Line 30"/>
          <p:cNvSpPr/>
          <p:nvPr/>
        </p:nvSpPr>
        <p:spPr>
          <a:xfrm>
            <a:off x="0" y="3048000"/>
            <a:ext cx="12192000" cy="9525"/>
          </a:xfrm>
          <a:custGeom>
            <a:avLst/>
            <a:gdLst/>
            <a:ahLst/>
            <a:cxnLst/>
            <a:rect l="l" t="t" r="r" b="b"/>
            <a:pathLst>
              <a:path w="12192000" h="9525">
                <a:moveTo>
                  <a:pt x="0" y="0"/>
                </a:moveTo>
                <a:lnTo>
                  <a:pt x="12192000" y="0"/>
                </a:lnTo>
              </a:path>
            </a:pathLst>
          </a:custGeom>
          <a:noFill/>
          <a:ln w="4762">
            <a:solidFill>
              <a:srgbClr val="D7EAFF">
                <a:alpha val="22000"/>
              </a:srgbClr>
            </a:solidFill>
          </a:ln>
        </p:spPr>
      </p:sp>
      <p:sp>
        <p:nvSpPr>
          <p:cNvPr id="31" name="Line 31"/>
          <p:cNvSpPr/>
          <p:nvPr/>
        </p:nvSpPr>
        <p:spPr>
          <a:xfrm>
            <a:off x="0" y="3810000"/>
            <a:ext cx="12192000" cy="9525"/>
          </a:xfrm>
          <a:custGeom>
            <a:avLst/>
            <a:gdLst/>
            <a:ahLst/>
            <a:cxnLst/>
            <a:rect l="l" t="t" r="r" b="b"/>
            <a:pathLst>
              <a:path w="12192000" h="9525">
                <a:moveTo>
                  <a:pt x="0" y="0"/>
                </a:moveTo>
                <a:lnTo>
                  <a:pt x="12192000" y="0"/>
                </a:lnTo>
              </a:path>
            </a:pathLst>
          </a:custGeom>
          <a:noFill/>
          <a:ln w="4762">
            <a:solidFill>
              <a:srgbClr val="D7EAFF">
                <a:alpha val="22000"/>
              </a:srgbClr>
            </a:solidFill>
          </a:ln>
        </p:spPr>
      </p:sp>
      <p:sp>
        <p:nvSpPr>
          <p:cNvPr id="32" name="Line 32"/>
          <p:cNvSpPr/>
          <p:nvPr/>
        </p:nvSpPr>
        <p:spPr>
          <a:xfrm>
            <a:off x="0" y="4572000"/>
            <a:ext cx="12192000" cy="9525"/>
          </a:xfrm>
          <a:custGeom>
            <a:avLst/>
            <a:gdLst/>
            <a:ahLst/>
            <a:cxnLst/>
            <a:rect l="l" t="t" r="r" b="b"/>
            <a:pathLst>
              <a:path w="12192000" h="9525">
                <a:moveTo>
                  <a:pt x="0" y="0"/>
                </a:moveTo>
                <a:lnTo>
                  <a:pt x="12192000" y="0"/>
                </a:lnTo>
              </a:path>
            </a:pathLst>
          </a:custGeom>
          <a:noFill/>
          <a:ln w="4762">
            <a:solidFill>
              <a:srgbClr val="D7EAFF">
                <a:alpha val="22000"/>
              </a:srgbClr>
            </a:solidFill>
          </a:ln>
        </p:spPr>
      </p:sp>
      <p:sp>
        <p:nvSpPr>
          <p:cNvPr id="33" name="Line 33"/>
          <p:cNvSpPr/>
          <p:nvPr/>
        </p:nvSpPr>
        <p:spPr>
          <a:xfrm>
            <a:off x="0" y="5334000"/>
            <a:ext cx="12192000" cy="9525"/>
          </a:xfrm>
          <a:custGeom>
            <a:avLst/>
            <a:gdLst/>
            <a:ahLst/>
            <a:cxnLst/>
            <a:rect l="l" t="t" r="r" b="b"/>
            <a:pathLst>
              <a:path w="12192000" h="9525">
                <a:moveTo>
                  <a:pt x="0" y="0"/>
                </a:moveTo>
                <a:lnTo>
                  <a:pt x="12192000" y="0"/>
                </a:lnTo>
              </a:path>
            </a:pathLst>
          </a:custGeom>
          <a:noFill/>
          <a:ln w="4762">
            <a:solidFill>
              <a:srgbClr val="D7EAFF">
                <a:alpha val="22000"/>
              </a:srgbClr>
            </a:solidFill>
          </a:ln>
        </p:spPr>
      </p:sp>
      <p:sp>
        <p:nvSpPr>
          <p:cNvPr id="34" name="Line 34"/>
          <p:cNvSpPr/>
          <p:nvPr/>
        </p:nvSpPr>
        <p:spPr>
          <a:xfrm>
            <a:off x="0" y="6096000"/>
            <a:ext cx="12192000" cy="9525"/>
          </a:xfrm>
          <a:custGeom>
            <a:avLst/>
            <a:gdLst/>
            <a:ahLst/>
            <a:cxnLst/>
            <a:rect l="l" t="t" r="r" b="b"/>
            <a:pathLst>
              <a:path w="12192000" h="9525">
                <a:moveTo>
                  <a:pt x="0" y="0"/>
                </a:moveTo>
                <a:lnTo>
                  <a:pt x="12192000" y="0"/>
                </a:lnTo>
              </a:path>
            </a:pathLst>
          </a:custGeom>
          <a:noFill/>
          <a:ln w="4762">
            <a:solidFill>
              <a:srgbClr val="D7EAFF">
                <a:alpha val="22000"/>
              </a:srgbClr>
            </a:solidFill>
          </a:ln>
        </p:spPr>
      </p:sp>
      <p:grpSp>
        <p:nvGrpSpPr>
          <p:cNvPr id="108" name="Group 108"/>
          <p:cNvGrpSpPr/>
          <p:nvPr/>
        </p:nvGrpSpPr>
        <p:grpSpPr>
          <a:xfrm>
            <a:off x="0" y="0"/>
            <a:ext cx="12192000" cy="6781800"/>
            <a:chOff x="0" y="0"/>
            <a:chExt cx="12192000" cy="6781800"/>
          </a:xfrm>
        </p:grpSpPr>
        <p:sp>
          <p:nvSpPr>
            <p:cNvPr id="35" name="Rectangle 35"/>
            <p:cNvSpPr/>
            <p:nvPr/>
          </p:nvSpPr>
          <p:spPr>
            <a:xfrm>
              <a:off x="0" y="0"/>
              <a:ext cx="12192000" cy="47625"/>
            </a:xfrm>
            <a:prstGeom prst="rect">
              <a:avLst/>
            </a:prstGeom>
            <a:gradFill>
              <a:gsLst>
                <a:gs pos="0">
                  <a:srgbClr val="0B57D0"/>
                </a:gs>
                <a:gs pos="52000">
                  <a:srgbClr val="26A7FF"/>
                </a:gs>
                <a:gs pos="100000">
                  <a:srgbClr val="00D4FF"/>
                </a:gs>
              </a:gsLst>
              <a:lin ang="0" scaled="1"/>
            </a:gradFill>
            <a:ln>
              <a:noFill/>
            </a:ln>
          </p:spPr>
        </p:sp>
        <p:sp>
          <p:nvSpPr>
            <p:cNvPr id="36" name="TextBox 36"/>
            <p:cNvSpPr txBox="1"/>
            <p:nvPr/>
          </p:nvSpPr>
          <p:spPr>
            <a:xfrm>
              <a:off x="504825" y="233362"/>
              <a:ext cx="4009390" cy="346075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2250" b="1" dirty="0">
                  <a:solidFill>
                    <a:srgbClr val="102033"/>
                  </a:solidFill>
                  <a:latin typeface="MiSans Heavy" panose="00000A00000000000000" charset="-122"/>
                  <a:ea typeface="MiSans Heavy" panose="00000A00000000000000" charset="-122"/>
                  <a:cs typeface="等线" panose="02010600030101010101" charset="-122"/>
                </a:rPr>
                <a:t>前景评估：用户需求与市场欢迎</a:t>
              </a:r>
              <a:endParaRPr lang="zh-CN" sz="2250" b="1" dirty="0">
                <a:solidFill>
                  <a:srgbClr val="102033"/>
                </a:solidFill>
                <a:latin typeface="MiSans Heavy" panose="00000A00000000000000" charset="-122"/>
                <a:ea typeface="MiSans Heavy" panose="00000A00000000000000" charset="-122"/>
                <a:cs typeface="等线" panose="02010600030101010101" charset="-122"/>
              </a:endParaRPr>
            </a:p>
          </p:txBody>
        </p:sp>
        <p:sp>
          <p:nvSpPr>
            <p:cNvPr id="37" name="TextBox 37"/>
            <p:cNvSpPr txBox="1"/>
            <p:nvPr/>
          </p:nvSpPr>
          <p:spPr>
            <a:xfrm>
              <a:off x="521970" y="645795"/>
              <a:ext cx="1125220" cy="13843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00" b="1" dirty="0">
                  <a:solidFill>
                    <a:srgbClr val="0B57D0"/>
                  </a:solidFill>
                  <a:latin typeface="金山云技术体" charset="-122"/>
                  <a:ea typeface="金山云技术体" charset="-122"/>
                  <a:cs typeface="等线" panose="02010600030101010101" charset="-122"/>
                </a:rPr>
                <a:t>VALUE AND MARKET</a:t>
              </a:r>
              <a:endParaRPr lang="zh-CN" sz="900" b="1" dirty="0">
                <a:solidFill>
                  <a:srgbClr val="0B57D0"/>
                </a:solidFill>
                <a:latin typeface="金山云技术体" charset="-122"/>
                <a:ea typeface="金山云技术体" charset="-122"/>
                <a:cs typeface="等线" panose="02010600030101010101" charset="-122"/>
              </a:endParaRPr>
            </a:p>
          </p:txBody>
        </p:sp>
        <p:sp>
          <p:nvSpPr>
            <p:cNvPr id="38" name="Line 38"/>
            <p:cNvSpPr/>
            <p:nvPr/>
          </p:nvSpPr>
          <p:spPr>
            <a:xfrm>
              <a:off x="533400" y="876300"/>
              <a:ext cx="11125200" cy="9525"/>
            </a:xfrm>
            <a:custGeom>
              <a:avLst/>
              <a:gdLst/>
              <a:ahLst/>
              <a:cxnLst/>
              <a:rect l="l" t="t" r="r" b="b"/>
              <a:pathLst>
                <a:path w="11125200" h="9525">
                  <a:moveTo>
                    <a:pt x="0" y="0"/>
                  </a:moveTo>
                  <a:lnTo>
                    <a:pt x="11125200" y="0"/>
                  </a:lnTo>
                </a:path>
              </a:pathLst>
            </a:custGeom>
            <a:noFill/>
            <a:ln w="11430">
              <a:solidFill>
                <a:srgbClr val="BFD9F4"/>
              </a:solidFill>
            </a:ln>
          </p:spPr>
        </p:sp>
        <p:sp>
          <p:nvSpPr>
            <p:cNvPr id="39" name="Rectangle 39"/>
            <p:cNvSpPr/>
            <p:nvPr/>
          </p:nvSpPr>
          <p:spPr>
            <a:xfrm>
              <a:off x="533400" y="1028700"/>
              <a:ext cx="95250" cy="95250"/>
            </a:xfrm>
            <a:prstGeom prst="roundRect">
              <a:avLst>
                <a:gd name="adj" fmla="val 50000"/>
              </a:avLst>
            </a:prstGeom>
            <a:solidFill>
              <a:srgbClr val="00D4FF"/>
            </a:solidFill>
            <a:ln>
              <a:noFill/>
            </a:ln>
          </p:spPr>
        </p:sp>
        <p:sp>
          <p:nvSpPr>
            <p:cNvPr id="40" name="TextBox 40"/>
            <p:cNvSpPr txBox="1"/>
            <p:nvPr/>
          </p:nvSpPr>
          <p:spPr>
            <a:xfrm>
              <a:off x="765810" y="1003935"/>
              <a:ext cx="4131945" cy="18415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00" b="1" dirty="0">
                  <a:solidFill>
                    <a:srgbClr val="51677F"/>
                  </a:solidFill>
                  <a:latin typeface="MiSans Normal" panose="00000500000000000000" charset="-122"/>
                  <a:ea typeface="MiSans Normal" panose="00000500000000000000" charset="-122"/>
                  <a:cs typeface="等线" panose="02010600030101010101" charset="-122"/>
                </a:rPr>
                <a:t>蓝心同行有真实旅行需求，也有区别于现有工具的市场空间。</a:t>
              </a:r>
              <a:endParaRPr lang="zh-CN" sz="1200" b="1" dirty="0">
                <a:solidFill>
                  <a:srgbClr val="51677F"/>
                </a:solidFill>
                <a:latin typeface="MiSans Normal" panose="00000500000000000000" charset="-122"/>
                <a:ea typeface="MiSans Normal" panose="00000500000000000000" charset="-122"/>
                <a:cs typeface="等线" panose="02010600030101010101" charset="-122"/>
              </a:endParaRPr>
            </a:p>
          </p:txBody>
        </p:sp>
        <p:sp>
          <p:nvSpPr>
            <p:cNvPr id="41" name="Rectangle 41"/>
            <p:cNvSpPr/>
            <p:nvPr/>
          </p:nvSpPr>
          <p:spPr>
            <a:xfrm>
              <a:off x="495300" y="1581150"/>
              <a:ext cx="5524500" cy="4724400"/>
            </a:xfrm>
            <a:prstGeom prst="roundRect">
              <a:avLst>
                <a:gd name="adj" fmla="val 4032"/>
              </a:avLst>
            </a:prstGeom>
            <a:solidFill>
              <a:srgbClr val="0B57D0">
                <a:alpha val="5000"/>
              </a:srgbClr>
            </a:solidFill>
            <a:ln>
              <a:noFill/>
            </a:ln>
          </p:spPr>
        </p:sp>
        <p:sp>
          <p:nvSpPr>
            <p:cNvPr id="42" name="Rectangle 42"/>
            <p:cNvSpPr/>
            <p:nvPr/>
          </p:nvSpPr>
          <p:spPr>
            <a:xfrm>
              <a:off x="419100" y="1485900"/>
              <a:ext cx="5524500" cy="4724400"/>
            </a:xfrm>
            <a:prstGeom prst="roundRect">
              <a:avLst>
                <a:gd name="adj" fmla="val 4032"/>
              </a:avLst>
            </a:prstGeom>
            <a:solidFill>
              <a:srgbClr val="FFFFFF"/>
            </a:solidFill>
            <a:ln w="11430">
              <a:solidFill>
                <a:srgbClr val="BFD9F4"/>
              </a:solidFill>
            </a:ln>
          </p:spPr>
        </p:sp>
        <p:sp>
          <p:nvSpPr>
            <p:cNvPr id="43" name="Line 43"/>
            <p:cNvSpPr/>
            <p:nvPr/>
          </p:nvSpPr>
          <p:spPr>
            <a:xfrm>
              <a:off x="590550" y="1495425"/>
              <a:ext cx="1238250" cy="9525"/>
            </a:xfrm>
            <a:custGeom>
              <a:avLst/>
              <a:gdLst/>
              <a:ahLst/>
              <a:cxnLst/>
              <a:rect l="l" t="t" r="r" b="b"/>
              <a:pathLst>
                <a:path w="1238250" h="9525">
                  <a:moveTo>
                    <a:pt x="0" y="0"/>
                  </a:moveTo>
                  <a:lnTo>
                    <a:pt x="1238250" y="0"/>
                  </a:lnTo>
                </a:path>
              </a:pathLst>
            </a:custGeom>
            <a:noFill/>
            <a:ln w="19050">
              <a:solidFill>
                <a:srgbClr val="26A7FF">
                  <a:alpha val="90000"/>
                </a:srgbClr>
              </a:solidFill>
            </a:ln>
          </p:spPr>
        </p:sp>
        <p:sp>
          <p:nvSpPr>
            <p:cNvPr id="44" name="TextBox 44"/>
            <p:cNvSpPr txBox="1"/>
            <p:nvPr/>
          </p:nvSpPr>
          <p:spPr>
            <a:xfrm>
              <a:off x="662940" y="1672590"/>
              <a:ext cx="1375410" cy="27686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800" b="1" dirty="0">
                  <a:solidFill>
                    <a:srgbClr val="102033"/>
                  </a:solidFill>
                  <a:latin typeface="MiSans Normal" panose="00000500000000000000" charset="-122"/>
                  <a:ea typeface="MiSans Normal" panose="00000500000000000000" charset="-122"/>
                  <a:cs typeface="等线" panose="02010600030101010101" charset="-122"/>
                </a:rPr>
                <a:t>用户需求程度</a:t>
              </a:r>
              <a:endParaRPr lang="zh-CN" sz="1800" b="1" dirty="0">
                <a:solidFill>
                  <a:srgbClr val="102033"/>
                </a:solidFill>
                <a:latin typeface="MiSans Normal" panose="00000500000000000000" charset="-122"/>
                <a:ea typeface="MiSans Normal" panose="00000500000000000000" charset="-122"/>
                <a:cs typeface="等线" panose="02010600030101010101" charset="-122"/>
              </a:endParaRPr>
            </a:p>
          </p:txBody>
        </p:sp>
        <p:sp>
          <p:nvSpPr>
            <p:cNvPr id="45" name="Rectangle 45"/>
            <p:cNvSpPr/>
            <p:nvPr/>
          </p:nvSpPr>
          <p:spPr>
            <a:xfrm>
              <a:off x="762000" y="2400300"/>
              <a:ext cx="4991100" cy="895350"/>
            </a:xfrm>
            <a:prstGeom prst="roundRect">
              <a:avLst>
                <a:gd name="adj" fmla="val 14894"/>
              </a:avLst>
            </a:prstGeom>
            <a:solidFill>
              <a:srgbClr val="0B57D0">
                <a:alpha val="5000"/>
              </a:srgbClr>
            </a:solidFill>
            <a:ln>
              <a:noFill/>
            </a:ln>
          </p:spPr>
        </p:sp>
        <p:sp>
          <p:nvSpPr>
            <p:cNvPr id="46" name="Rectangle 46"/>
            <p:cNvSpPr/>
            <p:nvPr/>
          </p:nvSpPr>
          <p:spPr>
            <a:xfrm>
              <a:off x="685800" y="2305050"/>
              <a:ext cx="4991100" cy="895350"/>
            </a:xfrm>
            <a:prstGeom prst="roundRect">
              <a:avLst>
                <a:gd name="adj" fmla="val 14894"/>
              </a:avLst>
            </a:prstGeom>
            <a:solidFill>
              <a:srgbClr val="FFFFFF"/>
            </a:solidFill>
            <a:ln w="11430">
              <a:solidFill>
                <a:srgbClr val="BFD9F4"/>
              </a:solidFill>
            </a:ln>
          </p:spPr>
        </p:sp>
        <p:sp>
          <p:nvSpPr>
            <p:cNvPr id="47" name="Line 47"/>
            <p:cNvSpPr/>
            <p:nvPr/>
          </p:nvSpPr>
          <p:spPr>
            <a:xfrm>
              <a:off x="857250" y="2314575"/>
              <a:ext cx="1238250" cy="9525"/>
            </a:xfrm>
            <a:custGeom>
              <a:avLst/>
              <a:gdLst/>
              <a:ahLst/>
              <a:cxnLst/>
              <a:rect l="l" t="t" r="r" b="b"/>
              <a:pathLst>
                <a:path w="1238250" h="9525">
                  <a:moveTo>
                    <a:pt x="0" y="0"/>
                  </a:moveTo>
                  <a:lnTo>
                    <a:pt x="1238250" y="0"/>
                  </a:lnTo>
                </a:path>
              </a:pathLst>
            </a:custGeom>
            <a:noFill/>
            <a:ln w="19050">
              <a:solidFill>
                <a:srgbClr val="26A7FF">
                  <a:alpha val="90000"/>
                </a:srgbClr>
              </a:solidFill>
            </a:ln>
          </p:spPr>
        </p:sp>
        <p:sp>
          <p:nvSpPr>
            <p:cNvPr id="48" name="Rectangle 48"/>
            <p:cNvSpPr/>
            <p:nvPr/>
          </p:nvSpPr>
          <p:spPr>
            <a:xfrm>
              <a:off x="857250" y="2476500"/>
              <a:ext cx="285750" cy="285750"/>
            </a:xfrm>
            <a:prstGeom prst="roundRect">
              <a:avLst>
                <a:gd name="adj" fmla="val 33333"/>
              </a:avLst>
            </a:prstGeom>
            <a:solidFill>
              <a:srgbClr val="E7F2FF"/>
            </a:solidFill>
            <a:ln>
              <a:noFill/>
            </a:ln>
          </p:spPr>
        </p:sp>
        <p:grpSp>
          <p:nvGrpSpPr>
            <p:cNvPr id="51" name="Group 51"/>
            <p:cNvGrpSpPr/>
            <p:nvPr/>
          </p:nvGrpSpPr>
          <p:grpSpPr>
            <a:xfrm>
              <a:off x="944562" y="2540000"/>
              <a:ext cx="111125" cy="158750"/>
              <a:chOff x="944562" y="2540000"/>
              <a:chExt cx="111125" cy="158750"/>
            </a:xfrm>
          </p:grpSpPr>
          <p:sp>
            <p:nvSpPr>
              <p:cNvPr id="49" name="Freeform 49"/>
              <p:cNvSpPr/>
              <p:nvPr/>
            </p:nvSpPr>
            <p:spPr>
              <a:xfrm>
                <a:off x="960438" y="2540000"/>
                <a:ext cx="79375" cy="79375"/>
              </a:xfrm>
              <a:custGeom>
                <a:avLst/>
                <a:gdLst/>
                <a:ahLst/>
                <a:cxnLst/>
                <a:rect l="l" t="t" r="r" b="b"/>
                <a:pathLst>
                  <a:path w="79375" h="79375">
                    <a:moveTo>
                      <a:pt x="39688" y="0"/>
                    </a:moveTo>
                    <a:cubicBezTo>
                      <a:pt x="61606" y="0"/>
                      <a:pt x="79375" y="17769"/>
                      <a:pt x="79375" y="39687"/>
                    </a:cubicBezTo>
                    <a:cubicBezTo>
                      <a:pt x="79375" y="61606"/>
                      <a:pt x="61606" y="79375"/>
                      <a:pt x="39688" y="79375"/>
                    </a:cubicBezTo>
                    <a:cubicBezTo>
                      <a:pt x="17769" y="79375"/>
                      <a:pt x="0" y="61606"/>
                      <a:pt x="0" y="39687"/>
                    </a:cubicBezTo>
                    <a:lnTo>
                      <a:pt x="40" y="37965"/>
                    </a:lnTo>
                    <a:cubicBezTo>
                      <a:pt x="962" y="16737"/>
                      <a:pt x="18439" y="1"/>
                      <a:pt x="39687" y="0"/>
                    </a:cubicBezTo>
                    <a:close/>
                  </a:path>
                </a:pathLst>
              </a:custGeom>
              <a:solidFill>
                <a:srgbClr val="0B57D0"/>
              </a:solidFill>
              <a:ln>
                <a:noFill/>
              </a:ln>
            </p:spPr>
          </p:sp>
          <p:sp>
            <p:nvSpPr>
              <p:cNvPr id="50" name="Freeform 50"/>
              <p:cNvSpPr/>
              <p:nvPr/>
            </p:nvSpPr>
            <p:spPr>
              <a:xfrm>
                <a:off x="944562" y="2635250"/>
                <a:ext cx="111125" cy="63500"/>
              </a:xfrm>
              <a:custGeom>
                <a:avLst/>
                <a:gdLst/>
                <a:ahLst/>
                <a:cxnLst/>
                <a:rect l="l" t="t" r="r" b="b"/>
                <a:pathLst>
                  <a:path w="111125" h="63500">
                    <a:moveTo>
                      <a:pt x="71438" y="0"/>
                    </a:moveTo>
                    <a:cubicBezTo>
                      <a:pt x="93356" y="0"/>
                      <a:pt x="111125" y="17769"/>
                      <a:pt x="111125" y="39687"/>
                    </a:cubicBezTo>
                    <a:lnTo>
                      <a:pt x="111125" y="47625"/>
                    </a:lnTo>
                    <a:cubicBezTo>
                      <a:pt x="111125" y="56393"/>
                      <a:pt x="104018" y="63500"/>
                      <a:pt x="95250" y="63500"/>
                    </a:cubicBezTo>
                    <a:lnTo>
                      <a:pt x="15875" y="63500"/>
                    </a:lnTo>
                    <a:cubicBezTo>
                      <a:pt x="7107" y="63500"/>
                      <a:pt x="0" y="56393"/>
                      <a:pt x="0" y="47625"/>
                    </a:cubicBezTo>
                    <a:lnTo>
                      <a:pt x="0" y="39687"/>
                    </a:lnTo>
                    <a:cubicBezTo>
                      <a:pt x="0" y="17769"/>
                      <a:pt x="17769" y="0"/>
                      <a:pt x="39687" y="0"/>
                    </a:cubicBezTo>
                    <a:lnTo>
                      <a:pt x="71438" y="0"/>
                    </a:lnTo>
                    <a:close/>
                  </a:path>
                </a:pathLst>
              </a:custGeom>
              <a:solidFill>
                <a:srgbClr val="0B57D0"/>
              </a:solidFill>
              <a:ln>
                <a:noFill/>
              </a:ln>
            </p:spPr>
          </p:sp>
        </p:grpSp>
        <p:sp>
          <p:nvSpPr>
            <p:cNvPr id="52" name="TextBox 52"/>
            <p:cNvSpPr txBox="1"/>
            <p:nvPr/>
          </p:nvSpPr>
          <p:spPr>
            <a:xfrm>
              <a:off x="1223327" y="2516346"/>
              <a:ext cx="815340" cy="245745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600" b="1" dirty="0">
                  <a:solidFill>
                    <a:srgbClr val="102033"/>
                  </a:solidFill>
                  <a:latin typeface="MiSans Normal" panose="00000500000000000000" charset="-122"/>
                  <a:ea typeface="MiSans Normal" panose="00000500000000000000" charset="-122"/>
                  <a:cs typeface="等线" panose="02010600030101010101" charset="-122"/>
                </a:rPr>
                <a:t>目标用户</a:t>
              </a:r>
              <a:endParaRPr lang="zh-CN" sz="1600" b="1" dirty="0">
                <a:solidFill>
                  <a:srgbClr val="102033"/>
                </a:solidFill>
                <a:latin typeface="MiSans Normal" panose="00000500000000000000" charset="-122"/>
                <a:ea typeface="MiSans Normal" panose="00000500000000000000" charset="-122"/>
                <a:cs typeface="等线" panose="02010600030101010101" charset="-122"/>
              </a:endParaRPr>
            </a:p>
          </p:txBody>
        </p:sp>
        <p:sp>
          <p:nvSpPr>
            <p:cNvPr id="53" name="TextBox 53"/>
            <p:cNvSpPr txBox="1"/>
            <p:nvPr/>
          </p:nvSpPr>
          <p:spPr>
            <a:xfrm>
              <a:off x="900112" y="2899886"/>
              <a:ext cx="3300730" cy="173355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125" dirty="0">
                  <a:solidFill>
                    <a:srgbClr val="51677F"/>
                  </a:solidFill>
                  <a:latin typeface="MiSans Normal" panose="00000500000000000000" charset="-122"/>
                  <a:ea typeface="MiSans Normal" panose="00000500000000000000" charset="-122"/>
                  <a:cs typeface="等线" panose="02010600030101010101" charset="-122"/>
                </a:rPr>
                <a:t>年轻自由行、独旅、多人组织者、内容分享型用户。</a:t>
              </a:r>
              <a:endParaRPr lang="zh-CN" sz="1125" dirty="0">
                <a:solidFill>
                  <a:srgbClr val="51677F"/>
                </a:solidFill>
                <a:latin typeface="MiSans Normal" panose="00000500000000000000" charset="-122"/>
                <a:ea typeface="MiSans Normal" panose="00000500000000000000" charset="-122"/>
                <a:cs typeface="等线" panose="02010600030101010101" charset="-122"/>
              </a:endParaRPr>
            </a:p>
          </p:txBody>
        </p:sp>
        <p:sp>
          <p:nvSpPr>
            <p:cNvPr id="54" name="Rectangle 54"/>
            <p:cNvSpPr/>
            <p:nvPr/>
          </p:nvSpPr>
          <p:spPr>
            <a:xfrm>
              <a:off x="762000" y="3486150"/>
              <a:ext cx="2381250" cy="1066800"/>
            </a:xfrm>
            <a:prstGeom prst="roundRect">
              <a:avLst>
                <a:gd name="adj" fmla="val 12500"/>
              </a:avLst>
            </a:prstGeom>
            <a:solidFill>
              <a:srgbClr val="0B57D0">
                <a:alpha val="5000"/>
              </a:srgbClr>
            </a:solidFill>
            <a:ln>
              <a:noFill/>
            </a:ln>
          </p:spPr>
        </p:sp>
        <p:sp>
          <p:nvSpPr>
            <p:cNvPr id="55" name="Rectangle 55"/>
            <p:cNvSpPr/>
            <p:nvPr/>
          </p:nvSpPr>
          <p:spPr>
            <a:xfrm>
              <a:off x="685800" y="3390900"/>
              <a:ext cx="2381250" cy="1066800"/>
            </a:xfrm>
            <a:prstGeom prst="roundRect">
              <a:avLst>
                <a:gd name="adj" fmla="val 12500"/>
              </a:avLst>
            </a:prstGeom>
            <a:solidFill>
              <a:srgbClr val="FFFFFF"/>
            </a:solidFill>
            <a:ln w="11430">
              <a:solidFill>
                <a:srgbClr val="BFD9F4"/>
              </a:solidFill>
            </a:ln>
          </p:spPr>
        </p:sp>
        <p:sp>
          <p:nvSpPr>
            <p:cNvPr id="56" name="Line 56"/>
            <p:cNvSpPr/>
            <p:nvPr/>
          </p:nvSpPr>
          <p:spPr>
            <a:xfrm>
              <a:off x="857250" y="3400425"/>
              <a:ext cx="1238250" cy="9525"/>
            </a:xfrm>
            <a:custGeom>
              <a:avLst/>
              <a:gdLst/>
              <a:ahLst/>
              <a:cxnLst/>
              <a:rect l="l" t="t" r="r" b="b"/>
              <a:pathLst>
                <a:path w="1238250" h="9525">
                  <a:moveTo>
                    <a:pt x="0" y="0"/>
                  </a:moveTo>
                  <a:lnTo>
                    <a:pt x="1238250" y="0"/>
                  </a:lnTo>
                </a:path>
              </a:pathLst>
            </a:custGeom>
            <a:noFill/>
            <a:ln w="19050">
              <a:solidFill>
                <a:srgbClr val="26A7FF">
                  <a:alpha val="90000"/>
                </a:srgbClr>
              </a:solidFill>
            </a:ln>
          </p:spPr>
        </p:sp>
        <p:sp>
          <p:nvSpPr>
            <p:cNvPr id="57" name="Rectangle 57"/>
            <p:cNvSpPr/>
            <p:nvPr/>
          </p:nvSpPr>
          <p:spPr>
            <a:xfrm>
              <a:off x="857250" y="3562350"/>
              <a:ext cx="285750" cy="285750"/>
            </a:xfrm>
            <a:prstGeom prst="roundRect">
              <a:avLst>
                <a:gd name="adj" fmla="val 33333"/>
              </a:avLst>
            </a:prstGeom>
            <a:solidFill>
              <a:srgbClr val="E7F2FF"/>
            </a:solidFill>
            <a:ln>
              <a:noFill/>
            </a:ln>
          </p:spPr>
        </p:sp>
        <p:sp>
          <p:nvSpPr>
            <p:cNvPr id="58" name="Freeform 58"/>
            <p:cNvSpPr/>
            <p:nvPr/>
          </p:nvSpPr>
          <p:spPr>
            <a:xfrm>
              <a:off x="918262" y="3627015"/>
              <a:ext cx="159651" cy="160073"/>
            </a:xfrm>
            <a:custGeom>
              <a:avLst/>
              <a:gdLst/>
              <a:ahLst/>
              <a:cxnLst/>
              <a:rect l="l" t="t" r="r" b="b"/>
              <a:pathLst>
                <a:path w="159651" h="160073">
                  <a:moveTo>
                    <a:pt x="76244" y="3677"/>
                  </a:moveTo>
                  <a:cubicBezTo>
                    <a:pt x="79387" y="6201"/>
                    <a:pt x="81403" y="9868"/>
                    <a:pt x="81824" y="13884"/>
                  </a:cubicBezTo>
                  <a:lnTo>
                    <a:pt x="81863" y="14710"/>
                  </a:lnTo>
                  <a:lnTo>
                    <a:pt x="81863" y="46460"/>
                  </a:lnTo>
                  <a:cubicBezTo>
                    <a:pt x="81864" y="50074"/>
                    <a:pt x="79424" y="53233"/>
                    <a:pt x="75926" y="54143"/>
                  </a:cubicBezTo>
                  <a:cubicBezTo>
                    <a:pt x="64323" y="57158"/>
                    <a:pt x="56582" y="68096"/>
                    <a:pt x="57597" y="80041"/>
                  </a:cubicBezTo>
                  <a:cubicBezTo>
                    <a:pt x="58611" y="91987"/>
                    <a:pt x="68087" y="101462"/>
                    <a:pt x="80032" y="102477"/>
                  </a:cubicBezTo>
                  <a:cubicBezTo>
                    <a:pt x="91977" y="103491"/>
                    <a:pt x="102915" y="95750"/>
                    <a:pt x="105930" y="84147"/>
                  </a:cubicBezTo>
                  <a:cubicBezTo>
                    <a:pt x="106841" y="80650"/>
                    <a:pt x="109999" y="78209"/>
                    <a:pt x="113613" y="78210"/>
                  </a:cubicBezTo>
                  <a:lnTo>
                    <a:pt x="143776" y="78210"/>
                  </a:lnTo>
                  <a:cubicBezTo>
                    <a:pt x="152543" y="78210"/>
                    <a:pt x="159651" y="85317"/>
                    <a:pt x="159651" y="94085"/>
                  </a:cubicBezTo>
                  <a:cubicBezTo>
                    <a:pt x="159651" y="94689"/>
                    <a:pt x="159581" y="95291"/>
                    <a:pt x="159444" y="95879"/>
                  </a:cubicBezTo>
                  <a:cubicBezTo>
                    <a:pt x="150592" y="134067"/>
                    <a:pt x="115186" y="160073"/>
                    <a:pt x="76099" y="157099"/>
                  </a:cubicBezTo>
                  <a:cubicBezTo>
                    <a:pt x="37011" y="154126"/>
                    <a:pt x="5948" y="123062"/>
                    <a:pt x="2974" y="83975"/>
                  </a:cubicBezTo>
                  <a:cubicBezTo>
                    <a:pt x="0" y="44887"/>
                    <a:pt x="26006" y="9482"/>
                    <a:pt x="64194" y="629"/>
                  </a:cubicBezTo>
                  <a:lnTo>
                    <a:pt x="64647" y="549"/>
                  </a:lnTo>
                  <a:lnTo>
                    <a:pt x="65060" y="470"/>
                  </a:lnTo>
                  <a:cubicBezTo>
                    <a:pt x="69066" y="0"/>
                    <a:pt x="73095" y="1155"/>
                    <a:pt x="76244" y="3677"/>
                  </a:cubicBezTo>
                  <a:moveTo>
                    <a:pt x="105636" y="2804"/>
                  </a:moveTo>
                  <a:lnTo>
                    <a:pt x="105993" y="2819"/>
                  </a:lnTo>
                  <a:lnTo>
                    <a:pt x="106525" y="2851"/>
                  </a:lnTo>
                  <a:lnTo>
                    <a:pt x="107168" y="2962"/>
                  </a:lnTo>
                  <a:lnTo>
                    <a:pt x="107422" y="2994"/>
                  </a:lnTo>
                  <a:lnTo>
                    <a:pt x="107994" y="3169"/>
                  </a:lnTo>
                  <a:lnTo>
                    <a:pt x="108311" y="3248"/>
                  </a:lnTo>
                  <a:cubicBezTo>
                    <a:pt x="130175" y="10946"/>
                    <a:pt x="147582" y="27816"/>
                    <a:pt x="155960" y="49428"/>
                  </a:cubicBezTo>
                  <a:lnTo>
                    <a:pt x="156817" y="51762"/>
                  </a:lnTo>
                  <a:cubicBezTo>
                    <a:pt x="157672" y="54191"/>
                    <a:pt x="157296" y="56883"/>
                    <a:pt x="155808" y="58984"/>
                  </a:cubicBezTo>
                  <a:cubicBezTo>
                    <a:pt x="154321" y="61085"/>
                    <a:pt x="151907" y="62334"/>
                    <a:pt x="149332" y="62335"/>
                  </a:cubicBezTo>
                  <a:lnTo>
                    <a:pt x="113613" y="62335"/>
                  </a:lnTo>
                  <a:cubicBezTo>
                    <a:pt x="111293" y="62335"/>
                    <a:pt x="109089" y="61320"/>
                    <a:pt x="107581" y="59557"/>
                  </a:cubicBezTo>
                  <a:cubicBezTo>
                    <a:pt x="105415" y="57020"/>
                    <a:pt x="103053" y="54658"/>
                    <a:pt x="100516" y="52492"/>
                  </a:cubicBezTo>
                  <a:cubicBezTo>
                    <a:pt x="98753" y="50984"/>
                    <a:pt x="97738" y="48780"/>
                    <a:pt x="97738" y="46460"/>
                  </a:cubicBezTo>
                  <a:lnTo>
                    <a:pt x="97738" y="10741"/>
                  </a:lnTo>
                  <a:cubicBezTo>
                    <a:pt x="97744" y="10111"/>
                    <a:pt x="97812" y="9503"/>
                    <a:pt x="97945" y="8915"/>
                  </a:cubicBezTo>
                  <a:lnTo>
                    <a:pt x="98183" y="8106"/>
                  </a:lnTo>
                  <a:cubicBezTo>
                    <a:pt x="98487" y="7244"/>
                    <a:pt x="98938" y="6441"/>
                    <a:pt x="99516" y="5733"/>
                  </a:cubicBezTo>
                  <a:lnTo>
                    <a:pt x="99754" y="5471"/>
                  </a:lnTo>
                  <a:lnTo>
                    <a:pt x="100064" y="5129"/>
                  </a:lnTo>
                  <a:cubicBezTo>
                    <a:pt x="100287" y="4904"/>
                    <a:pt x="100523" y="4692"/>
                    <a:pt x="100770" y="4494"/>
                  </a:cubicBezTo>
                  <a:lnTo>
                    <a:pt x="101175" y="4224"/>
                  </a:lnTo>
                  <a:lnTo>
                    <a:pt x="101413" y="4042"/>
                  </a:lnTo>
                  <a:lnTo>
                    <a:pt x="101771" y="3843"/>
                  </a:lnTo>
                  <a:lnTo>
                    <a:pt x="102183" y="3605"/>
                  </a:lnTo>
                  <a:cubicBezTo>
                    <a:pt x="103259" y="3081"/>
                    <a:pt x="104439" y="2807"/>
                    <a:pt x="105636" y="2804"/>
                  </a:cubicBezTo>
                </a:path>
              </a:pathLst>
            </a:custGeom>
            <a:solidFill>
              <a:srgbClr val="0B57D0"/>
            </a:solidFill>
            <a:ln>
              <a:noFill/>
            </a:ln>
          </p:spPr>
        </p:sp>
        <p:sp>
          <p:nvSpPr>
            <p:cNvPr id="59" name="TextBox 59"/>
            <p:cNvSpPr txBox="1"/>
            <p:nvPr/>
          </p:nvSpPr>
          <p:spPr>
            <a:xfrm>
              <a:off x="1223327" y="3602196"/>
              <a:ext cx="815340" cy="245745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600" b="1" dirty="0">
                  <a:solidFill>
                    <a:srgbClr val="102033"/>
                  </a:solidFill>
                  <a:latin typeface="MiSans Normal" panose="00000500000000000000" charset="-122"/>
                  <a:ea typeface="MiSans Normal" panose="00000500000000000000" charset="-122"/>
                  <a:cs typeface="等线" panose="02010600030101010101" charset="-122"/>
                </a:rPr>
                <a:t>高频问题</a:t>
              </a:r>
              <a:endParaRPr lang="zh-CN" sz="1600" b="1" dirty="0">
                <a:solidFill>
                  <a:srgbClr val="102033"/>
                </a:solidFill>
                <a:latin typeface="MiSans Normal" panose="00000500000000000000" charset="-122"/>
                <a:ea typeface="MiSans Normal" panose="00000500000000000000" charset="-122"/>
                <a:cs typeface="等线" panose="02010600030101010101" charset="-122"/>
              </a:endParaRPr>
            </a:p>
          </p:txBody>
        </p:sp>
        <p:sp>
          <p:nvSpPr>
            <p:cNvPr id="60" name="TextBox 60"/>
            <p:cNvSpPr txBox="1"/>
            <p:nvPr/>
          </p:nvSpPr>
          <p:spPr>
            <a:xfrm>
              <a:off x="900112" y="4056856"/>
              <a:ext cx="861060" cy="173355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125" dirty="0">
                  <a:solidFill>
                    <a:srgbClr val="51677F"/>
                  </a:solidFill>
                  <a:latin typeface="MiSans Normal" panose="00000500000000000000" charset="-122"/>
                  <a:ea typeface="MiSans Normal" panose="00000500000000000000" charset="-122"/>
                  <a:cs typeface="等线" panose="02010600030101010101" charset="-122"/>
                </a:rPr>
                <a:t>攻略信息过载</a:t>
              </a:r>
              <a:endParaRPr lang="zh-CN" sz="1125" dirty="0">
                <a:solidFill>
                  <a:srgbClr val="51677F"/>
                </a:solidFill>
                <a:latin typeface="MiSans Normal" panose="00000500000000000000" charset="-122"/>
                <a:ea typeface="MiSans Normal" panose="00000500000000000000" charset="-122"/>
                <a:cs typeface="等线" panose="02010600030101010101" charset="-122"/>
              </a:endParaRPr>
            </a:p>
          </p:txBody>
        </p:sp>
        <p:sp>
          <p:nvSpPr>
            <p:cNvPr id="61" name="Rectangle 61"/>
            <p:cNvSpPr/>
            <p:nvPr/>
          </p:nvSpPr>
          <p:spPr>
            <a:xfrm>
              <a:off x="3371850" y="3486150"/>
              <a:ext cx="2381250" cy="1066800"/>
            </a:xfrm>
            <a:prstGeom prst="roundRect">
              <a:avLst>
                <a:gd name="adj" fmla="val 12500"/>
              </a:avLst>
            </a:prstGeom>
            <a:solidFill>
              <a:srgbClr val="0B57D0">
                <a:alpha val="5000"/>
              </a:srgbClr>
            </a:solidFill>
            <a:ln>
              <a:noFill/>
            </a:ln>
          </p:spPr>
        </p:sp>
        <p:sp>
          <p:nvSpPr>
            <p:cNvPr id="62" name="Rectangle 62"/>
            <p:cNvSpPr/>
            <p:nvPr/>
          </p:nvSpPr>
          <p:spPr>
            <a:xfrm>
              <a:off x="3295650" y="3390900"/>
              <a:ext cx="2381250" cy="1066800"/>
            </a:xfrm>
            <a:prstGeom prst="roundRect">
              <a:avLst>
                <a:gd name="adj" fmla="val 12500"/>
              </a:avLst>
            </a:prstGeom>
            <a:solidFill>
              <a:srgbClr val="FFFFFF"/>
            </a:solidFill>
            <a:ln w="11430">
              <a:solidFill>
                <a:srgbClr val="BFD9F4"/>
              </a:solidFill>
            </a:ln>
          </p:spPr>
        </p:sp>
        <p:sp>
          <p:nvSpPr>
            <p:cNvPr id="63" name="Line 63"/>
            <p:cNvSpPr/>
            <p:nvPr/>
          </p:nvSpPr>
          <p:spPr>
            <a:xfrm>
              <a:off x="3467100" y="3400425"/>
              <a:ext cx="1238250" cy="9525"/>
            </a:xfrm>
            <a:custGeom>
              <a:avLst/>
              <a:gdLst/>
              <a:ahLst/>
              <a:cxnLst/>
              <a:rect l="l" t="t" r="r" b="b"/>
              <a:pathLst>
                <a:path w="1238250" h="9525">
                  <a:moveTo>
                    <a:pt x="0" y="0"/>
                  </a:moveTo>
                  <a:lnTo>
                    <a:pt x="1238250" y="0"/>
                  </a:lnTo>
                </a:path>
              </a:pathLst>
            </a:custGeom>
            <a:noFill/>
            <a:ln w="19050">
              <a:solidFill>
                <a:srgbClr val="26A7FF">
                  <a:alpha val="90000"/>
                </a:srgbClr>
              </a:solidFill>
            </a:ln>
          </p:spPr>
        </p:sp>
        <p:sp>
          <p:nvSpPr>
            <p:cNvPr id="64" name="Rectangle 64"/>
            <p:cNvSpPr/>
            <p:nvPr/>
          </p:nvSpPr>
          <p:spPr>
            <a:xfrm>
              <a:off x="3467100" y="3562350"/>
              <a:ext cx="285750" cy="285750"/>
            </a:xfrm>
            <a:prstGeom prst="roundRect">
              <a:avLst>
                <a:gd name="adj" fmla="val 33333"/>
              </a:avLst>
            </a:prstGeom>
            <a:solidFill>
              <a:srgbClr val="E7F2FF"/>
            </a:solidFill>
            <a:ln>
              <a:noFill/>
            </a:ln>
          </p:spPr>
        </p:sp>
        <p:sp>
          <p:nvSpPr>
            <p:cNvPr id="65" name="Freeform 65"/>
            <p:cNvSpPr/>
            <p:nvPr/>
          </p:nvSpPr>
          <p:spPr>
            <a:xfrm>
              <a:off x="3531563" y="3618875"/>
              <a:ext cx="156904" cy="171936"/>
            </a:xfrm>
            <a:custGeom>
              <a:avLst/>
              <a:gdLst/>
              <a:ahLst/>
              <a:cxnLst/>
              <a:rect l="l" t="t" r="r" b="b"/>
              <a:pathLst>
                <a:path w="156904" h="171936">
                  <a:moveTo>
                    <a:pt x="128927" y="27898"/>
                  </a:moveTo>
                  <a:cubicBezTo>
                    <a:pt x="156191" y="55159"/>
                    <a:pt x="156904" y="99137"/>
                    <a:pt x="130538" y="127268"/>
                  </a:cubicBezTo>
                  <a:lnTo>
                    <a:pt x="128927" y="128935"/>
                  </a:lnTo>
                  <a:lnTo>
                    <a:pt x="95248" y="162606"/>
                  </a:lnTo>
                  <a:cubicBezTo>
                    <a:pt x="86380" y="171468"/>
                    <a:pt x="72160" y="171936"/>
                    <a:pt x="62728" y="163677"/>
                  </a:cubicBezTo>
                  <a:lnTo>
                    <a:pt x="61585" y="162606"/>
                  </a:lnTo>
                  <a:lnTo>
                    <a:pt x="27898" y="128927"/>
                  </a:lnTo>
                  <a:cubicBezTo>
                    <a:pt x="0" y="101029"/>
                    <a:pt x="0" y="55796"/>
                    <a:pt x="27898" y="27898"/>
                  </a:cubicBezTo>
                  <a:cubicBezTo>
                    <a:pt x="55796" y="0"/>
                    <a:pt x="101029" y="0"/>
                    <a:pt x="128927" y="27898"/>
                  </a:cubicBezTo>
                  <a:close/>
                  <a:moveTo>
                    <a:pt x="78412" y="54600"/>
                  </a:moveTo>
                  <a:cubicBezTo>
                    <a:pt x="65261" y="54600"/>
                    <a:pt x="54600" y="65261"/>
                    <a:pt x="54600" y="78412"/>
                  </a:cubicBezTo>
                  <a:cubicBezTo>
                    <a:pt x="54600" y="91564"/>
                    <a:pt x="65261" y="102225"/>
                    <a:pt x="78412" y="102225"/>
                  </a:cubicBezTo>
                  <a:cubicBezTo>
                    <a:pt x="91564" y="102225"/>
                    <a:pt x="102225" y="91564"/>
                    <a:pt x="102225" y="78412"/>
                  </a:cubicBezTo>
                  <a:cubicBezTo>
                    <a:pt x="102225" y="65261"/>
                    <a:pt x="91564" y="54600"/>
                    <a:pt x="78412" y="54600"/>
                  </a:cubicBezTo>
                </a:path>
              </a:pathLst>
            </a:custGeom>
            <a:solidFill>
              <a:srgbClr val="0B57D0"/>
            </a:solidFill>
            <a:ln>
              <a:noFill/>
            </a:ln>
          </p:spPr>
        </p:sp>
        <p:sp>
          <p:nvSpPr>
            <p:cNvPr id="66" name="TextBox 66"/>
            <p:cNvSpPr txBox="1"/>
            <p:nvPr/>
          </p:nvSpPr>
          <p:spPr>
            <a:xfrm>
              <a:off x="3849052" y="3618706"/>
              <a:ext cx="815340" cy="245745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600" b="1" dirty="0">
                  <a:solidFill>
                    <a:srgbClr val="102033"/>
                  </a:solidFill>
                  <a:latin typeface="MiSans Normal" panose="00000500000000000000" charset="-122"/>
                  <a:ea typeface="MiSans Normal" panose="00000500000000000000" charset="-122"/>
                  <a:cs typeface="等线" panose="02010600030101010101" charset="-122"/>
                </a:rPr>
                <a:t>高频场景</a:t>
              </a:r>
              <a:endParaRPr lang="zh-CN" sz="1600" b="1" dirty="0">
                <a:solidFill>
                  <a:srgbClr val="102033"/>
                </a:solidFill>
                <a:latin typeface="MiSans Normal" panose="00000500000000000000" charset="-122"/>
                <a:ea typeface="MiSans Normal" panose="00000500000000000000" charset="-122"/>
                <a:cs typeface="等线" panose="02010600030101010101" charset="-122"/>
              </a:endParaRPr>
            </a:p>
          </p:txBody>
        </p:sp>
        <p:sp>
          <p:nvSpPr>
            <p:cNvPr id="67" name="TextBox 67"/>
            <p:cNvSpPr txBox="1"/>
            <p:nvPr/>
          </p:nvSpPr>
          <p:spPr>
            <a:xfrm>
              <a:off x="3509962" y="4056856"/>
              <a:ext cx="717550" cy="173355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125" dirty="0">
                  <a:solidFill>
                    <a:srgbClr val="51677F"/>
                  </a:solidFill>
                  <a:latin typeface="MiSans Normal" panose="00000500000000000000" charset="-122"/>
                  <a:ea typeface="MiSans Normal" panose="00000500000000000000" charset="-122"/>
                  <a:cs typeface="等线" panose="02010600030101010101" charset="-122"/>
                </a:rPr>
                <a:t>周末周边游</a:t>
              </a:r>
              <a:endParaRPr lang="zh-CN" sz="1125" dirty="0">
                <a:solidFill>
                  <a:srgbClr val="51677F"/>
                </a:solidFill>
                <a:latin typeface="MiSans Normal" panose="00000500000000000000" charset="-122"/>
                <a:ea typeface="MiSans Normal" panose="00000500000000000000" charset="-122"/>
                <a:cs typeface="等线" panose="02010600030101010101" charset="-122"/>
              </a:endParaRPr>
            </a:p>
          </p:txBody>
        </p:sp>
        <p:sp>
          <p:nvSpPr>
            <p:cNvPr id="68" name="Rectangle 68"/>
            <p:cNvSpPr/>
            <p:nvPr/>
          </p:nvSpPr>
          <p:spPr>
            <a:xfrm>
              <a:off x="762000" y="4762500"/>
              <a:ext cx="4991100" cy="1123950"/>
            </a:xfrm>
            <a:prstGeom prst="roundRect">
              <a:avLst>
                <a:gd name="adj" fmla="val 11864"/>
              </a:avLst>
            </a:prstGeom>
            <a:solidFill>
              <a:srgbClr val="0B57D0">
                <a:alpha val="5000"/>
              </a:srgbClr>
            </a:solidFill>
            <a:ln>
              <a:noFill/>
            </a:ln>
          </p:spPr>
        </p:sp>
        <p:sp>
          <p:nvSpPr>
            <p:cNvPr id="69" name="Rectangle 69"/>
            <p:cNvSpPr/>
            <p:nvPr/>
          </p:nvSpPr>
          <p:spPr>
            <a:xfrm>
              <a:off x="685800" y="4667250"/>
              <a:ext cx="4991100" cy="1123950"/>
            </a:xfrm>
            <a:prstGeom prst="roundRect">
              <a:avLst>
                <a:gd name="adj" fmla="val 11864"/>
              </a:avLst>
            </a:prstGeom>
            <a:solidFill>
              <a:srgbClr val="FFFFFF"/>
            </a:solidFill>
            <a:ln w="11430">
              <a:solidFill>
                <a:srgbClr val="BFD9F4"/>
              </a:solidFill>
            </a:ln>
          </p:spPr>
        </p:sp>
        <p:sp>
          <p:nvSpPr>
            <p:cNvPr id="70" name="Line 70"/>
            <p:cNvSpPr/>
            <p:nvPr/>
          </p:nvSpPr>
          <p:spPr>
            <a:xfrm>
              <a:off x="857250" y="4676775"/>
              <a:ext cx="1238250" cy="9525"/>
            </a:xfrm>
            <a:custGeom>
              <a:avLst/>
              <a:gdLst/>
              <a:ahLst/>
              <a:cxnLst/>
              <a:rect l="l" t="t" r="r" b="b"/>
              <a:pathLst>
                <a:path w="1238250" h="9525">
                  <a:moveTo>
                    <a:pt x="0" y="0"/>
                  </a:moveTo>
                  <a:lnTo>
                    <a:pt x="1238250" y="0"/>
                  </a:lnTo>
                </a:path>
              </a:pathLst>
            </a:custGeom>
            <a:noFill/>
            <a:ln w="19050">
              <a:solidFill>
                <a:srgbClr val="26A7FF">
                  <a:alpha val="90000"/>
                </a:srgbClr>
              </a:solidFill>
            </a:ln>
          </p:spPr>
        </p:sp>
        <p:sp>
          <p:nvSpPr>
            <p:cNvPr id="71" name="Rectangle 71"/>
            <p:cNvSpPr/>
            <p:nvPr/>
          </p:nvSpPr>
          <p:spPr>
            <a:xfrm>
              <a:off x="857250" y="4838700"/>
              <a:ext cx="285750" cy="285750"/>
            </a:xfrm>
            <a:prstGeom prst="roundRect">
              <a:avLst>
                <a:gd name="adj" fmla="val 33333"/>
              </a:avLst>
            </a:prstGeom>
            <a:solidFill>
              <a:srgbClr val="E7F2FF"/>
            </a:solidFill>
            <a:ln>
              <a:noFill/>
            </a:ln>
          </p:spPr>
        </p:sp>
        <p:grpSp>
          <p:nvGrpSpPr>
            <p:cNvPr id="75" name="Group 75"/>
            <p:cNvGrpSpPr/>
            <p:nvPr/>
          </p:nvGrpSpPr>
          <p:grpSpPr>
            <a:xfrm>
              <a:off x="918107" y="4907494"/>
              <a:ext cx="156099" cy="148161"/>
              <a:chOff x="918107" y="4907494"/>
              <a:chExt cx="156099" cy="148161"/>
            </a:xfrm>
          </p:grpSpPr>
          <p:sp>
            <p:nvSpPr>
              <p:cNvPr id="72" name="Freeform 72"/>
              <p:cNvSpPr/>
              <p:nvPr/>
            </p:nvSpPr>
            <p:spPr>
              <a:xfrm>
                <a:off x="1023938" y="5002744"/>
                <a:ext cx="50268" cy="52911"/>
              </a:xfrm>
              <a:custGeom>
                <a:avLst/>
                <a:gdLst/>
                <a:ahLst/>
                <a:cxnLst/>
                <a:rect l="l" t="t" r="r" b="b"/>
                <a:pathLst>
                  <a:path w="50268" h="52911">
                    <a:moveTo>
                      <a:pt x="7937" y="34393"/>
                    </a:moveTo>
                    <a:cubicBezTo>
                      <a:pt x="3554" y="34393"/>
                      <a:pt x="0" y="30839"/>
                      <a:pt x="0" y="26456"/>
                    </a:cubicBezTo>
                    <a:cubicBezTo>
                      <a:pt x="0" y="22072"/>
                      <a:pt x="3554" y="18518"/>
                      <a:pt x="7937" y="18518"/>
                    </a:cubicBezTo>
                    <a:cubicBezTo>
                      <a:pt x="12321" y="18518"/>
                      <a:pt x="15875" y="14964"/>
                      <a:pt x="15875" y="10581"/>
                    </a:cubicBezTo>
                    <a:cubicBezTo>
                      <a:pt x="15875" y="0"/>
                      <a:pt x="31750" y="0"/>
                      <a:pt x="31750" y="10581"/>
                    </a:cubicBezTo>
                    <a:cubicBezTo>
                      <a:pt x="31750" y="14964"/>
                      <a:pt x="35304" y="18518"/>
                      <a:pt x="39688" y="18518"/>
                    </a:cubicBezTo>
                    <a:cubicBezTo>
                      <a:pt x="50268" y="18518"/>
                      <a:pt x="50268" y="34393"/>
                      <a:pt x="39688" y="34393"/>
                    </a:cubicBezTo>
                    <a:cubicBezTo>
                      <a:pt x="35304" y="34393"/>
                      <a:pt x="31750" y="37947"/>
                      <a:pt x="31750" y="42331"/>
                    </a:cubicBezTo>
                    <a:cubicBezTo>
                      <a:pt x="31750" y="52911"/>
                      <a:pt x="15875" y="52911"/>
                      <a:pt x="15875" y="42331"/>
                    </a:cubicBezTo>
                    <a:cubicBezTo>
                      <a:pt x="15875" y="37947"/>
                      <a:pt x="12321" y="34393"/>
                      <a:pt x="7937" y="34393"/>
                    </a:cubicBezTo>
                  </a:path>
                </a:pathLst>
              </a:custGeom>
              <a:solidFill>
                <a:srgbClr val="0B57D0"/>
              </a:solidFill>
              <a:ln>
                <a:noFill/>
              </a:ln>
            </p:spPr>
          </p:sp>
          <p:sp>
            <p:nvSpPr>
              <p:cNvPr id="73" name="Freeform 73"/>
              <p:cNvSpPr/>
              <p:nvPr/>
            </p:nvSpPr>
            <p:spPr>
              <a:xfrm>
                <a:off x="918107" y="4923369"/>
                <a:ext cx="116411" cy="113768"/>
              </a:xfrm>
              <a:custGeom>
                <a:avLst/>
                <a:gdLst/>
                <a:ahLst/>
                <a:cxnLst/>
                <a:rect l="l" t="t" r="r" b="b"/>
                <a:pathLst>
                  <a:path w="116411" h="113768">
                    <a:moveTo>
                      <a:pt x="10581" y="50268"/>
                    </a:moveTo>
                    <a:cubicBezTo>
                      <a:pt x="32499" y="50268"/>
                      <a:pt x="50268" y="32499"/>
                      <a:pt x="50268" y="10581"/>
                    </a:cubicBezTo>
                    <a:cubicBezTo>
                      <a:pt x="50268" y="0"/>
                      <a:pt x="66143" y="0"/>
                      <a:pt x="66143" y="10581"/>
                    </a:cubicBezTo>
                    <a:cubicBezTo>
                      <a:pt x="66143" y="32499"/>
                      <a:pt x="83912" y="50268"/>
                      <a:pt x="105831" y="50268"/>
                    </a:cubicBezTo>
                    <a:cubicBezTo>
                      <a:pt x="116411" y="50268"/>
                      <a:pt x="116411" y="66143"/>
                      <a:pt x="105831" y="66143"/>
                    </a:cubicBezTo>
                    <a:cubicBezTo>
                      <a:pt x="83912" y="66143"/>
                      <a:pt x="66143" y="83912"/>
                      <a:pt x="66143" y="105831"/>
                    </a:cubicBezTo>
                    <a:cubicBezTo>
                      <a:pt x="66143" y="110214"/>
                      <a:pt x="62589" y="113768"/>
                      <a:pt x="58206" y="113768"/>
                    </a:cubicBezTo>
                    <a:cubicBezTo>
                      <a:pt x="53822" y="113768"/>
                      <a:pt x="50268" y="110214"/>
                      <a:pt x="50268" y="105831"/>
                    </a:cubicBezTo>
                    <a:cubicBezTo>
                      <a:pt x="50268" y="83912"/>
                      <a:pt x="32499" y="66143"/>
                      <a:pt x="10581" y="66143"/>
                    </a:cubicBezTo>
                    <a:cubicBezTo>
                      <a:pt x="0" y="66143"/>
                      <a:pt x="0" y="50268"/>
                      <a:pt x="10581" y="50268"/>
                    </a:cubicBezTo>
                  </a:path>
                </a:pathLst>
              </a:custGeom>
              <a:solidFill>
                <a:srgbClr val="0B57D0"/>
              </a:solidFill>
              <a:ln>
                <a:noFill/>
              </a:ln>
            </p:spPr>
          </p:sp>
          <p:sp>
            <p:nvSpPr>
              <p:cNvPr id="74" name="Freeform 74"/>
              <p:cNvSpPr/>
              <p:nvPr/>
            </p:nvSpPr>
            <p:spPr>
              <a:xfrm>
                <a:off x="1023938" y="4907494"/>
                <a:ext cx="50268" cy="52911"/>
              </a:xfrm>
              <a:custGeom>
                <a:avLst/>
                <a:gdLst/>
                <a:ahLst/>
                <a:cxnLst/>
                <a:rect l="l" t="t" r="r" b="b"/>
                <a:pathLst>
                  <a:path w="50268" h="52911">
                    <a:moveTo>
                      <a:pt x="7937" y="34393"/>
                    </a:moveTo>
                    <a:cubicBezTo>
                      <a:pt x="3554" y="34393"/>
                      <a:pt x="0" y="30839"/>
                      <a:pt x="0" y="26456"/>
                    </a:cubicBezTo>
                    <a:cubicBezTo>
                      <a:pt x="0" y="22072"/>
                      <a:pt x="3554" y="18518"/>
                      <a:pt x="7937" y="18518"/>
                    </a:cubicBezTo>
                    <a:cubicBezTo>
                      <a:pt x="12321" y="18518"/>
                      <a:pt x="15875" y="14964"/>
                      <a:pt x="15875" y="10581"/>
                    </a:cubicBezTo>
                    <a:cubicBezTo>
                      <a:pt x="15875" y="0"/>
                      <a:pt x="31750" y="0"/>
                      <a:pt x="31750" y="10581"/>
                    </a:cubicBezTo>
                    <a:cubicBezTo>
                      <a:pt x="31750" y="14964"/>
                      <a:pt x="35304" y="18518"/>
                      <a:pt x="39688" y="18518"/>
                    </a:cubicBezTo>
                    <a:cubicBezTo>
                      <a:pt x="50268" y="18518"/>
                      <a:pt x="50268" y="34393"/>
                      <a:pt x="39688" y="34393"/>
                    </a:cubicBezTo>
                    <a:cubicBezTo>
                      <a:pt x="35304" y="34393"/>
                      <a:pt x="31750" y="37947"/>
                      <a:pt x="31750" y="42331"/>
                    </a:cubicBezTo>
                    <a:cubicBezTo>
                      <a:pt x="31750" y="52911"/>
                      <a:pt x="15875" y="52911"/>
                      <a:pt x="15875" y="42331"/>
                    </a:cubicBezTo>
                    <a:cubicBezTo>
                      <a:pt x="15875" y="37947"/>
                      <a:pt x="12321" y="34393"/>
                      <a:pt x="7937" y="34393"/>
                    </a:cubicBezTo>
                  </a:path>
                </a:pathLst>
              </a:custGeom>
              <a:solidFill>
                <a:srgbClr val="0B57D0"/>
              </a:solidFill>
              <a:ln>
                <a:noFill/>
              </a:ln>
            </p:spPr>
          </p:sp>
        </p:grpSp>
        <p:sp>
          <p:nvSpPr>
            <p:cNvPr id="76" name="TextBox 76"/>
            <p:cNvSpPr txBox="1"/>
            <p:nvPr/>
          </p:nvSpPr>
          <p:spPr>
            <a:xfrm>
              <a:off x="1223327" y="4878546"/>
              <a:ext cx="815340" cy="245745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600" b="1" dirty="0">
                  <a:solidFill>
                    <a:srgbClr val="102033"/>
                  </a:solidFill>
                  <a:latin typeface="MiSans Normal" panose="00000500000000000000" charset="-122"/>
                  <a:ea typeface="MiSans Normal" panose="00000500000000000000" charset="-122"/>
                  <a:cs typeface="等线" panose="02010600030101010101" charset="-122"/>
                </a:rPr>
                <a:t>社会价值</a:t>
              </a:r>
              <a:endParaRPr lang="zh-CN" sz="1600" b="1" dirty="0">
                <a:solidFill>
                  <a:srgbClr val="102033"/>
                </a:solidFill>
                <a:latin typeface="MiSans Normal" panose="00000500000000000000" charset="-122"/>
                <a:ea typeface="MiSans Normal" panose="00000500000000000000" charset="-122"/>
                <a:cs typeface="等线" panose="02010600030101010101" charset="-122"/>
              </a:endParaRPr>
            </a:p>
          </p:txBody>
        </p:sp>
        <p:sp>
          <p:nvSpPr>
            <p:cNvPr id="77" name="TextBox 77"/>
            <p:cNvSpPr txBox="1"/>
            <p:nvPr/>
          </p:nvSpPr>
          <p:spPr>
            <a:xfrm>
              <a:off x="900112" y="5343366"/>
              <a:ext cx="3731260" cy="173355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125" dirty="0">
                  <a:solidFill>
                    <a:srgbClr val="51677F"/>
                  </a:solidFill>
                  <a:latin typeface="MiSans Normal" panose="00000500000000000000" charset="-122"/>
                  <a:ea typeface="MiSans Normal" panose="00000500000000000000" charset="-122"/>
                  <a:cs typeface="等线" panose="02010600030101010101" charset="-122"/>
                </a:rPr>
                <a:t>降低规划负担，提升旅途陪伴感，探索更温和的人机关系。</a:t>
              </a:r>
              <a:endParaRPr lang="zh-CN" sz="1125" dirty="0">
                <a:solidFill>
                  <a:srgbClr val="51677F"/>
                </a:solidFill>
                <a:latin typeface="MiSans Normal" panose="00000500000000000000" charset="-122"/>
                <a:ea typeface="MiSans Normal" panose="00000500000000000000" charset="-122"/>
                <a:cs typeface="等线" panose="02010600030101010101" charset="-122"/>
              </a:endParaRPr>
            </a:p>
          </p:txBody>
        </p:sp>
        <p:sp>
          <p:nvSpPr>
            <p:cNvPr id="78" name="Rectangle 78"/>
            <p:cNvSpPr/>
            <p:nvPr/>
          </p:nvSpPr>
          <p:spPr>
            <a:xfrm>
              <a:off x="6400800" y="1581150"/>
              <a:ext cx="5448300" cy="4724400"/>
            </a:xfrm>
            <a:prstGeom prst="roundRect">
              <a:avLst>
                <a:gd name="adj" fmla="val 4032"/>
              </a:avLst>
            </a:prstGeom>
            <a:solidFill>
              <a:srgbClr val="0B57D0">
                <a:alpha val="5000"/>
              </a:srgbClr>
            </a:solidFill>
            <a:ln>
              <a:noFill/>
            </a:ln>
          </p:spPr>
        </p:sp>
        <p:sp>
          <p:nvSpPr>
            <p:cNvPr id="79" name="Rectangle 79"/>
            <p:cNvSpPr/>
            <p:nvPr/>
          </p:nvSpPr>
          <p:spPr>
            <a:xfrm>
              <a:off x="6324600" y="1485900"/>
              <a:ext cx="5448300" cy="4724400"/>
            </a:xfrm>
            <a:prstGeom prst="roundRect">
              <a:avLst>
                <a:gd name="adj" fmla="val 4032"/>
              </a:avLst>
            </a:prstGeom>
            <a:solidFill>
              <a:srgbClr val="FFFFFF"/>
            </a:solidFill>
            <a:ln w="11430">
              <a:solidFill>
                <a:srgbClr val="BFD9F4"/>
              </a:solidFill>
            </a:ln>
          </p:spPr>
        </p:sp>
        <p:sp>
          <p:nvSpPr>
            <p:cNvPr id="80" name="Line 80"/>
            <p:cNvSpPr/>
            <p:nvPr/>
          </p:nvSpPr>
          <p:spPr>
            <a:xfrm>
              <a:off x="6496050" y="1495425"/>
              <a:ext cx="1238250" cy="9525"/>
            </a:xfrm>
            <a:custGeom>
              <a:avLst/>
              <a:gdLst/>
              <a:ahLst/>
              <a:cxnLst/>
              <a:rect l="l" t="t" r="r" b="b"/>
              <a:pathLst>
                <a:path w="1238250" h="9525">
                  <a:moveTo>
                    <a:pt x="0" y="0"/>
                  </a:moveTo>
                  <a:lnTo>
                    <a:pt x="1238250" y="0"/>
                  </a:lnTo>
                </a:path>
              </a:pathLst>
            </a:custGeom>
            <a:noFill/>
            <a:ln w="19050">
              <a:solidFill>
                <a:srgbClr val="26A7FF">
                  <a:alpha val="90000"/>
                </a:srgbClr>
              </a:solidFill>
            </a:ln>
          </p:spPr>
        </p:sp>
        <p:sp>
          <p:nvSpPr>
            <p:cNvPr id="81" name="TextBox 81"/>
            <p:cNvSpPr txBox="1"/>
            <p:nvPr/>
          </p:nvSpPr>
          <p:spPr>
            <a:xfrm>
              <a:off x="6568440" y="1672590"/>
              <a:ext cx="1375410" cy="27686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800" b="1" dirty="0">
                  <a:solidFill>
                    <a:srgbClr val="102033"/>
                  </a:solidFill>
                  <a:latin typeface="MiSans Normal" panose="00000500000000000000" charset="-122"/>
                  <a:ea typeface="MiSans Normal" panose="00000500000000000000" charset="-122"/>
                  <a:cs typeface="等线" panose="02010600030101010101" charset="-122"/>
                </a:rPr>
                <a:t>市场欢迎程度</a:t>
              </a:r>
              <a:endParaRPr lang="zh-CN" sz="1800" b="1" dirty="0">
                <a:solidFill>
                  <a:srgbClr val="102033"/>
                </a:solidFill>
                <a:latin typeface="MiSans Normal" panose="00000500000000000000" charset="-122"/>
                <a:ea typeface="MiSans Normal" panose="00000500000000000000" charset="-122"/>
                <a:cs typeface="等线" panose="02010600030101010101" charset="-122"/>
              </a:endParaRPr>
            </a:p>
          </p:txBody>
        </p:sp>
        <p:sp>
          <p:nvSpPr>
            <p:cNvPr id="82" name="Rectangle 82"/>
            <p:cNvSpPr/>
            <p:nvPr/>
          </p:nvSpPr>
          <p:spPr>
            <a:xfrm>
              <a:off x="6667500" y="2400300"/>
              <a:ext cx="4914900" cy="971550"/>
            </a:xfrm>
            <a:prstGeom prst="roundRect">
              <a:avLst>
                <a:gd name="adj" fmla="val 13725"/>
              </a:avLst>
            </a:prstGeom>
            <a:solidFill>
              <a:srgbClr val="0B57D0">
                <a:alpha val="5000"/>
              </a:srgbClr>
            </a:solidFill>
            <a:ln>
              <a:noFill/>
            </a:ln>
          </p:spPr>
        </p:sp>
        <p:sp>
          <p:nvSpPr>
            <p:cNvPr id="83" name="Rectangle 83"/>
            <p:cNvSpPr/>
            <p:nvPr/>
          </p:nvSpPr>
          <p:spPr>
            <a:xfrm>
              <a:off x="6591300" y="2305050"/>
              <a:ext cx="4914900" cy="971550"/>
            </a:xfrm>
            <a:prstGeom prst="roundRect">
              <a:avLst>
                <a:gd name="adj" fmla="val 13725"/>
              </a:avLst>
            </a:prstGeom>
            <a:solidFill>
              <a:srgbClr val="FFFFFF"/>
            </a:solidFill>
            <a:ln w="11430">
              <a:solidFill>
                <a:srgbClr val="BFD9F4"/>
              </a:solidFill>
            </a:ln>
          </p:spPr>
        </p:sp>
        <p:sp>
          <p:nvSpPr>
            <p:cNvPr id="84" name="Line 84"/>
            <p:cNvSpPr/>
            <p:nvPr/>
          </p:nvSpPr>
          <p:spPr>
            <a:xfrm>
              <a:off x="6762750" y="2314575"/>
              <a:ext cx="1238250" cy="9525"/>
            </a:xfrm>
            <a:custGeom>
              <a:avLst/>
              <a:gdLst/>
              <a:ahLst/>
              <a:cxnLst/>
              <a:rect l="l" t="t" r="r" b="b"/>
              <a:pathLst>
                <a:path w="1238250" h="9525">
                  <a:moveTo>
                    <a:pt x="0" y="0"/>
                  </a:moveTo>
                  <a:lnTo>
                    <a:pt x="1238250" y="0"/>
                  </a:lnTo>
                </a:path>
              </a:pathLst>
            </a:custGeom>
            <a:noFill/>
            <a:ln w="19050">
              <a:solidFill>
                <a:srgbClr val="26A7FF">
                  <a:alpha val="90000"/>
                </a:srgbClr>
              </a:solidFill>
            </a:ln>
          </p:spPr>
        </p:sp>
        <p:sp>
          <p:nvSpPr>
            <p:cNvPr id="85" name="Rectangle 85"/>
            <p:cNvSpPr/>
            <p:nvPr/>
          </p:nvSpPr>
          <p:spPr>
            <a:xfrm>
              <a:off x="6762750" y="2476500"/>
              <a:ext cx="285750" cy="285750"/>
            </a:xfrm>
            <a:prstGeom prst="roundRect">
              <a:avLst>
                <a:gd name="adj" fmla="val 33333"/>
              </a:avLst>
            </a:prstGeom>
            <a:solidFill>
              <a:srgbClr val="E7F2FF"/>
            </a:solidFill>
            <a:ln>
              <a:noFill/>
            </a:ln>
          </p:spPr>
        </p:sp>
        <p:sp>
          <p:nvSpPr>
            <p:cNvPr id="86" name="Freeform 86"/>
            <p:cNvSpPr/>
            <p:nvPr/>
          </p:nvSpPr>
          <p:spPr>
            <a:xfrm>
              <a:off x="6826250" y="2547938"/>
              <a:ext cx="158750" cy="151184"/>
            </a:xfrm>
            <a:custGeom>
              <a:avLst/>
              <a:gdLst/>
              <a:ahLst/>
              <a:cxnLst/>
              <a:rect l="l" t="t" r="r" b="b"/>
              <a:pathLst>
                <a:path w="158750" h="151184">
                  <a:moveTo>
                    <a:pt x="127000" y="0"/>
                  </a:moveTo>
                  <a:cubicBezTo>
                    <a:pt x="144535" y="0"/>
                    <a:pt x="158750" y="14215"/>
                    <a:pt x="158750" y="31750"/>
                  </a:cubicBezTo>
                  <a:lnTo>
                    <a:pt x="158750" y="95250"/>
                  </a:lnTo>
                  <a:cubicBezTo>
                    <a:pt x="158750" y="112785"/>
                    <a:pt x="144535" y="127000"/>
                    <a:pt x="127000" y="127000"/>
                  </a:cubicBezTo>
                  <a:lnTo>
                    <a:pt x="89503" y="127000"/>
                  </a:lnTo>
                  <a:lnTo>
                    <a:pt x="51705" y="149677"/>
                  </a:lnTo>
                  <a:cubicBezTo>
                    <a:pt x="49392" y="151066"/>
                    <a:pt x="46532" y="151184"/>
                    <a:pt x="44112" y="149992"/>
                  </a:cubicBezTo>
                  <a:cubicBezTo>
                    <a:pt x="41693" y="148799"/>
                    <a:pt x="40044" y="146460"/>
                    <a:pt x="39735" y="143780"/>
                  </a:cubicBezTo>
                  <a:lnTo>
                    <a:pt x="39688" y="142875"/>
                  </a:lnTo>
                  <a:lnTo>
                    <a:pt x="39688" y="127000"/>
                  </a:lnTo>
                  <a:lnTo>
                    <a:pt x="31750" y="127000"/>
                  </a:lnTo>
                  <a:cubicBezTo>
                    <a:pt x="14832" y="127000"/>
                    <a:pt x="886" y="113734"/>
                    <a:pt x="40" y="96838"/>
                  </a:cubicBezTo>
                  <a:lnTo>
                    <a:pt x="0" y="95250"/>
                  </a:lnTo>
                  <a:lnTo>
                    <a:pt x="0" y="31750"/>
                  </a:lnTo>
                  <a:cubicBezTo>
                    <a:pt x="0" y="14215"/>
                    <a:pt x="14215" y="0"/>
                    <a:pt x="31750" y="0"/>
                  </a:cubicBezTo>
                  <a:close/>
                  <a:moveTo>
                    <a:pt x="104775" y="73708"/>
                  </a:moveTo>
                  <a:cubicBezTo>
                    <a:pt x="101645" y="70639"/>
                    <a:pt x="96620" y="70689"/>
                    <a:pt x="93551" y="73819"/>
                  </a:cubicBezTo>
                  <a:cubicBezTo>
                    <a:pt x="89819" y="77630"/>
                    <a:pt x="84709" y="79777"/>
                    <a:pt x="79375" y="79777"/>
                  </a:cubicBezTo>
                  <a:cubicBezTo>
                    <a:pt x="74041" y="79777"/>
                    <a:pt x="68931" y="77630"/>
                    <a:pt x="65199" y="73819"/>
                  </a:cubicBezTo>
                  <a:cubicBezTo>
                    <a:pt x="62117" y="70764"/>
                    <a:pt x="57153" y="70750"/>
                    <a:pt x="54054" y="73788"/>
                  </a:cubicBezTo>
                  <a:cubicBezTo>
                    <a:pt x="50955" y="76826"/>
                    <a:pt x="50870" y="81789"/>
                    <a:pt x="53864" y="84931"/>
                  </a:cubicBezTo>
                  <a:cubicBezTo>
                    <a:pt x="60582" y="91787"/>
                    <a:pt x="69777" y="95650"/>
                    <a:pt x="79375" y="95650"/>
                  </a:cubicBezTo>
                  <a:cubicBezTo>
                    <a:pt x="88973" y="95650"/>
                    <a:pt x="98168" y="91787"/>
                    <a:pt x="104886" y="84931"/>
                  </a:cubicBezTo>
                  <a:cubicBezTo>
                    <a:pt x="107954" y="81801"/>
                    <a:pt x="107905" y="76776"/>
                    <a:pt x="104775" y="73708"/>
                  </a:cubicBezTo>
                  <a:moveTo>
                    <a:pt x="59611" y="39688"/>
                  </a:moveTo>
                  <a:lnTo>
                    <a:pt x="59531" y="39688"/>
                  </a:lnTo>
                  <a:cubicBezTo>
                    <a:pt x="55147" y="39688"/>
                    <a:pt x="51594" y="43241"/>
                    <a:pt x="51594" y="47625"/>
                  </a:cubicBezTo>
                  <a:cubicBezTo>
                    <a:pt x="51594" y="52009"/>
                    <a:pt x="55147" y="55562"/>
                    <a:pt x="59531" y="55562"/>
                  </a:cubicBezTo>
                  <a:lnTo>
                    <a:pt x="59611" y="55562"/>
                  </a:lnTo>
                  <a:cubicBezTo>
                    <a:pt x="63994" y="55562"/>
                    <a:pt x="67548" y="52009"/>
                    <a:pt x="67548" y="47625"/>
                  </a:cubicBezTo>
                  <a:cubicBezTo>
                    <a:pt x="67548" y="43241"/>
                    <a:pt x="63994" y="39688"/>
                    <a:pt x="59611" y="39688"/>
                  </a:cubicBezTo>
                  <a:moveTo>
                    <a:pt x="99298" y="39688"/>
                  </a:moveTo>
                  <a:lnTo>
                    <a:pt x="99219" y="39688"/>
                  </a:lnTo>
                  <a:cubicBezTo>
                    <a:pt x="94835" y="39688"/>
                    <a:pt x="91281" y="43241"/>
                    <a:pt x="91281" y="47625"/>
                  </a:cubicBezTo>
                  <a:cubicBezTo>
                    <a:pt x="91281" y="52009"/>
                    <a:pt x="94835" y="55562"/>
                    <a:pt x="99219" y="55562"/>
                  </a:cubicBezTo>
                  <a:lnTo>
                    <a:pt x="99298" y="55562"/>
                  </a:lnTo>
                  <a:cubicBezTo>
                    <a:pt x="103682" y="55562"/>
                    <a:pt x="107236" y="52009"/>
                    <a:pt x="107236" y="47625"/>
                  </a:cubicBezTo>
                  <a:cubicBezTo>
                    <a:pt x="107236" y="43241"/>
                    <a:pt x="103682" y="39688"/>
                    <a:pt x="99298" y="39688"/>
                  </a:cubicBezTo>
                </a:path>
              </a:pathLst>
            </a:custGeom>
            <a:solidFill>
              <a:srgbClr val="0B57D0"/>
            </a:solidFill>
            <a:ln>
              <a:noFill/>
            </a:ln>
          </p:spPr>
        </p:sp>
        <p:sp>
          <p:nvSpPr>
            <p:cNvPr id="87" name="TextBox 87"/>
            <p:cNvSpPr txBox="1"/>
            <p:nvPr/>
          </p:nvSpPr>
          <p:spPr>
            <a:xfrm>
              <a:off x="7144702" y="2516346"/>
              <a:ext cx="1630680" cy="245745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600" b="1" dirty="0">
                  <a:solidFill>
                    <a:srgbClr val="102033"/>
                  </a:solidFill>
                  <a:latin typeface="MiSans Normal" panose="00000500000000000000" charset="-122"/>
                  <a:ea typeface="MiSans Normal" panose="00000500000000000000" charset="-122"/>
                  <a:cs typeface="等线" panose="02010600030101010101" charset="-122"/>
                </a:rPr>
                <a:t>与现有方案的区别</a:t>
              </a:r>
              <a:endParaRPr lang="zh-CN" sz="1600" b="1" dirty="0">
                <a:solidFill>
                  <a:srgbClr val="102033"/>
                </a:solidFill>
                <a:latin typeface="MiSans Normal" panose="00000500000000000000" charset="-122"/>
                <a:ea typeface="MiSans Normal" panose="00000500000000000000" charset="-122"/>
                <a:cs typeface="等线" panose="02010600030101010101" charset="-122"/>
              </a:endParaRPr>
            </a:p>
          </p:txBody>
        </p:sp>
        <p:sp>
          <p:nvSpPr>
            <p:cNvPr id="88" name="TextBox 88"/>
            <p:cNvSpPr txBox="1"/>
            <p:nvPr/>
          </p:nvSpPr>
          <p:spPr>
            <a:xfrm>
              <a:off x="6805612" y="2869406"/>
              <a:ext cx="4161790" cy="173355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125" dirty="0">
                  <a:solidFill>
                    <a:srgbClr val="51677F"/>
                  </a:solidFill>
                  <a:latin typeface="MiSans Normal" panose="00000500000000000000" charset="-122"/>
                  <a:ea typeface="MiSans Normal" panose="00000500000000000000" charset="-122"/>
                  <a:cs typeface="等线" panose="02010600030101010101" charset="-122"/>
                </a:rPr>
                <a:t>现有工具重效率和交易链路，蓝心同行聚焦记忆、陪伴和具身化。</a:t>
              </a:r>
              <a:endParaRPr lang="zh-CN" sz="1125" dirty="0">
                <a:solidFill>
                  <a:srgbClr val="51677F"/>
                </a:solidFill>
                <a:latin typeface="MiSans Normal" panose="00000500000000000000" charset="-122"/>
                <a:ea typeface="MiSans Normal" panose="00000500000000000000" charset="-122"/>
                <a:cs typeface="等线" panose="02010600030101010101" charset="-122"/>
              </a:endParaRPr>
            </a:p>
          </p:txBody>
        </p:sp>
        <p:sp>
          <p:nvSpPr>
            <p:cNvPr id="89" name="Rectangle 89"/>
            <p:cNvSpPr/>
            <p:nvPr/>
          </p:nvSpPr>
          <p:spPr>
            <a:xfrm>
              <a:off x="6667500" y="3581400"/>
              <a:ext cx="4914900" cy="1028700"/>
            </a:xfrm>
            <a:prstGeom prst="roundRect">
              <a:avLst>
                <a:gd name="adj" fmla="val 12963"/>
              </a:avLst>
            </a:prstGeom>
            <a:solidFill>
              <a:srgbClr val="0B57D0">
                <a:alpha val="5000"/>
              </a:srgbClr>
            </a:solidFill>
            <a:ln>
              <a:noFill/>
            </a:ln>
          </p:spPr>
        </p:sp>
        <p:sp>
          <p:nvSpPr>
            <p:cNvPr id="90" name="Rectangle 90"/>
            <p:cNvSpPr/>
            <p:nvPr/>
          </p:nvSpPr>
          <p:spPr>
            <a:xfrm>
              <a:off x="6591300" y="3486150"/>
              <a:ext cx="4914900" cy="1028700"/>
            </a:xfrm>
            <a:prstGeom prst="roundRect">
              <a:avLst>
                <a:gd name="adj" fmla="val 12963"/>
              </a:avLst>
            </a:prstGeom>
            <a:solidFill>
              <a:srgbClr val="FFFFFF"/>
            </a:solidFill>
            <a:ln w="11430">
              <a:solidFill>
                <a:srgbClr val="BFD9F4"/>
              </a:solidFill>
            </a:ln>
          </p:spPr>
        </p:sp>
        <p:sp>
          <p:nvSpPr>
            <p:cNvPr id="91" name="Line 91"/>
            <p:cNvSpPr/>
            <p:nvPr/>
          </p:nvSpPr>
          <p:spPr>
            <a:xfrm>
              <a:off x="6762750" y="3495675"/>
              <a:ext cx="1238250" cy="9525"/>
            </a:xfrm>
            <a:custGeom>
              <a:avLst/>
              <a:gdLst/>
              <a:ahLst/>
              <a:cxnLst/>
              <a:rect l="l" t="t" r="r" b="b"/>
              <a:pathLst>
                <a:path w="1238250" h="9525">
                  <a:moveTo>
                    <a:pt x="0" y="0"/>
                  </a:moveTo>
                  <a:lnTo>
                    <a:pt x="1238250" y="0"/>
                  </a:lnTo>
                </a:path>
              </a:pathLst>
            </a:custGeom>
            <a:noFill/>
            <a:ln w="19050">
              <a:solidFill>
                <a:srgbClr val="26A7FF">
                  <a:alpha val="90000"/>
                </a:srgbClr>
              </a:solidFill>
            </a:ln>
          </p:spPr>
        </p:sp>
        <p:sp>
          <p:nvSpPr>
            <p:cNvPr id="92" name="Rectangle 92"/>
            <p:cNvSpPr/>
            <p:nvPr/>
          </p:nvSpPr>
          <p:spPr>
            <a:xfrm>
              <a:off x="6762750" y="3657600"/>
              <a:ext cx="285750" cy="285750"/>
            </a:xfrm>
            <a:prstGeom prst="roundRect">
              <a:avLst>
                <a:gd name="adj" fmla="val 33333"/>
              </a:avLst>
            </a:prstGeom>
            <a:solidFill>
              <a:srgbClr val="E7F2FF"/>
            </a:solidFill>
            <a:ln>
              <a:noFill/>
            </a:ln>
          </p:spPr>
        </p:sp>
        <p:grpSp>
          <p:nvGrpSpPr>
            <p:cNvPr id="96" name="Group 96"/>
            <p:cNvGrpSpPr/>
            <p:nvPr/>
          </p:nvGrpSpPr>
          <p:grpSpPr>
            <a:xfrm>
              <a:off x="6823607" y="3726394"/>
              <a:ext cx="156099" cy="148161"/>
              <a:chOff x="6823607" y="3726394"/>
              <a:chExt cx="156099" cy="148161"/>
            </a:xfrm>
          </p:grpSpPr>
          <p:sp>
            <p:nvSpPr>
              <p:cNvPr id="93" name="Freeform 93"/>
              <p:cNvSpPr/>
              <p:nvPr/>
            </p:nvSpPr>
            <p:spPr>
              <a:xfrm>
                <a:off x="6929438" y="3821644"/>
                <a:ext cx="50268" cy="52911"/>
              </a:xfrm>
              <a:custGeom>
                <a:avLst/>
                <a:gdLst/>
                <a:ahLst/>
                <a:cxnLst/>
                <a:rect l="l" t="t" r="r" b="b"/>
                <a:pathLst>
                  <a:path w="50268" h="52911">
                    <a:moveTo>
                      <a:pt x="7938" y="34393"/>
                    </a:moveTo>
                    <a:cubicBezTo>
                      <a:pt x="3554" y="34393"/>
                      <a:pt x="0" y="30839"/>
                      <a:pt x="0" y="26456"/>
                    </a:cubicBezTo>
                    <a:cubicBezTo>
                      <a:pt x="0" y="22072"/>
                      <a:pt x="3554" y="18518"/>
                      <a:pt x="7938" y="18518"/>
                    </a:cubicBezTo>
                    <a:cubicBezTo>
                      <a:pt x="12321" y="18518"/>
                      <a:pt x="15875" y="14964"/>
                      <a:pt x="15875" y="10581"/>
                    </a:cubicBezTo>
                    <a:cubicBezTo>
                      <a:pt x="15875" y="0"/>
                      <a:pt x="31750" y="0"/>
                      <a:pt x="31750" y="10581"/>
                    </a:cubicBezTo>
                    <a:cubicBezTo>
                      <a:pt x="31750" y="14964"/>
                      <a:pt x="35304" y="18518"/>
                      <a:pt x="39687" y="18518"/>
                    </a:cubicBezTo>
                    <a:cubicBezTo>
                      <a:pt x="50268" y="18518"/>
                      <a:pt x="50268" y="34393"/>
                      <a:pt x="39687" y="34393"/>
                    </a:cubicBezTo>
                    <a:cubicBezTo>
                      <a:pt x="35304" y="34393"/>
                      <a:pt x="31750" y="37947"/>
                      <a:pt x="31750" y="42331"/>
                    </a:cubicBezTo>
                    <a:cubicBezTo>
                      <a:pt x="31750" y="52911"/>
                      <a:pt x="15875" y="52911"/>
                      <a:pt x="15875" y="42331"/>
                    </a:cubicBezTo>
                    <a:cubicBezTo>
                      <a:pt x="15875" y="37947"/>
                      <a:pt x="12321" y="34393"/>
                      <a:pt x="7938" y="34393"/>
                    </a:cubicBezTo>
                  </a:path>
                </a:pathLst>
              </a:custGeom>
              <a:solidFill>
                <a:srgbClr val="0B57D0"/>
              </a:solidFill>
              <a:ln>
                <a:noFill/>
              </a:ln>
            </p:spPr>
          </p:sp>
          <p:sp>
            <p:nvSpPr>
              <p:cNvPr id="94" name="Freeform 94"/>
              <p:cNvSpPr/>
              <p:nvPr/>
            </p:nvSpPr>
            <p:spPr>
              <a:xfrm>
                <a:off x="6823607" y="3742269"/>
                <a:ext cx="116411" cy="113768"/>
              </a:xfrm>
              <a:custGeom>
                <a:avLst/>
                <a:gdLst/>
                <a:ahLst/>
                <a:cxnLst/>
                <a:rect l="l" t="t" r="r" b="b"/>
                <a:pathLst>
                  <a:path w="116411" h="113768">
                    <a:moveTo>
                      <a:pt x="10581" y="50268"/>
                    </a:moveTo>
                    <a:cubicBezTo>
                      <a:pt x="32499" y="50268"/>
                      <a:pt x="50268" y="32499"/>
                      <a:pt x="50268" y="10581"/>
                    </a:cubicBezTo>
                    <a:cubicBezTo>
                      <a:pt x="50268" y="0"/>
                      <a:pt x="66143" y="0"/>
                      <a:pt x="66143" y="10581"/>
                    </a:cubicBezTo>
                    <a:cubicBezTo>
                      <a:pt x="66143" y="32499"/>
                      <a:pt x="83912" y="50268"/>
                      <a:pt x="105831" y="50268"/>
                    </a:cubicBezTo>
                    <a:cubicBezTo>
                      <a:pt x="116411" y="50268"/>
                      <a:pt x="116411" y="66143"/>
                      <a:pt x="105831" y="66143"/>
                    </a:cubicBezTo>
                    <a:cubicBezTo>
                      <a:pt x="83912" y="66143"/>
                      <a:pt x="66143" y="83912"/>
                      <a:pt x="66143" y="105831"/>
                    </a:cubicBezTo>
                    <a:cubicBezTo>
                      <a:pt x="66143" y="110214"/>
                      <a:pt x="62589" y="113768"/>
                      <a:pt x="58206" y="113768"/>
                    </a:cubicBezTo>
                    <a:cubicBezTo>
                      <a:pt x="53822" y="113768"/>
                      <a:pt x="50268" y="110214"/>
                      <a:pt x="50268" y="105831"/>
                    </a:cubicBezTo>
                    <a:cubicBezTo>
                      <a:pt x="50268" y="83912"/>
                      <a:pt x="32499" y="66143"/>
                      <a:pt x="10581" y="66143"/>
                    </a:cubicBezTo>
                    <a:cubicBezTo>
                      <a:pt x="0" y="66143"/>
                      <a:pt x="0" y="50268"/>
                      <a:pt x="10581" y="50268"/>
                    </a:cubicBezTo>
                  </a:path>
                </a:pathLst>
              </a:custGeom>
              <a:solidFill>
                <a:srgbClr val="0B57D0"/>
              </a:solidFill>
              <a:ln>
                <a:noFill/>
              </a:ln>
            </p:spPr>
          </p:sp>
          <p:sp>
            <p:nvSpPr>
              <p:cNvPr id="95" name="Freeform 95"/>
              <p:cNvSpPr/>
              <p:nvPr/>
            </p:nvSpPr>
            <p:spPr>
              <a:xfrm>
                <a:off x="6929438" y="3726394"/>
                <a:ext cx="50268" cy="52911"/>
              </a:xfrm>
              <a:custGeom>
                <a:avLst/>
                <a:gdLst/>
                <a:ahLst/>
                <a:cxnLst/>
                <a:rect l="l" t="t" r="r" b="b"/>
                <a:pathLst>
                  <a:path w="50268" h="52911">
                    <a:moveTo>
                      <a:pt x="7938" y="34393"/>
                    </a:moveTo>
                    <a:cubicBezTo>
                      <a:pt x="3554" y="34393"/>
                      <a:pt x="0" y="30839"/>
                      <a:pt x="0" y="26456"/>
                    </a:cubicBezTo>
                    <a:cubicBezTo>
                      <a:pt x="0" y="22072"/>
                      <a:pt x="3554" y="18518"/>
                      <a:pt x="7938" y="18518"/>
                    </a:cubicBezTo>
                    <a:cubicBezTo>
                      <a:pt x="12321" y="18518"/>
                      <a:pt x="15875" y="14964"/>
                      <a:pt x="15875" y="10581"/>
                    </a:cubicBezTo>
                    <a:cubicBezTo>
                      <a:pt x="15875" y="0"/>
                      <a:pt x="31750" y="0"/>
                      <a:pt x="31750" y="10581"/>
                    </a:cubicBezTo>
                    <a:cubicBezTo>
                      <a:pt x="31750" y="14964"/>
                      <a:pt x="35304" y="18518"/>
                      <a:pt x="39687" y="18518"/>
                    </a:cubicBezTo>
                    <a:cubicBezTo>
                      <a:pt x="50268" y="18518"/>
                      <a:pt x="50268" y="34393"/>
                      <a:pt x="39687" y="34393"/>
                    </a:cubicBezTo>
                    <a:cubicBezTo>
                      <a:pt x="35304" y="34393"/>
                      <a:pt x="31750" y="37947"/>
                      <a:pt x="31750" y="42331"/>
                    </a:cubicBezTo>
                    <a:cubicBezTo>
                      <a:pt x="31750" y="52911"/>
                      <a:pt x="15875" y="52911"/>
                      <a:pt x="15875" y="42331"/>
                    </a:cubicBezTo>
                    <a:cubicBezTo>
                      <a:pt x="15875" y="37947"/>
                      <a:pt x="12321" y="34393"/>
                      <a:pt x="7938" y="34393"/>
                    </a:cubicBezTo>
                  </a:path>
                </a:pathLst>
              </a:custGeom>
              <a:solidFill>
                <a:srgbClr val="0B57D0"/>
              </a:solidFill>
              <a:ln>
                <a:noFill/>
              </a:ln>
            </p:spPr>
          </p:sp>
        </p:grpSp>
        <p:sp>
          <p:nvSpPr>
            <p:cNvPr id="97" name="TextBox 97"/>
            <p:cNvSpPr txBox="1"/>
            <p:nvPr/>
          </p:nvSpPr>
          <p:spPr>
            <a:xfrm>
              <a:off x="7144702" y="3697446"/>
              <a:ext cx="1019175" cy="245745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600" b="1" dirty="0">
                  <a:solidFill>
                    <a:srgbClr val="102033"/>
                  </a:solidFill>
                  <a:latin typeface="MiSans Normal" panose="00000500000000000000" charset="-122"/>
                  <a:ea typeface="MiSans Normal" panose="00000500000000000000" charset="-122"/>
                  <a:cs typeface="等线" panose="02010600030101010101" charset="-122"/>
                </a:rPr>
                <a:t>差异化壁垒</a:t>
              </a:r>
              <a:endParaRPr lang="zh-CN" sz="1600" b="1" dirty="0">
                <a:solidFill>
                  <a:srgbClr val="102033"/>
                </a:solidFill>
                <a:latin typeface="MiSans Normal" panose="00000500000000000000" charset="-122"/>
                <a:ea typeface="MiSans Normal" panose="00000500000000000000" charset="-122"/>
                <a:cs typeface="等线" panose="02010600030101010101" charset="-122"/>
              </a:endParaRPr>
            </a:p>
          </p:txBody>
        </p:sp>
        <p:sp>
          <p:nvSpPr>
            <p:cNvPr id="98" name="TextBox 98"/>
            <p:cNvSpPr txBox="1"/>
            <p:nvPr/>
          </p:nvSpPr>
          <p:spPr>
            <a:xfrm>
              <a:off x="6805612" y="4050506"/>
              <a:ext cx="3241675" cy="173355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125" dirty="0">
                  <a:solidFill>
                    <a:srgbClr val="51677F"/>
                  </a:solidFill>
                  <a:latin typeface="MiSans Normal" panose="00000500000000000000" charset="-122"/>
                  <a:ea typeface="MiSans Normal" panose="00000500000000000000" charset="-122"/>
                  <a:cs typeface="MiSans Normal" panose="00000500000000000000" charset="-122"/>
                </a:rPr>
                <a:t>长期记忆、主动陪伴、2D 具身化共同形成识别度。</a:t>
              </a:r>
              <a:endParaRPr lang="zh-CN" sz="1125" dirty="0">
                <a:solidFill>
                  <a:srgbClr val="51677F"/>
                </a:solidFill>
                <a:latin typeface="MiSans Normal" panose="00000500000000000000" charset="-122"/>
                <a:ea typeface="MiSans Normal" panose="00000500000000000000" charset="-122"/>
                <a:cs typeface="MiSans Normal" panose="00000500000000000000" charset="-122"/>
              </a:endParaRPr>
            </a:p>
          </p:txBody>
        </p:sp>
        <p:sp>
          <p:nvSpPr>
            <p:cNvPr id="99" name="Rectangle 99"/>
            <p:cNvSpPr/>
            <p:nvPr/>
          </p:nvSpPr>
          <p:spPr>
            <a:xfrm>
              <a:off x="6667500" y="4819650"/>
              <a:ext cx="4914900" cy="1066800"/>
            </a:xfrm>
            <a:prstGeom prst="roundRect">
              <a:avLst>
                <a:gd name="adj" fmla="val 12500"/>
              </a:avLst>
            </a:prstGeom>
            <a:solidFill>
              <a:srgbClr val="0B57D0">
                <a:alpha val="5000"/>
              </a:srgbClr>
            </a:solidFill>
            <a:ln>
              <a:noFill/>
            </a:ln>
          </p:spPr>
        </p:sp>
        <p:sp>
          <p:nvSpPr>
            <p:cNvPr id="100" name="Rectangle 100"/>
            <p:cNvSpPr/>
            <p:nvPr/>
          </p:nvSpPr>
          <p:spPr>
            <a:xfrm>
              <a:off x="6591300" y="4724400"/>
              <a:ext cx="4914900" cy="1066800"/>
            </a:xfrm>
            <a:prstGeom prst="roundRect">
              <a:avLst>
                <a:gd name="adj" fmla="val 12500"/>
              </a:avLst>
            </a:prstGeom>
            <a:solidFill>
              <a:srgbClr val="FFFFFF"/>
            </a:solidFill>
            <a:ln w="11430">
              <a:solidFill>
                <a:srgbClr val="BFD9F4"/>
              </a:solidFill>
            </a:ln>
          </p:spPr>
        </p:sp>
        <p:sp>
          <p:nvSpPr>
            <p:cNvPr id="101" name="Line 101"/>
            <p:cNvSpPr/>
            <p:nvPr/>
          </p:nvSpPr>
          <p:spPr>
            <a:xfrm>
              <a:off x="6762750" y="4733925"/>
              <a:ext cx="1238250" cy="9525"/>
            </a:xfrm>
            <a:custGeom>
              <a:avLst/>
              <a:gdLst/>
              <a:ahLst/>
              <a:cxnLst/>
              <a:rect l="l" t="t" r="r" b="b"/>
              <a:pathLst>
                <a:path w="1238250" h="9525">
                  <a:moveTo>
                    <a:pt x="0" y="0"/>
                  </a:moveTo>
                  <a:lnTo>
                    <a:pt x="1238250" y="0"/>
                  </a:lnTo>
                </a:path>
              </a:pathLst>
            </a:custGeom>
            <a:noFill/>
            <a:ln w="19050">
              <a:solidFill>
                <a:srgbClr val="26A7FF">
                  <a:alpha val="90000"/>
                </a:srgbClr>
              </a:solidFill>
            </a:ln>
          </p:spPr>
        </p:sp>
        <p:sp>
          <p:nvSpPr>
            <p:cNvPr id="102" name="Rectangle 102"/>
            <p:cNvSpPr/>
            <p:nvPr/>
          </p:nvSpPr>
          <p:spPr>
            <a:xfrm>
              <a:off x="6762750" y="4895850"/>
              <a:ext cx="285750" cy="285750"/>
            </a:xfrm>
            <a:prstGeom prst="roundRect">
              <a:avLst>
                <a:gd name="adj" fmla="val 33333"/>
              </a:avLst>
            </a:prstGeom>
            <a:solidFill>
              <a:srgbClr val="E7F2FF"/>
            </a:solidFill>
            <a:ln>
              <a:noFill/>
            </a:ln>
          </p:spPr>
        </p:sp>
        <p:sp>
          <p:nvSpPr>
            <p:cNvPr id="103" name="Freeform 103"/>
            <p:cNvSpPr/>
            <p:nvPr/>
          </p:nvSpPr>
          <p:spPr>
            <a:xfrm>
              <a:off x="6826249" y="4955794"/>
              <a:ext cx="167139" cy="167791"/>
            </a:xfrm>
            <a:custGeom>
              <a:avLst/>
              <a:gdLst/>
              <a:ahLst/>
              <a:cxnLst/>
              <a:rect l="l" t="t" r="r" b="b"/>
              <a:pathLst>
                <a:path w="167139" h="167791">
                  <a:moveTo>
                    <a:pt x="119063" y="14192"/>
                  </a:moveTo>
                  <a:cubicBezTo>
                    <a:pt x="152423" y="33452"/>
                    <a:pt x="167139" y="73884"/>
                    <a:pt x="153964" y="110081"/>
                  </a:cubicBezTo>
                  <a:cubicBezTo>
                    <a:pt x="140789" y="146278"/>
                    <a:pt x="103526" y="167791"/>
                    <a:pt x="65591" y="161101"/>
                  </a:cubicBezTo>
                  <a:cubicBezTo>
                    <a:pt x="27656" y="154412"/>
                    <a:pt x="0" y="121451"/>
                    <a:pt x="1" y="82931"/>
                  </a:cubicBezTo>
                  <a:lnTo>
                    <a:pt x="41" y="80359"/>
                  </a:lnTo>
                  <a:cubicBezTo>
                    <a:pt x="945" y="52474"/>
                    <a:pt x="16422" y="27112"/>
                    <a:pt x="40807" y="13556"/>
                  </a:cubicBezTo>
                  <a:cubicBezTo>
                    <a:pt x="65191" y="0"/>
                    <a:pt x="94902" y="241"/>
                    <a:pt x="119063" y="14192"/>
                  </a:cubicBezTo>
                  <a:close/>
                  <a:moveTo>
                    <a:pt x="79376" y="130556"/>
                  </a:moveTo>
                  <a:cubicBezTo>
                    <a:pt x="74992" y="130556"/>
                    <a:pt x="71438" y="134109"/>
                    <a:pt x="71438" y="138493"/>
                  </a:cubicBezTo>
                  <a:cubicBezTo>
                    <a:pt x="71438" y="142877"/>
                    <a:pt x="74992" y="146431"/>
                    <a:pt x="79376" y="146431"/>
                  </a:cubicBezTo>
                  <a:cubicBezTo>
                    <a:pt x="83760" y="146431"/>
                    <a:pt x="87313" y="142877"/>
                    <a:pt x="87313" y="138493"/>
                  </a:cubicBezTo>
                  <a:cubicBezTo>
                    <a:pt x="87313" y="134109"/>
                    <a:pt x="83760" y="130556"/>
                    <a:pt x="79376" y="130556"/>
                  </a:cubicBezTo>
                  <a:moveTo>
                    <a:pt x="108618" y="43648"/>
                  </a:moveTo>
                  <a:lnTo>
                    <a:pt x="60993" y="59523"/>
                  </a:lnTo>
                  <a:cubicBezTo>
                    <a:pt x="58620" y="60313"/>
                    <a:pt x="56758" y="62174"/>
                    <a:pt x="55968" y="64547"/>
                  </a:cubicBezTo>
                  <a:lnTo>
                    <a:pt x="40038" y="112379"/>
                  </a:lnTo>
                  <a:lnTo>
                    <a:pt x="39855" y="113061"/>
                  </a:lnTo>
                  <a:lnTo>
                    <a:pt x="39720" y="113958"/>
                  </a:lnTo>
                  <a:lnTo>
                    <a:pt x="39688" y="114498"/>
                  </a:lnTo>
                  <a:lnTo>
                    <a:pt x="39688" y="114847"/>
                  </a:lnTo>
                  <a:lnTo>
                    <a:pt x="39760" y="115728"/>
                  </a:lnTo>
                  <a:lnTo>
                    <a:pt x="39855" y="116284"/>
                  </a:lnTo>
                  <a:lnTo>
                    <a:pt x="40173" y="117427"/>
                  </a:lnTo>
                  <a:lnTo>
                    <a:pt x="40530" y="118221"/>
                  </a:lnTo>
                  <a:lnTo>
                    <a:pt x="40958" y="118975"/>
                  </a:lnTo>
                  <a:lnTo>
                    <a:pt x="41466" y="119689"/>
                  </a:lnTo>
                  <a:lnTo>
                    <a:pt x="42014" y="120284"/>
                  </a:lnTo>
                  <a:lnTo>
                    <a:pt x="42681" y="120872"/>
                  </a:lnTo>
                  <a:lnTo>
                    <a:pt x="43459" y="121427"/>
                  </a:lnTo>
                  <a:lnTo>
                    <a:pt x="44253" y="121856"/>
                  </a:lnTo>
                  <a:lnTo>
                    <a:pt x="44872" y="122118"/>
                  </a:lnTo>
                  <a:lnTo>
                    <a:pt x="45705" y="122380"/>
                  </a:lnTo>
                  <a:lnTo>
                    <a:pt x="46570" y="122539"/>
                  </a:lnTo>
                  <a:lnTo>
                    <a:pt x="46912" y="122578"/>
                  </a:lnTo>
                  <a:lnTo>
                    <a:pt x="47451" y="122610"/>
                  </a:lnTo>
                  <a:lnTo>
                    <a:pt x="47801" y="122610"/>
                  </a:lnTo>
                  <a:lnTo>
                    <a:pt x="48682" y="122539"/>
                  </a:lnTo>
                  <a:lnTo>
                    <a:pt x="49237" y="122443"/>
                  </a:lnTo>
                  <a:lnTo>
                    <a:pt x="49396" y="122396"/>
                  </a:lnTo>
                  <a:lnTo>
                    <a:pt x="49547" y="122380"/>
                  </a:lnTo>
                  <a:lnTo>
                    <a:pt x="50134" y="122205"/>
                  </a:lnTo>
                  <a:lnTo>
                    <a:pt x="97759" y="106330"/>
                  </a:lnTo>
                  <a:cubicBezTo>
                    <a:pt x="100132" y="105540"/>
                    <a:pt x="101994" y="103679"/>
                    <a:pt x="102784" y="101306"/>
                  </a:cubicBezTo>
                  <a:lnTo>
                    <a:pt x="118659" y="53681"/>
                  </a:lnTo>
                  <a:cubicBezTo>
                    <a:pt x="119610" y="50828"/>
                    <a:pt x="118868" y="47683"/>
                    <a:pt x="116742" y="45557"/>
                  </a:cubicBezTo>
                  <a:cubicBezTo>
                    <a:pt x="114615" y="43431"/>
                    <a:pt x="111470" y="42689"/>
                    <a:pt x="108618" y="43640"/>
                  </a:cubicBezTo>
                  <a:close/>
                  <a:moveTo>
                    <a:pt x="98577" y="63722"/>
                  </a:moveTo>
                  <a:lnTo>
                    <a:pt x="88972" y="92527"/>
                  </a:lnTo>
                  <a:lnTo>
                    <a:pt x="60167" y="102131"/>
                  </a:lnTo>
                  <a:lnTo>
                    <a:pt x="69772" y="73326"/>
                  </a:lnTo>
                  <a:lnTo>
                    <a:pt x="98577" y="63722"/>
                  </a:lnTo>
                  <a:close/>
                  <a:moveTo>
                    <a:pt x="23813" y="74993"/>
                  </a:moveTo>
                  <a:cubicBezTo>
                    <a:pt x="19430" y="74993"/>
                    <a:pt x="15876" y="78547"/>
                    <a:pt x="15876" y="82931"/>
                  </a:cubicBezTo>
                  <a:cubicBezTo>
                    <a:pt x="15876" y="87314"/>
                    <a:pt x="19430" y="90868"/>
                    <a:pt x="23813" y="90868"/>
                  </a:cubicBezTo>
                  <a:cubicBezTo>
                    <a:pt x="28197" y="90868"/>
                    <a:pt x="31751" y="87314"/>
                    <a:pt x="31751" y="82931"/>
                  </a:cubicBezTo>
                  <a:cubicBezTo>
                    <a:pt x="31751" y="78547"/>
                    <a:pt x="28197" y="74993"/>
                    <a:pt x="23813" y="74993"/>
                  </a:cubicBezTo>
                  <a:moveTo>
                    <a:pt x="134938" y="74993"/>
                  </a:moveTo>
                  <a:cubicBezTo>
                    <a:pt x="130555" y="74993"/>
                    <a:pt x="127001" y="78547"/>
                    <a:pt x="127001" y="82931"/>
                  </a:cubicBezTo>
                  <a:cubicBezTo>
                    <a:pt x="127001" y="87314"/>
                    <a:pt x="130555" y="90868"/>
                    <a:pt x="134938" y="90868"/>
                  </a:cubicBezTo>
                  <a:cubicBezTo>
                    <a:pt x="139322" y="90868"/>
                    <a:pt x="142876" y="87314"/>
                    <a:pt x="142876" y="82931"/>
                  </a:cubicBezTo>
                  <a:cubicBezTo>
                    <a:pt x="142876" y="78547"/>
                    <a:pt x="139322" y="74993"/>
                    <a:pt x="134938" y="74993"/>
                  </a:cubicBezTo>
                  <a:moveTo>
                    <a:pt x="79376" y="19431"/>
                  </a:moveTo>
                  <a:cubicBezTo>
                    <a:pt x="74992" y="19431"/>
                    <a:pt x="71438" y="22984"/>
                    <a:pt x="71438" y="27368"/>
                  </a:cubicBezTo>
                  <a:cubicBezTo>
                    <a:pt x="71438" y="31752"/>
                    <a:pt x="74992" y="35306"/>
                    <a:pt x="79376" y="35306"/>
                  </a:cubicBezTo>
                  <a:cubicBezTo>
                    <a:pt x="83760" y="35306"/>
                    <a:pt x="87313" y="31752"/>
                    <a:pt x="87313" y="27368"/>
                  </a:cubicBezTo>
                  <a:cubicBezTo>
                    <a:pt x="87313" y="22984"/>
                    <a:pt x="83760" y="19431"/>
                    <a:pt x="79376" y="19431"/>
                  </a:cubicBezTo>
                </a:path>
              </a:pathLst>
            </a:custGeom>
            <a:solidFill>
              <a:srgbClr val="0B57D0"/>
            </a:solidFill>
            <a:ln>
              <a:noFill/>
            </a:ln>
          </p:spPr>
        </p:sp>
        <p:sp>
          <p:nvSpPr>
            <p:cNvPr id="104" name="TextBox 104"/>
            <p:cNvSpPr txBox="1"/>
            <p:nvPr/>
          </p:nvSpPr>
          <p:spPr>
            <a:xfrm>
              <a:off x="7185977" y="4955381"/>
              <a:ext cx="815340" cy="245745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600" b="1" dirty="0">
                  <a:solidFill>
                    <a:srgbClr val="102033"/>
                  </a:solidFill>
                  <a:latin typeface="MiSans Normal" panose="00000500000000000000" charset="-122"/>
                  <a:ea typeface="MiSans Normal" panose="00000500000000000000" charset="-122"/>
                  <a:cs typeface="等线" panose="02010600030101010101" charset="-122"/>
                </a:rPr>
                <a:t>延展空间</a:t>
              </a:r>
              <a:endParaRPr lang="zh-CN" sz="1600" b="1" dirty="0">
                <a:solidFill>
                  <a:srgbClr val="102033"/>
                </a:solidFill>
                <a:latin typeface="MiSans Normal" panose="00000500000000000000" charset="-122"/>
                <a:ea typeface="MiSans Normal" panose="00000500000000000000" charset="-122"/>
                <a:cs typeface="等线" panose="02010600030101010101" charset="-122"/>
              </a:endParaRPr>
            </a:p>
          </p:txBody>
        </p:sp>
        <p:sp>
          <p:nvSpPr>
            <p:cNvPr id="105" name="TextBox 105"/>
            <p:cNvSpPr txBox="1"/>
            <p:nvPr/>
          </p:nvSpPr>
          <p:spPr>
            <a:xfrm>
              <a:off x="6805612" y="5288756"/>
              <a:ext cx="3874770" cy="173355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125" dirty="0">
                  <a:solidFill>
                    <a:srgbClr val="51677F"/>
                  </a:solidFill>
                  <a:latin typeface="MiSans Normal" panose="00000500000000000000" charset="-122"/>
                  <a:ea typeface="MiSans Normal" panose="00000500000000000000" charset="-122"/>
                  <a:cs typeface="等线" panose="02010600030101010101" charset="-122"/>
                </a:rPr>
                <a:t>后续可延展到校园、城市生活、展会导览和亲子旅行等场景。</a:t>
              </a:r>
              <a:endParaRPr lang="zh-CN" sz="1125" dirty="0">
                <a:solidFill>
                  <a:srgbClr val="51677F"/>
                </a:solidFill>
                <a:latin typeface="MiSans Normal" panose="00000500000000000000" charset="-122"/>
                <a:ea typeface="MiSans Normal" panose="00000500000000000000" charset="-122"/>
                <a:cs typeface="等线" panose="02010600030101010101" charset="-122"/>
              </a:endParaRPr>
            </a:p>
          </p:txBody>
        </p:sp>
        <p:sp>
          <p:nvSpPr>
            <p:cNvPr id="106" name="TextBox 106"/>
            <p:cNvSpPr txBox="1"/>
            <p:nvPr/>
          </p:nvSpPr>
          <p:spPr>
            <a:xfrm>
              <a:off x="521970" y="6598920"/>
              <a:ext cx="2106263" cy="18288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00" dirty="0">
                  <a:solidFill>
                    <a:srgbClr val="8AA1B7"/>
                  </a:solidFill>
                  <a:latin typeface="等线" panose="02010600030101010101" charset="-122"/>
                  <a:ea typeface="微软雅黑" panose="020B0503020204020204" charset="-122"/>
                  <a:cs typeface="等线" panose="02010600030101010101" charset="-122"/>
                </a:rPr>
                <a:t>蓝心同行 | AIGC创新赛应用赛道初赛</a:t>
              </a:r>
              <a:endParaRPr lang="zh-CN" sz="900" dirty="0">
                <a:solidFill>
                  <a:srgbClr val="8AA1B7"/>
                </a:solidFill>
                <a:latin typeface="等线" panose="02010600030101010101" charset="-122"/>
                <a:ea typeface="微软雅黑" panose="020B0503020204020204" charset="-122"/>
                <a:cs typeface="等线" panose="02010600030101010101" charset="-122"/>
              </a:endParaRPr>
            </a:p>
          </p:txBody>
        </p:sp>
        <p:sp>
          <p:nvSpPr>
            <p:cNvPr id="107" name="TextBox 107"/>
            <p:cNvSpPr txBox="1"/>
            <p:nvPr/>
          </p:nvSpPr>
          <p:spPr>
            <a:xfrm>
              <a:off x="11464480" y="6598920"/>
              <a:ext cx="167449" cy="18288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r"/>
              <a:r>
                <a:rPr lang="zh-CN" sz="900" dirty="0">
                  <a:solidFill>
                    <a:srgbClr val="8AA1B7"/>
                  </a:solidFill>
                  <a:latin typeface="等线" panose="02010600030101010101" charset="-122"/>
                  <a:ea typeface="微软雅黑" panose="020B0503020204020204" charset="-122"/>
                  <a:cs typeface="等线" panose="02010600030101010101" charset="-122"/>
                </a:rPr>
                <a:t>09</a:t>
              </a:r>
              <a:endParaRPr lang="zh-CN" sz="900" dirty="0">
                <a:solidFill>
                  <a:srgbClr val="8AA1B7"/>
                </a:solidFill>
                <a:latin typeface="等线" panose="02010600030101010101" charset="-122"/>
                <a:ea typeface="微软雅黑" panose="020B0503020204020204" charset="-122"/>
                <a:cs typeface="等线" panose="02010600030101010101" charset="-122"/>
              </a:endParaRPr>
            </a:p>
          </p:txBody>
        </p:sp>
      </p:grp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p14:dur="400">
        <p:fade/>
      </p:transition>
    </mc:Choice>
    <mc:Fallback>
      <p:transition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400"/>
                                        <p:tgtEl>
                                          <p:spTgt spid="10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08" grpId="0"/>
    </p:bldLst>
  </p:timing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2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4F9FF"/>
          </a:solidFill>
          <a:ln>
            <a:noFill/>
          </a:ln>
        </p:spPr>
      </p:sp>
      <p:sp>
        <p:nvSpPr>
          <p:cNvPr id="3" name="Rectangle 3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gradFill>
            <a:gsLst>
              <a:gs pos="0">
                <a:srgbClr val="26A7FF">
                  <a:alpha val="12000"/>
                </a:srgbClr>
              </a:gs>
              <a:gs pos="100000">
                <a:srgbClr val="26A7FF">
                  <a:alpha val="0"/>
                </a:srgbClr>
              </a:gs>
            </a:gsLst>
            <a:path path="circle">
              <a:fillToRect l="50000" t="50000" r="50000" b="50000"/>
            </a:path>
          </a:gradFill>
          <a:ln>
            <a:noFill/>
          </a:ln>
        </p:spPr>
      </p:sp>
      <p:sp>
        <p:nvSpPr>
          <p:cNvPr id="4" name="Ellipse 4"/>
          <p:cNvSpPr/>
          <p:nvPr/>
        </p:nvSpPr>
        <p:spPr>
          <a:xfrm>
            <a:off x="9391650" y="-304800"/>
            <a:ext cx="2362200" cy="2362200"/>
          </a:xfrm>
          <a:prstGeom prst="ellipse">
            <a:avLst/>
          </a:prstGeom>
          <a:solidFill>
            <a:srgbClr val="26A7FF">
              <a:alpha val="8000"/>
            </a:srgbClr>
          </a:solidFill>
          <a:ln>
            <a:noFill/>
          </a:ln>
        </p:spPr>
      </p:sp>
      <p:sp>
        <p:nvSpPr>
          <p:cNvPr id="5" name="Ellipse 5"/>
          <p:cNvSpPr/>
          <p:nvPr/>
        </p:nvSpPr>
        <p:spPr>
          <a:xfrm>
            <a:off x="10553700" y="647700"/>
            <a:ext cx="1638300" cy="1638300"/>
          </a:xfrm>
          <a:prstGeom prst="ellipse">
            <a:avLst/>
          </a:prstGeom>
          <a:solidFill>
            <a:srgbClr val="00D4FF">
              <a:alpha val="7000"/>
            </a:srgbClr>
          </a:solidFill>
          <a:ln>
            <a:noFill/>
          </a:ln>
        </p:spPr>
      </p:sp>
      <p:sp>
        <p:nvSpPr>
          <p:cNvPr id="6" name="Freeform 6"/>
          <p:cNvSpPr/>
          <p:nvPr/>
        </p:nvSpPr>
        <p:spPr>
          <a:xfrm>
            <a:off x="8382000" y="781050"/>
            <a:ext cx="3390900" cy="438150"/>
          </a:xfrm>
          <a:custGeom>
            <a:avLst/>
            <a:gdLst/>
            <a:ahLst/>
            <a:cxnLst/>
            <a:rect l="l" t="t" r="r" b="b"/>
            <a:pathLst>
              <a:path w="3390900" h="438150">
                <a:moveTo>
                  <a:pt x="0" y="0"/>
                </a:moveTo>
                <a:lnTo>
                  <a:pt x="1600200" y="0"/>
                </a:lnTo>
                <a:lnTo>
                  <a:pt x="2038350" y="438150"/>
                </a:lnTo>
                <a:lnTo>
                  <a:pt x="3390900" y="438150"/>
                </a:lnTo>
              </a:path>
            </a:pathLst>
          </a:custGeom>
          <a:noFill/>
          <a:ln w="13335">
            <a:solidFill>
              <a:srgbClr val="BFD9F4">
                <a:alpha val="75000"/>
              </a:srgbClr>
            </a:solidFill>
          </a:ln>
        </p:spPr>
      </p:sp>
      <p:sp>
        <p:nvSpPr>
          <p:cNvPr id="7" name="Freeform 7"/>
          <p:cNvSpPr/>
          <p:nvPr/>
        </p:nvSpPr>
        <p:spPr>
          <a:xfrm>
            <a:off x="8705850" y="5638800"/>
            <a:ext cx="2990850" cy="457200"/>
          </a:xfrm>
          <a:custGeom>
            <a:avLst/>
            <a:gdLst/>
            <a:ahLst/>
            <a:cxnLst/>
            <a:rect l="l" t="t" r="r" b="b"/>
            <a:pathLst>
              <a:path w="2990850" h="457200">
                <a:moveTo>
                  <a:pt x="0" y="457200"/>
                </a:moveTo>
                <a:lnTo>
                  <a:pt x="1295400" y="457200"/>
                </a:lnTo>
                <a:lnTo>
                  <a:pt x="1752600" y="0"/>
                </a:lnTo>
                <a:lnTo>
                  <a:pt x="2990850" y="0"/>
                </a:lnTo>
              </a:path>
            </a:pathLst>
          </a:custGeom>
          <a:noFill/>
          <a:ln w="11430">
            <a:solidFill>
              <a:srgbClr val="BFD9F4">
                <a:alpha val="65000"/>
              </a:srgbClr>
            </a:solidFill>
          </a:ln>
        </p:spPr>
      </p:sp>
      <p:sp>
        <p:nvSpPr>
          <p:cNvPr id="8" name="Freeform 8"/>
          <p:cNvSpPr/>
          <p:nvPr/>
        </p:nvSpPr>
        <p:spPr>
          <a:xfrm>
            <a:off x="419100" y="5734050"/>
            <a:ext cx="2057400" cy="381000"/>
          </a:xfrm>
          <a:custGeom>
            <a:avLst/>
            <a:gdLst/>
            <a:ahLst/>
            <a:cxnLst/>
            <a:rect l="l" t="t" r="r" b="b"/>
            <a:pathLst>
              <a:path w="2057400" h="381000">
                <a:moveTo>
                  <a:pt x="0" y="381000"/>
                </a:moveTo>
                <a:lnTo>
                  <a:pt x="1676400" y="381000"/>
                </a:lnTo>
                <a:lnTo>
                  <a:pt x="2057400" y="0"/>
                </a:lnTo>
              </a:path>
            </a:pathLst>
          </a:custGeom>
          <a:noFill/>
          <a:ln w="11430">
            <a:solidFill>
              <a:srgbClr val="D7EAFF">
                <a:alpha val="90000"/>
              </a:srgbClr>
            </a:solidFill>
          </a:ln>
        </p:spPr>
      </p:sp>
      <p:sp>
        <p:nvSpPr>
          <p:cNvPr id="9" name="Ellipse 9"/>
          <p:cNvSpPr/>
          <p:nvPr/>
        </p:nvSpPr>
        <p:spPr>
          <a:xfrm>
            <a:off x="9944100" y="742950"/>
            <a:ext cx="76200" cy="76200"/>
          </a:xfrm>
          <a:prstGeom prst="ellipse">
            <a:avLst/>
          </a:prstGeom>
          <a:solidFill>
            <a:srgbClr val="26A7FF"/>
          </a:solidFill>
          <a:ln>
            <a:noFill/>
          </a:ln>
        </p:spPr>
      </p:sp>
      <p:sp>
        <p:nvSpPr>
          <p:cNvPr id="10" name="Ellipse 10"/>
          <p:cNvSpPr/>
          <p:nvPr/>
        </p:nvSpPr>
        <p:spPr>
          <a:xfrm>
            <a:off x="10382250" y="1181100"/>
            <a:ext cx="76200" cy="76200"/>
          </a:xfrm>
          <a:prstGeom prst="ellipse">
            <a:avLst/>
          </a:prstGeom>
          <a:solidFill>
            <a:srgbClr val="00D4FF"/>
          </a:solidFill>
          <a:ln>
            <a:noFill/>
          </a:ln>
        </p:spPr>
      </p:sp>
      <p:sp>
        <p:nvSpPr>
          <p:cNvPr id="11" name="Ellipse 11"/>
          <p:cNvSpPr/>
          <p:nvPr/>
        </p:nvSpPr>
        <p:spPr>
          <a:xfrm>
            <a:off x="2438400" y="5695950"/>
            <a:ext cx="76200" cy="76200"/>
          </a:xfrm>
          <a:prstGeom prst="ellipse">
            <a:avLst/>
          </a:prstGeom>
          <a:solidFill>
            <a:srgbClr val="26A7FF"/>
          </a:solidFill>
          <a:ln>
            <a:noFill/>
          </a:ln>
        </p:spPr>
      </p:sp>
      <p:sp>
        <p:nvSpPr>
          <p:cNvPr id="12" name="Line 12"/>
          <p:cNvSpPr/>
          <p:nvPr/>
        </p:nvSpPr>
        <p:spPr>
          <a:xfrm>
            <a:off x="762000" y="0"/>
            <a:ext cx="9525" cy="6858000"/>
          </a:xfrm>
          <a:custGeom>
            <a:avLst/>
            <a:gdLst/>
            <a:ahLst/>
            <a:cxnLst/>
            <a:rect l="l" t="t" r="r" b="b"/>
            <a:pathLst>
              <a:path w="9525" h="6858000">
                <a:moveTo>
                  <a:pt x="0" y="0"/>
                </a:moveTo>
                <a:lnTo>
                  <a:pt x="0" y="6858000"/>
                </a:lnTo>
              </a:path>
            </a:pathLst>
          </a:custGeom>
          <a:noFill/>
          <a:ln w="4762">
            <a:solidFill>
              <a:srgbClr val="D7EAFF">
                <a:alpha val="22000"/>
              </a:srgbClr>
            </a:solidFill>
          </a:ln>
        </p:spPr>
      </p:sp>
      <p:sp>
        <p:nvSpPr>
          <p:cNvPr id="13" name="Line 13"/>
          <p:cNvSpPr/>
          <p:nvPr/>
        </p:nvSpPr>
        <p:spPr>
          <a:xfrm>
            <a:off x="1524000" y="0"/>
            <a:ext cx="9525" cy="6858000"/>
          </a:xfrm>
          <a:custGeom>
            <a:avLst/>
            <a:gdLst/>
            <a:ahLst/>
            <a:cxnLst/>
            <a:rect l="l" t="t" r="r" b="b"/>
            <a:pathLst>
              <a:path w="9525" h="6858000">
                <a:moveTo>
                  <a:pt x="0" y="0"/>
                </a:moveTo>
                <a:lnTo>
                  <a:pt x="0" y="6858000"/>
                </a:lnTo>
              </a:path>
            </a:pathLst>
          </a:custGeom>
          <a:noFill/>
          <a:ln w="4762">
            <a:solidFill>
              <a:srgbClr val="D7EAFF">
                <a:alpha val="22000"/>
              </a:srgbClr>
            </a:solidFill>
          </a:ln>
        </p:spPr>
      </p:sp>
      <p:sp>
        <p:nvSpPr>
          <p:cNvPr id="14" name="Line 14"/>
          <p:cNvSpPr/>
          <p:nvPr/>
        </p:nvSpPr>
        <p:spPr>
          <a:xfrm>
            <a:off x="2286000" y="0"/>
            <a:ext cx="9525" cy="6858000"/>
          </a:xfrm>
          <a:custGeom>
            <a:avLst/>
            <a:gdLst/>
            <a:ahLst/>
            <a:cxnLst/>
            <a:rect l="l" t="t" r="r" b="b"/>
            <a:pathLst>
              <a:path w="9525" h="6858000">
                <a:moveTo>
                  <a:pt x="0" y="0"/>
                </a:moveTo>
                <a:lnTo>
                  <a:pt x="0" y="6858000"/>
                </a:lnTo>
              </a:path>
            </a:pathLst>
          </a:custGeom>
          <a:noFill/>
          <a:ln w="4762">
            <a:solidFill>
              <a:srgbClr val="D7EAFF">
                <a:alpha val="22000"/>
              </a:srgbClr>
            </a:solidFill>
          </a:ln>
        </p:spPr>
      </p:sp>
      <p:sp>
        <p:nvSpPr>
          <p:cNvPr id="15" name="Line 15"/>
          <p:cNvSpPr/>
          <p:nvPr/>
        </p:nvSpPr>
        <p:spPr>
          <a:xfrm>
            <a:off x="3048000" y="0"/>
            <a:ext cx="9525" cy="6858000"/>
          </a:xfrm>
          <a:custGeom>
            <a:avLst/>
            <a:gdLst/>
            <a:ahLst/>
            <a:cxnLst/>
            <a:rect l="l" t="t" r="r" b="b"/>
            <a:pathLst>
              <a:path w="9525" h="6858000">
                <a:moveTo>
                  <a:pt x="0" y="0"/>
                </a:moveTo>
                <a:lnTo>
                  <a:pt x="0" y="6858000"/>
                </a:lnTo>
              </a:path>
            </a:pathLst>
          </a:custGeom>
          <a:noFill/>
          <a:ln w="4762">
            <a:solidFill>
              <a:srgbClr val="D7EAFF">
                <a:alpha val="22000"/>
              </a:srgbClr>
            </a:solidFill>
          </a:ln>
        </p:spPr>
      </p:sp>
      <p:sp>
        <p:nvSpPr>
          <p:cNvPr id="16" name="Line 16"/>
          <p:cNvSpPr/>
          <p:nvPr/>
        </p:nvSpPr>
        <p:spPr>
          <a:xfrm>
            <a:off x="3810000" y="0"/>
            <a:ext cx="9525" cy="6858000"/>
          </a:xfrm>
          <a:custGeom>
            <a:avLst/>
            <a:gdLst/>
            <a:ahLst/>
            <a:cxnLst/>
            <a:rect l="l" t="t" r="r" b="b"/>
            <a:pathLst>
              <a:path w="9525" h="6858000">
                <a:moveTo>
                  <a:pt x="0" y="0"/>
                </a:moveTo>
                <a:lnTo>
                  <a:pt x="0" y="6858000"/>
                </a:lnTo>
              </a:path>
            </a:pathLst>
          </a:custGeom>
          <a:noFill/>
          <a:ln w="4762">
            <a:solidFill>
              <a:srgbClr val="D7EAFF">
                <a:alpha val="22000"/>
              </a:srgbClr>
            </a:solidFill>
          </a:ln>
        </p:spPr>
      </p:sp>
      <p:sp>
        <p:nvSpPr>
          <p:cNvPr id="17" name="Line 17"/>
          <p:cNvSpPr/>
          <p:nvPr/>
        </p:nvSpPr>
        <p:spPr>
          <a:xfrm>
            <a:off x="4572000" y="0"/>
            <a:ext cx="9525" cy="6858000"/>
          </a:xfrm>
          <a:custGeom>
            <a:avLst/>
            <a:gdLst/>
            <a:ahLst/>
            <a:cxnLst/>
            <a:rect l="l" t="t" r="r" b="b"/>
            <a:pathLst>
              <a:path w="9525" h="6858000">
                <a:moveTo>
                  <a:pt x="0" y="0"/>
                </a:moveTo>
                <a:lnTo>
                  <a:pt x="0" y="6858000"/>
                </a:lnTo>
              </a:path>
            </a:pathLst>
          </a:custGeom>
          <a:noFill/>
          <a:ln w="4762">
            <a:solidFill>
              <a:srgbClr val="D7EAFF">
                <a:alpha val="22000"/>
              </a:srgbClr>
            </a:solidFill>
          </a:ln>
        </p:spPr>
      </p:sp>
      <p:sp>
        <p:nvSpPr>
          <p:cNvPr id="18" name="Line 18"/>
          <p:cNvSpPr/>
          <p:nvPr/>
        </p:nvSpPr>
        <p:spPr>
          <a:xfrm>
            <a:off x="5334000" y="0"/>
            <a:ext cx="9525" cy="6858000"/>
          </a:xfrm>
          <a:custGeom>
            <a:avLst/>
            <a:gdLst/>
            <a:ahLst/>
            <a:cxnLst/>
            <a:rect l="l" t="t" r="r" b="b"/>
            <a:pathLst>
              <a:path w="9525" h="6858000">
                <a:moveTo>
                  <a:pt x="0" y="0"/>
                </a:moveTo>
                <a:lnTo>
                  <a:pt x="0" y="6858000"/>
                </a:lnTo>
              </a:path>
            </a:pathLst>
          </a:custGeom>
          <a:noFill/>
          <a:ln w="4762">
            <a:solidFill>
              <a:srgbClr val="D7EAFF">
                <a:alpha val="22000"/>
              </a:srgbClr>
            </a:solidFill>
          </a:ln>
        </p:spPr>
      </p:sp>
      <p:sp>
        <p:nvSpPr>
          <p:cNvPr id="19" name="Line 19"/>
          <p:cNvSpPr/>
          <p:nvPr/>
        </p:nvSpPr>
        <p:spPr>
          <a:xfrm>
            <a:off x="6096000" y="0"/>
            <a:ext cx="9525" cy="6858000"/>
          </a:xfrm>
          <a:custGeom>
            <a:avLst/>
            <a:gdLst/>
            <a:ahLst/>
            <a:cxnLst/>
            <a:rect l="l" t="t" r="r" b="b"/>
            <a:pathLst>
              <a:path w="9525" h="6858000">
                <a:moveTo>
                  <a:pt x="0" y="0"/>
                </a:moveTo>
                <a:lnTo>
                  <a:pt x="0" y="6858000"/>
                </a:lnTo>
              </a:path>
            </a:pathLst>
          </a:custGeom>
          <a:noFill/>
          <a:ln w="4762">
            <a:solidFill>
              <a:srgbClr val="D7EAFF">
                <a:alpha val="22000"/>
              </a:srgbClr>
            </a:solidFill>
          </a:ln>
        </p:spPr>
      </p:sp>
      <p:sp>
        <p:nvSpPr>
          <p:cNvPr id="20" name="Line 20"/>
          <p:cNvSpPr/>
          <p:nvPr/>
        </p:nvSpPr>
        <p:spPr>
          <a:xfrm>
            <a:off x="6858000" y="0"/>
            <a:ext cx="9525" cy="6858000"/>
          </a:xfrm>
          <a:custGeom>
            <a:avLst/>
            <a:gdLst/>
            <a:ahLst/>
            <a:cxnLst/>
            <a:rect l="l" t="t" r="r" b="b"/>
            <a:pathLst>
              <a:path w="9525" h="6858000">
                <a:moveTo>
                  <a:pt x="0" y="0"/>
                </a:moveTo>
                <a:lnTo>
                  <a:pt x="0" y="6858000"/>
                </a:lnTo>
              </a:path>
            </a:pathLst>
          </a:custGeom>
          <a:noFill/>
          <a:ln w="4762">
            <a:solidFill>
              <a:srgbClr val="D7EAFF">
                <a:alpha val="22000"/>
              </a:srgbClr>
            </a:solidFill>
          </a:ln>
        </p:spPr>
      </p:sp>
      <p:sp>
        <p:nvSpPr>
          <p:cNvPr id="21" name="Line 21"/>
          <p:cNvSpPr/>
          <p:nvPr/>
        </p:nvSpPr>
        <p:spPr>
          <a:xfrm>
            <a:off x="7620000" y="0"/>
            <a:ext cx="9525" cy="6858000"/>
          </a:xfrm>
          <a:custGeom>
            <a:avLst/>
            <a:gdLst/>
            <a:ahLst/>
            <a:cxnLst/>
            <a:rect l="l" t="t" r="r" b="b"/>
            <a:pathLst>
              <a:path w="9525" h="6858000">
                <a:moveTo>
                  <a:pt x="0" y="0"/>
                </a:moveTo>
                <a:lnTo>
                  <a:pt x="0" y="6858000"/>
                </a:lnTo>
              </a:path>
            </a:pathLst>
          </a:custGeom>
          <a:noFill/>
          <a:ln w="4762">
            <a:solidFill>
              <a:srgbClr val="D7EAFF">
                <a:alpha val="22000"/>
              </a:srgbClr>
            </a:solidFill>
          </a:ln>
        </p:spPr>
      </p:sp>
      <p:sp>
        <p:nvSpPr>
          <p:cNvPr id="22" name="Line 22"/>
          <p:cNvSpPr/>
          <p:nvPr/>
        </p:nvSpPr>
        <p:spPr>
          <a:xfrm>
            <a:off x="8382000" y="0"/>
            <a:ext cx="9525" cy="6858000"/>
          </a:xfrm>
          <a:custGeom>
            <a:avLst/>
            <a:gdLst/>
            <a:ahLst/>
            <a:cxnLst/>
            <a:rect l="l" t="t" r="r" b="b"/>
            <a:pathLst>
              <a:path w="9525" h="6858000">
                <a:moveTo>
                  <a:pt x="0" y="0"/>
                </a:moveTo>
                <a:lnTo>
                  <a:pt x="0" y="6858000"/>
                </a:lnTo>
              </a:path>
            </a:pathLst>
          </a:custGeom>
          <a:noFill/>
          <a:ln w="4762">
            <a:solidFill>
              <a:srgbClr val="D7EAFF">
                <a:alpha val="22000"/>
              </a:srgbClr>
            </a:solidFill>
          </a:ln>
        </p:spPr>
      </p:sp>
      <p:sp>
        <p:nvSpPr>
          <p:cNvPr id="23" name="Line 23"/>
          <p:cNvSpPr/>
          <p:nvPr/>
        </p:nvSpPr>
        <p:spPr>
          <a:xfrm>
            <a:off x="9144000" y="0"/>
            <a:ext cx="9525" cy="6858000"/>
          </a:xfrm>
          <a:custGeom>
            <a:avLst/>
            <a:gdLst/>
            <a:ahLst/>
            <a:cxnLst/>
            <a:rect l="l" t="t" r="r" b="b"/>
            <a:pathLst>
              <a:path w="9525" h="6858000">
                <a:moveTo>
                  <a:pt x="0" y="0"/>
                </a:moveTo>
                <a:lnTo>
                  <a:pt x="0" y="6858000"/>
                </a:lnTo>
              </a:path>
            </a:pathLst>
          </a:custGeom>
          <a:noFill/>
          <a:ln w="4762">
            <a:solidFill>
              <a:srgbClr val="D7EAFF">
                <a:alpha val="22000"/>
              </a:srgbClr>
            </a:solidFill>
          </a:ln>
        </p:spPr>
      </p:sp>
      <p:sp>
        <p:nvSpPr>
          <p:cNvPr id="24" name="Line 24"/>
          <p:cNvSpPr/>
          <p:nvPr/>
        </p:nvSpPr>
        <p:spPr>
          <a:xfrm>
            <a:off x="9906000" y="0"/>
            <a:ext cx="9525" cy="6858000"/>
          </a:xfrm>
          <a:custGeom>
            <a:avLst/>
            <a:gdLst/>
            <a:ahLst/>
            <a:cxnLst/>
            <a:rect l="l" t="t" r="r" b="b"/>
            <a:pathLst>
              <a:path w="9525" h="6858000">
                <a:moveTo>
                  <a:pt x="0" y="0"/>
                </a:moveTo>
                <a:lnTo>
                  <a:pt x="0" y="6858000"/>
                </a:lnTo>
              </a:path>
            </a:pathLst>
          </a:custGeom>
          <a:noFill/>
          <a:ln w="4762">
            <a:solidFill>
              <a:srgbClr val="D7EAFF">
                <a:alpha val="22000"/>
              </a:srgbClr>
            </a:solidFill>
          </a:ln>
        </p:spPr>
      </p:sp>
      <p:sp>
        <p:nvSpPr>
          <p:cNvPr id="25" name="Line 25"/>
          <p:cNvSpPr/>
          <p:nvPr/>
        </p:nvSpPr>
        <p:spPr>
          <a:xfrm>
            <a:off x="10668000" y="0"/>
            <a:ext cx="9525" cy="6858000"/>
          </a:xfrm>
          <a:custGeom>
            <a:avLst/>
            <a:gdLst/>
            <a:ahLst/>
            <a:cxnLst/>
            <a:rect l="l" t="t" r="r" b="b"/>
            <a:pathLst>
              <a:path w="9525" h="6858000">
                <a:moveTo>
                  <a:pt x="0" y="0"/>
                </a:moveTo>
                <a:lnTo>
                  <a:pt x="0" y="6858000"/>
                </a:lnTo>
              </a:path>
            </a:pathLst>
          </a:custGeom>
          <a:noFill/>
          <a:ln w="4762">
            <a:solidFill>
              <a:srgbClr val="D7EAFF">
                <a:alpha val="22000"/>
              </a:srgbClr>
            </a:solidFill>
          </a:ln>
        </p:spPr>
      </p:sp>
      <p:sp>
        <p:nvSpPr>
          <p:cNvPr id="26" name="Line 26"/>
          <p:cNvSpPr/>
          <p:nvPr/>
        </p:nvSpPr>
        <p:spPr>
          <a:xfrm>
            <a:off x="11430000" y="0"/>
            <a:ext cx="9525" cy="6858000"/>
          </a:xfrm>
          <a:custGeom>
            <a:avLst/>
            <a:gdLst/>
            <a:ahLst/>
            <a:cxnLst/>
            <a:rect l="l" t="t" r="r" b="b"/>
            <a:pathLst>
              <a:path w="9525" h="6858000">
                <a:moveTo>
                  <a:pt x="0" y="0"/>
                </a:moveTo>
                <a:lnTo>
                  <a:pt x="0" y="6858000"/>
                </a:lnTo>
              </a:path>
            </a:pathLst>
          </a:custGeom>
          <a:noFill/>
          <a:ln w="4762">
            <a:solidFill>
              <a:srgbClr val="D7EAFF">
                <a:alpha val="22000"/>
              </a:srgbClr>
            </a:solidFill>
          </a:ln>
        </p:spPr>
      </p:sp>
      <p:sp>
        <p:nvSpPr>
          <p:cNvPr id="27" name="Line 27"/>
          <p:cNvSpPr/>
          <p:nvPr/>
        </p:nvSpPr>
        <p:spPr>
          <a:xfrm>
            <a:off x="0" y="762000"/>
            <a:ext cx="12192000" cy="9525"/>
          </a:xfrm>
          <a:custGeom>
            <a:avLst/>
            <a:gdLst/>
            <a:ahLst/>
            <a:cxnLst/>
            <a:rect l="l" t="t" r="r" b="b"/>
            <a:pathLst>
              <a:path w="12192000" h="9525">
                <a:moveTo>
                  <a:pt x="0" y="0"/>
                </a:moveTo>
                <a:lnTo>
                  <a:pt x="12192000" y="0"/>
                </a:lnTo>
              </a:path>
            </a:pathLst>
          </a:custGeom>
          <a:noFill/>
          <a:ln w="4762">
            <a:solidFill>
              <a:srgbClr val="D7EAFF">
                <a:alpha val="22000"/>
              </a:srgbClr>
            </a:solidFill>
          </a:ln>
        </p:spPr>
      </p:sp>
      <p:sp>
        <p:nvSpPr>
          <p:cNvPr id="28" name="Line 28"/>
          <p:cNvSpPr/>
          <p:nvPr/>
        </p:nvSpPr>
        <p:spPr>
          <a:xfrm>
            <a:off x="0" y="1524000"/>
            <a:ext cx="12192000" cy="9525"/>
          </a:xfrm>
          <a:custGeom>
            <a:avLst/>
            <a:gdLst/>
            <a:ahLst/>
            <a:cxnLst/>
            <a:rect l="l" t="t" r="r" b="b"/>
            <a:pathLst>
              <a:path w="12192000" h="9525">
                <a:moveTo>
                  <a:pt x="0" y="0"/>
                </a:moveTo>
                <a:lnTo>
                  <a:pt x="12192000" y="0"/>
                </a:lnTo>
              </a:path>
            </a:pathLst>
          </a:custGeom>
          <a:noFill/>
          <a:ln w="4762">
            <a:solidFill>
              <a:srgbClr val="D7EAFF">
                <a:alpha val="22000"/>
              </a:srgbClr>
            </a:solidFill>
          </a:ln>
        </p:spPr>
      </p:sp>
      <p:sp>
        <p:nvSpPr>
          <p:cNvPr id="29" name="Line 29"/>
          <p:cNvSpPr/>
          <p:nvPr/>
        </p:nvSpPr>
        <p:spPr>
          <a:xfrm>
            <a:off x="0" y="2286000"/>
            <a:ext cx="12192000" cy="9525"/>
          </a:xfrm>
          <a:custGeom>
            <a:avLst/>
            <a:gdLst/>
            <a:ahLst/>
            <a:cxnLst/>
            <a:rect l="l" t="t" r="r" b="b"/>
            <a:pathLst>
              <a:path w="12192000" h="9525">
                <a:moveTo>
                  <a:pt x="0" y="0"/>
                </a:moveTo>
                <a:lnTo>
                  <a:pt x="12192000" y="0"/>
                </a:lnTo>
              </a:path>
            </a:pathLst>
          </a:custGeom>
          <a:noFill/>
          <a:ln w="4762">
            <a:solidFill>
              <a:srgbClr val="D7EAFF">
                <a:alpha val="22000"/>
              </a:srgbClr>
            </a:solidFill>
          </a:ln>
        </p:spPr>
      </p:sp>
      <p:sp>
        <p:nvSpPr>
          <p:cNvPr id="30" name="Line 30"/>
          <p:cNvSpPr/>
          <p:nvPr/>
        </p:nvSpPr>
        <p:spPr>
          <a:xfrm>
            <a:off x="0" y="3048000"/>
            <a:ext cx="12192000" cy="9525"/>
          </a:xfrm>
          <a:custGeom>
            <a:avLst/>
            <a:gdLst/>
            <a:ahLst/>
            <a:cxnLst/>
            <a:rect l="l" t="t" r="r" b="b"/>
            <a:pathLst>
              <a:path w="12192000" h="9525">
                <a:moveTo>
                  <a:pt x="0" y="0"/>
                </a:moveTo>
                <a:lnTo>
                  <a:pt x="12192000" y="0"/>
                </a:lnTo>
              </a:path>
            </a:pathLst>
          </a:custGeom>
          <a:noFill/>
          <a:ln w="4762">
            <a:solidFill>
              <a:srgbClr val="D7EAFF">
                <a:alpha val="22000"/>
              </a:srgbClr>
            </a:solidFill>
          </a:ln>
        </p:spPr>
      </p:sp>
      <p:sp>
        <p:nvSpPr>
          <p:cNvPr id="31" name="Line 31"/>
          <p:cNvSpPr/>
          <p:nvPr/>
        </p:nvSpPr>
        <p:spPr>
          <a:xfrm>
            <a:off x="0" y="3810000"/>
            <a:ext cx="12192000" cy="9525"/>
          </a:xfrm>
          <a:custGeom>
            <a:avLst/>
            <a:gdLst/>
            <a:ahLst/>
            <a:cxnLst/>
            <a:rect l="l" t="t" r="r" b="b"/>
            <a:pathLst>
              <a:path w="12192000" h="9525">
                <a:moveTo>
                  <a:pt x="0" y="0"/>
                </a:moveTo>
                <a:lnTo>
                  <a:pt x="12192000" y="0"/>
                </a:lnTo>
              </a:path>
            </a:pathLst>
          </a:custGeom>
          <a:noFill/>
          <a:ln w="4762">
            <a:solidFill>
              <a:srgbClr val="D7EAFF">
                <a:alpha val="22000"/>
              </a:srgbClr>
            </a:solidFill>
          </a:ln>
        </p:spPr>
      </p:sp>
      <p:sp>
        <p:nvSpPr>
          <p:cNvPr id="32" name="Line 32"/>
          <p:cNvSpPr/>
          <p:nvPr/>
        </p:nvSpPr>
        <p:spPr>
          <a:xfrm>
            <a:off x="0" y="4572000"/>
            <a:ext cx="12192000" cy="9525"/>
          </a:xfrm>
          <a:custGeom>
            <a:avLst/>
            <a:gdLst/>
            <a:ahLst/>
            <a:cxnLst/>
            <a:rect l="l" t="t" r="r" b="b"/>
            <a:pathLst>
              <a:path w="12192000" h="9525">
                <a:moveTo>
                  <a:pt x="0" y="0"/>
                </a:moveTo>
                <a:lnTo>
                  <a:pt x="12192000" y="0"/>
                </a:lnTo>
              </a:path>
            </a:pathLst>
          </a:custGeom>
          <a:noFill/>
          <a:ln w="4762">
            <a:solidFill>
              <a:srgbClr val="D7EAFF">
                <a:alpha val="22000"/>
              </a:srgbClr>
            </a:solidFill>
          </a:ln>
        </p:spPr>
      </p:sp>
      <p:sp>
        <p:nvSpPr>
          <p:cNvPr id="33" name="Line 33"/>
          <p:cNvSpPr/>
          <p:nvPr/>
        </p:nvSpPr>
        <p:spPr>
          <a:xfrm>
            <a:off x="0" y="5334000"/>
            <a:ext cx="12192000" cy="9525"/>
          </a:xfrm>
          <a:custGeom>
            <a:avLst/>
            <a:gdLst/>
            <a:ahLst/>
            <a:cxnLst/>
            <a:rect l="l" t="t" r="r" b="b"/>
            <a:pathLst>
              <a:path w="12192000" h="9525">
                <a:moveTo>
                  <a:pt x="0" y="0"/>
                </a:moveTo>
                <a:lnTo>
                  <a:pt x="12192000" y="0"/>
                </a:lnTo>
              </a:path>
            </a:pathLst>
          </a:custGeom>
          <a:noFill/>
          <a:ln w="4762">
            <a:solidFill>
              <a:srgbClr val="D7EAFF">
                <a:alpha val="22000"/>
              </a:srgbClr>
            </a:solidFill>
          </a:ln>
        </p:spPr>
      </p:sp>
      <p:sp>
        <p:nvSpPr>
          <p:cNvPr id="34" name="Line 34"/>
          <p:cNvSpPr/>
          <p:nvPr/>
        </p:nvSpPr>
        <p:spPr>
          <a:xfrm>
            <a:off x="0" y="6096000"/>
            <a:ext cx="12192000" cy="9525"/>
          </a:xfrm>
          <a:custGeom>
            <a:avLst/>
            <a:gdLst/>
            <a:ahLst/>
            <a:cxnLst/>
            <a:rect l="l" t="t" r="r" b="b"/>
            <a:pathLst>
              <a:path w="12192000" h="9525">
                <a:moveTo>
                  <a:pt x="0" y="0"/>
                </a:moveTo>
                <a:lnTo>
                  <a:pt x="12192000" y="0"/>
                </a:lnTo>
              </a:path>
            </a:pathLst>
          </a:custGeom>
          <a:noFill/>
          <a:ln w="4762">
            <a:solidFill>
              <a:srgbClr val="D7EAFF">
                <a:alpha val="22000"/>
              </a:srgbClr>
            </a:solidFill>
          </a:ln>
        </p:spPr>
      </p:sp>
      <p:grpSp>
        <p:nvGrpSpPr>
          <p:cNvPr id="77" name="Group 77"/>
          <p:cNvGrpSpPr/>
          <p:nvPr/>
        </p:nvGrpSpPr>
        <p:grpSpPr>
          <a:xfrm>
            <a:off x="0" y="0"/>
            <a:ext cx="12192000" cy="6781800"/>
            <a:chOff x="0" y="0"/>
            <a:chExt cx="12192000" cy="6781800"/>
          </a:xfrm>
        </p:grpSpPr>
        <p:sp>
          <p:nvSpPr>
            <p:cNvPr id="35" name="Rectangle 35"/>
            <p:cNvSpPr/>
            <p:nvPr/>
          </p:nvSpPr>
          <p:spPr>
            <a:xfrm>
              <a:off x="0" y="0"/>
              <a:ext cx="12192000" cy="47625"/>
            </a:xfrm>
            <a:prstGeom prst="rect">
              <a:avLst/>
            </a:prstGeom>
            <a:gradFill>
              <a:gsLst>
                <a:gs pos="0">
                  <a:srgbClr val="0B57D0"/>
                </a:gs>
                <a:gs pos="52000">
                  <a:srgbClr val="26A7FF"/>
                </a:gs>
                <a:gs pos="100000">
                  <a:srgbClr val="00D4FF"/>
                </a:gs>
              </a:gsLst>
              <a:lin ang="0" scaled="1"/>
            </a:gradFill>
            <a:ln>
              <a:noFill/>
            </a:ln>
          </p:spPr>
        </p:sp>
        <p:sp>
          <p:nvSpPr>
            <p:cNvPr id="36" name="TextBox 36"/>
            <p:cNvSpPr txBox="1"/>
            <p:nvPr/>
          </p:nvSpPr>
          <p:spPr>
            <a:xfrm>
              <a:off x="504825" y="233362"/>
              <a:ext cx="3180715" cy="346075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2250" b="1" dirty="0">
                  <a:solidFill>
                    <a:srgbClr val="102033"/>
                  </a:solidFill>
                  <a:latin typeface="MiSans Heavy" panose="00000A00000000000000" charset="-122"/>
                  <a:ea typeface="MiSans Heavy" panose="00000A00000000000000" charset="-122"/>
                  <a:cs typeface="MiSans Heavy" panose="00000A00000000000000" charset="-122"/>
                </a:rPr>
                <a:t>技术可行性与 MVP 规划</a:t>
              </a:r>
              <a:endParaRPr lang="zh-CN" sz="2250" b="1" dirty="0">
                <a:solidFill>
                  <a:srgbClr val="102033"/>
                </a:solidFill>
                <a:latin typeface="MiSans Heavy" panose="00000A00000000000000" charset="-122"/>
                <a:ea typeface="MiSans Heavy" panose="00000A00000000000000" charset="-122"/>
                <a:cs typeface="MiSans Heavy" panose="00000A00000000000000" charset="-122"/>
              </a:endParaRPr>
            </a:p>
          </p:txBody>
        </p:sp>
        <p:sp>
          <p:nvSpPr>
            <p:cNvPr id="37" name="TextBox 37"/>
            <p:cNvSpPr txBox="1"/>
            <p:nvPr/>
          </p:nvSpPr>
          <p:spPr>
            <a:xfrm>
              <a:off x="521970" y="645795"/>
              <a:ext cx="1062355" cy="13843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00" b="1" dirty="0">
                  <a:solidFill>
                    <a:srgbClr val="0B57D0"/>
                  </a:solidFill>
                  <a:latin typeface="金山云技术体" charset="-122"/>
                  <a:ea typeface="金山云技术体" charset="-122"/>
                  <a:cs typeface="等线" panose="02010600030101010101" charset="-122"/>
                </a:rPr>
                <a:t>TECH FEASIBILITY</a:t>
              </a:r>
              <a:endParaRPr lang="zh-CN" sz="900" b="1" dirty="0">
                <a:solidFill>
                  <a:srgbClr val="0B57D0"/>
                </a:solidFill>
                <a:latin typeface="金山云技术体" charset="-122"/>
                <a:ea typeface="金山云技术体" charset="-122"/>
                <a:cs typeface="等线" panose="02010600030101010101" charset="-122"/>
              </a:endParaRPr>
            </a:p>
          </p:txBody>
        </p:sp>
        <p:sp>
          <p:nvSpPr>
            <p:cNvPr id="38" name="Line 38"/>
            <p:cNvSpPr/>
            <p:nvPr/>
          </p:nvSpPr>
          <p:spPr>
            <a:xfrm>
              <a:off x="533400" y="876300"/>
              <a:ext cx="11125200" cy="9525"/>
            </a:xfrm>
            <a:custGeom>
              <a:avLst/>
              <a:gdLst/>
              <a:ahLst/>
              <a:cxnLst/>
              <a:rect l="l" t="t" r="r" b="b"/>
              <a:pathLst>
                <a:path w="11125200" h="9525">
                  <a:moveTo>
                    <a:pt x="0" y="0"/>
                  </a:moveTo>
                  <a:lnTo>
                    <a:pt x="11125200" y="0"/>
                  </a:lnTo>
                </a:path>
              </a:pathLst>
            </a:custGeom>
            <a:noFill/>
            <a:ln w="11430">
              <a:solidFill>
                <a:srgbClr val="BFD9F4"/>
              </a:solidFill>
            </a:ln>
          </p:spPr>
        </p:sp>
        <p:sp>
          <p:nvSpPr>
            <p:cNvPr id="39" name="Rectangle 39"/>
            <p:cNvSpPr/>
            <p:nvPr/>
          </p:nvSpPr>
          <p:spPr>
            <a:xfrm>
              <a:off x="533400" y="1028700"/>
              <a:ext cx="95250" cy="95250"/>
            </a:xfrm>
            <a:prstGeom prst="roundRect">
              <a:avLst>
                <a:gd name="adj" fmla="val 50000"/>
              </a:avLst>
            </a:prstGeom>
            <a:solidFill>
              <a:srgbClr val="00D4FF"/>
            </a:solidFill>
            <a:ln>
              <a:noFill/>
            </a:ln>
          </p:spPr>
        </p:sp>
        <p:sp>
          <p:nvSpPr>
            <p:cNvPr id="40" name="TextBox 40"/>
            <p:cNvSpPr txBox="1"/>
            <p:nvPr/>
          </p:nvSpPr>
          <p:spPr>
            <a:xfrm>
              <a:off x="765810" y="1003935"/>
              <a:ext cx="4352290" cy="18415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00" b="1" dirty="0">
                  <a:solidFill>
                    <a:srgbClr val="51677F"/>
                  </a:solidFill>
                  <a:latin typeface="MiSans Normal" panose="00000500000000000000" charset="-122"/>
                  <a:ea typeface="MiSans Normal" panose="00000500000000000000" charset="-122"/>
                  <a:cs typeface="MiSans Normal" panose="00000500000000000000" charset="-122"/>
                </a:rPr>
                <a:t>技术路线拆为端侧记忆、云侧推理和角色表达，MVP 路径清晰。</a:t>
              </a:r>
              <a:endParaRPr lang="zh-CN" sz="1200" b="1" dirty="0">
                <a:solidFill>
                  <a:srgbClr val="51677F"/>
                </a:solidFill>
                <a:latin typeface="MiSans Normal" panose="00000500000000000000" charset="-122"/>
                <a:ea typeface="MiSans Normal" panose="00000500000000000000" charset="-122"/>
                <a:cs typeface="MiSans Normal" panose="00000500000000000000" charset="-122"/>
              </a:endParaRPr>
            </a:p>
          </p:txBody>
        </p:sp>
        <p:sp>
          <p:nvSpPr>
            <p:cNvPr id="41" name="Rectangle 41"/>
            <p:cNvSpPr/>
            <p:nvPr/>
          </p:nvSpPr>
          <p:spPr>
            <a:xfrm>
              <a:off x="495300" y="1581150"/>
              <a:ext cx="6096000" cy="4724400"/>
            </a:xfrm>
            <a:prstGeom prst="roundRect">
              <a:avLst>
                <a:gd name="adj" fmla="val 4032"/>
              </a:avLst>
            </a:prstGeom>
            <a:solidFill>
              <a:srgbClr val="0B57D0">
                <a:alpha val="5000"/>
              </a:srgbClr>
            </a:solidFill>
            <a:ln>
              <a:noFill/>
            </a:ln>
          </p:spPr>
        </p:sp>
        <p:sp>
          <p:nvSpPr>
            <p:cNvPr id="42" name="Rectangle 42"/>
            <p:cNvSpPr/>
            <p:nvPr/>
          </p:nvSpPr>
          <p:spPr>
            <a:xfrm>
              <a:off x="419100" y="1485900"/>
              <a:ext cx="6096000" cy="4724400"/>
            </a:xfrm>
            <a:prstGeom prst="roundRect">
              <a:avLst>
                <a:gd name="adj" fmla="val 4032"/>
              </a:avLst>
            </a:prstGeom>
            <a:solidFill>
              <a:srgbClr val="FFFFFF"/>
            </a:solidFill>
            <a:ln w="11430">
              <a:solidFill>
                <a:srgbClr val="BFD9F4"/>
              </a:solidFill>
            </a:ln>
          </p:spPr>
        </p:sp>
        <p:sp>
          <p:nvSpPr>
            <p:cNvPr id="43" name="Line 43"/>
            <p:cNvSpPr/>
            <p:nvPr/>
          </p:nvSpPr>
          <p:spPr>
            <a:xfrm>
              <a:off x="590550" y="1495425"/>
              <a:ext cx="1238250" cy="9525"/>
            </a:xfrm>
            <a:custGeom>
              <a:avLst/>
              <a:gdLst/>
              <a:ahLst/>
              <a:cxnLst/>
              <a:rect l="l" t="t" r="r" b="b"/>
              <a:pathLst>
                <a:path w="1238250" h="9525">
                  <a:moveTo>
                    <a:pt x="0" y="0"/>
                  </a:moveTo>
                  <a:lnTo>
                    <a:pt x="1238250" y="0"/>
                  </a:lnTo>
                </a:path>
              </a:pathLst>
            </a:custGeom>
            <a:noFill/>
            <a:ln w="19050">
              <a:solidFill>
                <a:srgbClr val="26A7FF">
                  <a:alpha val="90000"/>
                </a:srgbClr>
              </a:solidFill>
            </a:ln>
          </p:spPr>
        </p:sp>
        <p:sp>
          <p:nvSpPr>
            <p:cNvPr id="44" name="TextBox 44"/>
            <p:cNvSpPr txBox="1"/>
            <p:nvPr/>
          </p:nvSpPr>
          <p:spPr>
            <a:xfrm>
              <a:off x="662940" y="1672590"/>
              <a:ext cx="1146175" cy="27686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800" b="1" dirty="0">
                  <a:solidFill>
                    <a:srgbClr val="102033"/>
                  </a:solidFill>
                  <a:latin typeface="MiSans Normal" panose="00000500000000000000" charset="-122"/>
                  <a:ea typeface="MiSans Normal" panose="00000500000000000000" charset="-122"/>
                  <a:cs typeface="等线" panose="02010600030101010101" charset="-122"/>
                </a:rPr>
                <a:t>技术可行性</a:t>
              </a:r>
              <a:endParaRPr lang="zh-CN" sz="1800" b="1" dirty="0">
                <a:solidFill>
                  <a:srgbClr val="102033"/>
                </a:solidFill>
                <a:latin typeface="MiSans Normal" panose="00000500000000000000" charset="-122"/>
                <a:ea typeface="MiSans Normal" panose="00000500000000000000" charset="-122"/>
                <a:cs typeface="等线" panose="02010600030101010101" charset="-122"/>
              </a:endParaRPr>
            </a:p>
          </p:txBody>
        </p:sp>
        <p:sp>
          <p:nvSpPr>
            <p:cNvPr id="45" name="Rectangle 45"/>
            <p:cNvSpPr/>
            <p:nvPr/>
          </p:nvSpPr>
          <p:spPr>
            <a:xfrm>
              <a:off x="914400" y="2247900"/>
              <a:ext cx="5105400" cy="552450"/>
            </a:xfrm>
            <a:prstGeom prst="roundRect">
              <a:avLst>
                <a:gd name="adj" fmla="val 27586"/>
              </a:avLst>
            </a:prstGeom>
            <a:solidFill>
              <a:srgbClr val="E7F2FF"/>
            </a:solidFill>
            <a:ln w="9525">
              <a:solidFill>
                <a:srgbClr val="BFD9F4"/>
              </a:solidFill>
            </a:ln>
          </p:spPr>
        </p:sp>
        <p:sp>
          <p:nvSpPr>
            <p:cNvPr id="46" name="TextBox 46"/>
            <p:cNvSpPr txBox="1"/>
            <p:nvPr/>
          </p:nvSpPr>
          <p:spPr>
            <a:xfrm>
              <a:off x="1743076" y="2443639"/>
              <a:ext cx="3448050" cy="245745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600" b="1" dirty="0">
                  <a:solidFill>
                    <a:srgbClr val="0B57D0"/>
                  </a:solidFill>
                  <a:latin typeface="MiSans Normal" panose="00000500000000000000" charset="-122"/>
                  <a:ea typeface="MiSans Normal" panose="00000500000000000000" charset="-122"/>
                  <a:cs typeface="MiSans Normal" panose="00000500000000000000" charset="-122"/>
                </a:rPr>
                <a:t>用户输入层：文字 / 语音 / 照片 / 位置</a:t>
              </a:r>
              <a:endParaRPr lang="zh-CN" sz="1600" b="1" dirty="0">
                <a:solidFill>
                  <a:srgbClr val="0B57D0"/>
                </a:solidFill>
                <a:latin typeface="MiSans Normal" panose="00000500000000000000" charset="-122"/>
                <a:ea typeface="MiSans Normal" panose="00000500000000000000" charset="-122"/>
                <a:cs typeface="MiSans Normal" panose="00000500000000000000" charset="-122"/>
              </a:endParaRPr>
            </a:p>
          </p:txBody>
        </p:sp>
        <p:sp>
          <p:nvSpPr>
            <p:cNvPr id="47" name="Rectangle 47"/>
            <p:cNvSpPr/>
            <p:nvPr/>
          </p:nvSpPr>
          <p:spPr>
            <a:xfrm>
              <a:off x="1104900" y="3009900"/>
              <a:ext cx="4724400" cy="628650"/>
            </a:xfrm>
            <a:prstGeom prst="roundRect">
              <a:avLst>
                <a:gd name="adj" fmla="val 24242"/>
              </a:avLst>
            </a:prstGeom>
            <a:solidFill>
              <a:srgbClr val="E6FAFF"/>
            </a:solidFill>
            <a:ln w="9525">
              <a:solidFill>
                <a:srgbClr val="BFD9F4"/>
              </a:solidFill>
            </a:ln>
          </p:spPr>
        </p:sp>
        <p:sp>
          <p:nvSpPr>
            <p:cNvPr id="48" name="TextBox 48"/>
            <p:cNvSpPr txBox="1"/>
            <p:nvPr/>
          </p:nvSpPr>
          <p:spPr>
            <a:xfrm>
              <a:off x="2677161" y="3130868"/>
              <a:ext cx="1579880" cy="238125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550" b="1" dirty="0">
                  <a:solidFill>
                    <a:srgbClr val="00D4FF"/>
                  </a:solidFill>
                  <a:latin typeface="MiSans Normal" panose="00000500000000000000" charset="-122"/>
                  <a:ea typeface="MiSans Normal" panose="00000500000000000000" charset="-122"/>
                  <a:cs typeface="等线" panose="02010600030101010101" charset="-122"/>
                </a:rPr>
                <a:t>端侧记忆与触发层</a:t>
              </a:r>
              <a:endParaRPr lang="zh-CN" sz="1550" b="1" dirty="0">
                <a:solidFill>
                  <a:srgbClr val="00D4FF"/>
                </a:solidFill>
                <a:latin typeface="MiSans Normal" panose="00000500000000000000" charset="-122"/>
                <a:ea typeface="MiSans Normal" panose="00000500000000000000" charset="-122"/>
                <a:cs typeface="等线" panose="02010600030101010101" charset="-122"/>
              </a:endParaRPr>
            </a:p>
          </p:txBody>
        </p:sp>
        <p:sp>
          <p:nvSpPr>
            <p:cNvPr id="49" name="TextBox 49"/>
            <p:cNvSpPr txBox="1"/>
            <p:nvPr/>
          </p:nvSpPr>
          <p:spPr>
            <a:xfrm>
              <a:off x="2533651" y="3391852"/>
              <a:ext cx="1866900" cy="1612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050" dirty="0">
                  <a:solidFill>
                    <a:srgbClr val="51677F"/>
                  </a:solidFill>
                  <a:latin typeface="MiSans Normal" panose="00000500000000000000" charset="-122"/>
                  <a:ea typeface="MiSans Normal" panose="00000500000000000000" charset="-122"/>
                  <a:cs typeface="等线" panose="02010600030101010101" charset="-122"/>
                </a:rPr>
                <a:t>本地记忆、状态读取和轻量触发</a:t>
              </a:r>
              <a:endParaRPr lang="zh-CN" sz="1050" dirty="0">
                <a:solidFill>
                  <a:srgbClr val="51677F"/>
                </a:solidFill>
                <a:latin typeface="MiSans Normal" panose="00000500000000000000" charset="-122"/>
                <a:ea typeface="MiSans Normal" panose="00000500000000000000" charset="-122"/>
                <a:cs typeface="等线" panose="02010600030101010101" charset="-122"/>
              </a:endParaRPr>
            </a:p>
          </p:txBody>
        </p:sp>
        <p:sp>
          <p:nvSpPr>
            <p:cNvPr id="50" name="Rectangle 50"/>
            <p:cNvSpPr/>
            <p:nvPr/>
          </p:nvSpPr>
          <p:spPr>
            <a:xfrm>
              <a:off x="1295400" y="3848100"/>
              <a:ext cx="4343400" cy="723900"/>
            </a:xfrm>
            <a:prstGeom prst="roundRect">
              <a:avLst>
                <a:gd name="adj" fmla="val 21053"/>
              </a:avLst>
            </a:prstGeom>
            <a:solidFill>
              <a:srgbClr val="EEF8F1"/>
            </a:solidFill>
            <a:ln w="9525">
              <a:solidFill>
                <a:srgbClr val="BFD9F4"/>
              </a:solidFill>
            </a:ln>
          </p:spPr>
        </p:sp>
        <p:sp>
          <p:nvSpPr>
            <p:cNvPr id="51" name="TextBox 51"/>
            <p:cNvSpPr txBox="1"/>
            <p:nvPr/>
          </p:nvSpPr>
          <p:spPr>
            <a:xfrm>
              <a:off x="2316798" y="4007168"/>
              <a:ext cx="2300605" cy="230505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500" b="1" dirty="0">
                  <a:solidFill>
                    <a:srgbClr val="2E7D32"/>
                  </a:solidFill>
                  <a:latin typeface="MiSans Normal" panose="00000500000000000000" charset="-122"/>
                  <a:ea typeface="MiSans Normal" panose="00000500000000000000" charset="-122"/>
                  <a:cs typeface="MiSans Normal" panose="00000500000000000000" charset="-122"/>
                </a:rPr>
                <a:t>Agent 调度与蓝心大模型层</a:t>
              </a:r>
              <a:endParaRPr lang="zh-CN" sz="1500" b="1" dirty="0">
                <a:solidFill>
                  <a:srgbClr val="2E7D32"/>
                </a:solidFill>
                <a:latin typeface="MiSans Normal" panose="00000500000000000000" charset="-122"/>
                <a:ea typeface="MiSans Normal" panose="00000500000000000000" charset="-122"/>
                <a:cs typeface="MiSans Normal" panose="00000500000000000000" charset="-122"/>
              </a:endParaRPr>
            </a:p>
          </p:txBody>
        </p:sp>
        <p:sp>
          <p:nvSpPr>
            <p:cNvPr id="52" name="TextBox 52"/>
            <p:cNvSpPr txBox="1"/>
            <p:nvPr/>
          </p:nvSpPr>
          <p:spPr>
            <a:xfrm>
              <a:off x="2133600" y="4268152"/>
              <a:ext cx="2667000" cy="1612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050" dirty="0">
                  <a:solidFill>
                    <a:srgbClr val="51677F"/>
                  </a:solidFill>
                  <a:latin typeface="MiSans Normal" panose="00000500000000000000" charset="-122"/>
                  <a:ea typeface="MiSans Normal" panose="00000500000000000000" charset="-122"/>
                  <a:cs typeface="等线" panose="02010600030101010101" charset="-122"/>
                </a:rPr>
                <a:t>意图理解、记忆抽取、规划推理、角色化对话</a:t>
              </a:r>
              <a:endParaRPr lang="zh-CN" sz="1050" dirty="0">
                <a:solidFill>
                  <a:srgbClr val="51677F"/>
                </a:solidFill>
                <a:latin typeface="MiSans Normal" panose="00000500000000000000" charset="-122"/>
                <a:ea typeface="MiSans Normal" panose="00000500000000000000" charset="-122"/>
                <a:cs typeface="等线" panose="02010600030101010101" charset="-122"/>
              </a:endParaRPr>
            </a:p>
          </p:txBody>
        </p:sp>
        <p:sp>
          <p:nvSpPr>
            <p:cNvPr id="53" name="Rectangle 53"/>
            <p:cNvSpPr/>
            <p:nvPr/>
          </p:nvSpPr>
          <p:spPr>
            <a:xfrm>
              <a:off x="1485900" y="4781550"/>
              <a:ext cx="3962400" cy="552450"/>
            </a:xfrm>
            <a:prstGeom prst="roundRect">
              <a:avLst>
                <a:gd name="adj" fmla="val 27586"/>
              </a:avLst>
            </a:prstGeom>
            <a:solidFill>
              <a:srgbClr val="FFF8E8"/>
            </a:solidFill>
            <a:ln w="9525">
              <a:solidFill>
                <a:srgbClr val="BFD9F4"/>
              </a:solidFill>
            </a:ln>
          </p:spPr>
        </p:sp>
        <p:sp>
          <p:nvSpPr>
            <p:cNvPr id="54" name="TextBox 54"/>
            <p:cNvSpPr txBox="1"/>
            <p:nvPr/>
          </p:nvSpPr>
          <p:spPr>
            <a:xfrm>
              <a:off x="1861185" y="4975225"/>
              <a:ext cx="3211830" cy="215265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400" b="1" dirty="0">
                  <a:solidFill>
                    <a:srgbClr val="F59E0B"/>
                  </a:solidFill>
                  <a:latin typeface="MiSans Normal" panose="00000500000000000000" charset="-122"/>
                  <a:ea typeface="MiSans Normal" panose="00000500000000000000" charset="-122"/>
                  <a:cs typeface="等线" panose="02010600030101010101" charset="-122"/>
                </a:rPr>
                <a:t>地图、天气、地点、图片理解等工具服务</a:t>
              </a:r>
              <a:endParaRPr lang="zh-CN" sz="1400" b="1" dirty="0">
                <a:solidFill>
                  <a:srgbClr val="F59E0B"/>
                </a:solidFill>
                <a:latin typeface="MiSans Normal" panose="00000500000000000000" charset="-122"/>
                <a:ea typeface="MiSans Normal" panose="00000500000000000000" charset="-122"/>
                <a:cs typeface="等线" panose="02010600030101010101" charset="-122"/>
              </a:endParaRPr>
            </a:p>
          </p:txBody>
        </p:sp>
        <p:sp>
          <p:nvSpPr>
            <p:cNvPr id="55" name="Rectangle 55"/>
            <p:cNvSpPr/>
            <p:nvPr/>
          </p:nvSpPr>
          <p:spPr>
            <a:xfrm>
              <a:off x="1676400" y="5543550"/>
              <a:ext cx="3581400" cy="361950"/>
            </a:xfrm>
            <a:prstGeom prst="roundRect">
              <a:avLst>
                <a:gd name="adj" fmla="val 42105"/>
              </a:avLst>
            </a:prstGeom>
            <a:solidFill>
              <a:srgbClr val="FFF2EC"/>
            </a:solidFill>
            <a:ln w="9525">
              <a:solidFill>
                <a:srgbClr val="BFD9F4"/>
              </a:solidFill>
            </a:ln>
          </p:spPr>
        </p:sp>
        <p:sp>
          <p:nvSpPr>
            <p:cNvPr id="56" name="TextBox 56"/>
            <p:cNvSpPr txBox="1"/>
            <p:nvPr/>
          </p:nvSpPr>
          <p:spPr>
            <a:xfrm>
              <a:off x="2197101" y="5650071"/>
              <a:ext cx="2540000" cy="18415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200" b="1" dirty="0">
                  <a:solidFill>
                    <a:srgbClr val="C2410C"/>
                  </a:solidFill>
                  <a:latin typeface="MiSans Normal" panose="00000500000000000000" charset="-122"/>
                  <a:ea typeface="MiSans Normal" panose="00000500000000000000" charset="-122"/>
                  <a:cs typeface="MiSans Normal" panose="00000500000000000000" charset="-122"/>
                </a:rPr>
                <a:t>蓝小心表达层：2D 形象、状态和反馈</a:t>
              </a:r>
              <a:endParaRPr lang="zh-CN" sz="1200" b="1" dirty="0">
                <a:solidFill>
                  <a:srgbClr val="C2410C"/>
                </a:solidFill>
                <a:latin typeface="MiSans Normal" panose="00000500000000000000" charset="-122"/>
                <a:ea typeface="MiSans Normal" panose="00000500000000000000" charset="-122"/>
                <a:cs typeface="MiSans Normal" panose="00000500000000000000" charset="-122"/>
              </a:endParaRPr>
            </a:p>
          </p:txBody>
        </p:sp>
        <p:sp>
          <p:nvSpPr>
            <p:cNvPr id="57" name="Rectangle 57"/>
            <p:cNvSpPr/>
            <p:nvPr/>
          </p:nvSpPr>
          <p:spPr>
            <a:xfrm>
              <a:off x="6972300" y="1581150"/>
              <a:ext cx="4876800" cy="4724400"/>
            </a:xfrm>
            <a:prstGeom prst="roundRect">
              <a:avLst>
                <a:gd name="adj" fmla="val 4032"/>
              </a:avLst>
            </a:prstGeom>
            <a:solidFill>
              <a:srgbClr val="0B57D0">
                <a:alpha val="5000"/>
              </a:srgbClr>
            </a:solidFill>
            <a:ln>
              <a:noFill/>
            </a:ln>
          </p:spPr>
        </p:sp>
        <p:sp>
          <p:nvSpPr>
            <p:cNvPr id="58" name="Rectangle 58"/>
            <p:cNvSpPr/>
            <p:nvPr/>
          </p:nvSpPr>
          <p:spPr>
            <a:xfrm>
              <a:off x="6896100" y="1485900"/>
              <a:ext cx="4876800" cy="4724400"/>
            </a:xfrm>
            <a:prstGeom prst="roundRect">
              <a:avLst>
                <a:gd name="adj" fmla="val 4032"/>
              </a:avLst>
            </a:prstGeom>
            <a:solidFill>
              <a:srgbClr val="FFFFFF"/>
            </a:solidFill>
            <a:ln w="11430">
              <a:solidFill>
                <a:srgbClr val="BFD9F4"/>
              </a:solidFill>
            </a:ln>
          </p:spPr>
        </p:sp>
        <p:sp>
          <p:nvSpPr>
            <p:cNvPr id="59" name="Line 59"/>
            <p:cNvSpPr/>
            <p:nvPr/>
          </p:nvSpPr>
          <p:spPr>
            <a:xfrm>
              <a:off x="7067550" y="1495425"/>
              <a:ext cx="1238250" cy="9525"/>
            </a:xfrm>
            <a:custGeom>
              <a:avLst/>
              <a:gdLst/>
              <a:ahLst/>
              <a:cxnLst/>
              <a:rect l="l" t="t" r="r" b="b"/>
              <a:pathLst>
                <a:path w="1238250" h="9525">
                  <a:moveTo>
                    <a:pt x="0" y="0"/>
                  </a:moveTo>
                  <a:lnTo>
                    <a:pt x="1238250" y="0"/>
                  </a:lnTo>
                </a:path>
              </a:pathLst>
            </a:custGeom>
            <a:noFill/>
            <a:ln w="19050">
              <a:solidFill>
                <a:srgbClr val="26A7FF">
                  <a:alpha val="90000"/>
                </a:srgbClr>
              </a:solidFill>
            </a:ln>
          </p:spPr>
        </p:sp>
        <p:sp>
          <p:nvSpPr>
            <p:cNvPr id="60" name="TextBox 60"/>
            <p:cNvSpPr txBox="1"/>
            <p:nvPr/>
          </p:nvSpPr>
          <p:spPr>
            <a:xfrm>
              <a:off x="7139940" y="1672590"/>
              <a:ext cx="1017905" cy="27686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800" b="1" dirty="0">
                  <a:solidFill>
                    <a:srgbClr val="102033"/>
                  </a:solidFill>
                  <a:latin typeface="MiSans Normal" panose="00000500000000000000" charset="-122"/>
                  <a:ea typeface="MiSans Normal" panose="00000500000000000000" charset="-122"/>
                  <a:cs typeface="MiSans Normal" panose="00000500000000000000" charset="-122"/>
                </a:rPr>
                <a:t>MVP 规划</a:t>
              </a:r>
              <a:endParaRPr lang="zh-CN" sz="1800" b="1" dirty="0">
                <a:solidFill>
                  <a:srgbClr val="102033"/>
                </a:solidFill>
                <a:latin typeface="MiSans Normal" panose="00000500000000000000" charset="-122"/>
                <a:ea typeface="MiSans Normal" panose="00000500000000000000" charset="-122"/>
                <a:cs typeface="MiSans Normal" panose="00000500000000000000" charset="-122"/>
              </a:endParaRPr>
            </a:p>
          </p:txBody>
        </p:sp>
        <p:sp>
          <p:nvSpPr>
            <p:cNvPr id="61" name="Rectangle 61"/>
            <p:cNvSpPr/>
            <p:nvPr/>
          </p:nvSpPr>
          <p:spPr>
            <a:xfrm>
              <a:off x="7658100" y="2305050"/>
              <a:ext cx="3352800" cy="742950"/>
            </a:xfrm>
            <a:prstGeom prst="roundRect">
              <a:avLst>
                <a:gd name="adj" fmla="val 23077"/>
              </a:avLst>
            </a:prstGeom>
            <a:solidFill>
              <a:srgbClr val="0B57D0"/>
            </a:solidFill>
            <a:ln>
              <a:noFill/>
            </a:ln>
          </p:spPr>
        </p:sp>
        <p:sp>
          <p:nvSpPr>
            <p:cNvPr id="62" name="TextBox 62"/>
            <p:cNvSpPr txBox="1"/>
            <p:nvPr/>
          </p:nvSpPr>
          <p:spPr>
            <a:xfrm>
              <a:off x="8705533" y="2443480"/>
              <a:ext cx="1269365" cy="27686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800" b="1" dirty="0">
                  <a:solidFill>
                    <a:srgbClr val="FFFFFF"/>
                  </a:solidFill>
                  <a:latin typeface="MiSans Normal" panose="00000500000000000000" charset="-122"/>
                  <a:ea typeface="MiSans Normal" panose="00000500000000000000" charset="-122"/>
                  <a:cs typeface="MiSans Normal" panose="00000500000000000000" charset="-122"/>
                </a:rPr>
                <a:t>P0 必须展示</a:t>
              </a:r>
              <a:endParaRPr lang="zh-CN" sz="1800" b="1" dirty="0">
                <a:solidFill>
                  <a:srgbClr val="FFFFFF"/>
                </a:solidFill>
                <a:latin typeface="MiSans Normal" panose="00000500000000000000" charset="-122"/>
                <a:ea typeface="MiSans Normal" panose="00000500000000000000" charset="-122"/>
                <a:cs typeface="MiSans Normal" panose="00000500000000000000" charset="-122"/>
              </a:endParaRPr>
            </a:p>
          </p:txBody>
        </p:sp>
        <p:sp>
          <p:nvSpPr>
            <p:cNvPr id="63" name="TextBox 63"/>
            <p:cNvSpPr txBox="1"/>
            <p:nvPr/>
          </p:nvSpPr>
          <p:spPr>
            <a:xfrm>
              <a:off x="8141970" y="2800667"/>
              <a:ext cx="2385060" cy="1612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050" dirty="0">
                  <a:solidFill>
                    <a:srgbClr val="FFFFFF"/>
                  </a:solidFill>
                  <a:latin typeface="MiSans Normal" panose="00000500000000000000" charset="-122"/>
                  <a:ea typeface="MiSans Normal" panose="00000500000000000000" charset="-122"/>
                  <a:cs typeface="MiSans Normal" panose="00000500000000000000" charset="-122"/>
                </a:rPr>
                <a:t>记忆胶囊 / 画像 / 规划 / 主动提醒 / 复盘</a:t>
              </a:r>
              <a:endParaRPr lang="zh-CN" sz="1050" dirty="0">
                <a:solidFill>
                  <a:srgbClr val="FFFFFF"/>
                </a:solidFill>
                <a:latin typeface="MiSans Normal" panose="00000500000000000000" charset="-122"/>
                <a:ea typeface="MiSans Normal" panose="00000500000000000000" charset="-122"/>
                <a:cs typeface="MiSans Normal" panose="00000500000000000000" charset="-122"/>
              </a:endParaRPr>
            </a:p>
          </p:txBody>
        </p:sp>
        <p:sp>
          <p:nvSpPr>
            <p:cNvPr id="64" name="Rectangle 64"/>
            <p:cNvSpPr/>
            <p:nvPr/>
          </p:nvSpPr>
          <p:spPr>
            <a:xfrm>
              <a:off x="7962900" y="3333750"/>
              <a:ext cx="2743200" cy="685800"/>
            </a:xfrm>
            <a:prstGeom prst="roundRect">
              <a:avLst>
                <a:gd name="adj" fmla="val 25000"/>
              </a:avLst>
            </a:prstGeom>
            <a:solidFill>
              <a:srgbClr val="26A7FF"/>
            </a:solidFill>
            <a:ln>
              <a:noFill/>
            </a:ln>
          </p:spPr>
        </p:sp>
        <p:sp>
          <p:nvSpPr>
            <p:cNvPr id="65" name="TextBox 65"/>
            <p:cNvSpPr txBox="1"/>
            <p:nvPr/>
          </p:nvSpPr>
          <p:spPr>
            <a:xfrm>
              <a:off x="8787131" y="3529647"/>
              <a:ext cx="1115060" cy="253365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650" b="1" dirty="0">
                  <a:solidFill>
                    <a:srgbClr val="FFFFFF"/>
                  </a:solidFill>
                  <a:latin typeface="MiSans Normal" panose="00000500000000000000" charset="-122"/>
                  <a:ea typeface="MiSans Normal" panose="00000500000000000000" charset="-122"/>
                  <a:cs typeface="MiSans Normal" panose="00000500000000000000" charset="-122"/>
                </a:rPr>
                <a:t>P1 增强体验</a:t>
              </a:r>
              <a:endParaRPr lang="zh-CN" sz="1650" b="1" dirty="0">
                <a:solidFill>
                  <a:srgbClr val="FFFFFF"/>
                </a:solidFill>
                <a:latin typeface="MiSans Normal" panose="00000500000000000000" charset="-122"/>
                <a:ea typeface="MiSans Normal" panose="00000500000000000000" charset="-122"/>
                <a:cs typeface="MiSans Normal" panose="00000500000000000000" charset="-122"/>
              </a:endParaRPr>
            </a:p>
          </p:txBody>
        </p:sp>
        <p:sp>
          <p:nvSpPr>
            <p:cNvPr id="66" name="TextBox 66"/>
            <p:cNvSpPr txBox="1"/>
            <p:nvPr/>
          </p:nvSpPr>
          <p:spPr>
            <a:xfrm>
              <a:off x="8286750" y="3810159"/>
              <a:ext cx="2115820" cy="150495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975" dirty="0">
                  <a:solidFill>
                    <a:srgbClr val="FFFFFF"/>
                  </a:solidFill>
                  <a:latin typeface="MiSans Normal" panose="00000500000000000000" charset="-122"/>
                  <a:ea typeface="MiSans Normal" panose="00000500000000000000" charset="-122"/>
                  <a:cs typeface="等线" panose="02010600030101010101" charset="-122"/>
                </a:rPr>
                <a:t>多表情、动画、旅拍候选集、文案生成</a:t>
              </a:r>
              <a:endParaRPr lang="zh-CN" sz="975" dirty="0">
                <a:solidFill>
                  <a:srgbClr val="FFFFFF"/>
                </a:solidFill>
                <a:latin typeface="MiSans Normal" panose="00000500000000000000" charset="-122"/>
                <a:ea typeface="MiSans Normal" panose="00000500000000000000" charset="-122"/>
                <a:cs typeface="等线" panose="02010600030101010101" charset="-122"/>
              </a:endParaRPr>
            </a:p>
          </p:txBody>
        </p:sp>
        <p:sp>
          <p:nvSpPr>
            <p:cNvPr id="67" name="Rectangle 67"/>
            <p:cNvSpPr/>
            <p:nvPr/>
          </p:nvSpPr>
          <p:spPr>
            <a:xfrm>
              <a:off x="8286750" y="4305300"/>
              <a:ext cx="2095500" cy="628650"/>
            </a:xfrm>
            <a:prstGeom prst="roundRect">
              <a:avLst>
                <a:gd name="adj" fmla="val 27273"/>
              </a:avLst>
            </a:prstGeom>
            <a:solidFill>
              <a:srgbClr val="00D4FF"/>
            </a:solidFill>
            <a:ln>
              <a:noFill/>
            </a:ln>
          </p:spPr>
        </p:sp>
        <p:sp>
          <p:nvSpPr>
            <p:cNvPr id="68" name="TextBox 68"/>
            <p:cNvSpPr txBox="1"/>
            <p:nvPr/>
          </p:nvSpPr>
          <p:spPr>
            <a:xfrm>
              <a:off x="8800148" y="4429284"/>
              <a:ext cx="1101725" cy="2425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575" b="1" dirty="0">
                  <a:solidFill>
                    <a:srgbClr val="FFFFFF"/>
                  </a:solidFill>
                  <a:latin typeface="MiSans Normal" panose="00000500000000000000" charset="-122"/>
                  <a:ea typeface="MiSans Normal" panose="00000500000000000000" charset="-122"/>
                  <a:cs typeface="MiSans Normal" panose="00000500000000000000" charset="-122"/>
                </a:rPr>
                <a:t>P2 扩展能力</a:t>
              </a:r>
              <a:endParaRPr lang="zh-CN" sz="1575" b="1" dirty="0">
                <a:solidFill>
                  <a:srgbClr val="FFFFFF"/>
                </a:solidFill>
                <a:latin typeface="MiSans Normal" panose="00000500000000000000" charset="-122"/>
                <a:ea typeface="MiSans Normal" panose="00000500000000000000" charset="-122"/>
                <a:cs typeface="MiSans Normal" panose="00000500000000000000" charset="-122"/>
              </a:endParaRPr>
            </a:p>
          </p:txBody>
        </p:sp>
        <p:sp>
          <p:nvSpPr>
            <p:cNvPr id="69" name="TextBox 69"/>
            <p:cNvSpPr txBox="1"/>
            <p:nvPr/>
          </p:nvSpPr>
          <p:spPr>
            <a:xfrm>
              <a:off x="8804276" y="4671854"/>
              <a:ext cx="1036320" cy="1536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000" dirty="0">
                  <a:solidFill>
                    <a:srgbClr val="FFFFFF"/>
                  </a:solidFill>
                  <a:latin typeface="MiSans Normal" panose="00000500000000000000" charset="-122"/>
                  <a:ea typeface="MiSans Normal" panose="00000500000000000000" charset="-122"/>
                  <a:cs typeface="MiSans Normal" panose="00000500000000000000" charset="-122"/>
                </a:rPr>
                <a:t>Live2D、多人协同</a:t>
              </a:r>
              <a:endParaRPr lang="zh-CN" sz="1000" dirty="0">
                <a:solidFill>
                  <a:srgbClr val="FFFFFF"/>
                </a:solidFill>
                <a:latin typeface="MiSans Normal" panose="00000500000000000000" charset="-122"/>
                <a:ea typeface="MiSans Normal" panose="00000500000000000000" charset="-122"/>
                <a:cs typeface="MiSans Normal" panose="00000500000000000000" charset="-122"/>
              </a:endParaRPr>
            </a:p>
          </p:txBody>
        </p:sp>
        <p:sp>
          <p:nvSpPr>
            <p:cNvPr id="70" name="Rectangle 70"/>
            <p:cNvSpPr/>
            <p:nvPr/>
          </p:nvSpPr>
          <p:spPr>
            <a:xfrm>
              <a:off x="7239000" y="5391150"/>
              <a:ext cx="4343400" cy="685800"/>
            </a:xfrm>
            <a:prstGeom prst="roundRect">
              <a:avLst>
                <a:gd name="adj" fmla="val 19444"/>
              </a:avLst>
            </a:prstGeom>
            <a:solidFill>
              <a:srgbClr val="0B57D0">
                <a:alpha val="5000"/>
              </a:srgbClr>
            </a:solidFill>
            <a:ln>
              <a:noFill/>
            </a:ln>
          </p:spPr>
        </p:sp>
        <p:sp>
          <p:nvSpPr>
            <p:cNvPr id="71" name="Rectangle 71"/>
            <p:cNvSpPr/>
            <p:nvPr/>
          </p:nvSpPr>
          <p:spPr>
            <a:xfrm>
              <a:off x="7162800" y="5295900"/>
              <a:ext cx="4343400" cy="685800"/>
            </a:xfrm>
            <a:prstGeom prst="roundRect">
              <a:avLst>
                <a:gd name="adj" fmla="val 19444"/>
              </a:avLst>
            </a:prstGeom>
            <a:solidFill>
              <a:srgbClr val="FFFFFF"/>
            </a:solidFill>
            <a:ln w="11430">
              <a:solidFill>
                <a:srgbClr val="BFD9F4"/>
              </a:solidFill>
            </a:ln>
          </p:spPr>
        </p:sp>
        <p:sp>
          <p:nvSpPr>
            <p:cNvPr id="72" name="Line 72"/>
            <p:cNvSpPr/>
            <p:nvPr/>
          </p:nvSpPr>
          <p:spPr>
            <a:xfrm>
              <a:off x="7334250" y="5305425"/>
              <a:ext cx="1238250" cy="9525"/>
            </a:xfrm>
            <a:custGeom>
              <a:avLst/>
              <a:gdLst/>
              <a:ahLst/>
              <a:cxnLst/>
              <a:rect l="l" t="t" r="r" b="b"/>
              <a:pathLst>
                <a:path w="1238250" h="9525">
                  <a:moveTo>
                    <a:pt x="0" y="0"/>
                  </a:moveTo>
                  <a:lnTo>
                    <a:pt x="1238250" y="0"/>
                  </a:lnTo>
                </a:path>
              </a:pathLst>
            </a:custGeom>
            <a:noFill/>
            <a:ln w="19050">
              <a:solidFill>
                <a:srgbClr val="26A7FF">
                  <a:alpha val="90000"/>
                </a:srgbClr>
              </a:solidFill>
            </a:ln>
          </p:spPr>
        </p:sp>
        <p:sp>
          <p:nvSpPr>
            <p:cNvPr id="73" name="TextBox 73"/>
            <p:cNvSpPr txBox="1"/>
            <p:nvPr/>
          </p:nvSpPr>
          <p:spPr>
            <a:xfrm>
              <a:off x="7373302" y="5465921"/>
              <a:ext cx="728980" cy="21971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425" b="1" dirty="0">
                  <a:solidFill>
                    <a:srgbClr val="102033"/>
                  </a:solidFill>
                  <a:latin typeface="MiSans Normal" panose="00000500000000000000" charset="-122"/>
                  <a:ea typeface="MiSans Normal" panose="00000500000000000000" charset="-122"/>
                  <a:cs typeface="等线" panose="02010600030101010101" charset="-122"/>
                </a:rPr>
                <a:t>落地判断</a:t>
              </a:r>
              <a:endParaRPr lang="zh-CN" sz="1425" b="1" dirty="0">
                <a:solidFill>
                  <a:srgbClr val="102033"/>
                </a:solidFill>
                <a:latin typeface="MiSans Normal" panose="00000500000000000000" charset="-122"/>
                <a:ea typeface="MiSans Normal" panose="00000500000000000000" charset="-122"/>
                <a:cs typeface="等线" panose="02010600030101010101" charset="-122"/>
              </a:endParaRPr>
            </a:p>
          </p:txBody>
        </p:sp>
        <p:sp>
          <p:nvSpPr>
            <p:cNvPr id="74" name="TextBox 74"/>
            <p:cNvSpPr txBox="1"/>
            <p:nvPr/>
          </p:nvSpPr>
          <p:spPr>
            <a:xfrm>
              <a:off x="7377747" y="5733891"/>
              <a:ext cx="2646045" cy="173355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125" dirty="0">
                  <a:solidFill>
                    <a:srgbClr val="51677F"/>
                  </a:solidFill>
                  <a:latin typeface="MiSans Normal" panose="00000500000000000000" charset="-122"/>
                  <a:ea typeface="MiSans Normal" panose="00000500000000000000" charset="-122"/>
                  <a:cs typeface="MiSans Normal" panose="00000500000000000000" charset="-122"/>
                </a:rPr>
                <a:t>初赛可讲清、复赛可落地、MVP 可验证。</a:t>
              </a:r>
              <a:endParaRPr lang="zh-CN" sz="1125" dirty="0">
                <a:solidFill>
                  <a:srgbClr val="51677F"/>
                </a:solidFill>
                <a:latin typeface="MiSans Normal" panose="00000500000000000000" charset="-122"/>
                <a:ea typeface="MiSans Normal" panose="00000500000000000000" charset="-122"/>
                <a:cs typeface="MiSans Normal" panose="00000500000000000000" charset="-122"/>
              </a:endParaRPr>
            </a:p>
          </p:txBody>
        </p:sp>
        <p:sp>
          <p:nvSpPr>
            <p:cNvPr id="75" name="TextBox 75"/>
            <p:cNvSpPr txBox="1"/>
            <p:nvPr/>
          </p:nvSpPr>
          <p:spPr>
            <a:xfrm>
              <a:off x="521970" y="6598920"/>
              <a:ext cx="2106263" cy="18288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00" dirty="0">
                  <a:solidFill>
                    <a:srgbClr val="8AA1B7"/>
                  </a:solidFill>
                  <a:latin typeface="等线" panose="02010600030101010101" charset="-122"/>
                  <a:ea typeface="微软雅黑" panose="020B0503020204020204" charset="-122"/>
                  <a:cs typeface="等线" panose="02010600030101010101" charset="-122"/>
                </a:rPr>
                <a:t>蓝心同行 | AIGC创新赛应用赛道初赛</a:t>
              </a:r>
              <a:endParaRPr lang="zh-CN" sz="900" dirty="0">
                <a:solidFill>
                  <a:srgbClr val="8AA1B7"/>
                </a:solidFill>
                <a:latin typeface="等线" panose="02010600030101010101" charset="-122"/>
                <a:ea typeface="微软雅黑" panose="020B0503020204020204" charset="-122"/>
                <a:cs typeface="等线" panose="02010600030101010101" charset="-122"/>
              </a:endParaRPr>
            </a:p>
          </p:txBody>
        </p:sp>
        <p:sp>
          <p:nvSpPr>
            <p:cNvPr id="76" name="TextBox 76"/>
            <p:cNvSpPr txBox="1"/>
            <p:nvPr/>
          </p:nvSpPr>
          <p:spPr>
            <a:xfrm>
              <a:off x="11497342" y="6598920"/>
              <a:ext cx="134588" cy="18288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r"/>
              <a:r>
                <a:rPr lang="zh-CN" sz="900" dirty="0">
                  <a:solidFill>
                    <a:srgbClr val="8AA1B7"/>
                  </a:solidFill>
                  <a:latin typeface="等线" panose="02010600030101010101" charset="-122"/>
                  <a:ea typeface="微软雅黑" panose="020B0503020204020204" charset="-122"/>
                  <a:cs typeface="等线" panose="02010600030101010101" charset="-122"/>
                </a:rPr>
                <a:t>10</a:t>
              </a:r>
              <a:endParaRPr lang="zh-CN" sz="900" dirty="0">
                <a:solidFill>
                  <a:srgbClr val="8AA1B7"/>
                </a:solidFill>
                <a:latin typeface="等线" panose="02010600030101010101" charset="-122"/>
                <a:ea typeface="微软雅黑" panose="020B0503020204020204" charset="-122"/>
                <a:cs typeface="等线" panose="02010600030101010101" charset="-122"/>
              </a:endParaRPr>
            </a:p>
          </p:txBody>
        </p:sp>
      </p:grp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p14:dur="400">
        <p:fade/>
      </p:transition>
    </mc:Choice>
    <mc:Fallback>
      <p:transition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400"/>
                                        <p:tgtEl>
                                          <p:spTgt spid="7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77" grpId="0"/>
    </p:bldLst>
  </p:timing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2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4F9FF"/>
          </a:solidFill>
          <a:ln>
            <a:noFill/>
          </a:ln>
        </p:spPr>
      </p:sp>
      <p:sp>
        <p:nvSpPr>
          <p:cNvPr id="3" name="Rectangle 3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gradFill>
            <a:gsLst>
              <a:gs pos="0">
                <a:srgbClr val="26A7FF">
                  <a:alpha val="12000"/>
                </a:srgbClr>
              </a:gs>
              <a:gs pos="100000">
                <a:srgbClr val="26A7FF">
                  <a:alpha val="0"/>
                </a:srgbClr>
              </a:gs>
            </a:gsLst>
            <a:path path="circle">
              <a:fillToRect l="50000" t="50000" r="50000" b="50000"/>
            </a:path>
          </a:gradFill>
          <a:ln>
            <a:noFill/>
          </a:ln>
        </p:spPr>
      </p:sp>
      <p:sp>
        <p:nvSpPr>
          <p:cNvPr id="4" name="Ellipse 4"/>
          <p:cNvSpPr/>
          <p:nvPr/>
        </p:nvSpPr>
        <p:spPr>
          <a:xfrm>
            <a:off x="9391650" y="-304800"/>
            <a:ext cx="2362200" cy="2362200"/>
          </a:xfrm>
          <a:prstGeom prst="ellipse">
            <a:avLst/>
          </a:prstGeom>
          <a:solidFill>
            <a:srgbClr val="26A7FF">
              <a:alpha val="8000"/>
            </a:srgbClr>
          </a:solidFill>
          <a:ln>
            <a:noFill/>
          </a:ln>
        </p:spPr>
      </p:sp>
      <p:sp>
        <p:nvSpPr>
          <p:cNvPr id="5" name="Ellipse 5"/>
          <p:cNvSpPr/>
          <p:nvPr/>
        </p:nvSpPr>
        <p:spPr>
          <a:xfrm>
            <a:off x="10553700" y="647700"/>
            <a:ext cx="1638300" cy="1638300"/>
          </a:xfrm>
          <a:prstGeom prst="ellipse">
            <a:avLst/>
          </a:prstGeom>
          <a:solidFill>
            <a:srgbClr val="00D4FF">
              <a:alpha val="7000"/>
            </a:srgbClr>
          </a:solidFill>
          <a:ln>
            <a:noFill/>
          </a:ln>
        </p:spPr>
      </p:sp>
      <p:sp>
        <p:nvSpPr>
          <p:cNvPr id="6" name="Freeform 6"/>
          <p:cNvSpPr/>
          <p:nvPr/>
        </p:nvSpPr>
        <p:spPr>
          <a:xfrm>
            <a:off x="8382000" y="781050"/>
            <a:ext cx="3390900" cy="438150"/>
          </a:xfrm>
          <a:custGeom>
            <a:avLst/>
            <a:gdLst/>
            <a:ahLst/>
            <a:cxnLst/>
            <a:rect l="l" t="t" r="r" b="b"/>
            <a:pathLst>
              <a:path w="3390900" h="438150">
                <a:moveTo>
                  <a:pt x="0" y="0"/>
                </a:moveTo>
                <a:lnTo>
                  <a:pt x="1600200" y="0"/>
                </a:lnTo>
                <a:lnTo>
                  <a:pt x="2038350" y="438150"/>
                </a:lnTo>
                <a:lnTo>
                  <a:pt x="3390900" y="438150"/>
                </a:lnTo>
              </a:path>
            </a:pathLst>
          </a:custGeom>
          <a:noFill/>
          <a:ln w="13335">
            <a:solidFill>
              <a:srgbClr val="BFD9F4">
                <a:alpha val="75000"/>
              </a:srgbClr>
            </a:solidFill>
          </a:ln>
        </p:spPr>
      </p:sp>
      <p:sp>
        <p:nvSpPr>
          <p:cNvPr id="7" name="Freeform 7"/>
          <p:cNvSpPr/>
          <p:nvPr/>
        </p:nvSpPr>
        <p:spPr>
          <a:xfrm>
            <a:off x="8705850" y="5638800"/>
            <a:ext cx="2990850" cy="457200"/>
          </a:xfrm>
          <a:custGeom>
            <a:avLst/>
            <a:gdLst/>
            <a:ahLst/>
            <a:cxnLst/>
            <a:rect l="l" t="t" r="r" b="b"/>
            <a:pathLst>
              <a:path w="2990850" h="457200">
                <a:moveTo>
                  <a:pt x="0" y="457200"/>
                </a:moveTo>
                <a:lnTo>
                  <a:pt x="1295400" y="457200"/>
                </a:lnTo>
                <a:lnTo>
                  <a:pt x="1752600" y="0"/>
                </a:lnTo>
                <a:lnTo>
                  <a:pt x="2990850" y="0"/>
                </a:lnTo>
              </a:path>
            </a:pathLst>
          </a:custGeom>
          <a:noFill/>
          <a:ln w="11430">
            <a:solidFill>
              <a:srgbClr val="BFD9F4">
                <a:alpha val="65000"/>
              </a:srgbClr>
            </a:solidFill>
          </a:ln>
        </p:spPr>
      </p:sp>
      <p:sp>
        <p:nvSpPr>
          <p:cNvPr id="8" name="Freeform 8"/>
          <p:cNvSpPr/>
          <p:nvPr/>
        </p:nvSpPr>
        <p:spPr>
          <a:xfrm>
            <a:off x="419100" y="5734050"/>
            <a:ext cx="2057400" cy="381000"/>
          </a:xfrm>
          <a:custGeom>
            <a:avLst/>
            <a:gdLst/>
            <a:ahLst/>
            <a:cxnLst/>
            <a:rect l="l" t="t" r="r" b="b"/>
            <a:pathLst>
              <a:path w="2057400" h="381000">
                <a:moveTo>
                  <a:pt x="0" y="381000"/>
                </a:moveTo>
                <a:lnTo>
                  <a:pt x="1676400" y="381000"/>
                </a:lnTo>
                <a:lnTo>
                  <a:pt x="2057400" y="0"/>
                </a:lnTo>
              </a:path>
            </a:pathLst>
          </a:custGeom>
          <a:noFill/>
          <a:ln w="11430">
            <a:solidFill>
              <a:srgbClr val="D7EAFF">
                <a:alpha val="90000"/>
              </a:srgbClr>
            </a:solidFill>
          </a:ln>
        </p:spPr>
      </p:sp>
      <p:sp>
        <p:nvSpPr>
          <p:cNvPr id="9" name="Ellipse 9"/>
          <p:cNvSpPr/>
          <p:nvPr/>
        </p:nvSpPr>
        <p:spPr>
          <a:xfrm>
            <a:off x="9944100" y="742950"/>
            <a:ext cx="76200" cy="76200"/>
          </a:xfrm>
          <a:prstGeom prst="ellipse">
            <a:avLst/>
          </a:prstGeom>
          <a:solidFill>
            <a:srgbClr val="26A7FF"/>
          </a:solidFill>
          <a:ln>
            <a:noFill/>
          </a:ln>
        </p:spPr>
      </p:sp>
      <p:sp>
        <p:nvSpPr>
          <p:cNvPr id="10" name="Ellipse 10"/>
          <p:cNvSpPr/>
          <p:nvPr/>
        </p:nvSpPr>
        <p:spPr>
          <a:xfrm>
            <a:off x="10382250" y="1181100"/>
            <a:ext cx="76200" cy="76200"/>
          </a:xfrm>
          <a:prstGeom prst="ellipse">
            <a:avLst/>
          </a:prstGeom>
          <a:solidFill>
            <a:srgbClr val="00D4FF"/>
          </a:solidFill>
          <a:ln>
            <a:noFill/>
          </a:ln>
        </p:spPr>
      </p:sp>
      <p:sp>
        <p:nvSpPr>
          <p:cNvPr id="11" name="Ellipse 11"/>
          <p:cNvSpPr/>
          <p:nvPr/>
        </p:nvSpPr>
        <p:spPr>
          <a:xfrm>
            <a:off x="2438400" y="5695950"/>
            <a:ext cx="76200" cy="76200"/>
          </a:xfrm>
          <a:prstGeom prst="ellipse">
            <a:avLst/>
          </a:prstGeom>
          <a:solidFill>
            <a:srgbClr val="26A7FF"/>
          </a:solidFill>
          <a:ln>
            <a:noFill/>
          </a:ln>
        </p:spPr>
      </p:sp>
      <p:sp>
        <p:nvSpPr>
          <p:cNvPr id="12" name="Line 12"/>
          <p:cNvSpPr/>
          <p:nvPr/>
        </p:nvSpPr>
        <p:spPr>
          <a:xfrm>
            <a:off x="762000" y="0"/>
            <a:ext cx="9525" cy="6858000"/>
          </a:xfrm>
          <a:custGeom>
            <a:avLst/>
            <a:gdLst/>
            <a:ahLst/>
            <a:cxnLst/>
            <a:rect l="l" t="t" r="r" b="b"/>
            <a:pathLst>
              <a:path w="9525" h="6858000">
                <a:moveTo>
                  <a:pt x="0" y="0"/>
                </a:moveTo>
                <a:lnTo>
                  <a:pt x="0" y="6858000"/>
                </a:lnTo>
              </a:path>
            </a:pathLst>
          </a:custGeom>
          <a:noFill/>
          <a:ln w="4762">
            <a:solidFill>
              <a:srgbClr val="D7EAFF">
                <a:alpha val="22000"/>
              </a:srgbClr>
            </a:solidFill>
          </a:ln>
        </p:spPr>
      </p:sp>
      <p:sp>
        <p:nvSpPr>
          <p:cNvPr id="13" name="Line 13"/>
          <p:cNvSpPr/>
          <p:nvPr/>
        </p:nvSpPr>
        <p:spPr>
          <a:xfrm>
            <a:off x="1524000" y="0"/>
            <a:ext cx="9525" cy="6858000"/>
          </a:xfrm>
          <a:custGeom>
            <a:avLst/>
            <a:gdLst/>
            <a:ahLst/>
            <a:cxnLst/>
            <a:rect l="l" t="t" r="r" b="b"/>
            <a:pathLst>
              <a:path w="9525" h="6858000">
                <a:moveTo>
                  <a:pt x="0" y="0"/>
                </a:moveTo>
                <a:lnTo>
                  <a:pt x="0" y="6858000"/>
                </a:lnTo>
              </a:path>
            </a:pathLst>
          </a:custGeom>
          <a:noFill/>
          <a:ln w="4762">
            <a:solidFill>
              <a:srgbClr val="D7EAFF">
                <a:alpha val="22000"/>
              </a:srgbClr>
            </a:solidFill>
          </a:ln>
        </p:spPr>
      </p:sp>
      <p:sp>
        <p:nvSpPr>
          <p:cNvPr id="14" name="Line 14"/>
          <p:cNvSpPr/>
          <p:nvPr/>
        </p:nvSpPr>
        <p:spPr>
          <a:xfrm>
            <a:off x="2286000" y="0"/>
            <a:ext cx="9525" cy="6858000"/>
          </a:xfrm>
          <a:custGeom>
            <a:avLst/>
            <a:gdLst/>
            <a:ahLst/>
            <a:cxnLst/>
            <a:rect l="l" t="t" r="r" b="b"/>
            <a:pathLst>
              <a:path w="9525" h="6858000">
                <a:moveTo>
                  <a:pt x="0" y="0"/>
                </a:moveTo>
                <a:lnTo>
                  <a:pt x="0" y="6858000"/>
                </a:lnTo>
              </a:path>
            </a:pathLst>
          </a:custGeom>
          <a:noFill/>
          <a:ln w="4762">
            <a:solidFill>
              <a:srgbClr val="D7EAFF">
                <a:alpha val="22000"/>
              </a:srgbClr>
            </a:solidFill>
          </a:ln>
        </p:spPr>
      </p:sp>
      <p:sp>
        <p:nvSpPr>
          <p:cNvPr id="15" name="Line 15"/>
          <p:cNvSpPr/>
          <p:nvPr/>
        </p:nvSpPr>
        <p:spPr>
          <a:xfrm>
            <a:off x="3048000" y="0"/>
            <a:ext cx="9525" cy="6858000"/>
          </a:xfrm>
          <a:custGeom>
            <a:avLst/>
            <a:gdLst/>
            <a:ahLst/>
            <a:cxnLst/>
            <a:rect l="l" t="t" r="r" b="b"/>
            <a:pathLst>
              <a:path w="9525" h="6858000">
                <a:moveTo>
                  <a:pt x="0" y="0"/>
                </a:moveTo>
                <a:lnTo>
                  <a:pt x="0" y="6858000"/>
                </a:lnTo>
              </a:path>
            </a:pathLst>
          </a:custGeom>
          <a:noFill/>
          <a:ln w="4762">
            <a:solidFill>
              <a:srgbClr val="D7EAFF">
                <a:alpha val="22000"/>
              </a:srgbClr>
            </a:solidFill>
          </a:ln>
        </p:spPr>
      </p:sp>
      <p:sp>
        <p:nvSpPr>
          <p:cNvPr id="16" name="Line 16"/>
          <p:cNvSpPr/>
          <p:nvPr/>
        </p:nvSpPr>
        <p:spPr>
          <a:xfrm>
            <a:off x="3810000" y="0"/>
            <a:ext cx="9525" cy="6858000"/>
          </a:xfrm>
          <a:custGeom>
            <a:avLst/>
            <a:gdLst/>
            <a:ahLst/>
            <a:cxnLst/>
            <a:rect l="l" t="t" r="r" b="b"/>
            <a:pathLst>
              <a:path w="9525" h="6858000">
                <a:moveTo>
                  <a:pt x="0" y="0"/>
                </a:moveTo>
                <a:lnTo>
                  <a:pt x="0" y="6858000"/>
                </a:lnTo>
              </a:path>
            </a:pathLst>
          </a:custGeom>
          <a:noFill/>
          <a:ln w="4762">
            <a:solidFill>
              <a:srgbClr val="D7EAFF">
                <a:alpha val="22000"/>
              </a:srgbClr>
            </a:solidFill>
          </a:ln>
        </p:spPr>
      </p:sp>
      <p:sp>
        <p:nvSpPr>
          <p:cNvPr id="17" name="Line 17"/>
          <p:cNvSpPr/>
          <p:nvPr/>
        </p:nvSpPr>
        <p:spPr>
          <a:xfrm>
            <a:off x="4572000" y="0"/>
            <a:ext cx="9525" cy="6858000"/>
          </a:xfrm>
          <a:custGeom>
            <a:avLst/>
            <a:gdLst/>
            <a:ahLst/>
            <a:cxnLst/>
            <a:rect l="l" t="t" r="r" b="b"/>
            <a:pathLst>
              <a:path w="9525" h="6858000">
                <a:moveTo>
                  <a:pt x="0" y="0"/>
                </a:moveTo>
                <a:lnTo>
                  <a:pt x="0" y="6858000"/>
                </a:lnTo>
              </a:path>
            </a:pathLst>
          </a:custGeom>
          <a:noFill/>
          <a:ln w="4762">
            <a:solidFill>
              <a:srgbClr val="D7EAFF">
                <a:alpha val="22000"/>
              </a:srgbClr>
            </a:solidFill>
          </a:ln>
        </p:spPr>
      </p:sp>
      <p:sp>
        <p:nvSpPr>
          <p:cNvPr id="18" name="Line 18"/>
          <p:cNvSpPr/>
          <p:nvPr/>
        </p:nvSpPr>
        <p:spPr>
          <a:xfrm>
            <a:off x="5334000" y="0"/>
            <a:ext cx="9525" cy="6858000"/>
          </a:xfrm>
          <a:custGeom>
            <a:avLst/>
            <a:gdLst/>
            <a:ahLst/>
            <a:cxnLst/>
            <a:rect l="l" t="t" r="r" b="b"/>
            <a:pathLst>
              <a:path w="9525" h="6858000">
                <a:moveTo>
                  <a:pt x="0" y="0"/>
                </a:moveTo>
                <a:lnTo>
                  <a:pt x="0" y="6858000"/>
                </a:lnTo>
              </a:path>
            </a:pathLst>
          </a:custGeom>
          <a:noFill/>
          <a:ln w="4762">
            <a:solidFill>
              <a:srgbClr val="D7EAFF">
                <a:alpha val="22000"/>
              </a:srgbClr>
            </a:solidFill>
          </a:ln>
        </p:spPr>
      </p:sp>
      <p:sp>
        <p:nvSpPr>
          <p:cNvPr id="19" name="Line 19"/>
          <p:cNvSpPr/>
          <p:nvPr/>
        </p:nvSpPr>
        <p:spPr>
          <a:xfrm>
            <a:off x="6096000" y="0"/>
            <a:ext cx="9525" cy="6858000"/>
          </a:xfrm>
          <a:custGeom>
            <a:avLst/>
            <a:gdLst/>
            <a:ahLst/>
            <a:cxnLst/>
            <a:rect l="l" t="t" r="r" b="b"/>
            <a:pathLst>
              <a:path w="9525" h="6858000">
                <a:moveTo>
                  <a:pt x="0" y="0"/>
                </a:moveTo>
                <a:lnTo>
                  <a:pt x="0" y="6858000"/>
                </a:lnTo>
              </a:path>
            </a:pathLst>
          </a:custGeom>
          <a:noFill/>
          <a:ln w="4762">
            <a:solidFill>
              <a:srgbClr val="D7EAFF">
                <a:alpha val="22000"/>
              </a:srgbClr>
            </a:solidFill>
          </a:ln>
        </p:spPr>
      </p:sp>
      <p:sp>
        <p:nvSpPr>
          <p:cNvPr id="20" name="Line 20"/>
          <p:cNvSpPr/>
          <p:nvPr/>
        </p:nvSpPr>
        <p:spPr>
          <a:xfrm>
            <a:off x="6858000" y="0"/>
            <a:ext cx="9525" cy="6858000"/>
          </a:xfrm>
          <a:custGeom>
            <a:avLst/>
            <a:gdLst/>
            <a:ahLst/>
            <a:cxnLst/>
            <a:rect l="l" t="t" r="r" b="b"/>
            <a:pathLst>
              <a:path w="9525" h="6858000">
                <a:moveTo>
                  <a:pt x="0" y="0"/>
                </a:moveTo>
                <a:lnTo>
                  <a:pt x="0" y="6858000"/>
                </a:lnTo>
              </a:path>
            </a:pathLst>
          </a:custGeom>
          <a:noFill/>
          <a:ln w="4762">
            <a:solidFill>
              <a:srgbClr val="D7EAFF">
                <a:alpha val="22000"/>
              </a:srgbClr>
            </a:solidFill>
          </a:ln>
        </p:spPr>
      </p:sp>
      <p:sp>
        <p:nvSpPr>
          <p:cNvPr id="21" name="Line 21"/>
          <p:cNvSpPr/>
          <p:nvPr/>
        </p:nvSpPr>
        <p:spPr>
          <a:xfrm>
            <a:off x="7620000" y="0"/>
            <a:ext cx="9525" cy="6858000"/>
          </a:xfrm>
          <a:custGeom>
            <a:avLst/>
            <a:gdLst/>
            <a:ahLst/>
            <a:cxnLst/>
            <a:rect l="l" t="t" r="r" b="b"/>
            <a:pathLst>
              <a:path w="9525" h="6858000">
                <a:moveTo>
                  <a:pt x="0" y="0"/>
                </a:moveTo>
                <a:lnTo>
                  <a:pt x="0" y="6858000"/>
                </a:lnTo>
              </a:path>
            </a:pathLst>
          </a:custGeom>
          <a:noFill/>
          <a:ln w="4762">
            <a:solidFill>
              <a:srgbClr val="D7EAFF">
                <a:alpha val="22000"/>
              </a:srgbClr>
            </a:solidFill>
          </a:ln>
        </p:spPr>
      </p:sp>
      <p:sp>
        <p:nvSpPr>
          <p:cNvPr id="22" name="Line 22"/>
          <p:cNvSpPr/>
          <p:nvPr/>
        </p:nvSpPr>
        <p:spPr>
          <a:xfrm>
            <a:off x="8382000" y="0"/>
            <a:ext cx="9525" cy="6858000"/>
          </a:xfrm>
          <a:custGeom>
            <a:avLst/>
            <a:gdLst/>
            <a:ahLst/>
            <a:cxnLst/>
            <a:rect l="l" t="t" r="r" b="b"/>
            <a:pathLst>
              <a:path w="9525" h="6858000">
                <a:moveTo>
                  <a:pt x="0" y="0"/>
                </a:moveTo>
                <a:lnTo>
                  <a:pt x="0" y="6858000"/>
                </a:lnTo>
              </a:path>
            </a:pathLst>
          </a:custGeom>
          <a:noFill/>
          <a:ln w="4762">
            <a:solidFill>
              <a:srgbClr val="D7EAFF">
                <a:alpha val="22000"/>
              </a:srgbClr>
            </a:solidFill>
          </a:ln>
        </p:spPr>
      </p:sp>
      <p:sp>
        <p:nvSpPr>
          <p:cNvPr id="23" name="Line 23"/>
          <p:cNvSpPr/>
          <p:nvPr/>
        </p:nvSpPr>
        <p:spPr>
          <a:xfrm>
            <a:off x="9144000" y="0"/>
            <a:ext cx="9525" cy="6858000"/>
          </a:xfrm>
          <a:custGeom>
            <a:avLst/>
            <a:gdLst/>
            <a:ahLst/>
            <a:cxnLst/>
            <a:rect l="l" t="t" r="r" b="b"/>
            <a:pathLst>
              <a:path w="9525" h="6858000">
                <a:moveTo>
                  <a:pt x="0" y="0"/>
                </a:moveTo>
                <a:lnTo>
                  <a:pt x="0" y="6858000"/>
                </a:lnTo>
              </a:path>
            </a:pathLst>
          </a:custGeom>
          <a:noFill/>
          <a:ln w="4762">
            <a:solidFill>
              <a:srgbClr val="D7EAFF">
                <a:alpha val="22000"/>
              </a:srgbClr>
            </a:solidFill>
          </a:ln>
        </p:spPr>
      </p:sp>
      <p:sp>
        <p:nvSpPr>
          <p:cNvPr id="24" name="Line 24"/>
          <p:cNvSpPr/>
          <p:nvPr/>
        </p:nvSpPr>
        <p:spPr>
          <a:xfrm>
            <a:off x="9906000" y="0"/>
            <a:ext cx="9525" cy="6858000"/>
          </a:xfrm>
          <a:custGeom>
            <a:avLst/>
            <a:gdLst/>
            <a:ahLst/>
            <a:cxnLst/>
            <a:rect l="l" t="t" r="r" b="b"/>
            <a:pathLst>
              <a:path w="9525" h="6858000">
                <a:moveTo>
                  <a:pt x="0" y="0"/>
                </a:moveTo>
                <a:lnTo>
                  <a:pt x="0" y="6858000"/>
                </a:lnTo>
              </a:path>
            </a:pathLst>
          </a:custGeom>
          <a:noFill/>
          <a:ln w="4762">
            <a:solidFill>
              <a:srgbClr val="D7EAFF">
                <a:alpha val="22000"/>
              </a:srgbClr>
            </a:solidFill>
          </a:ln>
        </p:spPr>
      </p:sp>
      <p:sp>
        <p:nvSpPr>
          <p:cNvPr id="25" name="Line 25"/>
          <p:cNvSpPr/>
          <p:nvPr/>
        </p:nvSpPr>
        <p:spPr>
          <a:xfrm>
            <a:off x="10668000" y="0"/>
            <a:ext cx="9525" cy="6858000"/>
          </a:xfrm>
          <a:custGeom>
            <a:avLst/>
            <a:gdLst/>
            <a:ahLst/>
            <a:cxnLst/>
            <a:rect l="l" t="t" r="r" b="b"/>
            <a:pathLst>
              <a:path w="9525" h="6858000">
                <a:moveTo>
                  <a:pt x="0" y="0"/>
                </a:moveTo>
                <a:lnTo>
                  <a:pt x="0" y="6858000"/>
                </a:lnTo>
              </a:path>
            </a:pathLst>
          </a:custGeom>
          <a:noFill/>
          <a:ln w="4762">
            <a:solidFill>
              <a:srgbClr val="D7EAFF">
                <a:alpha val="22000"/>
              </a:srgbClr>
            </a:solidFill>
          </a:ln>
        </p:spPr>
      </p:sp>
      <p:sp>
        <p:nvSpPr>
          <p:cNvPr id="26" name="Line 26"/>
          <p:cNvSpPr/>
          <p:nvPr/>
        </p:nvSpPr>
        <p:spPr>
          <a:xfrm>
            <a:off x="11430000" y="0"/>
            <a:ext cx="9525" cy="6858000"/>
          </a:xfrm>
          <a:custGeom>
            <a:avLst/>
            <a:gdLst/>
            <a:ahLst/>
            <a:cxnLst/>
            <a:rect l="l" t="t" r="r" b="b"/>
            <a:pathLst>
              <a:path w="9525" h="6858000">
                <a:moveTo>
                  <a:pt x="0" y="0"/>
                </a:moveTo>
                <a:lnTo>
                  <a:pt x="0" y="6858000"/>
                </a:lnTo>
              </a:path>
            </a:pathLst>
          </a:custGeom>
          <a:noFill/>
          <a:ln w="4762">
            <a:solidFill>
              <a:srgbClr val="D7EAFF">
                <a:alpha val="22000"/>
              </a:srgbClr>
            </a:solidFill>
          </a:ln>
        </p:spPr>
      </p:sp>
      <p:sp>
        <p:nvSpPr>
          <p:cNvPr id="27" name="Line 27"/>
          <p:cNvSpPr/>
          <p:nvPr/>
        </p:nvSpPr>
        <p:spPr>
          <a:xfrm>
            <a:off x="0" y="762000"/>
            <a:ext cx="12192000" cy="9525"/>
          </a:xfrm>
          <a:custGeom>
            <a:avLst/>
            <a:gdLst/>
            <a:ahLst/>
            <a:cxnLst/>
            <a:rect l="l" t="t" r="r" b="b"/>
            <a:pathLst>
              <a:path w="12192000" h="9525">
                <a:moveTo>
                  <a:pt x="0" y="0"/>
                </a:moveTo>
                <a:lnTo>
                  <a:pt x="12192000" y="0"/>
                </a:lnTo>
              </a:path>
            </a:pathLst>
          </a:custGeom>
          <a:noFill/>
          <a:ln w="4762">
            <a:solidFill>
              <a:srgbClr val="D7EAFF">
                <a:alpha val="22000"/>
              </a:srgbClr>
            </a:solidFill>
          </a:ln>
        </p:spPr>
      </p:sp>
      <p:sp>
        <p:nvSpPr>
          <p:cNvPr id="28" name="Line 28"/>
          <p:cNvSpPr/>
          <p:nvPr/>
        </p:nvSpPr>
        <p:spPr>
          <a:xfrm>
            <a:off x="0" y="1524000"/>
            <a:ext cx="12192000" cy="9525"/>
          </a:xfrm>
          <a:custGeom>
            <a:avLst/>
            <a:gdLst/>
            <a:ahLst/>
            <a:cxnLst/>
            <a:rect l="l" t="t" r="r" b="b"/>
            <a:pathLst>
              <a:path w="12192000" h="9525">
                <a:moveTo>
                  <a:pt x="0" y="0"/>
                </a:moveTo>
                <a:lnTo>
                  <a:pt x="12192000" y="0"/>
                </a:lnTo>
              </a:path>
            </a:pathLst>
          </a:custGeom>
          <a:noFill/>
          <a:ln w="4762">
            <a:solidFill>
              <a:srgbClr val="D7EAFF">
                <a:alpha val="22000"/>
              </a:srgbClr>
            </a:solidFill>
          </a:ln>
        </p:spPr>
      </p:sp>
      <p:sp>
        <p:nvSpPr>
          <p:cNvPr id="29" name="Line 29"/>
          <p:cNvSpPr/>
          <p:nvPr/>
        </p:nvSpPr>
        <p:spPr>
          <a:xfrm>
            <a:off x="0" y="2286000"/>
            <a:ext cx="12192000" cy="9525"/>
          </a:xfrm>
          <a:custGeom>
            <a:avLst/>
            <a:gdLst/>
            <a:ahLst/>
            <a:cxnLst/>
            <a:rect l="l" t="t" r="r" b="b"/>
            <a:pathLst>
              <a:path w="12192000" h="9525">
                <a:moveTo>
                  <a:pt x="0" y="0"/>
                </a:moveTo>
                <a:lnTo>
                  <a:pt x="12192000" y="0"/>
                </a:lnTo>
              </a:path>
            </a:pathLst>
          </a:custGeom>
          <a:noFill/>
          <a:ln w="4762">
            <a:solidFill>
              <a:srgbClr val="D7EAFF">
                <a:alpha val="22000"/>
              </a:srgbClr>
            </a:solidFill>
          </a:ln>
        </p:spPr>
      </p:sp>
      <p:sp>
        <p:nvSpPr>
          <p:cNvPr id="30" name="Line 30"/>
          <p:cNvSpPr/>
          <p:nvPr/>
        </p:nvSpPr>
        <p:spPr>
          <a:xfrm>
            <a:off x="0" y="3048000"/>
            <a:ext cx="12192000" cy="9525"/>
          </a:xfrm>
          <a:custGeom>
            <a:avLst/>
            <a:gdLst/>
            <a:ahLst/>
            <a:cxnLst/>
            <a:rect l="l" t="t" r="r" b="b"/>
            <a:pathLst>
              <a:path w="12192000" h="9525">
                <a:moveTo>
                  <a:pt x="0" y="0"/>
                </a:moveTo>
                <a:lnTo>
                  <a:pt x="12192000" y="0"/>
                </a:lnTo>
              </a:path>
            </a:pathLst>
          </a:custGeom>
          <a:noFill/>
          <a:ln w="4762">
            <a:solidFill>
              <a:srgbClr val="D7EAFF">
                <a:alpha val="22000"/>
              </a:srgbClr>
            </a:solidFill>
          </a:ln>
        </p:spPr>
      </p:sp>
      <p:sp>
        <p:nvSpPr>
          <p:cNvPr id="31" name="Line 31"/>
          <p:cNvSpPr/>
          <p:nvPr/>
        </p:nvSpPr>
        <p:spPr>
          <a:xfrm>
            <a:off x="0" y="3810000"/>
            <a:ext cx="12192000" cy="9525"/>
          </a:xfrm>
          <a:custGeom>
            <a:avLst/>
            <a:gdLst/>
            <a:ahLst/>
            <a:cxnLst/>
            <a:rect l="l" t="t" r="r" b="b"/>
            <a:pathLst>
              <a:path w="12192000" h="9525">
                <a:moveTo>
                  <a:pt x="0" y="0"/>
                </a:moveTo>
                <a:lnTo>
                  <a:pt x="12192000" y="0"/>
                </a:lnTo>
              </a:path>
            </a:pathLst>
          </a:custGeom>
          <a:noFill/>
          <a:ln w="4762">
            <a:solidFill>
              <a:srgbClr val="D7EAFF">
                <a:alpha val="22000"/>
              </a:srgbClr>
            </a:solidFill>
          </a:ln>
        </p:spPr>
      </p:sp>
      <p:sp>
        <p:nvSpPr>
          <p:cNvPr id="32" name="Line 32"/>
          <p:cNvSpPr/>
          <p:nvPr/>
        </p:nvSpPr>
        <p:spPr>
          <a:xfrm>
            <a:off x="0" y="4572000"/>
            <a:ext cx="12192000" cy="9525"/>
          </a:xfrm>
          <a:custGeom>
            <a:avLst/>
            <a:gdLst/>
            <a:ahLst/>
            <a:cxnLst/>
            <a:rect l="l" t="t" r="r" b="b"/>
            <a:pathLst>
              <a:path w="12192000" h="9525">
                <a:moveTo>
                  <a:pt x="0" y="0"/>
                </a:moveTo>
                <a:lnTo>
                  <a:pt x="12192000" y="0"/>
                </a:lnTo>
              </a:path>
            </a:pathLst>
          </a:custGeom>
          <a:noFill/>
          <a:ln w="4762">
            <a:solidFill>
              <a:srgbClr val="D7EAFF">
                <a:alpha val="22000"/>
              </a:srgbClr>
            </a:solidFill>
          </a:ln>
        </p:spPr>
      </p:sp>
      <p:sp>
        <p:nvSpPr>
          <p:cNvPr id="33" name="Line 33"/>
          <p:cNvSpPr/>
          <p:nvPr/>
        </p:nvSpPr>
        <p:spPr>
          <a:xfrm>
            <a:off x="0" y="5334000"/>
            <a:ext cx="12192000" cy="9525"/>
          </a:xfrm>
          <a:custGeom>
            <a:avLst/>
            <a:gdLst/>
            <a:ahLst/>
            <a:cxnLst/>
            <a:rect l="l" t="t" r="r" b="b"/>
            <a:pathLst>
              <a:path w="12192000" h="9525">
                <a:moveTo>
                  <a:pt x="0" y="0"/>
                </a:moveTo>
                <a:lnTo>
                  <a:pt x="12192000" y="0"/>
                </a:lnTo>
              </a:path>
            </a:pathLst>
          </a:custGeom>
          <a:noFill/>
          <a:ln w="4762">
            <a:solidFill>
              <a:srgbClr val="D7EAFF">
                <a:alpha val="22000"/>
              </a:srgbClr>
            </a:solidFill>
          </a:ln>
        </p:spPr>
      </p:sp>
      <p:sp>
        <p:nvSpPr>
          <p:cNvPr id="34" name="Line 34"/>
          <p:cNvSpPr/>
          <p:nvPr/>
        </p:nvSpPr>
        <p:spPr>
          <a:xfrm>
            <a:off x="0" y="6096000"/>
            <a:ext cx="12192000" cy="9525"/>
          </a:xfrm>
          <a:custGeom>
            <a:avLst/>
            <a:gdLst/>
            <a:ahLst/>
            <a:cxnLst/>
            <a:rect l="l" t="t" r="r" b="b"/>
            <a:pathLst>
              <a:path w="12192000" h="9525">
                <a:moveTo>
                  <a:pt x="0" y="0"/>
                </a:moveTo>
                <a:lnTo>
                  <a:pt x="12192000" y="0"/>
                </a:lnTo>
              </a:path>
            </a:pathLst>
          </a:custGeom>
          <a:noFill/>
          <a:ln w="4762">
            <a:solidFill>
              <a:srgbClr val="D7EAFF">
                <a:alpha val="22000"/>
              </a:srgbClr>
            </a:solidFill>
          </a:ln>
        </p:spPr>
      </p:sp>
      <p:grpSp>
        <p:nvGrpSpPr>
          <p:cNvPr id="46" name="Group 46"/>
          <p:cNvGrpSpPr/>
          <p:nvPr/>
        </p:nvGrpSpPr>
        <p:grpSpPr>
          <a:xfrm>
            <a:off x="521970" y="831215"/>
            <a:ext cx="11109960" cy="5950585"/>
            <a:chOff x="521970" y="831215"/>
            <a:chExt cx="11109960" cy="5950585"/>
          </a:xfrm>
        </p:grpSpPr>
        <p:sp>
          <p:nvSpPr>
            <p:cNvPr id="35" name="Rectangle 35"/>
            <p:cNvSpPr/>
            <p:nvPr/>
          </p:nvSpPr>
          <p:spPr>
            <a:xfrm>
              <a:off x="2171700" y="1314450"/>
              <a:ext cx="8001000" cy="4400550"/>
            </a:xfrm>
            <a:prstGeom prst="roundRect">
              <a:avLst>
                <a:gd name="adj" fmla="val 6494"/>
              </a:avLst>
            </a:prstGeom>
            <a:solidFill>
              <a:srgbClr val="0B57D0">
                <a:alpha val="5000"/>
              </a:srgbClr>
            </a:solidFill>
            <a:ln>
              <a:noFill/>
            </a:ln>
          </p:spPr>
        </p:sp>
        <p:sp>
          <p:nvSpPr>
            <p:cNvPr id="36" name="Rectangle 36"/>
            <p:cNvSpPr/>
            <p:nvPr/>
          </p:nvSpPr>
          <p:spPr>
            <a:xfrm>
              <a:off x="1541780" y="831215"/>
              <a:ext cx="8840470" cy="5257165"/>
            </a:xfrm>
            <a:prstGeom prst="roundRect">
              <a:avLst>
                <a:gd name="adj" fmla="val 6494"/>
              </a:avLst>
            </a:prstGeom>
            <a:solidFill>
              <a:srgbClr val="FFFFFF"/>
            </a:solidFill>
            <a:ln w="11430">
              <a:solidFill>
                <a:srgbClr val="BFD9F4"/>
              </a:solidFill>
            </a:ln>
          </p:spPr>
        </p:sp>
        <p:sp>
          <p:nvSpPr>
            <p:cNvPr id="37" name="Line 37"/>
            <p:cNvSpPr/>
            <p:nvPr/>
          </p:nvSpPr>
          <p:spPr>
            <a:xfrm>
              <a:off x="2266950" y="831215"/>
              <a:ext cx="1238250" cy="9525"/>
            </a:xfrm>
            <a:custGeom>
              <a:avLst/>
              <a:gdLst/>
              <a:ahLst/>
              <a:cxnLst/>
              <a:rect l="l" t="t" r="r" b="b"/>
              <a:pathLst>
                <a:path w="1238250" h="9525">
                  <a:moveTo>
                    <a:pt x="0" y="0"/>
                  </a:moveTo>
                  <a:lnTo>
                    <a:pt x="1238250" y="0"/>
                  </a:lnTo>
                </a:path>
              </a:pathLst>
            </a:custGeom>
            <a:noFill/>
            <a:ln w="19050">
              <a:solidFill>
                <a:srgbClr val="26A7FF">
                  <a:alpha val="90000"/>
                </a:srgbClr>
              </a:solidFill>
            </a:ln>
          </p:spPr>
        </p:sp>
        <p:sp>
          <p:nvSpPr>
            <p:cNvPr id="38" name="TextBox 38"/>
            <p:cNvSpPr txBox="1"/>
            <p:nvPr/>
          </p:nvSpPr>
          <p:spPr>
            <a:xfrm>
              <a:off x="4919345" y="1236980"/>
              <a:ext cx="2225040" cy="76454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noAutofit/>
            </a:bodyPr>
            <a:lstStyle/>
            <a:p>
              <a:pPr algn="ctr"/>
              <a:r>
                <a:rPr lang="zh-CN" sz="3750" b="1" dirty="0">
                  <a:solidFill>
                    <a:srgbClr val="0B57D0"/>
                  </a:solidFill>
                  <a:latin typeface="MiSans Heavy" panose="00000A00000000000000" charset="-122"/>
                  <a:ea typeface="MiSans Heavy" panose="00000A00000000000000" charset="-122"/>
                  <a:cs typeface="等线" panose="02010600030101010101" charset="-122"/>
                </a:rPr>
                <a:t>感谢观看</a:t>
              </a:r>
              <a:endParaRPr lang="zh-CN" sz="3750" b="1" dirty="0">
                <a:solidFill>
                  <a:srgbClr val="0B57D0"/>
                </a:solidFill>
                <a:latin typeface="MiSans Heavy" panose="00000A00000000000000" charset="-122"/>
                <a:ea typeface="MiSans Heavy" panose="00000A00000000000000" charset="-122"/>
                <a:cs typeface="等线" panose="02010600030101010101" charset="-122"/>
              </a:endParaRPr>
            </a:p>
          </p:txBody>
        </p:sp>
        <p:pic>
          <p:nvPicPr>
            <p:cNvPr id="39" name="Image 39"/>
            <p:cNvPicPr>
              <a:picLocks noChangeAspect="1"/>
            </p:cNvPicPr>
            <p:nvPr/>
          </p:nvPicPr>
          <p:blipFill>
            <a:blip r:embed="rId1"/>
            <a:stretch>
              <a:fillRect/>
            </a:stretch>
          </p:blipFill>
          <p:spPr>
            <a:xfrm>
              <a:off x="5048250" y="2133600"/>
              <a:ext cx="2095500" cy="2790825"/>
            </a:xfrm>
            <a:prstGeom prst="rect">
              <a:avLst/>
            </a:prstGeom>
          </p:spPr>
        </p:pic>
        <p:sp>
          <p:nvSpPr>
            <p:cNvPr id="40" name="TextBox 40"/>
            <p:cNvSpPr txBox="1"/>
            <p:nvPr/>
          </p:nvSpPr>
          <p:spPr>
            <a:xfrm>
              <a:off x="4644073" y="5419884"/>
              <a:ext cx="2903855" cy="2425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575" dirty="0">
                  <a:solidFill>
                    <a:srgbClr val="51677F"/>
                  </a:solidFill>
                  <a:latin typeface="MiSans Normal" panose="00000500000000000000" charset="-122"/>
                  <a:ea typeface="MiSans Normal" panose="00000500000000000000" charset="-122"/>
                  <a:cs typeface="MiSans Normal" panose="00000500000000000000" charset="-122"/>
                </a:rPr>
                <a:t>蓝心同行让 AI 不只是回答问题，</a:t>
              </a:r>
              <a:endParaRPr lang="zh-CN" sz="1575" dirty="0">
                <a:solidFill>
                  <a:srgbClr val="51677F"/>
                </a:solidFill>
                <a:latin typeface="MiSans Normal" panose="00000500000000000000" charset="-122"/>
                <a:ea typeface="MiSans Normal" panose="00000500000000000000" charset="-122"/>
                <a:cs typeface="MiSans Normal" panose="00000500000000000000" charset="-122"/>
              </a:endParaRPr>
            </a:p>
          </p:txBody>
        </p:sp>
        <p:sp>
          <p:nvSpPr>
            <p:cNvPr id="41" name="TextBox 41"/>
            <p:cNvSpPr txBox="1"/>
            <p:nvPr/>
          </p:nvSpPr>
          <p:spPr>
            <a:xfrm>
              <a:off x="4441825" y="5696109"/>
              <a:ext cx="3411220" cy="2425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575" dirty="0">
                  <a:solidFill>
                    <a:srgbClr val="51677F"/>
                  </a:solidFill>
                  <a:latin typeface="MiSans Normal" panose="00000500000000000000" charset="-122"/>
                  <a:ea typeface="MiSans Normal" panose="00000500000000000000" charset="-122"/>
                  <a:cs typeface="等线" panose="02010600030101010101" charset="-122"/>
                </a:rPr>
                <a:t>而是成为一个会陪你经历旅行的伙伴。</a:t>
              </a:r>
              <a:endParaRPr lang="zh-CN" sz="1575" dirty="0">
                <a:solidFill>
                  <a:srgbClr val="51677F"/>
                </a:solidFill>
                <a:latin typeface="MiSans Normal" panose="00000500000000000000" charset="-122"/>
                <a:ea typeface="MiSans Normal" panose="00000500000000000000" charset="-122"/>
                <a:cs typeface="等线" panose="02010600030101010101" charset="-122"/>
              </a:endParaRPr>
            </a:p>
          </p:txBody>
        </p:sp>
        <p:sp>
          <p:nvSpPr>
            <p:cNvPr id="42" name="Rectangle 42"/>
            <p:cNvSpPr/>
            <p:nvPr/>
          </p:nvSpPr>
          <p:spPr>
            <a:xfrm>
              <a:off x="4690745" y="6088380"/>
              <a:ext cx="2857500" cy="285750"/>
            </a:xfrm>
            <a:prstGeom prst="roundRect">
              <a:avLst>
                <a:gd name="adj" fmla="val 50000"/>
              </a:avLst>
            </a:prstGeom>
            <a:solidFill>
              <a:srgbClr val="E7F2FF"/>
            </a:solidFill>
            <a:ln>
              <a:noFill/>
            </a:ln>
          </p:spPr>
        </p:sp>
        <p:sp>
          <p:nvSpPr>
            <p:cNvPr id="44" name="TextBox 44"/>
            <p:cNvSpPr txBox="1"/>
            <p:nvPr/>
          </p:nvSpPr>
          <p:spPr>
            <a:xfrm>
              <a:off x="521970" y="6598920"/>
              <a:ext cx="2106263" cy="18288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00" dirty="0">
                  <a:solidFill>
                    <a:srgbClr val="8AA1B7"/>
                  </a:solidFill>
                  <a:latin typeface="等线" panose="02010600030101010101" charset="-122"/>
                  <a:ea typeface="微软雅黑" panose="020B0503020204020204" charset="-122"/>
                  <a:cs typeface="等线" panose="02010600030101010101" charset="-122"/>
                </a:rPr>
                <a:t>蓝心同行 | AIGC创新赛应用赛道初赛</a:t>
              </a:r>
              <a:endParaRPr lang="zh-CN" sz="900" dirty="0">
                <a:solidFill>
                  <a:srgbClr val="8AA1B7"/>
                </a:solidFill>
                <a:latin typeface="等线" panose="02010600030101010101" charset="-122"/>
                <a:ea typeface="微软雅黑" panose="020B0503020204020204" charset="-122"/>
                <a:cs typeface="等线" panose="02010600030101010101" charset="-122"/>
              </a:endParaRPr>
            </a:p>
          </p:txBody>
        </p:sp>
        <p:sp>
          <p:nvSpPr>
            <p:cNvPr id="45" name="TextBox 45"/>
            <p:cNvSpPr txBox="1"/>
            <p:nvPr/>
          </p:nvSpPr>
          <p:spPr>
            <a:xfrm>
              <a:off x="11530203" y="6598920"/>
              <a:ext cx="101727" cy="18288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r"/>
              <a:r>
                <a:rPr lang="zh-CN" sz="900" dirty="0">
                  <a:solidFill>
                    <a:srgbClr val="8AA1B7"/>
                  </a:solidFill>
                  <a:latin typeface="等线" panose="02010600030101010101" charset="-122"/>
                  <a:ea typeface="微软雅黑" panose="020B0503020204020204" charset="-122"/>
                  <a:cs typeface="等线" panose="02010600030101010101" charset="-122"/>
                </a:rPr>
                <a:t>11</a:t>
              </a:r>
              <a:endParaRPr lang="zh-CN" sz="900" dirty="0">
                <a:solidFill>
                  <a:srgbClr val="8AA1B7"/>
                </a:solidFill>
                <a:latin typeface="等线" panose="02010600030101010101" charset="-122"/>
                <a:ea typeface="微软雅黑" panose="020B0503020204020204" charset="-122"/>
                <a:cs typeface="等线" panose="02010600030101010101" charset="-122"/>
              </a:endParaRPr>
            </a:p>
          </p:txBody>
        </p:sp>
      </p:grpSp>
      <p:pic>
        <p:nvPicPr>
          <p:cNvPr id="43" name="图片 42" descr="lanxiaoxin_after_playi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774565" y="1986280"/>
            <a:ext cx="2642870" cy="3331845"/>
          </a:xfrm>
          <a:prstGeom prst="rect">
            <a:avLst/>
          </a:prstGeom>
        </p:spPr>
      </p:pic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p14:dur="400">
        <p:fade/>
      </p:transition>
    </mc:Choice>
    <mc:Fallback>
      <p:transition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400"/>
                                        <p:tgtEl>
                                          <p:spTgt spid="4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6" grpId="0"/>
    </p:bldLst>
  </p:timing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主题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3939</Words>
  <Application>WPS 演示</Application>
  <PresentationFormat>On-screen Show (4:3)</PresentationFormat>
  <Paragraphs>655</Paragraphs>
  <Slides>15</Slides>
  <Notes>0</Notes>
  <HiddenSlides>0</HiddenSlides>
  <MMClips>0</MMClips>
  <ScaleCrop>false</ScaleCrop>
  <HeadingPairs>
    <vt:vector size="6" baseType="variant">
      <vt:variant>
        <vt:lpstr>已用的字体</vt:lpstr>
      </vt:variant>
      <vt:variant>
        <vt:i4>11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15</vt:i4>
      </vt:variant>
    </vt:vector>
  </HeadingPairs>
  <TitlesOfParts>
    <vt:vector size="27" baseType="lpstr">
      <vt:lpstr>Arial</vt:lpstr>
      <vt:lpstr>宋体</vt:lpstr>
      <vt:lpstr>Wingdings</vt:lpstr>
      <vt:lpstr>Arial</vt:lpstr>
      <vt:lpstr>金山云技术体</vt:lpstr>
      <vt:lpstr>等线</vt:lpstr>
      <vt:lpstr>MiSans Heavy</vt:lpstr>
      <vt:lpstr>MiSans Normal</vt:lpstr>
      <vt:lpstr>微软雅黑</vt:lpstr>
      <vt:lpstr>Arial Unicode MS</vt:lpstr>
      <vt:lpstr>Calibri</vt:lpstr>
      <vt:lpstr>Office Theme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</vt:vector>
  </TitlesOfParts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/>
  <dc:description>generated using python-pptx</dc:description>
  <cp:lastModifiedBy>人</cp:lastModifiedBy>
  <cp:revision>11</cp:revision>
  <dcterms:created xsi:type="dcterms:W3CDTF">2013-01-27T09:14:00Z</dcterms:created>
  <dcterms:modified xsi:type="dcterms:W3CDTF">2026-05-09T04:39:22Z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KSOProductBuildVer">
    <vt:lpwstr>2052-12.1.0.25222</vt:lpwstr>
  </property>
  <property fmtid="{D5CDD505-2E9C-101B-9397-08002B2CF9AE}" pid="3" name="ICV">
    <vt:lpwstr>48288392AA2949528BB338FCC8A2CE03_13</vt:lpwstr>
  </property>
</Properties>
</file>