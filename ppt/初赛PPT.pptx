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81" r:id="rId5"/>
    <p:sldId id="258" r:id="rId6"/>
    <p:sldId id="259" r:id="rId7"/>
    <p:sldId id="261" r:id="rId8"/>
    <p:sldId id="260" r:id="rId9"/>
    <p:sldId id="295" r:id="rId10"/>
    <p:sldId id="296" r:id="rId11"/>
    <p:sldId id="297" r:id="rId12"/>
    <p:sldId id="298" r:id="rId13"/>
    <p:sldId id="299" r:id="rId14"/>
    <p:sldId id="262" r:id="rId15"/>
    <p:sldId id="263" r:id="rId16"/>
    <p:sldId id="264" r:id="rId17"/>
    <p:sldId id="265" r:id="rId18"/>
    <p:sldId id="266" r:id="rId19"/>
  </p:sldIdLst>
  <p:sldSz cx="12192000" cy="6858000" type="screen4x3"/>
  <p:notesSz cx="6858000" cy="9144000"/>
  <p:embeddedFontLst>
    <p:embeddedFont>
      <p:font typeface="微软雅黑" panose="020B0503020204020204" charset="-122"/>
      <p:regular r:id="rId24"/>
    </p:embeddedFont>
    <p:embeddedFont>
      <p:font typeface="MiSans" panose="00000500000000000000" charset="-122"/>
      <p:regular r:id="rId25"/>
    </p:embeddedFont>
    <p:embeddedFont>
      <p:font typeface="金山云技术体" charset="-122"/>
      <p:regular r:id="rId26"/>
    </p:embeddedFont>
    <p:embeddedFont>
      <p:font typeface="等线" panose="02010600030101010101" charset="-122"/>
      <p:regular r:id="rId27"/>
    </p:embeddedFont>
    <p:embeddedFont>
      <p:font typeface="MiSans Heavy" panose="00000A00000000000000" charset="-122"/>
      <p:bold r:id="rId28"/>
    </p:embeddedFont>
    <p:embeddedFont>
      <p:font typeface="MiSans Normal" panose="00000500000000000000" charset="-122"/>
      <p:regular r:id="rId29"/>
    </p:embeddedFont>
    <p:embeddedFont>
      <p:font typeface="MiSans Bold" panose="00000800000000000000" charset="-122"/>
      <p:bold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蓝心同行想解决的不是攻略生成，而是旅行里那个一直缺席的搭子角色。我们把长期记忆、主动提醒和 AIGC 2D 数字搭子结合起来，让 AI 能在出行前、出行中和出行后持续陪伴用户。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这一页说明团队是两人配置，因此采用轻量协作模式。一位成员负责产品与设计，一位成员负责研发与 Demo，这样依然能够覆盖方案、原型、联调和提交材料的完整闭环。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蓝心同行面向年轻自由行场景，核心是把旅行 Agent 做成一个可培养、会成长的伙伴。它能记住偏好、理解当下情境、主动给建议，还能通过蓝小心这个数字搭子把反馈变得更有陪伴感。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我们的洞察很直接，旅行不缺信息，缺的是理解你的人。于是我们把四个问题映射为四个设计抓手：记忆解决不懂我，主动提醒解决变化多，蓝小心解决陪伴感，复盘闭环解决一次性服务结束后没有沉淀的问题。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完整链路是从用户说出旅行需求开始，到记忆确认、个性化规划、主动提醒、旅拍互动和旅行复盘结束。蓝心大模型在这里承担六类能力，分别是理解、抽取、推理、表达、多模态理解和内容生成。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第一部分创新是记忆胶囊。它强调个性化不是默认永久保存，而是由用户决定哪些偏好值得长期记住，哪些只属于这次旅行，哪些根本不该保存。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第二部分创新是主动陪伴和蓝小心。前者解决旅途中没人提醒的问题，后者解决 AI 没有角色感和情绪价值的问题，两者结合后，Agent 才真正像一个旅行搭子。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不是一个伪需求。年轻自由行、独旅、多人出游组织和内容分享型用户都面临类似问题，而且这些问题发生频率高、决策成本高、情绪价值缺口也明显。同时，蓝心同行和现有工具之间也有足够清晰的差异化空间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技术上我们采用端云协同：端侧处理记忆和状态，云侧完成复杂推理与生成，再通过蓝小心统一表达。产品推进上先验证 P0 闭环，再逐步增强动画、多人协同和更复杂的多模态能力。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蓝心同行希望让 AI 不只是能回答问题，而是能和用户一起经历一段旅行。谢谢各位评委。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59" name="Group 5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6A7FF">
                    <a:alpha val="12000"/>
                  </a:srgbClr>
                </a:gs>
                <a:gs pos="100000">
                  <a:srgbClr val="26A7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17855" y="594360"/>
              <a:ext cx="3529330" cy="4000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 w="9525">
              <a:solidFill>
                <a:srgbClr val="C9E4F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7590" y="703580"/>
              <a:ext cx="2794635" cy="1987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00" b="1" dirty="0">
                  <a:solidFill>
                    <a:srgbClr val="0B57D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第三届（2026）AIGC创新赛 </a:t>
              </a:r>
              <a:r>
                <a:rPr lang="zh-CN" sz="1400" b="1" dirty="0">
                  <a:solidFill>
                    <a:srgbClr val="0B57D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MiSans" panose="00000500000000000000" charset="-122"/>
                </a:rPr>
                <a:t>应用</a:t>
              </a:r>
              <a:r>
                <a:rPr lang="zh-CN" sz="1400" b="1" dirty="0">
                  <a:solidFill>
                    <a:srgbClr val="0B57D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赛道</a:t>
              </a:r>
              <a:endParaRPr lang="zh-CN" sz="1400" b="1" dirty="0">
                <a:solidFill>
                  <a:srgbClr val="0B5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0" y="1547812"/>
              <a:ext cx="2672080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蓝心同行</a:t>
              </a:r>
              <a:endParaRPr lang="zh-CN" sz="52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522" y="2473166"/>
              <a:ext cx="3475990" cy="358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rPr>
                <a:t>懂你的全旅程 AI 旅游搭子</a:t>
              </a:r>
              <a:endParaRPr lang="zh-CN" sz="2325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3905" y="3073718"/>
              <a:ext cx="411988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基于蓝心大模型的记忆型、主动型、具身化旅行 Agent</a:t>
              </a:r>
              <a:endParaRPr lang="zh-CN" sz="13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905" y="3359468"/>
              <a:ext cx="323723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看得见、会回应、会记住你的</a:t>
              </a:r>
              <a:r>
                <a:rPr lang="en-US" altLang="zh-CN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 2D </a:t>
              </a:r>
              <a:r>
                <a:rPr lang="zh-CN" altLang="en-US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旅行搭子</a:t>
              </a:r>
              <a:endParaRPr lang="zh-CN" altLang="en-US" sz="13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781050" y="39433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13335">
              <a:solidFill>
                <a:srgbClr val="BFD9F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81050" y="421005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75055" y="4296728"/>
              <a:ext cx="53594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记忆胶囊</a:t>
              </a:r>
              <a:endParaRPr lang="zh-CN" sz="105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076450" y="421005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6FA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370455" y="4296728"/>
              <a:ext cx="53594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主动陪伴</a:t>
              </a:r>
              <a:endParaRPr lang="zh-CN" sz="105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371850" y="4210050"/>
              <a:ext cx="123825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56013" y="4296728"/>
              <a:ext cx="66992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蓝小心搭子</a:t>
              </a:r>
              <a:endParaRPr lang="zh-CN" sz="105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1050" y="4808855"/>
              <a:ext cx="4105910" cy="692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不是普通攻略生成器</a:t>
              </a:r>
              <a:endParaRPr lang="zh-CN" sz="15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  <a:p>
              <a:pPr algn="l"/>
              <a:endParaRPr lang="zh-CN" sz="15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  <a:p>
              <a:pPr algn="l"/>
              <a:r>
                <a:rPr lang="zh-CN" sz="15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而是一个能把旅行体验沉淀成长期默契的 AI 伙伴</a:t>
              </a:r>
              <a:endParaRPr lang="zh-CN" sz="15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62800" y="914400"/>
              <a:ext cx="4171950" cy="5181600"/>
            </a:xfrm>
            <a:prstGeom prst="roundRect">
              <a:avLst>
                <a:gd name="adj" fmla="val 639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86600" y="819150"/>
              <a:ext cx="4171950" cy="5181600"/>
            </a:xfrm>
            <a:prstGeom prst="roundRect">
              <a:avLst>
                <a:gd name="adj" fmla="val 6393"/>
              </a:avLst>
            </a:prstGeom>
            <a:solidFill>
              <a:srgbClr val="F8FCFF"/>
            </a:solidFill>
            <a:ln w="11430">
              <a:solidFill>
                <a:srgbClr val="BFD9F4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258050" y="8286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72350" y="1154430"/>
              <a:ext cx="3600450" cy="4274820"/>
            </a:xfrm>
            <a:prstGeom prst="roundRect">
              <a:avLst>
                <a:gd name="adj" fmla="val 6349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420100" y="5429250"/>
              <a:ext cx="21336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46758" y="5515928"/>
              <a:ext cx="189547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LanXiaoXin 具身化旅行 Agent</a:t>
              </a:r>
              <a:endParaRPr lang="zh-CN" sz="10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97342" y="65989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01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pic>
        <p:nvPicPr>
          <p:cNvPr id="61" name="图片 60" descr="lanxiaoxin_frontdisp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8275" y="1438910"/>
            <a:ext cx="2769870" cy="3696970"/>
          </a:xfrm>
          <a:prstGeom prst="roundRect">
            <a:avLst/>
          </a:prstGeom>
          <a:effectLst>
            <a:outerShdw blurRad="63500" dir="15420000" sx="100500" sy="1005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>
            <a:endParaRPr lang="en-US" altLang="zh-CN"/>
          </a:p>
        </p:txBody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82" name="Group 82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114554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团队介绍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17094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TEAM INTRODUCTION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61747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S</a:t>
              </a:r>
              <a:r>
                <a:rPr lang="zh-CN" altLang="en-US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三</a:t>
              </a:r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人团队采用产品</a:t>
              </a:r>
              <a:r>
                <a:rPr lang="en-US" alt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=</a:t>
              </a:r>
              <a:r>
                <a:rPr lang="zh-CN" altLang="en-US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策划、</a:t>
              </a:r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设计与研发 Demo </a:t>
              </a:r>
              <a:r>
                <a:rPr lang="zh-CN" altLang="en-US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分工</a:t>
              </a:r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协作，覆盖方案、原型、联调和提交材料。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972820"/>
            </a:xfrm>
            <a:prstGeom prst="roundRect">
              <a:avLst>
                <a:gd name="adj" fmla="val 16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6285" y="1536399"/>
              <a:ext cx="11353800" cy="85979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51574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77862" y="1720850"/>
              <a:ext cx="111125" cy="158750"/>
              <a:chOff x="677862" y="1720850"/>
              <a:chExt cx="111125" cy="1587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93738" y="1720850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39688" y="0"/>
                    </a:moveTo>
                    <a:cubicBezTo>
                      <a:pt x="61606" y="0"/>
                      <a:pt x="79375" y="17769"/>
                      <a:pt x="79375" y="39688"/>
                    </a:cubicBezTo>
                    <a:cubicBezTo>
                      <a:pt x="79375" y="61606"/>
                      <a:pt x="61606" y="79375"/>
                      <a:pt x="39688" y="79375"/>
                    </a:cubicBezTo>
                    <a:cubicBezTo>
                      <a:pt x="17769" y="79375"/>
                      <a:pt x="0" y="61606"/>
                      <a:pt x="0" y="39688"/>
                    </a:cubicBezTo>
                    <a:lnTo>
                      <a:pt x="40" y="37965"/>
                    </a:lnTo>
                    <a:cubicBezTo>
                      <a:pt x="962" y="16737"/>
                      <a:pt x="18439" y="1"/>
                      <a:pt x="39687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7862" y="1816100"/>
                <a:ext cx="1111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3500">
                    <a:moveTo>
                      <a:pt x="71438" y="0"/>
                    </a:moveTo>
                    <a:cubicBezTo>
                      <a:pt x="93356" y="0"/>
                      <a:pt x="111125" y="17769"/>
                      <a:pt x="111125" y="39688"/>
                    </a:cubicBezTo>
                    <a:lnTo>
                      <a:pt x="111125" y="47625"/>
                    </a:lnTo>
                    <a:cubicBezTo>
                      <a:pt x="111125" y="56393"/>
                      <a:pt x="104018" y="63500"/>
                      <a:pt x="95250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39688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971867" y="169719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团队说明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3412" y="2050256"/>
              <a:ext cx="5328382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团队当前为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三</a:t>
              </a:r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人配置，因此采用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“产品策划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+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技术研发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+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视觉设计”</a:t>
              </a:r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的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全链路分工模式</a:t>
              </a:r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5300" y="2819400"/>
              <a:ext cx="3619500" cy="3048000"/>
            </a:xfrm>
            <a:prstGeom prst="roundRect">
              <a:avLst>
                <a:gd name="adj" fmla="val 625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19100" y="2724150"/>
              <a:ext cx="3619500" cy="3048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590550" y="27336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3890" y="2910840"/>
              <a:ext cx="323342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</a:rPr>
                <a:t>成员 A：饶雄超，大连理工大学</a:t>
              </a:r>
              <a:endParaRPr lang="zh-CN" sz="180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1510" y="3331210"/>
              <a:ext cx="122428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产品与设计负责人</a:t>
              </a:r>
              <a:endParaRPr lang="zh-CN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1510" y="3826510"/>
              <a:ext cx="41332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负责赛题理解、产品定位、PPT 结构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1510" y="4306570"/>
              <a:ext cx="33528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同时统筹蓝小心角色表达、核心流程和答辩叙事。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6750" y="4895850"/>
              <a:ext cx="95250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6930" y="4982528"/>
              <a:ext cx="6121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产品经理</a:t>
              </a:r>
              <a:endParaRPr 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771650" y="4895850"/>
              <a:ext cx="895350" cy="285750"/>
            </a:xfrm>
            <a:prstGeom prst="roundRect">
              <a:avLst>
                <a:gd name="adj" fmla="val 50000"/>
              </a:avLst>
            </a:prstGeom>
            <a:solidFill>
              <a:srgbClr val="E6FA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894122" y="4982528"/>
              <a:ext cx="63650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需求分析</a:t>
              </a:r>
              <a:endParaRPr lang="zh-CN" sz="120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819400" y="4895850"/>
              <a:ext cx="1028700" cy="285750"/>
            </a:xfrm>
            <a:prstGeom prst="roundRect">
              <a:avLst>
                <a:gd name="adj" fmla="val 50000"/>
              </a:avLst>
            </a:prstGeom>
            <a:solidFill>
              <a:srgbClr val="EEF8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027680" y="4982528"/>
              <a:ext cx="6121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交互设计</a:t>
              </a:r>
              <a:endParaRPr lang="zh-CN" sz="12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71550" y="6076950"/>
              <a:ext cx="10401300" cy="342900"/>
            </a:xfrm>
            <a:prstGeom prst="roundRect">
              <a:avLst>
                <a:gd name="adj" fmla="val 3888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95350" y="5981700"/>
              <a:ext cx="10401300" cy="342900"/>
            </a:xfrm>
            <a:prstGeom prst="roundRect">
              <a:avLst>
                <a:gd name="adj" fmla="val 3888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1066800" y="59912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09662" y="6095841"/>
              <a:ext cx="74625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指导老师：范永刚，大连理工大学，现任创新创业中心主任，深耕大学生创新创业教育领域多年，屡次带队获得奖项。</a:t>
              </a:r>
              <a:endParaRPr lang="zh-CN" sz="1125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02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44" name="Rectangle 50"/>
          <p:cNvSpPr/>
          <p:nvPr/>
        </p:nvSpPr>
        <p:spPr>
          <a:xfrm>
            <a:off x="4265930" y="282514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145" name="Rectangle 51"/>
          <p:cNvSpPr/>
          <p:nvPr/>
        </p:nvSpPr>
        <p:spPr>
          <a:xfrm>
            <a:off x="4189730" y="272989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146" name="Line 52"/>
          <p:cNvSpPr/>
          <p:nvPr/>
        </p:nvSpPr>
        <p:spPr>
          <a:xfrm>
            <a:off x="4361180" y="2739422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147" name="TextBox 56"/>
          <p:cNvSpPr txBox="1"/>
          <p:nvPr/>
        </p:nvSpPr>
        <p:spPr>
          <a:xfrm>
            <a:off x="4414520" y="2916587"/>
            <a:ext cx="323342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rPr>
              <a:t>成员 B：</a:t>
            </a:r>
            <a:r>
              <a:rPr lang="zh-CN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</a:rPr>
              <a:t>李嘉诺</a:t>
            </a:r>
            <a:r>
              <a:rPr lang="zh-CN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rPr>
              <a:t>，大连理工大学</a:t>
            </a:r>
            <a:endParaRPr lang="zh-CN" altLang="zh-CN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148" name="TextBox 57"/>
          <p:cNvSpPr txBox="1"/>
          <p:nvPr/>
        </p:nvSpPr>
        <p:spPr>
          <a:xfrm>
            <a:off x="4422140" y="3336957"/>
            <a:ext cx="1555032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zh-CN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研发与 Demo 负责人</a:t>
            </a:r>
            <a:endParaRPr lang="zh-CN" altLang="zh-CN" sz="12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sp>
        <p:nvSpPr>
          <p:cNvPr id="149" name="TextBox 58"/>
          <p:cNvSpPr txBox="1"/>
          <p:nvPr/>
        </p:nvSpPr>
        <p:spPr>
          <a:xfrm>
            <a:off x="4422141" y="3832257"/>
            <a:ext cx="334208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负责前端原型、能力链路、记忆和规划逻辑实现</a:t>
            </a:r>
            <a:endParaRPr lang="en-US" alt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50" name="TextBox 59"/>
          <p:cNvSpPr txBox="1"/>
          <p:nvPr/>
        </p:nvSpPr>
        <p:spPr>
          <a:xfrm>
            <a:off x="4422140" y="4312317"/>
            <a:ext cx="33528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以及</a:t>
            </a:r>
            <a:r>
              <a:rPr lang="zh-CN" alt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最终 Demo 的联调、导出与提交材料整合。</a:t>
            </a:r>
            <a:endParaRPr lang="zh-CN" alt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51" name="Rectangle 60"/>
          <p:cNvSpPr/>
          <p:nvPr/>
        </p:nvSpPr>
        <p:spPr>
          <a:xfrm>
            <a:off x="4437380" y="4901597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152" name="TextBox 61"/>
          <p:cNvSpPr txBox="1"/>
          <p:nvPr/>
        </p:nvSpPr>
        <p:spPr>
          <a:xfrm>
            <a:off x="4607560" y="4988275"/>
            <a:ext cx="6121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前端开发</a:t>
            </a:r>
            <a:endParaRPr lang="zh-CN" altLang="zh-CN" sz="1200" b="1" dirty="0">
              <a:solidFill>
                <a:srgbClr val="0B57D0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57" name="Rectangle 50"/>
          <p:cNvSpPr/>
          <p:nvPr/>
        </p:nvSpPr>
        <p:spPr>
          <a:xfrm>
            <a:off x="8021403" y="284419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158" name="Rectangle 51"/>
          <p:cNvSpPr/>
          <p:nvPr/>
        </p:nvSpPr>
        <p:spPr>
          <a:xfrm>
            <a:off x="7945203" y="274894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159" name="Line 52"/>
          <p:cNvSpPr/>
          <p:nvPr/>
        </p:nvSpPr>
        <p:spPr>
          <a:xfrm>
            <a:off x="8116653" y="2758472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160" name="TextBox 56"/>
          <p:cNvSpPr txBox="1"/>
          <p:nvPr/>
        </p:nvSpPr>
        <p:spPr>
          <a:xfrm>
            <a:off x="8169993" y="2935637"/>
            <a:ext cx="3233420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buClrTx/>
              <a:buSzTx/>
              <a:buFontTx/>
            </a:pPr>
            <a:r>
              <a:rPr 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+mn-ea"/>
              </a:rPr>
              <a:t>成员 </a:t>
            </a:r>
            <a:r>
              <a:rPr lang="zh-CN" b="1" dirty="0">
                <a:solidFill>
                  <a:srgbClr val="102033"/>
                </a:solidFill>
                <a:latin typeface="MiSans Bold" panose="00000800000000000000" charset="-122"/>
                <a:ea typeface="MiSans Bold" panose="00000800000000000000" charset="-122"/>
                <a:cs typeface="MiSans Heavy" panose="00000A00000000000000" charset="-122"/>
                <a:sym typeface="+mn-ea"/>
              </a:rPr>
              <a:t>C</a:t>
            </a:r>
            <a:r>
              <a:rPr 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+mn-ea"/>
              </a:rPr>
              <a:t>：</a:t>
            </a:r>
            <a:r>
              <a:rPr lang="zh-CN" b="1" dirty="0">
                <a:solidFill>
                  <a:srgbClr val="102033"/>
                </a:solidFill>
                <a:latin typeface="MiSans Bold" panose="00000800000000000000" charset="-122"/>
                <a:ea typeface="MiSans Bold" panose="00000800000000000000" charset="-122"/>
                <a:cs typeface="MiSans Heavy" panose="00000A00000000000000" charset="-122"/>
                <a:sym typeface="+mn-ea"/>
              </a:rPr>
              <a:t>张旭</a:t>
            </a:r>
            <a:r>
              <a:rPr 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+mn-ea"/>
              </a:rPr>
              <a:t>，大连理工大学</a:t>
            </a:r>
            <a:endParaRPr lang="zh-CN" sz="1800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161" name="TextBox 57"/>
          <p:cNvSpPr txBox="1"/>
          <p:nvPr/>
        </p:nvSpPr>
        <p:spPr>
          <a:xfrm>
            <a:off x="8177530" y="3355975"/>
            <a:ext cx="1592580" cy="151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zh-CN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视觉、交互设计负责人</a:t>
            </a:r>
            <a:endParaRPr lang="zh-CN" altLang="zh-CN" sz="12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sp>
        <p:nvSpPr>
          <p:cNvPr id="162" name="TextBox 58"/>
          <p:cNvSpPr txBox="1"/>
          <p:nvPr/>
        </p:nvSpPr>
        <p:spPr>
          <a:xfrm>
            <a:off x="8177613" y="3851307"/>
            <a:ext cx="41332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承接产品原型，负责界面</a:t>
            </a:r>
            <a:r>
              <a: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交互设计和视觉方案。</a:t>
            </a:r>
            <a:endParaRPr 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63" name="TextBox 59"/>
          <p:cNvSpPr txBox="1"/>
          <p:nvPr/>
        </p:nvSpPr>
        <p:spPr>
          <a:xfrm>
            <a:off x="8177613" y="4331367"/>
            <a:ext cx="33528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制作“蓝小心”角色的所需视觉素材</a:t>
            </a:r>
            <a:r>
              <a:rPr lang="en-US" alt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,</a:t>
            </a:r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优化操作体验</a:t>
            </a:r>
            <a:endParaRPr 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64" name="Rectangle 60"/>
          <p:cNvSpPr/>
          <p:nvPr/>
        </p:nvSpPr>
        <p:spPr>
          <a:xfrm>
            <a:off x="8192853" y="4920647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165" name="TextBox 61"/>
          <p:cNvSpPr txBox="1"/>
          <p:nvPr/>
        </p:nvSpPr>
        <p:spPr>
          <a:xfrm>
            <a:off x="8363033" y="5007325"/>
            <a:ext cx="6121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 UI </a:t>
            </a:r>
            <a:r>
              <a:rPr lang="zh-CN" altLang="en-US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设计</a:t>
            </a:r>
            <a:endParaRPr lang="zh-CN" sz="1200" b="1" dirty="0">
              <a:solidFill>
                <a:srgbClr val="0B57D0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66" name="Rectangle 62"/>
          <p:cNvSpPr/>
          <p:nvPr/>
        </p:nvSpPr>
        <p:spPr>
          <a:xfrm>
            <a:off x="9297753" y="4920647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E6FAFF"/>
          </a:solidFill>
          <a:ln>
            <a:noFill/>
          </a:ln>
        </p:spPr>
      </p:sp>
      <p:sp>
        <p:nvSpPr>
          <p:cNvPr id="167" name="TextBox 63"/>
          <p:cNvSpPr txBox="1"/>
          <p:nvPr/>
        </p:nvSpPr>
        <p:spPr>
          <a:xfrm>
            <a:off x="9418244" y="5013936"/>
            <a:ext cx="61880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视觉传达</a:t>
            </a:r>
            <a:endParaRPr lang="zh-CN" sz="1200" b="1" dirty="0">
              <a:solidFill>
                <a:srgbClr val="00D4F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68" name="Rectangle 64"/>
          <p:cNvSpPr/>
          <p:nvPr/>
        </p:nvSpPr>
        <p:spPr>
          <a:xfrm>
            <a:off x="10345503" y="4920647"/>
            <a:ext cx="1028700" cy="285750"/>
          </a:xfrm>
          <a:prstGeom prst="roundRect">
            <a:avLst>
              <a:gd name="adj" fmla="val 50000"/>
            </a:avLst>
          </a:prstGeom>
          <a:solidFill>
            <a:srgbClr val="EEF8F1"/>
          </a:solidFill>
          <a:ln>
            <a:noFill/>
          </a:ln>
        </p:spPr>
      </p:sp>
      <p:sp>
        <p:nvSpPr>
          <p:cNvPr id="169" name="TextBox 65"/>
          <p:cNvSpPr txBox="1"/>
          <p:nvPr/>
        </p:nvSpPr>
        <p:spPr>
          <a:xfrm>
            <a:off x="10553783" y="5007325"/>
            <a:ext cx="6121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体验优化</a:t>
            </a:r>
            <a:endParaRPr lang="zh-CN" sz="1200" b="1" dirty="0">
              <a:solidFill>
                <a:srgbClr val="2E7D32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70" name="Rectangle 72"/>
          <p:cNvSpPr/>
          <p:nvPr/>
        </p:nvSpPr>
        <p:spPr>
          <a:xfrm>
            <a:off x="5490225" y="4896464"/>
            <a:ext cx="1101899" cy="285750"/>
          </a:xfrm>
          <a:prstGeom prst="roundRect">
            <a:avLst>
              <a:gd name="adj" fmla="val 50000"/>
            </a:avLst>
          </a:prstGeom>
          <a:solidFill>
            <a:srgbClr val="FFF8E8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1" name="TextBox 73"/>
          <p:cNvSpPr txBox="1"/>
          <p:nvPr/>
        </p:nvSpPr>
        <p:spPr>
          <a:xfrm>
            <a:off x="5659820" y="4983142"/>
            <a:ext cx="77648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9E0B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服务端开发</a:t>
            </a:r>
            <a:endParaRPr lang="zh-CN" sz="1200" b="1" dirty="0">
              <a:solidFill>
                <a:srgbClr val="F59E0B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72" name="Rectangle 74"/>
          <p:cNvSpPr/>
          <p:nvPr/>
        </p:nvSpPr>
        <p:spPr>
          <a:xfrm>
            <a:off x="6697097" y="4898724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FF2EC"/>
          </a:solidFill>
          <a:ln>
            <a:noFill/>
          </a:ln>
        </p:spPr>
      </p:sp>
      <p:sp>
        <p:nvSpPr>
          <p:cNvPr id="173" name="TextBox 75"/>
          <p:cNvSpPr txBox="1"/>
          <p:nvPr/>
        </p:nvSpPr>
        <p:spPr>
          <a:xfrm>
            <a:off x="6806001" y="4985402"/>
            <a:ext cx="77279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Demo 联调</a:t>
            </a:r>
            <a:endParaRPr lang="zh-CN" sz="1200" b="1" dirty="0">
              <a:solidFill>
                <a:srgbClr val="C2410C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9097645" y="781050"/>
            <a:ext cx="195961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B57D0"/>
              </a:gs>
              <a:gs pos="52000">
                <a:srgbClr val="26A7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4825" y="233045"/>
            <a:ext cx="1145540" cy="346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rPr>
              <a:t>作品简介</a:t>
            </a:r>
            <a:endParaRPr lang="zh-CN" sz="2250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等线" panose="02010600030101010101" charset="-122"/>
              <a:sym typeface="MiSans Heavy" panose="00000A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21970" y="645795"/>
            <a:ext cx="1113155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rPr>
              <a:t>PROJECT OVERVIEW</a:t>
            </a:r>
            <a:endParaRPr lang="zh-CN" sz="9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等线" panose="02010600030101010101" charset="-122"/>
            </a:endParaRPr>
          </a:p>
        </p:txBody>
      </p:sp>
      <p:sp>
        <p:nvSpPr>
          <p:cNvPr id="38" name="Line 38"/>
          <p:cNvSpPr/>
          <p:nvPr/>
        </p:nvSpPr>
        <p:spPr>
          <a:xfrm flipV="1">
            <a:off x="504825" y="645795"/>
            <a:ext cx="10294620" cy="187960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BFD9F4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33400" y="102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65810" y="1003935"/>
            <a:ext cx="527685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蓝心同行把旅行 AI 从单次问答升级为可记忆、会陪伴、能成长的全旅程伙伴。</a:t>
            </a:r>
            <a:endParaRPr lang="zh-CN" sz="1200" b="1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495300" y="1581150"/>
            <a:ext cx="5334000" cy="4533900"/>
          </a:xfrm>
          <a:prstGeom prst="roundRect">
            <a:avLst>
              <a:gd name="adj" fmla="val 4202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19100" y="1485900"/>
            <a:ext cx="5334000" cy="453390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43" name="Line 43"/>
          <p:cNvSpPr/>
          <p:nvPr/>
        </p:nvSpPr>
        <p:spPr>
          <a:xfrm>
            <a:off x="590550" y="14954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68655" y="1740535"/>
            <a:ext cx="101854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作品名称</a:t>
            </a:r>
            <a:endParaRPr 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53415" y="2123440"/>
            <a:ext cx="1628140" cy="492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rPr>
              <a:t>蓝心同行</a:t>
            </a:r>
            <a:endParaRPr lang="zh-CN" sz="32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等线" panose="02010600030101010101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68655" y="2750185"/>
            <a:ext cx="101854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作品概述</a:t>
            </a:r>
            <a:endParaRPr 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68655" y="3237230"/>
            <a:ext cx="471551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蓝心同行是一款面向年轻自由行场景的全旅程 AI 旅行 Agent。</a:t>
            </a:r>
            <a:endParaRPr lang="zh-CN" sz="1350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68655" y="3522980"/>
            <a:ext cx="480060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它通过记忆胶囊沉淀用户偏好，通过多模型</a:t>
            </a:r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协作完成规划推理、</a:t>
            </a:r>
            <a:endParaRPr lang="zh-CN" sz="1350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68655" y="3808730"/>
            <a:ext cx="471424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主动提醒与内容生成，并以蓝小心这个 AIGC 2D 数字搭子承载</a:t>
            </a:r>
            <a:endParaRPr lang="zh-CN" sz="1350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68655" y="4094480"/>
            <a:ext cx="18859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情绪、状态与陪伴反馈。</a:t>
            </a:r>
            <a:endParaRPr lang="zh-CN" altLang="en-US" sz="1350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69925" y="4700905"/>
            <a:ext cx="390144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作品要解决的问题是：</a:t>
            </a:r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  <a:sym typeface="+mn-ea"/>
              </a:rPr>
              <a:t>旅途中变化快、独旅缺少陪伴</a:t>
            </a:r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  <a:sym typeface="+mn-ea"/>
              </a:rPr>
              <a:t>、</a:t>
            </a:r>
            <a:endParaRPr lang="zh-CN" sz="12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  <a:p>
            <a:pPr algn="l"/>
            <a:endParaRPr lang="zh-CN" sz="12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669925" y="4967605"/>
            <a:ext cx="243840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  <a:sym typeface="+mn-ea"/>
              </a:rPr>
              <a:t>旅行信息太多、普通推荐不懂我</a:t>
            </a:r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  <a:sym typeface="+mn-ea"/>
              </a:rPr>
              <a:t>。</a:t>
            </a:r>
            <a:endParaRPr lang="zh-CN" sz="12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521970" y="6598920"/>
            <a:ext cx="21062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蓝心同行 | AIGC创新赛应用赛道初赛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1464290" y="6598920"/>
            <a:ext cx="167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03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88" name="Rectangle 42"/>
          <p:cNvSpPr/>
          <p:nvPr/>
        </p:nvSpPr>
        <p:spPr>
          <a:xfrm>
            <a:off x="6049010" y="1477645"/>
            <a:ext cx="469900" cy="4638040"/>
          </a:xfrm>
          <a:prstGeom prst="roundRect">
            <a:avLst>
              <a:gd name="adj" fmla="val 37470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pic>
        <p:nvPicPr>
          <p:cNvPr id="86" name="图片 85" descr="海报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7040" y="205740"/>
            <a:ext cx="4834890" cy="6446520"/>
          </a:xfrm>
          <a:prstGeom prst="roundRect">
            <a:avLst/>
          </a:prstGeom>
          <a:effectLst>
            <a:outerShdw blurRad="63500" dir="5400000" algn="ctr" rotWithShape="0">
              <a:srgbClr val="000000">
                <a:alpha val="43000"/>
              </a:srgbClr>
            </a:outerShdw>
          </a:effectLst>
        </p:spPr>
      </p:pic>
      <p:sp>
        <p:nvSpPr>
          <p:cNvPr id="87" name="文本框 86"/>
          <p:cNvSpPr txBox="1"/>
          <p:nvPr/>
        </p:nvSpPr>
        <p:spPr>
          <a:xfrm>
            <a:off x="6132195" y="2085975"/>
            <a:ext cx="394970" cy="35217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>
              <a:lnSpc>
                <a:spcPct val="110000"/>
              </a:lnSpc>
            </a:pP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宣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海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</a:t>
            </a:r>
            <a:endParaRPr lang="zh-CN" altLang="en-US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77" name="Group 77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171831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作品设计理念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09347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DESIGN RATIONALE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550926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作品设计理念并不抽象，而是针对四个真实高频问题逐一给出可验证的产品回应。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885190"/>
            </a:xfrm>
            <a:prstGeom prst="roundRect">
              <a:avLst>
                <a:gd name="adj" fmla="val 1794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11353800" cy="834390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51407" y="1726144"/>
              <a:ext cx="156099" cy="148161"/>
              <a:chOff x="651407" y="1726144"/>
              <a:chExt cx="156099" cy="14816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57238" y="18213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1407" y="174201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57238" y="17261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3777" y="1697196"/>
              <a:ext cx="101917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核心创新点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1827" y="2055336"/>
              <a:ext cx="437324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让 AI 从一次性攻略工具，变成可培养、会陪伴、能成长的旅行搭子。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8200" y="27241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2000" y="26289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33450" y="2638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62700" y="27241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86500" y="26289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E6FAFF"/>
            </a:solidFill>
            <a:ln w="11430">
              <a:solidFill>
                <a:srgbClr val="BFD9F4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6457950" y="2638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8200" y="43624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2000" y="42672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F8FCFF"/>
            </a:solidFill>
            <a:ln w="11430">
              <a:solidFill>
                <a:srgbClr val="BFD9F4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933450" y="42767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362700" y="43624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86500" y="42672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6457950" y="42767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07745" y="2831782"/>
              <a:ext cx="166433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1：信息过载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3460" y="3204210"/>
              <a:ext cx="3200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用户要在地图、点评和社交平台之间来回切换。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3460" y="3451860"/>
              <a:ext cx="370522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设计回应：由 Agent 整合信息并直接给出可执行建议。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32245" y="2831782"/>
              <a:ext cx="187452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2：推荐不懂我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37960" y="3204210"/>
              <a:ext cx="3352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普通攻略不知道饮食忌口、节奏偏好和体力状态。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37960" y="3451860"/>
              <a:ext cx="2895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设计回应：用记忆胶囊沉淀长期旅行画像。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7745" y="4470082"/>
              <a:ext cx="208470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3：旅途中变化多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3460" y="4842510"/>
              <a:ext cx="2743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排队、天气和兴趣变化会快速打乱计划。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3460" y="5090160"/>
              <a:ext cx="2895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设计回应：主动情境提醒和路线动态调整。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32245" y="4470082"/>
              <a:ext cx="187452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4：独旅缺陪伴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37960" y="4842510"/>
              <a:ext cx="2438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排队、坐车和拍照时缺少互动对象。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37960" y="5090160"/>
              <a:ext cx="3200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设计回应：蓝小心承担情绪、状态与陪伴反馈。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04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100" name="Group 100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486854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产品原型设计：核心交互与大模型应用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97917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FLOW AND MODEL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45910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蓝心大模型贯穿理解、抽取、推理、表达和生成，是完整体验引擎。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67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4574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2481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88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8295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202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1907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48" name="Line 48"/>
            <p:cNvSpPr/>
            <p:nvPr/>
          </p:nvSpPr>
          <p:spPr>
            <a:xfrm>
              <a:off x="39814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>
              <a:off x="57721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75628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93535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88575" y="1958340"/>
              <a:ext cx="2803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01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15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创建旅行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447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02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8122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记忆确认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354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03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05146" y="22817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个性化规划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261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04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936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主动提醒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168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843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旅拍互动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075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06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750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旅行复盘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42950" y="344805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6750" y="335280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838200" y="3362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38200" y="3524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901700" y="359568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104775" y="73708"/>
                  </a:moveTo>
                  <a:cubicBezTo>
                    <a:pt x="101645" y="70639"/>
                    <a:pt x="96620" y="70689"/>
                    <a:pt x="93551" y="73819"/>
                  </a:cubicBezTo>
                  <a:cubicBezTo>
                    <a:pt x="89819" y="77630"/>
                    <a:pt x="84709" y="79777"/>
                    <a:pt x="79375" y="79777"/>
                  </a:cubicBezTo>
                  <a:cubicBezTo>
                    <a:pt x="74041" y="79777"/>
                    <a:pt x="68931" y="77630"/>
                    <a:pt x="65199" y="73819"/>
                  </a:cubicBezTo>
                  <a:cubicBezTo>
                    <a:pt x="62117" y="70764"/>
                    <a:pt x="57153" y="70750"/>
                    <a:pt x="54054" y="73788"/>
                  </a:cubicBezTo>
                  <a:cubicBezTo>
                    <a:pt x="50955" y="76826"/>
                    <a:pt x="50870" y="81789"/>
                    <a:pt x="53864" y="84931"/>
                  </a:cubicBezTo>
                  <a:cubicBezTo>
                    <a:pt x="60582" y="91787"/>
                    <a:pt x="69777" y="95650"/>
                    <a:pt x="79375" y="95650"/>
                  </a:cubicBezTo>
                  <a:cubicBezTo>
                    <a:pt x="88973" y="95650"/>
                    <a:pt x="98168" y="91787"/>
                    <a:pt x="104886" y="84931"/>
                  </a:cubicBezTo>
                  <a:cubicBezTo>
                    <a:pt x="107954" y="81801"/>
                    <a:pt x="107905" y="76776"/>
                    <a:pt x="104775" y="73708"/>
                  </a:cubicBezTo>
                  <a:moveTo>
                    <a:pt x="59611" y="39688"/>
                  </a:moveTo>
                  <a:lnTo>
                    <a:pt x="59531" y="39688"/>
                  </a:lnTo>
                  <a:cubicBezTo>
                    <a:pt x="55147" y="39688"/>
                    <a:pt x="51594" y="43241"/>
                    <a:pt x="51594" y="47625"/>
                  </a:cubicBezTo>
                  <a:cubicBezTo>
                    <a:pt x="51594" y="52009"/>
                    <a:pt x="55147" y="55562"/>
                    <a:pt x="59531" y="55562"/>
                  </a:cubicBezTo>
                  <a:lnTo>
                    <a:pt x="59611" y="55562"/>
                  </a:lnTo>
                  <a:cubicBezTo>
                    <a:pt x="63994" y="55562"/>
                    <a:pt x="67548" y="52009"/>
                    <a:pt x="67548" y="47625"/>
                  </a:cubicBezTo>
                  <a:cubicBezTo>
                    <a:pt x="67548" y="43241"/>
                    <a:pt x="63994" y="39688"/>
                    <a:pt x="59611" y="39688"/>
                  </a:cubicBezTo>
                  <a:moveTo>
                    <a:pt x="99298" y="39688"/>
                  </a:moveTo>
                  <a:lnTo>
                    <a:pt x="99219" y="39688"/>
                  </a:lnTo>
                  <a:cubicBezTo>
                    <a:pt x="94835" y="39688"/>
                    <a:pt x="91281" y="43241"/>
                    <a:pt x="91281" y="47625"/>
                  </a:cubicBezTo>
                  <a:cubicBezTo>
                    <a:pt x="91281" y="52009"/>
                    <a:pt x="94835" y="55562"/>
                    <a:pt x="99219" y="55562"/>
                  </a:cubicBezTo>
                  <a:lnTo>
                    <a:pt x="99298" y="55562"/>
                  </a:lnTo>
                  <a:cubicBezTo>
                    <a:pt x="103682" y="55562"/>
                    <a:pt x="107236" y="52009"/>
                    <a:pt x="107236" y="47625"/>
                  </a:cubicBezTo>
                  <a:cubicBezTo>
                    <a:pt x="107236" y="43241"/>
                    <a:pt x="103682" y="39688"/>
                    <a:pt x="99298" y="3968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20152" y="3564096"/>
              <a:ext cx="107823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大模型能力 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1062" y="4111466"/>
              <a:ext cx="24396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意图理解：识别时间、地点和旅行目标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81062" y="4431506"/>
              <a:ext cx="21526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</a:rPr>
                <a:t>记忆抽取：发现偏好并组织成胶囊</a:t>
              </a:r>
              <a:endParaRPr lang="zh-CN" sz="1125" dirty="0">
                <a:solidFill>
                  <a:srgbClr val="51677F"/>
                </a:solidFill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1062" y="4742656"/>
              <a:ext cx="22961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规划推理：结合画像生成个性化路线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552950" y="344805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476750" y="335280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4648200" y="3362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4648200" y="3524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4709057" y="3593044"/>
              <a:ext cx="156099" cy="148161"/>
              <a:chOff x="4709057" y="3593044"/>
              <a:chExt cx="156099" cy="148161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4814888" y="36882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4709057" y="360891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4814888" y="35930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5030152" y="3564096"/>
              <a:ext cx="101917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大模型能力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691062" y="4120356"/>
              <a:ext cx="22961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角色化对话：按蓝小心人格表达结果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691062" y="4441666"/>
              <a:ext cx="21526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多模态理解：理解图片与旅拍候选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691062" y="4742656"/>
              <a:ext cx="22961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内容生成：生成复盘和社交分享文案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362950" y="3448050"/>
              <a:ext cx="2857500" cy="2286000"/>
            </a:xfrm>
            <a:prstGeom prst="roundRect">
              <a:avLst>
                <a:gd name="adj" fmla="val 583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286750" y="3352800"/>
              <a:ext cx="28575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7" name="Line 87"/>
            <p:cNvSpPr/>
            <p:nvPr/>
          </p:nvSpPr>
          <p:spPr>
            <a:xfrm>
              <a:off x="8458200" y="3362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458200" y="3524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8529637" y="3587750"/>
              <a:ext cx="142876" cy="158750"/>
              <a:chOff x="8529637" y="3587750"/>
              <a:chExt cx="142876" cy="15875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8529638" y="3696740"/>
                <a:ext cx="142875" cy="4976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9760">
                    <a:moveTo>
                      <a:pt x="0" y="0"/>
                    </a:moveTo>
                    <a:cubicBezTo>
                      <a:pt x="15621" y="11962"/>
                      <a:pt x="41545" y="18010"/>
                      <a:pt x="71438" y="18010"/>
                    </a:cubicBezTo>
                    <a:cubicBezTo>
                      <a:pt x="101282" y="18010"/>
                      <a:pt x="127198" y="11978"/>
                      <a:pt x="142875" y="135"/>
                    </a:cubicBezTo>
                    <a:lnTo>
                      <a:pt x="142875" y="18010"/>
                    </a:lnTo>
                    <a:cubicBezTo>
                      <a:pt x="142875" y="37259"/>
                      <a:pt x="111958" y="49252"/>
                      <a:pt x="73874" y="49744"/>
                    </a:cubicBezTo>
                    <a:lnTo>
                      <a:pt x="71438" y="49760"/>
                    </a:lnTo>
                    <a:cubicBezTo>
                      <a:pt x="32242" y="49760"/>
                      <a:pt x="0" y="37671"/>
                      <a:pt x="0" y="1801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529638" y="3649115"/>
                <a:ext cx="142875" cy="4976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9760">
                    <a:moveTo>
                      <a:pt x="0" y="0"/>
                    </a:moveTo>
                    <a:cubicBezTo>
                      <a:pt x="15621" y="11962"/>
                      <a:pt x="41545" y="18010"/>
                      <a:pt x="71438" y="18010"/>
                    </a:cubicBezTo>
                    <a:cubicBezTo>
                      <a:pt x="101282" y="18010"/>
                      <a:pt x="127198" y="11978"/>
                      <a:pt x="142875" y="135"/>
                    </a:cubicBezTo>
                    <a:lnTo>
                      <a:pt x="142875" y="18010"/>
                    </a:lnTo>
                    <a:cubicBezTo>
                      <a:pt x="142875" y="37671"/>
                      <a:pt x="110633" y="49760"/>
                      <a:pt x="71438" y="49760"/>
                    </a:cubicBezTo>
                    <a:cubicBezTo>
                      <a:pt x="33353" y="49760"/>
                      <a:pt x="1826" y="38346"/>
                      <a:pt x="167" y="19637"/>
                    </a:cubicBezTo>
                    <a:lnTo>
                      <a:pt x="40" y="18836"/>
                    </a:lnTo>
                    <a:lnTo>
                      <a:pt x="0" y="18010"/>
                    </a:ln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529637" y="3587750"/>
                <a:ext cx="142876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42876" h="63500">
                    <a:moveTo>
                      <a:pt x="71438" y="0"/>
                    </a:moveTo>
                    <a:cubicBezTo>
                      <a:pt x="79701" y="0"/>
                      <a:pt x="87662" y="540"/>
                      <a:pt x="95068" y="1572"/>
                    </a:cubicBezTo>
                    <a:lnTo>
                      <a:pt x="98791" y="2135"/>
                    </a:lnTo>
                    <a:cubicBezTo>
                      <a:pt x="103236" y="2876"/>
                      <a:pt x="107432" y="3797"/>
                      <a:pt x="111380" y="4897"/>
                    </a:cubicBezTo>
                    <a:lnTo>
                      <a:pt x="114872" y="5937"/>
                    </a:lnTo>
                    <a:lnTo>
                      <a:pt x="115467" y="6128"/>
                    </a:lnTo>
                    <a:cubicBezTo>
                      <a:pt x="117628" y="6838"/>
                      <a:pt x="119759" y="7632"/>
                      <a:pt x="121857" y="8509"/>
                    </a:cubicBezTo>
                    <a:lnTo>
                      <a:pt x="123437" y="9192"/>
                    </a:lnTo>
                    <a:cubicBezTo>
                      <a:pt x="126268" y="10472"/>
                      <a:pt x="128826" y="11875"/>
                      <a:pt x="131112" y="13398"/>
                    </a:cubicBezTo>
                    <a:cubicBezTo>
                      <a:pt x="131985" y="13981"/>
                      <a:pt x="132814" y="14576"/>
                      <a:pt x="133597" y="15184"/>
                    </a:cubicBezTo>
                    <a:cubicBezTo>
                      <a:pt x="135581" y="16724"/>
                      <a:pt x="137364" y="18505"/>
                      <a:pt x="138907" y="20487"/>
                    </a:cubicBezTo>
                    <a:lnTo>
                      <a:pt x="139629" y="21503"/>
                    </a:lnTo>
                    <a:cubicBezTo>
                      <a:pt x="140000" y="22058"/>
                      <a:pt x="140341" y="22617"/>
                      <a:pt x="140653" y="23178"/>
                    </a:cubicBezTo>
                    <a:lnTo>
                      <a:pt x="141209" y="24281"/>
                    </a:lnTo>
                    <a:cubicBezTo>
                      <a:pt x="142071" y="26133"/>
                      <a:pt x="142600" y="28064"/>
                      <a:pt x="142796" y="30075"/>
                    </a:cubicBezTo>
                    <a:lnTo>
                      <a:pt x="142876" y="31750"/>
                    </a:lnTo>
                    <a:cubicBezTo>
                      <a:pt x="142876" y="51411"/>
                      <a:pt x="110633" y="63500"/>
                      <a:pt x="71438" y="63500"/>
                    </a:cubicBezTo>
                    <a:cubicBezTo>
                      <a:pt x="33354" y="63500"/>
                      <a:pt x="1826" y="52086"/>
                      <a:pt x="167" y="33377"/>
                    </a:cubicBezTo>
                    <a:cubicBezTo>
                      <a:pt x="56" y="32842"/>
                      <a:pt x="0" y="32297"/>
                      <a:pt x="1" y="31750"/>
                    </a:cubicBezTo>
                    <a:lnTo>
                      <a:pt x="40" y="30925"/>
                    </a:lnTo>
                    <a:lnTo>
                      <a:pt x="167" y="30131"/>
                    </a:lnTo>
                    <a:cubicBezTo>
                      <a:pt x="1794" y="11827"/>
                      <a:pt x="31997" y="500"/>
                      <a:pt x="68962" y="16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8805227" y="3573621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关键判断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501062" y="3998436"/>
              <a:ext cx="157861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理解：识别真实旅行意图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501062" y="4299426"/>
              <a:ext cx="157861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记忆：沉淀可控用户偏好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501062" y="4590256"/>
              <a:ext cx="17221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推理：生成可执行路线方案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501062" y="4850606"/>
              <a:ext cx="186563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表达：按蓝小心人格反馈结果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06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1"/>
          <a:srcRect l="2786" b="1421"/>
          <a:stretch>
            <a:fillRect/>
          </a:stretch>
        </p:blipFill>
        <p:spPr>
          <a:xfrm>
            <a:off x="8320405" y="147320"/>
            <a:ext cx="3180715" cy="6289675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2"/>
          <a:srcRect b="5676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2m.png02m"/>
          <p:cNvPicPr>
            <a:picLocks noChangeAspect="1"/>
          </p:cNvPicPr>
          <p:nvPr/>
        </p:nvPicPr>
        <p:blipFill>
          <a:blip r:embed="rId1"/>
          <a:srcRect l="199" r="199" b="1374"/>
          <a:stretch>
            <a:fillRect/>
          </a:stretch>
        </p:blipFill>
        <p:spPr>
          <a:xfrm>
            <a:off x="8320405" y="147320"/>
            <a:ext cx="3216910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2.png02"/>
          <p:cNvPicPr>
            <a:picLocks noChangeAspect="1"/>
          </p:cNvPicPr>
          <p:nvPr/>
        </p:nvPicPr>
        <p:blipFill>
          <a:blip r:embed="rId2"/>
          <a:srcRect t="698" b="698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3m.png03m"/>
          <p:cNvPicPr>
            <a:picLocks noChangeAspect="1"/>
          </p:cNvPicPr>
          <p:nvPr/>
        </p:nvPicPr>
        <p:blipFill>
          <a:blip r:embed="rId1"/>
          <a:srcRect l="1240" r="1240" b="1374"/>
          <a:stretch>
            <a:fillRect/>
          </a:stretch>
        </p:blipFill>
        <p:spPr>
          <a:xfrm>
            <a:off x="8320405" y="147320"/>
            <a:ext cx="3225165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3.png03"/>
          <p:cNvPicPr>
            <a:picLocks noChangeAspect="1"/>
          </p:cNvPicPr>
          <p:nvPr/>
        </p:nvPicPr>
        <p:blipFill>
          <a:blip r:embed="rId2"/>
          <a:srcRect l="717" r="717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4m.png04m"/>
          <p:cNvPicPr>
            <a:picLocks noChangeAspect="1"/>
          </p:cNvPicPr>
          <p:nvPr/>
        </p:nvPicPr>
        <p:blipFill>
          <a:blip r:embed="rId1"/>
          <a:srcRect l="807" r="807" b="1374"/>
          <a:stretch>
            <a:fillRect/>
          </a:stretch>
        </p:blipFill>
        <p:spPr>
          <a:xfrm>
            <a:off x="8320405" y="147320"/>
            <a:ext cx="3225165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4.png04"/>
          <p:cNvPicPr>
            <a:picLocks noChangeAspect="1"/>
          </p:cNvPicPr>
          <p:nvPr/>
        </p:nvPicPr>
        <p:blipFill>
          <a:blip r:embed="rId2"/>
          <a:srcRect l="177" r="177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5m.png05m"/>
          <p:cNvPicPr>
            <a:picLocks noChangeAspect="1"/>
          </p:cNvPicPr>
          <p:nvPr/>
        </p:nvPicPr>
        <p:blipFill>
          <a:blip r:embed="rId1"/>
          <a:srcRect l="1618" r="1618" b="1374"/>
          <a:stretch>
            <a:fillRect/>
          </a:stretch>
        </p:blipFill>
        <p:spPr>
          <a:xfrm>
            <a:off x="8320405" y="147320"/>
            <a:ext cx="3225165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5.png05"/>
          <p:cNvPicPr>
            <a:picLocks noChangeAspect="1"/>
          </p:cNvPicPr>
          <p:nvPr/>
        </p:nvPicPr>
        <p:blipFill>
          <a:blip r:embed="rId2"/>
          <a:srcRect t="1588" b="1588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6m.png06m"/>
          <p:cNvPicPr>
            <a:picLocks noChangeAspect="1"/>
          </p:cNvPicPr>
          <p:nvPr/>
        </p:nvPicPr>
        <p:blipFill>
          <a:blip r:embed="rId1"/>
          <a:srcRect l="682" r="682" b="1474"/>
          <a:stretch>
            <a:fillRect/>
          </a:stretch>
        </p:blipFill>
        <p:spPr>
          <a:xfrm>
            <a:off x="8320405" y="147320"/>
            <a:ext cx="3225165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6.png06"/>
          <p:cNvPicPr>
            <a:picLocks noChangeAspect="1"/>
          </p:cNvPicPr>
          <p:nvPr/>
        </p:nvPicPr>
        <p:blipFill>
          <a:blip r:embed="rId2"/>
          <a:srcRect t="687" b="687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92" name="Rectangle 92"/>
          <p:cNvSpPr/>
          <p:nvPr/>
        </p:nvSpPr>
        <p:spPr>
          <a:xfrm>
            <a:off x="6534150" y="434340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B57D0"/>
              </a:gs>
              <a:gs pos="52000">
                <a:srgbClr val="26A7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4825" y="233045"/>
            <a:ext cx="2863850" cy="346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rPr>
              <a:t>创新点说明：记忆胶囊</a:t>
            </a:r>
            <a:endParaRPr lang="zh-CN" sz="2250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等线" panose="02010600030101010101" charset="-122"/>
              <a:sym typeface="MiSans Heavy" panose="00000A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21970" y="645795"/>
            <a:ext cx="808990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rPr>
              <a:t>INNOVATION I</a:t>
            </a:r>
            <a:endParaRPr lang="zh-CN" sz="9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等线" panose="02010600030101010101" charset="-122"/>
            </a:endParaRPr>
          </a:p>
        </p:txBody>
      </p:sp>
      <p:sp>
        <p:nvSpPr>
          <p:cNvPr id="38" name="Line 38"/>
          <p:cNvSpPr/>
          <p:nvPr/>
        </p:nvSpPr>
        <p:spPr>
          <a:xfrm>
            <a:off x="533400" y="8763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BFD9F4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33400" y="102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65810" y="1003935"/>
            <a:ext cx="39789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记忆胶囊强调用户授权，只保存真正影响旅行体验的信息。</a:t>
            </a:r>
            <a:endParaRPr lang="zh-CN" sz="1200" b="1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495300" y="1581150"/>
            <a:ext cx="5143500" cy="4724400"/>
          </a:xfrm>
          <a:prstGeom prst="roundRect">
            <a:avLst>
              <a:gd name="adj" fmla="val 4032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19100" y="1485900"/>
            <a:ext cx="5143500" cy="472440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43" name="Line 43"/>
          <p:cNvSpPr/>
          <p:nvPr/>
        </p:nvSpPr>
        <p:spPr>
          <a:xfrm>
            <a:off x="590550" y="14954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62940" y="1672590"/>
            <a:ext cx="206311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创新点一：记忆胶囊</a:t>
            </a:r>
            <a:endParaRPr lang="zh-CN" sz="1800" b="1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pic>
        <p:nvPicPr>
          <p:cNvPr id="45" name="Image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0" y="1676400"/>
            <a:ext cx="1200150" cy="1600200"/>
          </a:xfrm>
          <a:prstGeom prst="rect">
            <a:avLst/>
          </a:prstGeom>
        </p:spPr>
      </p:pic>
      <p:sp>
        <p:nvSpPr>
          <p:cNvPr id="46" name="Rectangle 46"/>
          <p:cNvSpPr/>
          <p:nvPr/>
        </p:nvSpPr>
        <p:spPr>
          <a:xfrm>
            <a:off x="857250" y="24003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57250" y="32385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57250" y="40767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57250" y="49149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50" name="Line 50"/>
          <p:cNvSpPr/>
          <p:nvPr/>
        </p:nvSpPr>
        <p:spPr>
          <a:xfrm>
            <a:off x="1714500" y="2990850"/>
            <a:ext cx="0" cy="247650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51" name="Line 51"/>
          <p:cNvSpPr/>
          <p:nvPr/>
        </p:nvSpPr>
        <p:spPr>
          <a:xfrm>
            <a:off x="1714500" y="3829050"/>
            <a:ext cx="0" cy="247650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52" name="Line 52"/>
          <p:cNvSpPr/>
          <p:nvPr/>
        </p:nvSpPr>
        <p:spPr>
          <a:xfrm>
            <a:off x="1714500" y="4667250"/>
            <a:ext cx="0" cy="247650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53" name="TextBox 53"/>
          <p:cNvSpPr txBox="1"/>
          <p:nvPr/>
        </p:nvSpPr>
        <p:spPr>
          <a:xfrm>
            <a:off x="1283335" y="2616835"/>
            <a:ext cx="862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输入偏好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283335" y="3455035"/>
            <a:ext cx="862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抽取候选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283335" y="4293235"/>
            <a:ext cx="862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生成胶囊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076325" y="5131435"/>
            <a:ext cx="12763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用户决定范围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2952750" y="2495550"/>
            <a:ext cx="2247900" cy="1447800"/>
          </a:xfrm>
          <a:prstGeom prst="roundRect">
            <a:avLst>
              <a:gd name="adj" fmla="val 9211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2876550" y="2400300"/>
            <a:ext cx="224790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59" name="Line 59"/>
          <p:cNvSpPr/>
          <p:nvPr/>
        </p:nvSpPr>
        <p:spPr>
          <a:xfrm>
            <a:off x="3048000" y="24098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3048000" y="25717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61" name="Freeform 61"/>
          <p:cNvSpPr/>
          <p:nvPr/>
        </p:nvSpPr>
        <p:spPr>
          <a:xfrm>
            <a:off x="3127375" y="2635250"/>
            <a:ext cx="127000" cy="158750"/>
          </a:xfrm>
          <a:custGeom>
            <a:avLst/>
            <a:gdLst/>
            <a:ahLst/>
            <a:cxnLst/>
            <a:rect l="l" t="t" r="r" b="b"/>
            <a:pathLst>
              <a:path w="127000" h="158750">
                <a:moveTo>
                  <a:pt x="63500" y="0"/>
                </a:moveTo>
                <a:cubicBezTo>
                  <a:pt x="85419" y="0"/>
                  <a:pt x="103188" y="17769"/>
                  <a:pt x="103188" y="39687"/>
                </a:cubicBezTo>
                <a:lnTo>
                  <a:pt x="103188" y="63500"/>
                </a:lnTo>
                <a:cubicBezTo>
                  <a:pt x="116339" y="63500"/>
                  <a:pt x="127000" y="74161"/>
                  <a:pt x="127000" y="87312"/>
                </a:cubicBezTo>
                <a:lnTo>
                  <a:pt x="127000" y="134937"/>
                </a:lnTo>
                <a:cubicBezTo>
                  <a:pt x="127000" y="148089"/>
                  <a:pt x="116339" y="158750"/>
                  <a:pt x="103188" y="158750"/>
                </a:cubicBezTo>
                <a:lnTo>
                  <a:pt x="23812" y="158750"/>
                </a:lnTo>
                <a:cubicBezTo>
                  <a:pt x="10661" y="158750"/>
                  <a:pt x="0" y="148089"/>
                  <a:pt x="0" y="134937"/>
                </a:cubicBezTo>
                <a:lnTo>
                  <a:pt x="0" y="87312"/>
                </a:lnTo>
                <a:cubicBezTo>
                  <a:pt x="0" y="74161"/>
                  <a:pt x="10661" y="63500"/>
                  <a:pt x="23812" y="63500"/>
                </a:cubicBezTo>
                <a:lnTo>
                  <a:pt x="23812" y="39687"/>
                </a:lnTo>
                <a:cubicBezTo>
                  <a:pt x="23812" y="17769"/>
                  <a:pt x="41581" y="0"/>
                  <a:pt x="63500" y="0"/>
                </a:cubicBezTo>
                <a:moveTo>
                  <a:pt x="63500" y="95250"/>
                </a:moveTo>
                <a:cubicBezTo>
                  <a:pt x="55192" y="95247"/>
                  <a:pt x="48288" y="101650"/>
                  <a:pt x="47665" y="109934"/>
                </a:cubicBezTo>
                <a:lnTo>
                  <a:pt x="47625" y="111125"/>
                </a:lnTo>
                <a:cubicBezTo>
                  <a:pt x="47625" y="119893"/>
                  <a:pt x="54732" y="127000"/>
                  <a:pt x="63500" y="127000"/>
                </a:cubicBezTo>
                <a:cubicBezTo>
                  <a:pt x="72268" y="127000"/>
                  <a:pt x="79375" y="119893"/>
                  <a:pt x="79375" y="111125"/>
                </a:cubicBezTo>
                <a:cubicBezTo>
                  <a:pt x="79375" y="102357"/>
                  <a:pt x="72268" y="95250"/>
                  <a:pt x="63500" y="95250"/>
                </a:cubicBezTo>
                <a:moveTo>
                  <a:pt x="63500" y="15875"/>
                </a:moveTo>
                <a:cubicBezTo>
                  <a:pt x="50349" y="15875"/>
                  <a:pt x="39688" y="26536"/>
                  <a:pt x="39688" y="39687"/>
                </a:cubicBezTo>
                <a:lnTo>
                  <a:pt x="39688" y="63500"/>
                </a:lnTo>
                <a:lnTo>
                  <a:pt x="87313" y="63500"/>
                </a:lnTo>
                <a:lnTo>
                  <a:pt x="87313" y="39687"/>
                </a:lnTo>
                <a:cubicBezTo>
                  <a:pt x="87313" y="26536"/>
                  <a:pt x="76651" y="15875"/>
                  <a:pt x="63500" y="15875"/>
                </a:cubicBezTo>
              </a:path>
            </a:pathLst>
          </a:custGeom>
          <a:solidFill>
            <a:srgbClr val="0B57D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3430905" y="2611755"/>
            <a:ext cx="81534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四类范围</a:t>
            </a:r>
            <a:endParaRPr lang="zh-CN" sz="1600" b="1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093085" y="3133090"/>
            <a:ext cx="149352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长期：饮食忌口、夜景偏好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3093085" y="3444240"/>
            <a:ext cx="87122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本次：不想太累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2952750" y="4171950"/>
            <a:ext cx="2247900" cy="1428750"/>
          </a:xfrm>
          <a:prstGeom prst="roundRect">
            <a:avLst>
              <a:gd name="adj" fmla="val 9333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2876550" y="4076700"/>
            <a:ext cx="22479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67" name="Line 67"/>
          <p:cNvSpPr/>
          <p:nvPr/>
        </p:nvSpPr>
        <p:spPr>
          <a:xfrm>
            <a:off x="3048000" y="40862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3048000" y="42481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grpSp>
        <p:nvGrpSpPr>
          <p:cNvPr id="72" name="Group 72"/>
          <p:cNvGrpSpPr/>
          <p:nvPr/>
        </p:nvGrpSpPr>
        <p:grpSpPr>
          <a:xfrm rot="0">
            <a:off x="3119120" y="4311650"/>
            <a:ext cx="142875" cy="158750"/>
            <a:chOff x="3119437" y="4311650"/>
            <a:chExt cx="142876" cy="158750"/>
          </a:xfrm>
        </p:grpSpPr>
        <p:sp>
          <p:nvSpPr>
            <p:cNvPr id="69" name="Freeform 69"/>
            <p:cNvSpPr/>
            <p:nvPr/>
          </p:nvSpPr>
          <p:spPr>
            <a:xfrm>
              <a:off x="3119438" y="4420640"/>
              <a:ext cx="142875" cy="49760"/>
            </a:xfrm>
            <a:custGeom>
              <a:avLst/>
              <a:gdLst/>
              <a:ahLst/>
              <a:cxnLst/>
              <a:rect l="l" t="t" r="r" b="b"/>
              <a:pathLst>
                <a:path w="142875" h="49760">
                  <a:moveTo>
                    <a:pt x="0" y="0"/>
                  </a:moveTo>
                  <a:cubicBezTo>
                    <a:pt x="15621" y="11962"/>
                    <a:pt x="41545" y="18010"/>
                    <a:pt x="71438" y="18010"/>
                  </a:cubicBezTo>
                  <a:cubicBezTo>
                    <a:pt x="101282" y="18010"/>
                    <a:pt x="127198" y="11978"/>
                    <a:pt x="142875" y="135"/>
                  </a:cubicBezTo>
                  <a:lnTo>
                    <a:pt x="142875" y="18010"/>
                  </a:lnTo>
                  <a:cubicBezTo>
                    <a:pt x="142875" y="37259"/>
                    <a:pt x="111958" y="49252"/>
                    <a:pt x="73874" y="49744"/>
                  </a:cubicBezTo>
                  <a:lnTo>
                    <a:pt x="71438" y="49760"/>
                  </a:lnTo>
                  <a:cubicBezTo>
                    <a:pt x="32242" y="49760"/>
                    <a:pt x="0" y="37671"/>
                    <a:pt x="0" y="18010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3119438" y="4373015"/>
              <a:ext cx="142875" cy="49760"/>
            </a:xfrm>
            <a:custGeom>
              <a:avLst/>
              <a:gdLst/>
              <a:ahLst/>
              <a:cxnLst/>
              <a:rect l="l" t="t" r="r" b="b"/>
              <a:pathLst>
                <a:path w="142875" h="49760">
                  <a:moveTo>
                    <a:pt x="0" y="0"/>
                  </a:moveTo>
                  <a:cubicBezTo>
                    <a:pt x="15621" y="11962"/>
                    <a:pt x="41545" y="18010"/>
                    <a:pt x="71438" y="18010"/>
                  </a:cubicBezTo>
                  <a:cubicBezTo>
                    <a:pt x="101282" y="18010"/>
                    <a:pt x="127198" y="11978"/>
                    <a:pt x="142875" y="135"/>
                  </a:cubicBezTo>
                  <a:lnTo>
                    <a:pt x="142875" y="18010"/>
                  </a:lnTo>
                  <a:cubicBezTo>
                    <a:pt x="142875" y="37671"/>
                    <a:pt x="110633" y="49760"/>
                    <a:pt x="71438" y="49760"/>
                  </a:cubicBezTo>
                  <a:cubicBezTo>
                    <a:pt x="33353" y="49760"/>
                    <a:pt x="1826" y="38346"/>
                    <a:pt x="167" y="19637"/>
                  </a:cubicBezTo>
                  <a:lnTo>
                    <a:pt x="40" y="18836"/>
                  </a:lnTo>
                  <a:lnTo>
                    <a:pt x="0" y="18010"/>
                  </a:ln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3119437" y="4311650"/>
              <a:ext cx="142876" cy="63500"/>
            </a:xfrm>
            <a:custGeom>
              <a:avLst/>
              <a:gdLst/>
              <a:ahLst/>
              <a:cxnLst/>
              <a:rect l="l" t="t" r="r" b="b"/>
              <a:pathLst>
                <a:path w="142876" h="63500">
                  <a:moveTo>
                    <a:pt x="71438" y="0"/>
                  </a:moveTo>
                  <a:cubicBezTo>
                    <a:pt x="79701" y="0"/>
                    <a:pt x="87662" y="540"/>
                    <a:pt x="95068" y="1572"/>
                  </a:cubicBezTo>
                  <a:lnTo>
                    <a:pt x="98791" y="2135"/>
                  </a:lnTo>
                  <a:cubicBezTo>
                    <a:pt x="103236" y="2876"/>
                    <a:pt x="107432" y="3797"/>
                    <a:pt x="111380" y="4897"/>
                  </a:cubicBezTo>
                  <a:lnTo>
                    <a:pt x="114872" y="5937"/>
                  </a:lnTo>
                  <a:lnTo>
                    <a:pt x="115467" y="6128"/>
                  </a:lnTo>
                  <a:cubicBezTo>
                    <a:pt x="117628" y="6838"/>
                    <a:pt x="119759" y="7632"/>
                    <a:pt x="121857" y="8509"/>
                  </a:cubicBezTo>
                  <a:lnTo>
                    <a:pt x="123437" y="9192"/>
                  </a:lnTo>
                  <a:cubicBezTo>
                    <a:pt x="126268" y="10472"/>
                    <a:pt x="128826" y="11875"/>
                    <a:pt x="131112" y="13398"/>
                  </a:cubicBezTo>
                  <a:cubicBezTo>
                    <a:pt x="131985" y="13981"/>
                    <a:pt x="132814" y="14576"/>
                    <a:pt x="133597" y="15184"/>
                  </a:cubicBezTo>
                  <a:cubicBezTo>
                    <a:pt x="135581" y="16724"/>
                    <a:pt x="137364" y="18505"/>
                    <a:pt x="138907" y="20487"/>
                  </a:cubicBezTo>
                  <a:lnTo>
                    <a:pt x="139629" y="21503"/>
                  </a:lnTo>
                  <a:cubicBezTo>
                    <a:pt x="140000" y="22058"/>
                    <a:pt x="140341" y="22617"/>
                    <a:pt x="140653" y="23178"/>
                  </a:cubicBezTo>
                  <a:lnTo>
                    <a:pt x="141209" y="24281"/>
                  </a:lnTo>
                  <a:cubicBezTo>
                    <a:pt x="142071" y="26133"/>
                    <a:pt x="142600" y="28064"/>
                    <a:pt x="142796" y="30075"/>
                  </a:cubicBezTo>
                  <a:lnTo>
                    <a:pt x="142876" y="31750"/>
                  </a:lnTo>
                  <a:cubicBezTo>
                    <a:pt x="142876" y="51411"/>
                    <a:pt x="110633" y="63500"/>
                    <a:pt x="71438" y="63500"/>
                  </a:cubicBezTo>
                  <a:cubicBezTo>
                    <a:pt x="33354" y="63500"/>
                    <a:pt x="1826" y="52086"/>
                    <a:pt x="167" y="33377"/>
                  </a:cubicBezTo>
                  <a:cubicBezTo>
                    <a:pt x="56" y="32842"/>
                    <a:pt x="0" y="32297"/>
                    <a:pt x="1" y="31750"/>
                  </a:cubicBezTo>
                  <a:lnTo>
                    <a:pt x="40" y="30925"/>
                  </a:lnTo>
                  <a:lnTo>
                    <a:pt x="167" y="30131"/>
                  </a:lnTo>
                  <a:cubicBezTo>
                    <a:pt x="1794" y="11827"/>
                    <a:pt x="31997" y="500"/>
                    <a:pt x="68962" y="1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</p:grpSp>
      <p:sp>
        <p:nvSpPr>
          <p:cNvPr id="73" name="TextBox 73"/>
          <p:cNvSpPr txBox="1"/>
          <p:nvPr/>
        </p:nvSpPr>
        <p:spPr>
          <a:xfrm>
            <a:off x="3430905" y="4295775"/>
            <a:ext cx="81534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关键价值</a:t>
            </a:r>
            <a:endParaRPr lang="zh-CN" sz="1600" b="1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3093085" y="4809490"/>
            <a:ext cx="99568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不默认永久保存。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3093085" y="5120640"/>
            <a:ext cx="87122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保存前先确认。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76" name="Rectangle 76"/>
          <p:cNvSpPr/>
          <p:nvPr/>
        </p:nvSpPr>
        <p:spPr>
          <a:xfrm>
            <a:off x="6019800" y="1581150"/>
            <a:ext cx="5829300" cy="4724400"/>
          </a:xfrm>
          <a:prstGeom prst="roundRect">
            <a:avLst>
              <a:gd name="adj" fmla="val 4032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5943600" y="1485900"/>
            <a:ext cx="5829300" cy="4724400"/>
          </a:xfrm>
          <a:prstGeom prst="roundRect">
            <a:avLst>
              <a:gd name="adj" fmla="val 4032"/>
            </a:avLst>
          </a:prstGeom>
          <a:solidFill>
            <a:srgbClr val="F8FCFF"/>
          </a:solidFill>
          <a:ln w="11430">
            <a:solidFill>
              <a:srgbClr val="BFD9F4"/>
            </a:solidFill>
          </a:ln>
        </p:spPr>
      </p:sp>
      <p:sp>
        <p:nvSpPr>
          <p:cNvPr id="78" name="Line 78"/>
          <p:cNvSpPr/>
          <p:nvPr/>
        </p:nvSpPr>
        <p:spPr>
          <a:xfrm>
            <a:off x="6115050" y="14954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80" name="Freeform 80"/>
          <p:cNvSpPr/>
          <p:nvPr/>
        </p:nvSpPr>
        <p:spPr>
          <a:xfrm>
            <a:off x="6305550" y="1885950"/>
            <a:ext cx="5105400" cy="3924300"/>
          </a:xfrm>
          <a:custGeom>
            <a:avLst/>
            <a:gdLst/>
            <a:ahLst/>
            <a:cxnLst/>
            <a:rect l="l" t="t" r="r" b="b"/>
            <a:pathLst>
              <a:path w="5105400" h="3924300">
                <a:moveTo>
                  <a:pt x="0" y="3924300"/>
                </a:moveTo>
                <a:lnTo>
                  <a:pt x="5105400" y="0"/>
                </a:lnTo>
              </a:path>
            </a:pathLst>
          </a:custGeom>
          <a:solidFill>
            <a:srgbClr val="000000"/>
          </a:solidFill>
          <a:ln w="13335">
            <a:solidFill>
              <a:srgbClr val="D7EAFF">
                <a:alpha val="85000"/>
              </a:srgbClr>
            </a:solidFill>
          </a:ln>
        </p:spPr>
      </p:sp>
      <p:sp>
        <p:nvSpPr>
          <p:cNvPr id="81" name="Freeform 81"/>
          <p:cNvSpPr/>
          <p:nvPr/>
        </p:nvSpPr>
        <p:spPr>
          <a:xfrm>
            <a:off x="6305550" y="1885950"/>
            <a:ext cx="5105400" cy="3924300"/>
          </a:xfrm>
          <a:custGeom>
            <a:avLst/>
            <a:gdLst/>
            <a:ahLst/>
            <a:cxnLst/>
            <a:rect l="l" t="t" r="r" b="b"/>
            <a:pathLst>
              <a:path w="5105400" h="3924300">
                <a:moveTo>
                  <a:pt x="0" y="0"/>
                </a:moveTo>
                <a:lnTo>
                  <a:pt x="5105400" y="3924300"/>
                </a:lnTo>
              </a:path>
            </a:pathLst>
          </a:custGeom>
          <a:solidFill>
            <a:srgbClr val="000000"/>
          </a:solidFill>
          <a:ln w="13335">
            <a:solidFill>
              <a:srgbClr val="D7EAFF">
                <a:alpha val="85000"/>
              </a:srgbClr>
            </a:solidFill>
          </a:ln>
        </p:spPr>
      </p:sp>
      <p:grpSp>
        <p:nvGrpSpPr>
          <p:cNvPr id="85" name="Group 85"/>
          <p:cNvGrpSpPr/>
          <p:nvPr/>
        </p:nvGrpSpPr>
        <p:grpSpPr>
          <a:xfrm rot="0">
            <a:off x="8736965" y="3488690"/>
            <a:ext cx="243205" cy="243205"/>
            <a:chOff x="8736806" y="3488531"/>
            <a:chExt cx="242888" cy="242888"/>
          </a:xfrm>
        </p:grpSpPr>
        <p:sp>
          <p:nvSpPr>
            <p:cNvPr id="82" name="Freeform 82"/>
            <p:cNvSpPr/>
            <p:nvPr/>
          </p:nvSpPr>
          <p:spPr>
            <a:xfrm>
              <a:off x="8736806" y="3488531"/>
              <a:ext cx="107950" cy="94456"/>
            </a:xfrm>
            <a:custGeom>
              <a:avLst/>
              <a:gdLst/>
              <a:ahLst/>
              <a:cxnLst/>
              <a:rect l="l" t="t" r="r" b="b"/>
              <a:pathLst>
                <a:path w="107950" h="94456">
                  <a:moveTo>
                    <a:pt x="67469" y="0"/>
                  </a:moveTo>
                  <a:cubicBezTo>
                    <a:pt x="89826" y="0"/>
                    <a:pt x="107950" y="18124"/>
                    <a:pt x="107950" y="40481"/>
                  </a:cubicBezTo>
                  <a:lnTo>
                    <a:pt x="107950" y="53975"/>
                  </a:lnTo>
                  <a:cubicBezTo>
                    <a:pt x="107950" y="76332"/>
                    <a:pt x="89826" y="94456"/>
                    <a:pt x="67469" y="94456"/>
                  </a:cubicBezTo>
                  <a:lnTo>
                    <a:pt x="40481" y="94456"/>
                  </a:lnTo>
                  <a:cubicBezTo>
                    <a:pt x="18124" y="94456"/>
                    <a:pt x="0" y="76332"/>
                    <a:pt x="0" y="53975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26A7FF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8736806" y="3609975"/>
              <a:ext cx="107950" cy="121444"/>
            </a:xfrm>
            <a:custGeom>
              <a:avLst/>
              <a:gdLst/>
              <a:ahLst/>
              <a:cxnLst/>
              <a:rect l="l" t="t" r="r" b="b"/>
              <a:pathLst>
                <a:path w="107950" h="121444">
                  <a:moveTo>
                    <a:pt x="67469" y="0"/>
                  </a:moveTo>
                  <a:cubicBezTo>
                    <a:pt x="89826" y="0"/>
                    <a:pt x="107950" y="18124"/>
                    <a:pt x="107950" y="40481"/>
                  </a:cubicBezTo>
                  <a:lnTo>
                    <a:pt x="107950" y="80962"/>
                  </a:lnTo>
                  <a:cubicBezTo>
                    <a:pt x="107950" y="103320"/>
                    <a:pt x="89826" y="121444"/>
                    <a:pt x="67469" y="121444"/>
                  </a:cubicBezTo>
                  <a:lnTo>
                    <a:pt x="40481" y="121444"/>
                  </a:lnTo>
                  <a:cubicBezTo>
                    <a:pt x="18124" y="121444"/>
                    <a:pt x="0" y="103320"/>
                    <a:pt x="0" y="80962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26A7FF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8871744" y="3488531"/>
              <a:ext cx="107950" cy="242888"/>
            </a:xfrm>
            <a:custGeom>
              <a:avLst/>
              <a:gdLst/>
              <a:ahLst/>
              <a:cxnLst/>
              <a:rect l="l" t="t" r="r" b="b"/>
              <a:pathLst>
                <a:path w="107950" h="242888">
                  <a:moveTo>
                    <a:pt x="67469" y="0"/>
                  </a:moveTo>
                  <a:cubicBezTo>
                    <a:pt x="89826" y="0"/>
                    <a:pt x="107950" y="18124"/>
                    <a:pt x="107950" y="40481"/>
                  </a:cubicBezTo>
                  <a:lnTo>
                    <a:pt x="107950" y="202406"/>
                  </a:lnTo>
                  <a:cubicBezTo>
                    <a:pt x="107950" y="224763"/>
                    <a:pt x="89826" y="242888"/>
                    <a:pt x="67469" y="242888"/>
                  </a:cubicBezTo>
                  <a:lnTo>
                    <a:pt x="40481" y="242888"/>
                  </a:lnTo>
                  <a:cubicBezTo>
                    <a:pt x="18124" y="242888"/>
                    <a:pt x="0" y="224763"/>
                    <a:pt x="0" y="202406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26A7FF"/>
            </a:solidFill>
            <a:ln>
              <a:noFill/>
            </a:ln>
          </p:spPr>
        </p:sp>
      </p:grpSp>
      <p:sp>
        <p:nvSpPr>
          <p:cNvPr id="87" name="TextBox 87"/>
          <p:cNvSpPr txBox="1"/>
          <p:nvPr/>
        </p:nvSpPr>
        <p:spPr>
          <a:xfrm>
            <a:off x="7778115" y="4123690"/>
            <a:ext cx="2160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后续可替换为真实移动端页面截图</a:t>
            </a:r>
            <a:endParaRPr lang="zh-CN" sz="975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89" name="Rectangle 89"/>
          <p:cNvSpPr/>
          <p:nvPr/>
        </p:nvSpPr>
        <p:spPr>
          <a:xfrm>
            <a:off x="6438900" y="426720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90" name="Rectangle 90"/>
          <p:cNvSpPr/>
          <p:nvPr/>
        </p:nvSpPr>
        <p:spPr>
          <a:xfrm>
            <a:off x="6362700" y="41719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91" name="Line 91"/>
          <p:cNvSpPr/>
          <p:nvPr/>
        </p:nvSpPr>
        <p:spPr>
          <a:xfrm>
            <a:off x="6534150" y="418147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93" name="Freeform 93"/>
          <p:cNvSpPr/>
          <p:nvPr/>
        </p:nvSpPr>
        <p:spPr>
          <a:xfrm>
            <a:off x="6597650" y="4415155"/>
            <a:ext cx="158750" cy="151130"/>
          </a:xfrm>
          <a:custGeom>
            <a:avLst/>
            <a:gdLst/>
            <a:ahLst/>
            <a:cxnLst/>
            <a:rect l="l" t="t" r="r" b="b"/>
            <a:pathLst>
              <a:path w="158750" h="151184">
                <a:moveTo>
                  <a:pt x="127000" y="0"/>
                </a:moveTo>
                <a:cubicBezTo>
                  <a:pt x="144535" y="0"/>
                  <a:pt x="158750" y="14215"/>
                  <a:pt x="158750" y="31750"/>
                </a:cubicBezTo>
                <a:lnTo>
                  <a:pt x="158750" y="95250"/>
                </a:lnTo>
                <a:cubicBezTo>
                  <a:pt x="158750" y="112785"/>
                  <a:pt x="144535" y="127000"/>
                  <a:pt x="127000" y="127000"/>
                </a:cubicBezTo>
                <a:lnTo>
                  <a:pt x="89503" y="127000"/>
                </a:lnTo>
                <a:lnTo>
                  <a:pt x="51705" y="149677"/>
                </a:lnTo>
                <a:cubicBezTo>
                  <a:pt x="49392" y="151066"/>
                  <a:pt x="46532" y="151184"/>
                  <a:pt x="44112" y="149992"/>
                </a:cubicBezTo>
                <a:cubicBezTo>
                  <a:pt x="41693" y="148799"/>
                  <a:pt x="40044" y="146460"/>
                  <a:pt x="39735" y="143780"/>
                </a:cubicBezTo>
                <a:lnTo>
                  <a:pt x="39688" y="142875"/>
                </a:lnTo>
                <a:lnTo>
                  <a:pt x="39688" y="127000"/>
                </a:lnTo>
                <a:lnTo>
                  <a:pt x="31750" y="127000"/>
                </a:lnTo>
                <a:cubicBezTo>
                  <a:pt x="14832" y="127000"/>
                  <a:pt x="886" y="113734"/>
                  <a:pt x="40" y="96838"/>
                </a:cubicBezTo>
                <a:lnTo>
                  <a:pt x="0" y="95250"/>
                </a:ln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  <a:moveTo>
                  <a:pt x="104775" y="73708"/>
                </a:moveTo>
                <a:cubicBezTo>
                  <a:pt x="101645" y="70639"/>
                  <a:pt x="96620" y="70689"/>
                  <a:pt x="93551" y="73819"/>
                </a:cubicBezTo>
                <a:cubicBezTo>
                  <a:pt x="89819" y="77630"/>
                  <a:pt x="84709" y="79777"/>
                  <a:pt x="79375" y="79777"/>
                </a:cubicBezTo>
                <a:cubicBezTo>
                  <a:pt x="74041" y="79777"/>
                  <a:pt x="68931" y="77630"/>
                  <a:pt x="65199" y="73819"/>
                </a:cubicBezTo>
                <a:cubicBezTo>
                  <a:pt x="62117" y="70764"/>
                  <a:pt x="57153" y="70750"/>
                  <a:pt x="54054" y="73788"/>
                </a:cubicBezTo>
                <a:cubicBezTo>
                  <a:pt x="50955" y="76826"/>
                  <a:pt x="50870" y="81789"/>
                  <a:pt x="53864" y="84931"/>
                </a:cubicBezTo>
                <a:cubicBezTo>
                  <a:pt x="60582" y="91787"/>
                  <a:pt x="69777" y="95650"/>
                  <a:pt x="79375" y="95650"/>
                </a:cubicBezTo>
                <a:cubicBezTo>
                  <a:pt x="88973" y="95650"/>
                  <a:pt x="98168" y="91787"/>
                  <a:pt x="104886" y="84931"/>
                </a:cubicBezTo>
                <a:cubicBezTo>
                  <a:pt x="107954" y="81801"/>
                  <a:pt x="107905" y="76776"/>
                  <a:pt x="104775" y="73708"/>
                </a:cubicBezTo>
                <a:moveTo>
                  <a:pt x="59611" y="39688"/>
                </a:moveTo>
                <a:lnTo>
                  <a:pt x="59531" y="39688"/>
                </a:lnTo>
                <a:cubicBezTo>
                  <a:pt x="55147" y="39688"/>
                  <a:pt x="51594" y="43241"/>
                  <a:pt x="51594" y="47625"/>
                </a:cubicBezTo>
                <a:cubicBezTo>
                  <a:pt x="51594" y="52009"/>
                  <a:pt x="55147" y="55562"/>
                  <a:pt x="59531" y="55562"/>
                </a:cubicBezTo>
                <a:lnTo>
                  <a:pt x="59611" y="55562"/>
                </a:lnTo>
                <a:cubicBezTo>
                  <a:pt x="63994" y="55562"/>
                  <a:pt x="67548" y="52009"/>
                  <a:pt x="67548" y="47625"/>
                </a:cubicBezTo>
                <a:cubicBezTo>
                  <a:pt x="67548" y="43241"/>
                  <a:pt x="63994" y="39688"/>
                  <a:pt x="59611" y="39688"/>
                </a:cubicBezTo>
                <a:moveTo>
                  <a:pt x="99298" y="39688"/>
                </a:moveTo>
                <a:lnTo>
                  <a:pt x="99219" y="39688"/>
                </a:lnTo>
                <a:cubicBezTo>
                  <a:pt x="94835" y="39688"/>
                  <a:pt x="91281" y="43241"/>
                  <a:pt x="91281" y="47625"/>
                </a:cubicBezTo>
                <a:cubicBezTo>
                  <a:pt x="91281" y="52009"/>
                  <a:pt x="94835" y="55562"/>
                  <a:pt x="99219" y="55562"/>
                </a:cubicBezTo>
                <a:lnTo>
                  <a:pt x="99298" y="55562"/>
                </a:lnTo>
                <a:cubicBezTo>
                  <a:pt x="103682" y="55562"/>
                  <a:pt x="107236" y="52009"/>
                  <a:pt x="107236" y="47625"/>
                </a:cubicBezTo>
                <a:cubicBezTo>
                  <a:pt x="107236" y="43241"/>
                  <a:pt x="103682" y="39688"/>
                  <a:pt x="99298" y="39688"/>
                </a:cubicBezTo>
              </a:path>
            </a:pathLst>
          </a:custGeom>
          <a:solidFill>
            <a:srgbClr val="0B57D0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6915785" y="4342130"/>
            <a:ext cx="91059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用户输入</a:t>
            </a:r>
            <a:endParaRPr lang="zh-CN" sz="1425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579870" y="4760595"/>
            <a:ext cx="16002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周末想去重庆两天，不想太累，</a:t>
            </a:r>
            <a:endParaRPr lang="zh-CN" sz="900" dirty="0">
              <a:solidFill>
                <a:srgbClr val="51677F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  <a:p>
            <a:pPr algn="l"/>
            <a:r>
              <a: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喜欢夜景，不吃香菜。</a:t>
            </a:r>
            <a:endParaRPr lang="zh-CN" sz="900" dirty="0">
              <a:solidFill>
                <a:srgbClr val="51677F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96" name="Rectangle 96"/>
          <p:cNvSpPr/>
          <p:nvPr/>
        </p:nvSpPr>
        <p:spPr>
          <a:xfrm>
            <a:off x="9144000" y="4267200"/>
            <a:ext cx="2324100" cy="1104900"/>
          </a:xfrm>
          <a:prstGeom prst="roundRect">
            <a:avLst>
              <a:gd name="adj" fmla="val 12069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97" name="Rectangle 97"/>
          <p:cNvSpPr/>
          <p:nvPr/>
        </p:nvSpPr>
        <p:spPr>
          <a:xfrm>
            <a:off x="9067800" y="4171950"/>
            <a:ext cx="23241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98" name="Line 98"/>
          <p:cNvSpPr/>
          <p:nvPr/>
        </p:nvSpPr>
        <p:spPr>
          <a:xfrm>
            <a:off x="9239250" y="418147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99" name="Rectangle 99"/>
          <p:cNvSpPr/>
          <p:nvPr/>
        </p:nvSpPr>
        <p:spPr>
          <a:xfrm>
            <a:off x="9239250" y="434340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grpSp>
        <p:nvGrpSpPr>
          <p:cNvPr id="103" name="Group 103"/>
          <p:cNvGrpSpPr/>
          <p:nvPr/>
        </p:nvGrpSpPr>
        <p:grpSpPr>
          <a:xfrm rot="0">
            <a:off x="9300210" y="4411980"/>
            <a:ext cx="156210" cy="147955"/>
            <a:chOff x="9300107" y="4412194"/>
            <a:chExt cx="156099" cy="148161"/>
          </a:xfrm>
        </p:grpSpPr>
        <p:sp>
          <p:nvSpPr>
            <p:cNvPr id="100" name="Freeform 100"/>
            <p:cNvSpPr/>
            <p:nvPr/>
          </p:nvSpPr>
          <p:spPr>
            <a:xfrm>
              <a:off x="9405938" y="4507444"/>
              <a:ext cx="50268" cy="52911"/>
            </a:xfrm>
            <a:custGeom>
              <a:avLst/>
              <a:gdLst/>
              <a:ahLst/>
              <a:cxnLst/>
              <a:rect l="l" t="t" r="r" b="b"/>
              <a:pathLst>
                <a:path w="50268" h="52911">
                  <a:moveTo>
                    <a:pt x="7938" y="34393"/>
                  </a:moveTo>
                  <a:cubicBezTo>
                    <a:pt x="3554" y="34393"/>
                    <a:pt x="0" y="30839"/>
                    <a:pt x="0" y="26456"/>
                  </a:cubicBezTo>
                  <a:cubicBezTo>
                    <a:pt x="0" y="22072"/>
                    <a:pt x="3554" y="18518"/>
                    <a:pt x="7938" y="18518"/>
                  </a:cubicBezTo>
                  <a:cubicBezTo>
                    <a:pt x="12321" y="18518"/>
                    <a:pt x="15875" y="14964"/>
                    <a:pt x="15875" y="10581"/>
                  </a:cubicBezTo>
                  <a:cubicBezTo>
                    <a:pt x="15875" y="0"/>
                    <a:pt x="31750" y="0"/>
                    <a:pt x="31750" y="10581"/>
                  </a:cubicBezTo>
                  <a:cubicBezTo>
                    <a:pt x="31750" y="14964"/>
                    <a:pt x="35304" y="18518"/>
                    <a:pt x="39687" y="18518"/>
                  </a:cubicBezTo>
                  <a:cubicBezTo>
                    <a:pt x="50268" y="18518"/>
                    <a:pt x="50268" y="34393"/>
                    <a:pt x="39687" y="34393"/>
                  </a:cubicBezTo>
                  <a:cubicBezTo>
                    <a:pt x="35304" y="34393"/>
                    <a:pt x="31750" y="37947"/>
                    <a:pt x="31750" y="42331"/>
                  </a:cubicBezTo>
                  <a:cubicBezTo>
                    <a:pt x="31750" y="52911"/>
                    <a:pt x="15875" y="52911"/>
                    <a:pt x="15875" y="42331"/>
                  </a:cubicBezTo>
                  <a:cubicBezTo>
                    <a:pt x="15875" y="37947"/>
                    <a:pt x="12321" y="34393"/>
                    <a:pt x="7938" y="34393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01" name="Freeform 101"/>
            <p:cNvSpPr/>
            <p:nvPr/>
          </p:nvSpPr>
          <p:spPr>
            <a:xfrm>
              <a:off x="9300107" y="4428069"/>
              <a:ext cx="116411" cy="113768"/>
            </a:xfrm>
            <a:custGeom>
              <a:avLst/>
              <a:gdLst/>
              <a:ahLst/>
              <a:cxnLst/>
              <a:rect l="l" t="t" r="r" b="b"/>
              <a:pathLst>
                <a:path w="116411" h="113768">
                  <a:moveTo>
                    <a:pt x="10581" y="50268"/>
                  </a:moveTo>
                  <a:cubicBezTo>
                    <a:pt x="32499" y="50268"/>
                    <a:pt x="50268" y="32499"/>
                    <a:pt x="50268" y="10581"/>
                  </a:cubicBezTo>
                  <a:cubicBezTo>
                    <a:pt x="50268" y="0"/>
                    <a:pt x="66143" y="0"/>
                    <a:pt x="66143" y="10581"/>
                  </a:cubicBezTo>
                  <a:cubicBezTo>
                    <a:pt x="66143" y="32499"/>
                    <a:pt x="83912" y="50268"/>
                    <a:pt x="105831" y="50268"/>
                  </a:cubicBezTo>
                  <a:cubicBezTo>
                    <a:pt x="116411" y="50268"/>
                    <a:pt x="116411" y="66143"/>
                    <a:pt x="105831" y="66143"/>
                  </a:cubicBezTo>
                  <a:cubicBezTo>
                    <a:pt x="83912" y="66143"/>
                    <a:pt x="66143" y="83912"/>
                    <a:pt x="66143" y="105831"/>
                  </a:cubicBezTo>
                  <a:cubicBezTo>
                    <a:pt x="66143" y="110214"/>
                    <a:pt x="62589" y="113768"/>
                    <a:pt x="58206" y="113768"/>
                  </a:cubicBezTo>
                  <a:cubicBezTo>
                    <a:pt x="53822" y="113768"/>
                    <a:pt x="50268" y="110214"/>
                    <a:pt x="50268" y="105831"/>
                  </a:cubicBezTo>
                  <a:cubicBezTo>
                    <a:pt x="50268" y="83912"/>
                    <a:pt x="32499" y="66143"/>
                    <a:pt x="10581" y="66143"/>
                  </a:cubicBezTo>
                  <a:cubicBezTo>
                    <a:pt x="0" y="66143"/>
                    <a:pt x="0" y="50268"/>
                    <a:pt x="10581" y="5026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02" name="Freeform 102"/>
            <p:cNvSpPr/>
            <p:nvPr/>
          </p:nvSpPr>
          <p:spPr>
            <a:xfrm>
              <a:off x="9405938" y="4412194"/>
              <a:ext cx="50268" cy="52911"/>
            </a:xfrm>
            <a:custGeom>
              <a:avLst/>
              <a:gdLst/>
              <a:ahLst/>
              <a:cxnLst/>
              <a:rect l="l" t="t" r="r" b="b"/>
              <a:pathLst>
                <a:path w="50268" h="52911">
                  <a:moveTo>
                    <a:pt x="7938" y="34393"/>
                  </a:moveTo>
                  <a:cubicBezTo>
                    <a:pt x="3554" y="34393"/>
                    <a:pt x="0" y="30839"/>
                    <a:pt x="0" y="26456"/>
                  </a:cubicBezTo>
                  <a:cubicBezTo>
                    <a:pt x="0" y="22072"/>
                    <a:pt x="3554" y="18518"/>
                    <a:pt x="7938" y="18518"/>
                  </a:cubicBezTo>
                  <a:cubicBezTo>
                    <a:pt x="12321" y="18518"/>
                    <a:pt x="15875" y="14964"/>
                    <a:pt x="15875" y="10581"/>
                  </a:cubicBezTo>
                  <a:cubicBezTo>
                    <a:pt x="15875" y="0"/>
                    <a:pt x="31750" y="0"/>
                    <a:pt x="31750" y="10581"/>
                  </a:cubicBezTo>
                  <a:cubicBezTo>
                    <a:pt x="31750" y="14964"/>
                    <a:pt x="35304" y="18518"/>
                    <a:pt x="39687" y="18518"/>
                  </a:cubicBezTo>
                  <a:cubicBezTo>
                    <a:pt x="50268" y="18518"/>
                    <a:pt x="50268" y="34393"/>
                    <a:pt x="39687" y="34393"/>
                  </a:cubicBezTo>
                  <a:cubicBezTo>
                    <a:pt x="35304" y="34393"/>
                    <a:pt x="31750" y="37947"/>
                    <a:pt x="31750" y="42331"/>
                  </a:cubicBezTo>
                  <a:cubicBezTo>
                    <a:pt x="31750" y="52911"/>
                    <a:pt x="15875" y="52911"/>
                    <a:pt x="15875" y="42331"/>
                  </a:cubicBezTo>
                  <a:cubicBezTo>
                    <a:pt x="15875" y="37947"/>
                    <a:pt x="12321" y="34393"/>
                    <a:pt x="7938" y="34393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</p:grpSp>
      <p:sp>
        <p:nvSpPr>
          <p:cNvPr id="104" name="TextBox 104"/>
          <p:cNvSpPr txBox="1"/>
          <p:nvPr/>
        </p:nvSpPr>
        <p:spPr>
          <a:xfrm>
            <a:off x="9620885" y="4342130"/>
            <a:ext cx="91059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确认弹窗</a:t>
            </a:r>
            <a:endParaRPr lang="zh-CN" sz="1425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05" name="TextBox 105"/>
          <p:cNvSpPr txBox="1"/>
          <p:nvPr/>
        </p:nvSpPr>
        <p:spPr>
          <a:xfrm>
            <a:off x="9284970" y="4760595"/>
            <a:ext cx="1619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长期：不吃香菜 / 喜欢夜景</a:t>
            </a:r>
            <a:endParaRPr lang="zh-CN" sz="900" dirty="0">
              <a:solidFill>
                <a:srgbClr val="51677F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06" name="TextBox 106"/>
          <p:cNvSpPr txBox="1"/>
          <p:nvPr/>
        </p:nvSpPr>
        <p:spPr>
          <a:xfrm>
            <a:off x="521970" y="6598920"/>
            <a:ext cx="21062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蓝心同行 | AIGC创新赛应用赛道初赛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07" name="TextBox 107"/>
          <p:cNvSpPr txBox="1"/>
          <p:nvPr/>
        </p:nvSpPr>
        <p:spPr>
          <a:xfrm>
            <a:off x="11464290" y="6598920"/>
            <a:ext cx="167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07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6115050" y="1657350"/>
            <a:ext cx="5486400" cy="4381500"/>
            <a:chOff x="9630" y="2610"/>
            <a:chExt cx="8640" cy="6900"/>
          </a:xfrm>
        </p:grpSpPr>
        <p:sp>
          <p:nvSpPr>
            <p:cNvPr id="79" name="Rectangle 79"/>
            <p:cNvSpPr/>
            <p:nvPr/>
          </p:nvSpPr>
          <p:spPr>
            <a:xfrm>
              <a:off x="9630" y="2610"/>
              <a:ext cx="8640" cy="690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C9E4FF"/>
              </a:solidFill>
              <a:custDash>
                <a:ds d="800000" sp="800000"/>
              </a:custDash>
            </a:ln>
          </p:spPr>
        </p:sp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01" y="2892"/>
              <a:ext cx="6195" cy="6312"/>
            </a:xfrm>
            <a:prstGeom prst="round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124" name="Group 124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408495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rPr>
                <a:t>创新点说明：主动陪伴 + 蓝小心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6677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INNOVATION II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主动陪伴负责临场决策，蓝小心负责把能力变成陪伴体验。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940" y="1672590"/>
              <a:ext cx="206311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创新点二：主动陪伴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62450" y="1676400"/>
              <a:ext cx="1200150" cy="1600200"/>
            </a:xfrm>
            <a:prstGeom prst="rect">
              <a:avLst/>
            </a:prstGeom>
          </p:spPr>
        </p:pic>
        <p:sp>
          <p:nvSpPr>
            <p:cNvPr id="46" name="Rectangle 46"/>
            <p:cNvSpPr/>
            <p:nvPr/>
          </p:nvSpPr>
          <p:spPr>
            <a:xfrm>
              <a:off x="762000" y="2476500"/>
              <a:ext cx="4991100" cy="971550"/>
            </a:xfrm>
            <a:prstGeom prst="roundRect">
              <a:avLst>
                <a:gd name="adj" fmla="val 13725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5800" y="2381250"/>
              <a:ext cx="4991100" cy="971550"/>
            </a:xfrm>
            <a:prstGeom prst="roundRect">
              <a:avLst>
                <a:gd name="adj" fmla="val 13725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57250" y="2390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7250" y="25527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20750" y="26126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253807" y="2592546"/>
              <a:ext cx="209042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结合情景</a:t>
              </a:r>
              <a:r>
                <a:rPr lang="en-US" alt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,</a:t>
              </a:r>
              <a:r>
                <a:rPr lang="zh-CN" altLang="en-US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</a:t>
              </a:r>
              <a:r>
                <a:rPr lang="zh-CN" altLang="en-US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进行交互</a:t>
              </a:r>
              <a:endParaRPr lang="zh-CN" altLang="en-US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0112" y="2996406"/>
              <a:ext cx="37312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基于排队、天气、体力和时间节点触发，不做无意义打扰。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" y="36385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5800" y="35433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57250" y="35528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7250" y="37147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20750" y="37746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253807" y="3753326"/>
              <a:ext cx="54737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1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2018" y="4225449"/>
              <a:ext cx="21526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快到饭点：推荐符合忌口的餐厅。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71850" y="36385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295650" y="35433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3467100" y="35528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3467100" y="37147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3530600" y="37746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849052" y="3753326"/>
              <a:ext cx="58166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2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511868" y="4225449"/>
              <a:ext cx="200914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排队过长：建议轻量替代路线。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2000" y="49720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5800" y="48768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857250" y="4886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57250" y="5048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920750" y="51081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253807" y="5097621"/>
              <a:ext cx="5867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3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2018" y="5548789"/>
              <a:ext cx="200914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天气变化：提醒带伞或改室内。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371850" y="49720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3295650" y="48768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3467100" y="4886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3467100" y="5048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3530600" y="51081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849052" y="5088096"/>
              <a:ext cx="5867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4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511868" y="5558949"/>
              <a:ext cx="17221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体力预警：建议放慢节奏。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400800" y="158115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324600" y="148590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64960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68440" y="1672590"/>
              <a:ext cx="298005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蓝小心：把能力变成陪伴体验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667500" y="2305050"/>
              <a:ext cx="1752600" cy="3600450"/>
            </a:xfrm>
            <a:prstGeom prst="roundRect">
              <a:avLst>
                <a:gd name="adj" fmla="val 978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591300" y="2209800"/>
              <a:ext cx="1752600" cy="3600450"/>
            </a:xfrm>
            <a:prstGeom prst="roundRect">
              <a:avLst>
                <a:gd name="adj" fmla="val 9783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87" name="Line 87"/>
            <p:cNvSpPr/>
            <p:nvPr/>
          </p:nvSpPr>
          <p:spPr>
            <a:xfrm>
              <a:off x="6762750" y="2219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7124700" y="4187190"/>
              <a:ext cx="666750" cy="285750"/>
            </a:xfrm>
            <a:prstGeom prst="roundRect">
              <a:avLst>
                <a:gd name="adj" fmla="val 50000"/>
              </a:avLst>
            </a:prstGeom>
            <a:solidFill>
              <a:srgbClr val="EEF8F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324090" y="4243388"/>
              <a:ext cx="2679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开心</a:t>
              </a:r>
              <a:endParaRPr lang="zh-CN" sz="105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124700" y="4762500"/>
              <a:ext cx="66675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3335">
              <a:solidFill>
                <a:srgbClr val="26A7FF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324090" y="4808538"/>
              <a:ext cx="2679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思考</a:t>
              </a:r>
              <a:endParaRPr lang="zh-CN" sz="105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124700" y="5317490"/>
              <a:ext cx="666750" cy="285750"/>
            </a:xfrm>
            <a:prstGeom prst="roundRect">
              <a:avLst>
                <a:gd name="adj" fmla="val 50000"/>
              </a:avLst>
            </a:prstGeom>
            <a:solidFill>
              <a:srgbClr val="FFF2EC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324090" y="5353368"/>
              <a:ext cx="2679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担心</a:t>
              </a:r>
              <a:endParaRPr lang="zh-CN" sz="105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648700" y="2305050"/>
              <a:ext cx="2933700" cy="1409700"/>
            </a:xfrm>
            <a:prstGeom prst="roundRect">
              <a:avLst>
                <a:gd name="adj" fmla="val 945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8572500" y="2209800"/>
              <a:ext cx="2933700" cy="1409700"/>
            </a:xfrm>
            <a:prstGeom prst="roundRect">
              <a:avLst>
                <a:gd name="adj" fmla="val 945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8743950" y="2219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8743950" y="2381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8804807" y="2450044"/>
              <a:ext cx="156099" cy="148161"/>
              <a:chOff x="8804807" y="2450044"/>
              <a:chExt cx="156099" cy="148161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8910638" y="25452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804807" y="246591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910638" y="24500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9167177" y="242109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角色能力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786812" y="2753201"/>
              <a:ext cx="2089785" cy="694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蓝小心是产品的具身化表达层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人格决定对话风格与主动频率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状态随旅程实时变化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表情与动作让用户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"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看到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"AI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的反馈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648700" y="3924300"/>
              <a:ext cx="2933700" cy="914400"/>
            </a:xfrm>
            <a:prstGeom prst="roundRect">
              <a:avLst>
                <a:gd name="adj" fmla="val 1458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572500" y="3829050"/>
              <a:ext cx="2933700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8743950" y="3838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743950" y="40005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109" name="Freeform 109"/>
            <p:cNvSpPr/>
            <p:nvPr/>
          </p:nvSpPr>
          <p:spPr>
            <a:xfrm>
              <a:off x="8807449" y="407193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9167177" y="4028281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关系成长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788718" y="4409599"/>
              <a:ext cx="24396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复盘展示新增记忆、高光和下次建议。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648700" y="4914900"/>
              <a:ext cx="2933700" cy="990600"/>
            </a:xfrm>
            <a:prstGeom prst="roundRect">
              <a:avLst>
                <a:gd name="adj" fmla="val 134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572500" y="4819650"/>
              <a:ext cx="2933700" cy="9906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8743950" y="48291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8743950" y="49911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119" name="Group 119"/>
            <p:cNvGrpSpPr/>
            <p:nvPr/>
          </p:nvGrpSpPr>
          <p:grpSpPr>
            <a:xfrm>
              <a:off x="8815388" y="5062538"/>
              <a:ext cx="142874" cy="142875"/>
              <a:chOff x="8815388" y="5062538"/>
              <a:chExt cx="142874" cy="142875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8815388" y="506253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7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7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8815388" y="513397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7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7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8894762" y="506253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7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7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9167177" y="502967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演进路径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788718" y="5400199"/>
              <a:ext cx="205422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静态立绘 → 预设动画 → Live2D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08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pic>
        <p:nvPicPr>
          <p:cNvPr id="125" name="图片 124" descr="lanxiaoxin_think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2399665"/>
            <a:ext cx="1230630" cy="1628775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108" name="Group 108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400939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前景评估：用户需求与市场欢迎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12522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VALUE AND MARKET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41319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蓝心同行有真实旅行需求，也有区别于现有工具的市场空间。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940" y="1672590"/>
              <a:ext cx="137541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用户需求程度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2400300"/>
              <a:ext cx="4991100" cy="895350"/>
            </a:xfrm>
            <a:prstGeom prst="roundRect">
              <a:avLst>
                <a:gd name="adj" fmla="val 1489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5800" y="2305050"/>
              <a:ext cx="4991100" cy="895350"/>
            </a:xfrm>
            <a:prstGeom prst="roundRect">
              <a:avLst>
                <a:gd name="adj" fmla="val 1489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857250" y="2314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7250" y="24765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44562" y="2540000"/>
              <a:ext cx="111125" cy="158750"/>
              <a:chOff x="944562" y="2540000"/>
              <a:chExt cx="111125" cy="1587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60438" y="2540000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39688" y="0"/>
                    </a:moveTo>
                    <a:cubicBezTo>
                      <a:pt x="61606" y="0"/>
                      <a:pt x="79375" y="17769"/>
                      <a:pt x="79375" y="39687"/>
                    </a:cubicBezTo>
                    <a:cubicBezTo>
                      <a:pt x="79375" y="61606"/>
                      <a:pt x="61606" y="79375"/>
                      <a:pt x="39688" y="79375"/>
                    </a:cubicBezTo>
                    <a:cubicBezTo>
                      <a:pt x="17769" y="79375"/>
                      <a:pt x="0" y="61606"/>
                      <a:pt x="0" y="39687"/>
                    </a:cubicBezTo>
                    <a:lnTo>
                      <a:pt x="40" y="37965"/>
                    </a:lnTo>
                    <a:cubicBezTo>
                      <a:pt x="962" y="16737"/>
                      <a:pt x="18439" y="1"/>
                      <a:pt x="39687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44562" y="2635250"/>
                <a:ext cx="1111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3500">
                    <a:moveTo>
                      <a:pt x="71438" y="0"/>
                    </a:moveTo>
                    <a:cubicBezTo>
                      <a:pt x="93356" y="0"/>
                      <a:pt x="111125" y="17769"/>
                      <a:pt x="111125" y="39687"/>
                    </a:cubicBezTo>
                    <a:lnTo>
                      <a:pt x="111125" y="47625"/>
                    </a:lnTo>
                    <a:cubicBezTo>
                      <a:pt x="111125" y="56393"/>
                      <a:pt x="104018" y="63500"/>
                      <a:pt x="95250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223327" y="251634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目标用户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0112" y="2899886"/>
              <a:ext cx="330073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年轻自由行、独旅、多人组织者、内容分享型用户。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" y="348615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5800" y="339090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57250" y="3400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57250" y="3562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18262" y="3627015"/>
              <a:ext cx="159651" cy="160073"/>
            </a:xfrm>
            <a:custGeom>
              <a:avLst/>
              <a:gdLst/>
              <a:ahLst/>
              <a:cxnLst/>
              <a:rect l="l" t="t" r="r" b="b"/>
              <a:pathLst>
                <a:path w="159651" h="160073">
                  <a:moveTo>
                    <a:pt x="76244" y="3677"/>
                  </a:moveTo>
                  <a:cubicBezTo>
                    <a:pt x="79387" y="6201"/>
                    <a:pt x="81403" y="9868"/>
                    <a:pt x="81824" y="13884"/>
                  </a:cubicBezTo>
                  <a:lnTo>
                    <a:pt x="81863" y="14710"/>
                  </a:lnTo>
                  <a:lnTo>
                    <a:pt x="81863" y="46460"/>
                  </a:lnTo>
                  <a:cubicBezTo>
                    <a:pt x="81864" y="50074"/>
                    <a:pt x="79424" y="53233"/>
                    <a:pt x="75926" y="54143"/>
                  </a:cubicBezTo>
                  <a:cubicBezTo>
                    <a:pt x="64323" y="57158"/>
                    <a:pt x="56582" y="68096"/>
                    <a:pt x="57597" y="80041"/>
                  </a:cubicBezTo>
                  <a:cubicBezTo>
                    <a:pt x="58611" y="91987"/>
                    <a:pt x="68087" y="101462"/>
                    <a:pt x="80032" y="102477"/>
                  </a:cubicBezTo>
                  <a:cubicBezTo>
                    <a:pt x="91977" y="103491"/>
                    <a:pt x="102915" y="95750"/>
                    <a:pt x="105930" y="84147"/>
                  </a:cubicBezTo>
                  <a:cubicBezTo>
                    <a:pt x="106841" y="80650"/>
                    <a:pt x="109999" y="78209"/>
                    <a:pt x="113613" y="78210"/>
                  </a:cubicBezTo>
                  <a:lnTo>
                    <a:pt x="143776" y="78210"/>
                  </a:lnTo>
                  <a:cubicBezTo>
                    <a:pt x="152543" y="78210"/>
                    <a:pt x="159651" y="85317"/>
                    <a:pt x="159651" y="94085"/>
                  </a:cubicBezTo>
                  <a:cubicBezTo>
                    <a:pt x="159651" y="94689"/>
                    <a:pt x="159581" y="95291"/>
                    <a:pt x="159444" y="95879"/>
                  </a:cubicBezTo>
                  <a:cubicBezTo>
                    <a:pt x="150592" y="134067"/>
                    <a:pt x="115186" y="160073"/>
                    <a:pt x="76099" y="157099"/>
                  </a:cubicBezTo>
                  <a:cubicBezTo>
                    <a:pt x="37011" y="154126"/>
                    <a:pt x="5948" y="123062"/>
                    <a:pt x="2974" y="83975"/>
                  </a:cubicBezTo>
                  <a:cubicBezTo>
                    <a:pt x="0" y="44887"/>
                    <a:pt x="26006" y="9482"/>
                    <a:pt x="64194" y="629"/>
                  </a:cubicBezTo>
                  <a:lnTo>
                    <a:pt x="64647" y="549"/>
                  </a:lnTo>
                  <a:lnTo>
                    <a:pt x="65060" y="470"/>
                  </a:lnTo>
                  <a:cubicBezTo>
                    <a:pt x="69066" y="0"/>
                    <a:pt x="73095" y="1155"/>
                    <a:pt x="76244" y="3677"/>
                  </a:cubicBezTo>
                  <a:moveTo>
                    <a:pt x="105636" y="2804"/>
                  </a:moveTo>
                  <a:lnTo>
                    <a:pt x="105993" y="2819"/>
                  </a:lnTo>
                  <a:lnTo>
                    <a:pt x="106525" y="2851"/>
                  </a:lnTo>
                  <a:lnTo>
                    <a:pt x="107168" y="2962"/>
                  </a:lnTo>
                  <a:lnTo>
                    <a:pt x="107422" y="2994"/>
                  </a:lnTo>
                  <a:lnTo>
                    <a:pt x="107994" y="3169"/>
                  </a:lnTo>
                  <a:lnTo>
                    <a:pt x="108311" y="3248"/>
                  </a:lnTo>
                  <a:cubicBezTo>
                    <a:pt x="130175" y="10946"/>
                    <a:pt x="147582" y="27816"/>
                    <a:pt x="155960" y="49428"/>
                  </a:cubicBezTo>
                  <a:lnTo>
                    <a:pt x="156817" y="51762"/>
                  </a:lnTo>
                  <a:cubicBezTo>
                    <a:pt x="157672" y="54191"/>
                    <a:pt x="157296" y="56883"/>
                    <a:pt x="155808" y="58984"/>
                  </a:cubicBezTo>
                  <a:cubicBezTo>
                    <a:pt x="154321" y="61085"/>
                    <a:pt x="151907" y="62334"/>
                    <a:pt x="149332" y="62335"/>
                  </a:cubicBezTo>
                  <a:lnTo>
                    <a:pt x="113613" y="62335"/>
                  </a:lnTo>
                  <a:cubicBezTo>
                    <a:pt x="111293" y="62335"/>
                    <a:pt x="109089" y="61320"/>
                    <a:pt x="107581" y="59557"/>
                  </a:cubicBezTo>
                  <a:cubicBezTo>
                    <a:pt x="105415" y="57020"/>
                    <a:pt x="103053" y="54658"/>
                    <a:pt x="100516" y="52492"/>
                  </a:cubicBezTo>
                  <a:cubicBezTo>
                    <a:pt x="98753" y="50984"/>
                    <a:pt x="97738" y="48780"/>
                    <a:pt x="97738" y="46460"/>
                  </a:cubicBezTo>
                  <a:lnTo>
                    <a:pt x="97738" y="10741"/>
                  </a:lnTo>
                  <a:cubicBezTo>
                    <a:pt x="97744" y="10111"/>
                    <a:pt x="97812" y="9503"/>
                    <a:pt x="97945" y="8915"/>
                  </a:cubicBezTo>
                  <a:lnTo>
                    <a:pt x="98183" y="8106"/>
                  </a:lnTo>
                  <a:cubicBezTo>
                    <a:pt x="98487" y="7244"/>
                    <a:pt x="98938" y="6441"/>
                    <a:pt x="99516" y="5733"/>
                  </a:cubicBezTo>
                  <a:lnTo>
                    <a:pt x="99754" y="5471"/>
                  </a:lnTo>
                  <a:lnTo>
                    <a:pt x="100064" y="5129"/>
                  </a:lnTo>
                  <a:cubicBezTo>
                    <a:pt x="100287" y="4904"/>
                    <a:pt x="100523" y="4692"/>
                    <a:pt x="100770" y="4494"/>
                  </a:cubicBezTo>
                  <a:lnTo>
                    <a:pt x="101175" y="4224"/>
                  </a:lnTo>
                  <a:lnTo>
                    <a:pt x="101413" y="4042"/>
                  </a:lnTo>
                  <a:lnTo>
                    <a:pt x="101771" y="3843"/>
                  </a:lnTo>
                  <a:lnTo>
                    <a:pt x="102183" y="3605"/>
                  </a:lnTo>
                  <a:cubicBezTo>
                    <a:pt x="103259" y="3081"/>
                    <a:pt x="104439" y="2807"/>
                    <a:pt x="105636" y="2804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23327" y="360219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高频问题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0112" y="4056856"/>
              <a:ext cx="8610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攻略信息过载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371850" y="348615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295650" y="339090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3467100" y="3400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3467100" y="3562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3531563" y="3618875"/>
              <a:ext cx="156904" cy="171936"/>
            </a:xfrm>
            <a:custGeom>
              <a:avLst/>
              <a:gdLst/>
              <a:ahLst/>
              <a:cxnLst/>
              <a:rect l="l" t="t" r="r" b="b"/>
              <a:pathLst>
                <a:path w="156904" h="171936">
                  <a:moveTo>
                    <a:pt x="128927" y="27898"/>
                  </a:moveTo>
                  <a:cubicBezTo>
                    <a:pt x="156191" y="55159"/>
                    <a:pt x="156904" y="99137"/>
                    <a:pt x="130538" y="127268"/>
                  </a:cubicBezTo>
                  <a:lnTo>
                    <a:pt x="128927" y="128935"/>
                  </a:lnTo>
                  <a:lnTo>
                    <a:pt x="95248" y="162606"/>
                  </a:lnTo>
                  <a:cubicBezTo>
                    <a:pt x="86380" y="171468"/>
                    <a:pt x="72160" y="171936"/>
                    <a:pt x="62728" y="163677"/>
                  </a:cubicBezTo>
                  <a:lnTo>
                    <a:pt x="61585" y="162606"/>
                  </a:lnTo>
                  <a:lnTo>
                    <a:pt x="27898" y="128927"/>
                  </a:lnTo>
                  <a:cubicBezTo>
                    <a:pt x="0" y="101029"/>
                    <a:pt x="0" y="55796"/>
                    <a:pt x="27898" y="27898"/>
                  </a:cubicBezTo>
                  <a:cubicBezTo>
                    <a:pt x="55796" y="0"/>
                    <a:pt x="101029" y="0"/>
                    <a:pt x="128927" y="27898"/>
                  </a:cubicBezTo>
                  <a:close/>
                  <a:moveTo>
                    <a:pt x="78412" y="54600"/>
                  </a:moveTo>
                  <a:cubicBezTo>
                    <a:pt x="65261" y="54600"/>
                    <a:pt x="54600" y="65261"/>
                    <a:pt x="54600" y="78412"/>
                  </a:cubicBezTo>
                  <a:cubicBezTo>
                    <a:pt x="54600" y="91564"/>
                    <a:pt x="65261" y="102225"/>
                    <a:pt x="78412" y="102225"/>
                  </a:cubicBezTo>
                  <a:cubicBezTo>
                    <a:pt x="91564" y="102225"/>
                    <a:pt x="102225" y="91564"/>
                    <a:pt x="102225" y="78412"/>
                  </a:cubicBezTo>
                  <a:cubicBezTo>
                    <a:pt x="102225" y="65261"/>
                    <a:pt x="91564" y="54600"/>
                    <a:pt x="78412" y="54600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849052" y="361870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高频场景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509962" y="4056856"/>
              <a:ext cx="7175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周末周边游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62000" y="4762500"/>
              <a:ext cx="4991100" cy="1123950"/>
            </a:xfrm>
            <a:prstGeom prst="roundRect">
              <a:avLst>
                <a:gd name="adj" fmla="val 1186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5800" y="4667250"/>
              <a:ext cx="49911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857250" y="4676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57250" y="48387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918107" y="4907494"/>
              <a:ext cx="156099" cy="148161"/>
              <a:chOff x="918107" y="4907494"/>
              <a:chExt cx="156099" cy="148161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1023938" y="50027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18107" y="492336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023938" y="49074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223327" y="487854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社会价值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0112" y="5343366"/>
              <a:ext cx="37312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降低规划负担，提升旅途陪伴感，探索更温和的人机关系。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400800" y="158115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324600" y="148590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64960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68440" y="1672590"/>
              <a:ext cx="137541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市场欢迎程度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667500" y="2400300"/>
              <a:ext cx="4914900" cy="971550"/>
            </a:xfrm>
            <a:prstGeom prst="roundRect">
              <a:avLst>
                <a:gd name="adj" fmla="val 13725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591300" y="2305050"/>
              <a:ext cx="4914900" cy="971550"/>
            </a:xfrm>
            <a:prstGeom prst="roundRect">
              <a:avLst>
                <a:gd name="adj" fmla="val 13725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6762750" y="2314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762750" y="24765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6826250" y="25479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8" y="142875"/>
                  </a:lnTo>
                  <a:lnTo>
                    <a:pt x="39688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104775" y="73708"/>
                  </a:moveTo>
                  <a:cubicBezTo>
                    <a:pt x="101645" y="70639"/>
                    <a:pt x="96620" y="70689"/>
                    <a:pt x="93551" y="73819"/>
                  </a:cubicBezTo>
                  <a:cubicBezTo>
                    <a:pt x="89819" y="77630"/>
                    <a:pt x="84709" y="79777"/>
                    <a:pt x="79375" y="79777"/>
                  </a:cubicBezTo>
                  <a:cubicBezTo>
                    <a:pt x="74041" y="79777"/>
                    <a:pt x="68931" y="77630"/>
                    <a:pt x="65199" y="73819"/>
                  </a:cubicBezTo>
                  <a:cubicBezTo>
                    <a:pt x="62117" y="70764"/>
                    <a:pt x="57153" y="70750"/>
                    <a:pt x="54054" y="73788"/>
                  </a:cubicBezTo>
                  <a:cubicBezTo>
                    <a:pt x="50955" y="76826"/>
                    <a:pt x="50870" y="81789"/>
                    <a:pt x="53864" y="84931"/>
                  </a:cubicBezTo>
                  <a:cubicBezTo>
                    <a:pt x="60582" y="91787"/>
                    <a:pt x="69777" y="95650"/>
                    <a:pt x="79375" y="95650"/>
                  </a:cubicBezTo>
                  <a:cubicBezTo>
                    <a:pt x="88973" y="95650"/>
                    <a:pt x="98168" y="91787"/>
                    <a:pt x="104886" y="84931"/>
                  </a:cubicBezTo>
                  <a:cubicBezTo>
                    <a:pt x="107954" y="81801"/>
                    <a:pt x="107905" y="76776"/>
                    <a:pt x="104775" y="73708"/>
                  </a:cubicBezTo>
                  <a:moveTo>
                    <a:pt x="59611" y="39688"/>
                  </a:moveTo>
                  <a:lnTo>
                    <a:pt x="59531" y="39688"/>
                  </a:lnTo>
                  <a:cubicBezTo>
                    <a:pt x="55147" y="39688"/>
                    <a:pt x="51594" y="43241"/>
                    <a:pt x="51594" y="47625"/>
                  </a:cubicBezTo>
                  <a:cubicBezTo>
                    <a:pt x="51594" y="52009"/>
                    <a:pt x="55147" y="55562"/>
                    <a:pt x="59531" y="55562"/>
                  </a:cubicBezTo>
                  <a:lnTo>
                    <a:pt x="59611" y="55562"/>
                  </a:lnTo>
                  <a:cubicBezTo>
                    <a:pt x="63994" y="55562"/>
                    <a:pt x="67548" y="52009"/>
                    <a:pt x="67548" y="47625"/>
                  </a:cubicBezTo>
                  <a:cubicBezTo>
                    <a:pt x="67548" y="43241"/>
                    <a:pt x="63994" y="39688"/>
                    <a:pt x="59611" y="39688"/>
                  </a:cubicBezTo>
                  <a:moveTo>
                    <a:pt x="99298" y="39688"/>
                  </a:moveTo>
                  <a:lnTo>
                    <a:pt x="99219" y="39688"/>
                  </a:lnTo>
                  <a:cubicBezTo>
                    <a:pt x="94835" y="39688"/>
                    <a:pt x="91281" y="43241"/>
                    <a:pt x="91281" y="47625"/>
                  </a:cubicBezTo>
                  <a:cubicBezTo>
                    <a:pt x="91281" y="52009"/>
                    <a:pt x="94835" y="55562"/>
                    <a:pt x="99219" y="55562"/>
                  </a:cubicBezTo>
                  <a:lnTo>
                    <a:pt x="99298" y="55562"/>
                  </a:lnTo>
                  <a:cubicBezTo>
                    <a:pt x="103682" y="55562"/>
                    <a:pt x="107236" y="52009"/>
                    <a:pt x="107236" y="47625"/>
                  </a:cubicBezTo>
                  <a:cubicBezTo>
                    <a:pt x="107236" y="43241"/>
                    <a:pt x="103682" y="39688"/>
                    <a:pt x="99298" y="3968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144702" y="2516346"/>
              <a:ext cx="163068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与现有方案的区别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05612" y="2869406"/>
              <a:ext cx="416179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现有工具重效率和交易链路，蓝心同行聚焦记忆、陪伴和具身化。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667500" y="3581400"/>
              <a:ext cx="4914900" cy="1028700"/>
            </a:xfrm>
            <a:prstGeom prst="roundRect">
              <a:avLst>
                <a:gd name="adj" fmla="val 1296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591300" y="3486150"/>
              <a:ext cx="4914900" cy="1028700"/>
            </a:xfrm>
            <a:prstGeom prst="roundRect">
              <a:avLst>
                <a:gd name="adj" fmla="val 1296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1" name="Line 91"/>
            <p:cNvSpPr/>
            <p:nvPr/>
          </p:nvSpPr>
          <p:spPr>
            <a:xfrm>
              <a:off x="6762750" y="34956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762750" y="36576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823607" y="3726394"/>
              <a:ext cx="156099" cy="148161"/>
              <a:chOff x="6823607" y="3726394"/>
              <a:chExt cx="156099" cy="148161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929438" y="38216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823607" y="374226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929438" y="37263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7144702" y="3697446"/>
              <a:ext cx="101917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差异化壁垒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805612" y="4050506"/>
              <a:ext cx="324167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长期记忆、主动陪伴、2D 具身化共同形成识别度。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667500" y="4819650"/>
              <a:ext cx="4914900" cy="1066800"/>
            </a:xfrm>
            <a:prstGeom prst="roundRect">
              <a:avLst>
                <a:gd name="adj" fmla="val 1250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591300" y="4724400"/>
              <a:ext cx="491490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6762750" y="47339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762750" y="48958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103" name="Freeform 103"/>
            <p:cNvSpPr/>
            <p:nvPr/>
          </p:nvSpPr>
          <p:spPr>
            <a:xfrm>
              <a:off x="6826249" y="4955794"/>
              <a:ext cx="167139" cy="167791"/>
            </a:xfrm>
            <a:custGeom>
              <a:avLst/>
              <a:gdLst/>
              <a:ahLst/>
              <a:cxnLst/>
              <a:rect l="l" t="t" r="r" b="b"/>
              <a:pathLst>
                <a:path w="167139" h="167791">
                  <a:moveTo>
                    <a:pt x="119063" y="14192"/>
                  </a:moveTo>
                  <a:cubicBezTo>
                    <a:pt x="152423" y="33452"/>
                    <a:pt x="167139" y="73884"/>
                    <a:pt x="153964" y="110081"/>
                  </a:cubicBezTo>
                  <a:cubicBezTo>
                    <a:pt x="140789" y="146278"/>
                    <a:pt x="103526" y="167791"/>
                    <a:pt x="65591" y="161101"/>
                  </a:cubicBezTo>
                  <a:cubicBezTo>
                    <a:pt x="27656" y="154412"/>
                    <a:pt x="0" y="121451"/>
                    <a:pt x="1" y="82931"/>
                  </a:cubicBezTo>
                  <a:lnTo>
                    <a:pt x="41" y="80359"/>
                  </a:lnTo>
                  <a:cubicBezTo>
                    <a:pt x="945" y="52474"/>
                    <a:pt x="16422" y="27112"/>
                    <a:pt x="40807" y="13556"/>
                  </a:cubicBezTo>
                  <a:cubicBezTo>
                    <a:pt x="65191" y="0"/>
                    <a:pt x="94902" y="241"/>
                    <a:pt x="119063" y="14192"/>
                  </a:cubicBezTo>
                  <a:close/>
                  <a:moveTo>
                    <a:pt x="79376" y="130556"/>
                  </a:moveTo>
                  <a:cubicBezTo>
                    <a:pt x="74992" y="130556"/>
                    <a:pt x="71438" y="134109"/>
                    <a:pt x="71438" y="138493"/>
                  </a:cubicBezTo>
                  <a:cubicBezTo>
                    <a:pt x="71438" y="142877"/>
                    <a:pt x="74992" y="146431"/>
                    <a:pt x="79376" y="146431"/>
                  </a:cubicBezTo>
                  <a:cubicBezTo>
                    <a:pt x="83760" y="146431"/>
                    <a:pt x="87313" y="142877"/>
                    <a:pt x="87313" y="138493"/>
                  </a:cubicBezTo>
                  <a:cubicBezTo>
                    <a:pt x="87313" y="134109"/>
                    <a:pt x="83760" y="130556"/>
                    <a:pt x="79376" y="130556"/>
                  </a:cubicBezTo>
                  <a:moveTo>
                    <a:pt x="108618" y="43648"/>
                  </a:moveTo>
                  <a:lnTo>
                    <a:pt x="60993" y="59523"/>
                  </a:lnTo>
                  <a:cubicBezTo>
                    <a:pt x="58620" y="60313"/>
                    <a:pt x="56758" y="62174"/>
                    <a:pt x="55968" y="64547"/>
                  </a:cubicBezTo>
                  <a:lnTo>
                    <a:pt x="40038" y="112379"/>
                  </a:lnTo>
                  <a:lnTo>
                    <a:pt x="39855" y="113061"/>
                  </a:lnTo>
                  <a:lnTo>
                    <a:pt x="39720" y="113958"/>
                  </a:lnTo>
                  <a:lnTo>
                    <a:pt x="39688" y="114498"/>
                  </a:lnTo>
                  <a:lnTo>
                    <a:pt x="39688" y="114847"/>
                  </a:lnTo>
                  <a:lnTo>
                    <a:pt x="39760" y="115728"/>
                  </a:lnTo>
                  <a:lnTo>
                    <a:pt x="39855" y="116284"/>
                  </a:lnTo>
                  <a:lnTo>
                    <a:pt x="40173" y="117427"/>
                  </a:lnTo>
                  <a:lnTo>
                    <a:pt x="40530" y="118221"/>
                  </a:lnTo>
                  <a:lnTo>
                    <a:pt x="40958" y="118975"/>
                  </a:lnTo>
                  <a:lnTo>
                    <a:pt x="41466" y="119689"/>
                  </a:lnTo>
                  <a:lnTo>
                    <a:pt x="42014" y="120284"/>
                  </a:lnTo>
                  <a:lnTo>
                    <a:pt x="42681" y="120872"/>
                  </a:lnTo>
                  <a:lnTo>
                    <a:pt x="43459" y="121427"/>
                  </a:lnTo>
                  <a:lnTo>
                    <a:pt x="44253" y="121856"/>
                  </a:lnTo>
                  <a:lnTo>
                    <a:pt x="44872" y="122118"/>
                  </a:lnTo>
                  <a:lnTo>
                    <a:pt x="45705" y="122380"/>
                  </a:lnTo>
                  <a:lnTo>
                    <a:pt x="46570" y="122539"/>
                  </a:lnTo>
                  <a:lnTo>
                    <a:pt x="46912" y="122578"/>
                  </a:lnTo>
                  <a:lnTo>
                    <a:pt x="47451" y="122610"/>
                  </a:lnTo>
                  <a:lnTo>
                    <a:pt x="47801" y="122610"/>
                  </a:lnTo>
                  <a:lnTo>
                    <a:pt x="48682" y="122539"/>
                  </a:lnTo>
                  <a:lnTo>
                    <a:pt x="49237" y="122443"/>
                  </a:lnTo>
                  <a:lnTo>
                    <a:pt x="49396" y="122396"/>
                  </a:lnTo>
                  <a:lnTo>
                    <a:pt x="49547" y="122380"/>
                  </a:lnTo>
                  <a:lnTo>
                    <a:pt x="50134" y="122205"/>
                  </a:lnTo>
                  <a:lnTo>
                    <a:pt x="97759" y="106330"/>
                  </a:lnTo>
                  <a:cubicBezTo>
                    <a:pt x="100132" y="105540"/>
                    <a:pt x="101994" y="103679"/>
                    <a:pt x="102784" y="101306"/>
                  </a:cubicBezTo>
                  <a:lnTo>
                    <a:pt x="118659" y="53681"/>
                  </a:lnTo>
                  <a:cubicBezTo>
                    <a:pt x="119610" y="50828"/>
                    <a:pt x="118868" y="47683"/>
                    <a:pt x="116742" y="45557"/>
                  </a:cubicBezTo>
                  <a:cubicBezTo>
                    <a:pt x="114615" y="43431"/>
                    <a:pt x="111470" y="42689"/>
                    <a:pt x="108618" y="43640"/>
                  </a:cubicBezTo>
                  <a:close/>
                  <a:moveTo>
                    <a:pt x="98577" y="63722"/>
                  </a:moveTo>
                  <a:lnTo>
                    <a:pt x="88972" y="92527"/>
                  </a:lnTo>
                  <a:lnTo>
                    <a:pt x="60167" y="102131"/>
                  </a:lnTo>
                  <a:lnTo>
                    <a:pt x="69772" y="73326"/>
                  </a:lnTo>
                  <a:lnTo>
                    <a:pt x="98577" y="63722"/>
                  </a:lnTo>
                  <a:close/>
                  <a:moveTo>
                    <a:pt x="23813" y="74993"/>
                  </a:moveTo>
                  <a:cubicBezTo>
                    <a:pt x="19430" y="74993"/>
                    <a:pt x="15876" y="78547"/>
                    <a:pt x="15876" y="82931"/>
                  </a:cubicBezTo>
                  <a:cubicBezTo>
                    <a:pt x="15876" y="87314"/>
                    <a:pt x="19430" y="90868"/>
                    <a:pt x="23813" y="90868"/>
                  </a:cubicBezTo>
                  <a:cubicBezTo>
                    <a:pt x="28197" y="90868"/>
                    <a:pt x="31751" y="87314"/>
                    <a:pt x="31751" y="82931"/>
                  </a:cubicBezTo>
                  <a:cubicBezTo>
                    <a:pt x="31751" y="78547"/>
                    <a:pt x="28197" y="74993"/>
                    <a:pt x="23813" y="74993"/>
                  </a:cubicBezTo>
                  <a:moveTo>
                    <a:pt x="134938" y="74993"/>
                  </a:moveTo>
                  <a:cubicBezTo>
                    <a:pt x="130555" y="74993"/>
                    <a:pt x="127001" y="78547"/>
                    <a:pt x="127001" y="82931"/>
                  </a:cubicBezTo>
                  <a:cubicBezTo>
                    <a:pt x="127001" y="87314"/>
                    <a:pt x="130555" y="90868"/>
                    <a:pt x="134938" y="90868"/>
                  </a:cubicBezTo>
                  <a:cubicBezTo>
                    <a:pt x="139322" y="90868"/>
                    <a:pt x="142876" y="87314"/>
                    <a:pt x="142876" y="82931"/>
                  </a:cubicBezTo>
                  <a:cubicBezTo>
                    <a:pt x="142876" y="78547"/>
                    <a:pt x="139322" y="74993"/>
                    <a:pt x="134938" y="74993"/>
                  </a:cubicBezTo>
                  <a:moveTo>
                    <a:pt x="79376" y="19431"/>
                  </a:moveTo>
                  <a:cubicBezTo>
                    <a:pt x="74992" y="19431"/>
                    <a:pt x="71438" y="22984"/>
                    <a:pt x="71438" y="27368"/>
                  </a:cubicBezTo>
                  <a:cubicBezTo>
                    <a:pt x="71438" y="31752"/>
                    <a:pt x="74992" y="35306"/>
                    <a:pt x="79376" y="35306"/>
                  </a:cubicBezTo>
                  <a:cubicBezTo>
                    <a:pt x="83760" y="35306"/>
                    <a:pt x="87313" y="31752"/>
                    <a:pt x="87313" y="27368"/>
                  </a:cubicBezTo>
                  <a:cubicBezTo>
                    <a:pt x="87313" y="22984"/>
                    <a:pt x="83760" y="19431"/>
                    <a:pt x="79376" y="19431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185977" y="4955381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延展空间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805612" y="5288756"/>
              <a:ext cx="38747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后续可延展到校园、城市生活、展会导览和亲子旅行等场景。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09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77" name="Group 77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18071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rPr>
                <a:t>技术可行性与 MVP 规划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06235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TECH FEASIBILITY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43522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技术路线拆为端侧记忆、云侧推理和角色表达，MVP 路径清晰。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60960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60960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940" y="1672590"/>
              <a:ext cx="114617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技术可行性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14400" y="2247900"/>
              <a:ext cx="5105400" cy="552450"/>
            </a:xfrm>
            <a:prstGeom prst="roundRect">
              <a:avLst>
                <a:gd name="adj" fmla="val 27586"/>
              </a:avLst>
            </a:prstGeom>
            <a:solidFill>
              <a:srgbClr val="E7F2FF"/>
            </a:solidFill>
            <a:ln w="9525">
              <a:solidFill>
                <a:srgbClr val="BFD9F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43076" y="2443639"/>
              <a:ext cx="344805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用户输入层：文字 / 语音 / 照片 / 位置</a:t>
              </a:r>
              <a:endParaRPr lang="zh-CN" sz="16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04900" y="3009900"/>
              <a:ext cx="4724400" cy="628650"/>
            </a:xfrm>
            <a:prstGeom prst="roundRect">
              <a:avLst>
                <a:gd name="adj" fmla="val 24242"/>
              </a:avLst>
            </a:prstGeom>
            <a:solidFill>
              <a:srgbClr val="E6FAFF"/>
            </a:solidFill>
            <a:ln w="9525">
              <a:solidFill>
                <a:srgbClr val="BFD9F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77161" y="3130868"/>
              <a:ext cx="157988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5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端侧记忆与触发层</a:t>
              </a:r>
              <a:endParaRPr lang="zh-CN" sz="155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33651" y="3391852"/>
              <a:ext cx="18669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本地记忆、状态读取和轻量触发</a:t>
              </a:r>
              <a:endParaRPr lang="zh-CN" sz="10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295400" y="3848100"/>
              <a:ext cx="4343400" cy="723900"/>
            </a:xfrm>
            <a:prstGeom prst="roundRect">
              <a:avLst>
                <a:gd name="adj" fmla="val 21053"/>
              </a:avLst>
            </a:prstGeom>
            <a:solidFill>
              <a:srgbClr val="EEF8F1"/>
            </a:solidFill>
            <a:ln w="9525">
              <a:solidFill>
                <a:srgbClr val="BFD9F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316798" y="4007168"/>
              <a:ext cx="23006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Agent 调度与蓝心大模型层</a:t>
              </a:r>
              <a:endParaRPr lang="zh-CN" sz="15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33600" y="4268152"/>
              <a:ext cx="266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意图理解、记忆抽取、规划推理、角色化对话</a:t>
              </a:r>
              <a:endParaRPr lang="zh-CN" sz="10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485900" y="4781550"/>
              <a:ext cx="3962400" cy="552450"/>
            </a:xfrm>
            <a:prstGeom prst="roundRect">
              <a:avLst>
                <a:gd name="adj" fmla="val 27586"/>
              </a:avLst>
            </a:prstGeom>
            <a:solidFill>
              <a:srgbClr val="FFF8E8"/>
            </a:solidFill>
            <a:ln w="9525">
              <a:solidFill>
                <a:srgbClr val="BFD9F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861185" y="4975225"/>
              <a:ext cx="321183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59E0B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地图、天气、地点、图片理解等工具服务</a:t>
              </a:r>
              <a:endParaRPr lang="zh-CN" sz="1400" b="1" dirty="0">
                <a:solidFill>
                  <a:srgbClr val="F59E0B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676400" y="5543550"/>
              <a:ext cx="3581400" cy="361950"/>
            </a:xfrm>
            <a:prstGeom prst="roundRect">
              <a:avLst>
                <a:gd name="adj" fmla="val 42105"/>
              </a:avLst>
            </a:prstGeom>
            <a:solidFill>
              <a:srgbClr val="FFF2EC"/>
            </a:solidFill>
            <a:ln w="9525">
              <a:solidFill>
                <a:srgbClr val="BFD9F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197101" y="5650071"/>
              <a:ext cx="2540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蓝小心表达层：2D 形象、状态和反馈</a:t>
              </a:r>
              <a:endParaRPr lang="zh-CN" sz="120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972300" y="1581150"/>
              <a:ext cx="48768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96100" y="1485900"/>
              <a:ext cx="48768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067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39940" y="1672590"/>
              <a:ext cx="101790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MVP 规划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58100" y="2305050"/>
              <a:ext cx="3352800" cy="742950"/>
            </a:xfrm>
            <a:prstGeom prst="roundRect">
              <a:avLst>
                <a:gd name="adj" fmla="val 23077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05533" y="2443480"/>
              <a:ext cx="126936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P0 必须展示</a:t>
              </a:r>
              <a:endParaRPr lang="zh-CN" sz="18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54975" y="2800667"/>
              <a:ext cx="255905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记忆胶囊 / </a:t>
              </a:r>
              <a:r>
                <a:rPr lang="en-US" altLang="zh-CN" sz="105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2D</a:t>
              </a:r>
              <a:r>
                <a:rPr lang="zh-CN" sz="105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画像 / 规划 / 主动提醒 / 复盘</a:t>
              </a:r>
              <a:endParaRPr lang="zh-CN" sz="1050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62900" y="3333750"/>
              <a:ext cx="2743200" cy="685800"/>
            </a:xfrm>
            <a:prstGeom prst="roundRect">
              <a:avLst>
                <a:gd name="adj" fmla="val 25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787131" y="3529647"/>
              <a:ext cx="111506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P1 增强体验</a:t>
              </a:r>
              <a:endParaRPr lang="zh-CN" sz="165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86750" y="3810159"/>
              <a:ext cx="211582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多表情、动画、旅拍候选集、文案生成</a:t>
              </a:r>
              <a:endParaRPr lang="zh-CN" sz="975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286750" y="4305300"/>
              <a:ext cx="2095500" cy="628650"/>
            </a:xfrm>
            <a:prstGeom prst="roundRect">
              <a:avLst>
                <a:gd name="adj" fmla="val 27273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800148" y="4429284"/>
              <a:ext cx="1101725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P2 扩展能力</a:t>
              </a:r>
              <a:endParaRPr lang="zh-CN" sz="1575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04276" y="4671854"/>
              <a:ext cx="1036320" cy="15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Live2D、多人协同</a:t>
              </a:r>
              <a:endParaRPr lang="zh-CN" sz="1000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497342" y="65989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10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521970" y="831215"/>
            <a:ext cx="11109960" cy="5950585"/>
            <a:chOff x="521970" y="831215"/>
            <a:chExt cx="11109960" cy="5950585"/>
          </a:xfrm>
        </p:grpSpPr>
        <p:sp>
          <p:nvSpPr>
            <p:cNvPr id="35" name="Rectangle 35"/>
            <p:cNvSpPr/>
            <p:nvPr/>
          </p:nvSpPr>
          <p:spPr>
            <a:xfrm>
              <a:off x="2171700" y="1314450"/>
              <a:ext cx="8001000" cy="4400550"/>
            </a:xfrm>
            <a:prstGeom prst="roundRect">
              <a:avLst>
                <a:gd name="adj" fmla="val 649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541780" y="831215"/>
              <a:ext cx="8840470" cy="5257165"/>
            </a:xfrm>
            <a:prstGeom prst="roundRect">
              <a:avLst>
                <a:gd name="adj" fmla="val 649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2266950" y="83121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19345" y="1236980"/>
              <a:ext cx="2225040" cy="764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3750" b="1" dirty="0">
                  <a:solidFill>
                    <a:srgbClr val="0B57D0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感谢观看</a:t>
              </a:r>
              <a:endParaRPr lang="zh-CN" sz="3750" b="1" dirty="0">
                <a:solidFill>
                  <a:srgbClr val="0B57D0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48250" y="2133600"/>
              <a:ext cx="2095500" cy="2790825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4644073" y="5419884"/>
              <a:ext cx="2903855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蓝心同行让 AI 不只是回答问题，</a:t>
              </a:r>
              <a:endParaRPr lang="zh-CN" sz="15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41825" y="5696109"/>
              <a:ext cx="341122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而是成为一个会陪你经历旅行的伙伴。</a:t>
              </a:r>
              <a:endParaRPr lang="zh-CN" sz="15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90745" y="6088380"/>
              <a:ext cx="285750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30203" y="6598920"/>
              <a:ext cx="1017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11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pic>
        <p:nvPicPr>
          <p:cNvPr id="43" name="图片 42" descr="lanxiaoxin_after_play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565" y="1986280"/>
            <a:ext cx="2642870" cy="3331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3590</Words>
  <Application>WPS 演示</Application>
  <PresentationFormat>On-screen Show (4:3)</PresentationFormat>
  <Paragraphs>607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MiSans</vt:lpstr>
      <vt:lpstr>金山云技术体</vt:lpstr>
      <vt:lpstr>等线</vt:lpstr>
      <vt:lpstr>MiSans Heavy</vt:lpstr>
      <vt:lpstr>MiSans Normal</vt:lpstr>
      <vt:lpstr>MiSans Bold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超超</cp:lastModifiedBy>
  <cp:revision>19</cp:revision>
  <dcterms:created xsi:type="dcterms:W3CDTF">2013-01-27T09:14:00Z</dcterms:created>
  <dcterms:modified xsi:type="dcterms:W3CDTF">2026-05-10T10:57:54Z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48288392AA2949528BB338FCC8A2CE03_13</vt:lpwstr>
  </property>
</Properties>
</file>